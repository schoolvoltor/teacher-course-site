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0F017-D7B8-470D-8FC7-AC3958E2CFC8}" type="datetimeFigureOut">
              <a:rPr lang="uk-UA" smtClean="0"/>
              <a:t>17.09.2025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06562-5D20-49E2-B051-F38DDCED38F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22075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0F017-D7B8-470D-8FC7-AC3958E2CFC8}" type="datetimeFigureOut">
              <a:rPr lang="uk-UA" smtClean="0"/>
              <a:t>17.09.2025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06562-5D20-49E2-B051-F38DDCED38F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88024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0F017-D7B8-470D-8FC7-AC3958E2CFC8}" type="datetimeFigureOut">
              <a:rPr lang="uk-UA" smtClean="0"/>
              <a:t>17.09.2025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06562-5D20-49E2-B051-F38DDCED38F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33744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0F017-D7B8-470D-8FC7-AC3958E2CFC8}" type="datetimeFigureOut">
              <a:rPr lang="uk-UA" smtClean="0"/>
              <a:t>17.09.2025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06562-5D20-49E2-B051-F38DDCED38F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84737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0F017-D7B8-470D-8FC7-AC3958E2CFC8}" type="datetimeFigureOut">
              <a:rPr lang="uk-UA" smtClean="0"/>
              <a:t>17.09.2025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06562-5D20-49E2-B051-F38DDCED38F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96197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0F017-D7B8-470D-8FC7-AC3958E2CFC8}" type="datetimeFigureOut">
              <a:rPr lang="uk-UA" smtClean="0"/>
              <a:t>17.09.2025</a:t>
            </a:fld>
            <a:endParaRPr lang="uk-UA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06562-5D20-49E2-B051-F38DDCED38F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55269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0F017-D7B8-470D-8FC7-AC3958E2CFC8}" type="datetimeFigureOut">
              <a:rPr lang="uk-UA" smtClean="0"/>
              <a:t>17.09.2025</a:t>
            </a:fld>
            <a:endParaRPr lang="uk-UA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06562-5D20-49E2-B051-F38DDCED38F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63156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0F017-D7B8-470D-8FC7-AC3958E2CFC8}" type="datetimeFigureOut">
              <a:rPr lang="uk-UA" smtClean="0"/>
              <a:t>17.09.2025</a:t>
            </a:fld>
            <a:endParaRPr lang="uk-UA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06562-5D20-49E2-B051-F38DDCED38F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94646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0F017-D7B8-470D-8FC7-AC3958E2CFC8}" type="datetimeFigureOut">
              <a:rPr lang="uk-UA" smtClean="0"/>
              <a:t>17.09.2025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06562-5D20-49E2-B051-F38DDCED38F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80468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0F017-D7B8-470D-8FC7-AC3958E2CFC8}" type="datetimeFigureOut">
              <a:rPr lang="uk-UA" smtClean="0"/>
              <a:t>17.09.2025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06562-5D20-49E2-B051-F38DDCED38F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75807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0F017-D7B8-470D-8FC7-AC3958E2CFC8}" type="datetimeFigureOut">
              <a:rPr lang="uk-UA" smtClean="0"/>
              <a:t>17.09.2025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06562-5D20-49E2-B051-F38DDCED38F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113226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0F017-D7B8-470D-8FC7-AC3958E2CFC8}" type="datetimeFigureOut">
              <a:rPr lang="uk-UA" smtClean="0"/>
              <a:t>17.09.2025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06562-5D20-49E2-B051-F38DDCED38F9}" type="slidenum">
              <a:rPr lang="uk-UA" smtClean="0"/>
              <a:t>‹#›</a:t>
            </a:fld>
            <a:endParaRPr lang="uk-UA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192388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0F017-D7B8-470D-8FC7-AC3958E2CFC8}" type="datetimeFigureOut">
              <a:rPr lang="uk-UA" smtClean="0"/>
              <a:t>17.09.2025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06562-5D20-49E2-B051-F38DDCED38F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51061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0F017-D7B8-470D-8FC7-AC3958E2CFC8}" type="datetimeFigureOut">
              <a:rPr lang="uk-UA" smtClean="0"/>
              <a:t>17.09.2025</a:t>
            </a:fld>
            <a:endParaRPr lang="uk-U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06562-5D20-49E2-B051-F38DDCED38F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469781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0F017-D7B8-470D-8FC7-AC3958E2CFC8}" type="datetimeFigureOut">
              <a:rPr lang="uk-UA" smtClean="0"/>
              <a:t>17.09.2025</a:t>
            </a:fld>
            <a:endParaRPr lang="uk-U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06562-5D20-49E2-B051-F38DDCED38F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678241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0F017-D7B8-470D-8FC7-AC3958E2CFC8}" type="datetimeFigureOut">
              <a:rPr lang="uk-UA" smtClean="0"/>
              <a:t>17.09.2025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06562-5D20-49E2-B051-F38DDCED38F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803953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0F017-D7B8-470D-8FC7-AC3958E2CFC8}" type="datetimeFigureOut">
              <a:rPr lang="uk-UA" smtClean="0"/>
              <a:t>17.09.2025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06562-5D20-49E2-B051-F38DDCED38F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5084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3F0F017-D7B8-470D-8FC7-AC3958E2CFC8}" type="datetimeFigureOut">
              <a:rPr lang="uk-UA" smtClean="0"/>
              <a:t>17.09.2025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06562-5D20-49E2-B051-F38DDCED38F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895326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 smtClean="0"/>
              <a:t>Безпечне життєве середовище</a:t>
            </a:r>
            <a:endParaRPr lang="uk-UA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037031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uk-UA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МОН України ухвалило</a:t>
            </a:r>
          </a:p>
          <a:p>
            <a:r>
              <a:rPr lang="uk-UA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ряд документів стосовно навчання, зокрема таких: наказ МОН від 28.02.2022 № 232</a:t>
            </a:r>
          </a:p>
          <a:p>
            <a:pPr marL="0" indent="0">
              <a:buNone/>
            </a:pPr>
            <a:r>
              <a:rPr lang="uk-UA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щодо звільнення від проходження державної підсумкової атестації учнів, які</a:t>
            </a:r>
          </a:p>
          <a:p>
            <a:pPr marL="0" indent="0">
              <a:buNone/>
            </a:pPr>
            <a:r>
              <a:rPr lang="uk-UA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завершували здобуття початкової та базової середньої освіти у 2021/2022 н. р., наказ</a:t>
            </a:r>
          </a:p>
          <a:p>
            <a:r>
              <a:rPr lang="uk-UA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МОН «Про деякі питання організації здобуття загальної середньої освіти та</a:t>
            </a:r>
          </a:p>
          <a:p>
            <a:pPr marL="0" indent="0">
              <a:buNone/>
            </a:pPr>
            <a:r>
              <a:rPr lang="uk-UA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освітнього процесу в умовах воєнного стану в Україні» від 28.03.2022 № 274,</a:t>
            </a:r>
          </a:p>
          <a:p>
            <a:pPr marL="0" indent="0">
              <a:buNone/>
            </a:pPr>
            <a:r>
              <a:rPr lang="uk-UA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спрямований на створення правових підстав для продовження навчання у</a:t>
            </a:r>
          </a:p>
          <a:p>
            <a:pPr marL="0" indent="0">
              <a:buNone/>
            </a:pPr>
            <a:r>
              <a:rPr lang="uk-UA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безпечному середовищі дітей і працевлаштування педагогів, які вимушені змінити</a:t>
            </a:r>
          </a:p>
          <a:p>
            <a:pPr marL="0" indent="0">
              <a:buNone/>
            </a:pPr>
            <a:r>
              <a:rPr lang="uk-UA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місце проживання/навчання через окупацію та активні бойові дії.</a:t>
            </a:r>
          </a:p>
          <a:p>
            <a:pPr marL="0" indent="0">
              <a:buNone/>
            </a:pPr>
            <a:r>
              <a:rPr lang="uk-UA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Загальні питання організації освітнього процесу в закладах освіти регламентовано листом МОН «Про</a:t>
            </a:r>
          </a:p>
          <a:p>
            <a:r>
              <a:rPr lang="uk-UA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організацію освітнього процесу в умовах військових дій» від 06.03.2022 № 1/3371-</a:t>
            </a:r>
          </a:p>
          <a:p>
            <a:r>
              <a:rPr lang="uk-UA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 та ін.</a:t>
            </a:r>
          </a:p>
        </p:txBody>
      </p:sp>
    </p:spTree>
    <p:extLst>
      <p:ext uri="{BB962C8B-B14F-4D97-AF65-F5344CB8AC3E}">
        <p14:creationId xmlns:p14="http://schemas.microsoft.com/office/powerpoint/2010/main" val="2510056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Освітній процес у закладах загальної середньої освіти, відповідно до Рішення обласної військової адміністрації та засновників закладів загальної освіти, може бути організовано за очною, дистанційною формами навчання або їх поєднанням</a:t>
            </a:r>
          </a:p>
          <a:p>
            <a:pPr marL="0" indent="0" algn="ctr">
              <a:buNone/>
            </a:pP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(за змішаним режимом), залежно від можливостей фонду захисних споруд у цих закладах. До початку навчального року всі ОВА визначають придатні форми навчання для своєї області, враховуючи </a:t>
            </a:r>
            <a:r>
              <a:rPr lang="uk-UA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безпекові</a:t>
            </a: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обставини.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2209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uk-UA" dirty="0" smtClean="0"/>
              <a:t>Зауважимо, що, перш за все, безпечними мають бути будівлі шкіл. У кожному закладі освіти потрібне укриття чи інші приміщення, де можна перебувати під час повітряних </a:t>
            </a:r>
            <a:r>
              <a:rPr lang="uk-UA" dirty="0" err="1" smtClean="0"/>
              <a:t>тривог</a:t>
            </a:r>
            <a:r>
              <a:rPr lang="uk-UA" dirty="0" smtClean="0"/>
              <a:t> для зменшення ризиків. У школах з очним чи змішаним навчанням керівники мають подбати про переривання заняття у разі оголошення повітряної тривоги або інших сигналів небезпеки та скерування всіх присутніх у закладі в укриття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059997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uk-UA" dirty="0" smtClean="0"/>
              <a:t>	Підкреслимо, що сучасне навчання спрямовано на реалізацію Державного стандарту загальної середньої освіти з урахуванням досягнень та викликів за результатами впровадження реформи загальної середньої освіти відповідно до Концепції «Нова українська школа» та згідно з новими вимогами до організації безпечного освітнього середовища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090193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/>
              <a:t>Психологічне</a:t>
            </a:r>
            <a:r>
              <a:rPr lang="ru-RU" dirty="0" smtClean="0"/>
              <a:t> </a:t>
            </a:r>
            <a:r>
              <a:rPr lang="ru-RU" dirty="0" err="1" smtClean="0"/>
              <a:t>забезпечення</a:t>
            </a:r>
            <a:r>
              <a:rPr lang="ru-RU" dirty="0" smtClean="0"/>
              <a:t> таких </a:t>
            </a:r>
            <a:r>
              <a:rPr lang="ru-RU" dirty="0" err="1" smtClean="0"/>
              <a:t>напрямів</a:t>
            </a:r>
            <a:r>
              <a:rPr lang="ru-RU" dirty="0" smtClean="0"/>
              <a:t> </a:t>
            </a:r>
            <a:r>
              <a:rPr lang="ru-RU" dirty="0" err="1" smtClean="0"/>
              <a:t>освітньої</a:t>
            </a:r>
            <a:r>
              <a:rPr lang="ru-RU" dirty="0" smtClean="0"/>
              <a:t> </a:t>
            </a:r>
            <a:r>
              <a:rPr lang="ru-RU" dirty="0" err="1" smtClean="0"/>
              <a:t>діяльності</a:t>
            </a:r>
            <a:r>
              <a:rPr lang="ru-RU" dirty="0" smtClean="0"/>
              <a:t>: </a:t>
            </a:r>
            <a:br>
              <a:rPr lang="ru-RU" dirty="0" smtClean="0"/>
            </a:b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ru-RU" dirty="0" smtClean="0"/>
          </a:p>
          <a:p>
            <a:r>
              <a:rPr lang="uk-UA" dirty="0" smtClean="0"/>
              <a:t> подолання втрат у навчанні, зумовлених спочатку тривалими</a:t>
            </a:r>
          </a:p>
          <a:p>
            <a:pPr marL="0" indent="0">
              <a:buNone/>
            </a:pPr>
            <a:r>
              <a:rPr lang="uk-UA" dirty="0" smtClean="0"/>
              <a:t>карантинами, потім – війною;</a:t>
            </a:r>
          </a:p>
          <a:p>
            <a:r>
              <a:rPr lang="uk-UA" dirty="0" smtClean="0"/>
              <a:t> посилення заходів безпеки життєдіяльності;</a:t>
            </a:r>
          </a:p>
          <a:p>
            <a:r>
              <a:rPr lang="uk-UA" dirty="0" smtClean="0"/>
              <a:t> просвіта з питань особистої безпеки;</a:t>
            </a:r>
          </a:p>
          <a:p>
            <a:r>
              <a:rPr lang="uk-UA" dirty="0" smtClean="0"/>
              <a:t> посилення національно-патріотичного виховання;</a:t>
            </a:r>
          </a:p>
          <a:p>
            <a:r>
              <a:rPr lang="uk-UA" dirty="0" smtClean="0"/>
              <a:t> формування громадянської позиції;</a:t>
            </a:r>
          </a:p>
          <a:p>
            <a:r>
              <a:rPr lang="uk-UA" dirty="0" smtClean="0"/>
              <a:t> розвиток навичок інформаційної гігієни під час війни;</a:t>
            </a:r>
          </a:p>
          <a:p>
            <a:r>
              <a:rPr lang="uk-UA" dirty="0" smtClean="0"/>
              <a:t> психологічна підтримка усіх учасників освітнього процесу;</a:t>
            </a:r>
          </a:p>
          <a:p>
            <a:r>
              <a:rPr lang="uk-UA" dirty="0" smtClean="0"/>
              <a:t> психологічний супровід освітнього процесу в умовах воєнного й</a:t>
            </a:r>
          </a:p>
          <a:p>
            <a:r>
              <a:rPr lang="uk-UA" dirty="0" smtClean="0"/>
              <a:t>післявоєнного часу. 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629904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Рекомендації</a:t>
            </a:r>
            <a:r>
              <a:rPr lang="ru-RU" dirty="0" smtClean="0"/>
              <a:t> </a:t>
            </a:r>
            <a:r>
              <a:rPr lang="ru-RU" dirty="0" err="1" smtClean="0"/>
              <a:t>щодо</a:t>
            </a:r>
            <a:r>
              <a:rPr lang="ru-RU" dirty="0" smtClean="0"/>
              <a:t> </a:t>
            </a:r>
            <a:r>
              <a:rPr lang="ru-RU" dirty="0" err="1" smtClean="0"/>
              <a:t>заходів</a:t>
            </a:r>
            <a:r>
              <a:rPr lang="ru-RU" dirty="0" smtClean="0"/>
              <a:t> </a:t>
            </a:r>
            <a:r>
              <a:rPr lang="ru-RU" dirty="0" err="1" smtClean="0"/>
              <a:t>створення</a:t>
            </a:r>
            <a:r>
              <a:rPr lang="ru-RU" dirty="0" smtClean="0"/>
              <a:t> </a:t>
            </a:r>
            <a:r>
              <a:rPr lang="ru-RU" dirty="0" err="1" smtClean="0"/>
              <a:t>безпечного</a:t>
            </a:r>
            <a:r>
              <a:rPr lang="ru-RU" dirty="0" smtClean="0"/>
              <a:t> </a:t>
            </a:r>
            <a:r>
              <a:rPr lang="ru-RU" dirty="0" err="1" smtClean="0"/>
              <a:t>освітнього</a:t>
            </a:r>
            <a:r>
              <a:rPr lang="ru-RU" dirty="0" smtClean="0"/>
              <a:t> </a:t>
            </a:r>
            <a:r>
              <a:rPr lang="ru-RU" dirty="0" err="1" smtClean="0"/>
              <a:t>середовища</a:t>
            </a:r>
            <a:r>
              <a:rPr lang="ru-RU" dirty="0" smtClean="0"/>
              <a:t>: 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uk-UA" dirty="0" smtClean="0"/>
              <a:t> у закладах освіти доцільно проводити тренування учнів та працівників</a:t>
            </a:r>
          </a:p>
          <a:p>
            <a:pPr marL="0" indent="0">
              <a:buNone/>
            </a:pPr>
            <a:r>
              <a:rPr lang="uk-UA" dirty="0" smtClean="0"/>
              <a:t>щодо правил поводження під час повітряних </a:t>
            </a:r>
            <a:r>
              <a:rPr lang="uk-UA" dirty="0" err="1" smtClean="0"/>
              <a:t>тривог</a:t>
            </a:r>
            <a:r>
              <a:rPr lang="uk-UA" dirty="0" smtClean="0"/>
              <a:t>, евакуації, перебування у бомбосховищі або укритті;</a:t>
            </a:r>
          </a:p>
          <a:p>
            <a:r>
              <a:rPr lang="uk-UA" dirty="0" smtClean="0"/>
              <a:t> усім учителям рекомендовано пройти навчання з надання першої</a:t>
            </a:r>
          </a:p>
          <a:p>
            <a:pPr marL="0" indent="0">
              <a:buNone/>
            </a:pPr>
            <a:r>
              <a:rPr lang="uk-UA" dirty="0" smtClean="0"/>
              <a:t>невідкладної допомоги дітям;</a:t>
            </a:r>
          </a:p>
          <a:p>
            <a:r>
              <a:rPr lang="uk-UA" dirty="0" smtClean="0"/>
              <a:t> слід напрацювати алгоритми роботи з батьками у разі ймовірних</a:t>
            </a:r>
          </a:p>
          <a:p>
            <a:pPr marL="0" indent="0">
              <a:buNone/>
            </a:pPr>
            <a:r>
              <a:rPr lang="uk-UA" dirty="0" smtClean="0"/>
              <a:t>надзвичайних ситуацій, дій школи за таких умов, зокрема проведення</a:t>
            </a:r>
          </a:p>
          <a:p>
            <a:pPr marL="0" indent="0">
              <a:buNone/>
            </a:pPr>
            <a:r>
              <a:rPr lang="uk-UA" dirty="0" smtClean="0"/>
              <a:t>евакуації, комунікації з учасниками освітнього процесу, вмісту дитячого</a:t>
            </a:r>
          </a:p>
          <a:p>
            <a:pPr marL="0" indent="0">
              <a:buNone/>
            </a:pPr>
            <a:r>
              <a:rPr lang="uk-UA" dirty="0" smtClean="0"/>
              <a:t>наплічника тощо;</a:t>
            </a:r>
          </a:p>
          <a:p>
            <a:r>
              <a:rPr lang="uk-UA" dirty="0" smtClean="0"/>
              <a:t> особливо актуальним для закладів освіти, що приймають дітей із числа</a:t>
            </a:r>
          </a:p>
          <a:p>
            <a:pPr marL="0" indent="0">
              <a:buNone/>
            </a:pPr>
            <a:r>
              <a:rPr lang="uk-UA" dirty="0" smtClean="0"/>
              <a:t>внутрішньо переміщених осіб, є перегляд </a:t>
            </a:r>
            <a:r>
              <a:rPr lang="uk-UA" dirty="0" err="1" smtClean="0"/>
              <a:t>антибулінгових</a:t>
            </a:r>
            <a:r>
              <a:rPr lang="uk-UA" dirty="0" smtClean="0"/>
              <a:t> політик,</a:t>
            </a:r>
          </a:p>
          <a:p>
            <a:pPr marL="0" indent="0">
              <a:buNone/>
            </a:pPr>
            <a:r>
              <a:rPr lang="uk-UA" dirty="0" smtClean="0"/>
              <a:t>розроблення адаптаційних заходів для таких учнів. 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686018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dirty="0" smtClean="0"/>
              <a:t>Зазначимо, що у класах для учнів має бути створене безпечне місце:</a:t>
            </a:r>
          </a:p>
          <a:p>
            <a:pPr marL="0" indent="0">
              <a:buNone/>
            </a:pPr>
            <a:r>
              <a:rPr lang="uk-UA" dirty="0" smtClean="0"/>
              <a:t>поширеною практикою облаштування шкільного середовища є організація у класних кімнатах та інших приміщеннях «безпечних місць» для дітей, які переживають травматичний досвід. Для цього облаштовується затишний куточок зі зручними місцями для сидіння, наприклад, крісла-мішки, а також відповідним обладнанням (м’ячі для зняття стресу, м’які іграшки або подушки, книги, фотографії друзів, сім’ї або будь-які інші предмети, які можуть заспокоїти учнів). 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30822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 smtClean="0"/>
              <a:t>Перебування</a:t>
            </a:r>
            <a:r>
              <a:rPr lang="ru-RU" dirty="0" smtClean="0"/>
              <a:t> у </a:t>
            </a:r>
            <a:r>
              <a:rPr lang="ru-RU" dirty="0" err="1" smtClean="0"/>
              <a:t>безпечному</a:t>
            </a:r>
            <a:r>
              <a:rPr lang="ru-RU" dirty="0" smtClean="0"/>
              <a:t> </a:t>
            </a:r>
            <a:r>
              <a:rPr lang="ru-RU" dirty="0" err="1" smtClean="0"/>
              <a:t>місці</a:t>
            </a:r>
            <a:r>
              <a:rPr lang="ru-RU" dirty="0" smtClean="0"/>
              <a:t> не повинно </a:t>
            </a:r>
            <a:r>
              <a:rPr lang="ru-RU" dirty="0" err="1" smtClean="0"/>
              <a:t>використовуватися</a:t>
            </a:r>
            <a:r>
              <a:rPr lang="ru-RU" dirty="0" smtClean="0"/>
              <a:t> як </a:t>
            </a:r>
            <a:r>
              <a:rPr lang="ru-RU" dirty="0" err="1" smtClean="0"/>
              <a:t>покарання</a:t>
            </a:r>
            <a:r>
              <a:rPr lang="ru-RU" dirty="0" smtClean="0"/>
              <a:t>. </a:t>
            </a:r>
            <a:r>
              <a:rPr lang="ru-RU" dirty="0" err="1" smtClean="0"/>
              <a:t>Учні</a:t>
            </a:r>
            <a:r>
              <a:rPr lang="ru-RU" dirty="0" smtClean="0"/>
              <a:t> </a:t>
            </a:r>
            <a:r>
              <a:rPr lang="ru-RU" dirty="0" err="1" smtClean="0"/>
              <a:t>можуть</a:t>
            </a:r>
            <a:r>
              <a:rPr lang="ru-RU" dirty="0" smtClean="0"/>
              <a:t> </a:t>
            </a:r>
            <a:r>
              <a:rPr lang="ru-RU" dirty="0" err="1" smtClean="0"/>
              <a:t>самостійно</a:t>
            </a:r>
            <a:r>
              <a:rPr lang="ru-RU" dirty="0" smtClean="0"/>
              <a:t> </a:t>
            </a:r>
            <a:r>
              <a:rPr lang="ru-RU" dirty="0" err="1" smtClean="0"/>
              <a:t>обирати</a:t>
            </a:r>
            <a:r>
              <a:rPr lang="ru-RU" dirty="0" smtClean="0"/>
              <a:t>, коли </a:t>
            </a:r>
            <a:r>
              <a:rPr lang="ru-RU" dirty="0" err="1" smtClean="0"/>
              <a:t>їм</a:t>
            </a:r>
            <a:r>
              <a:rPr lang="ru-RU" dirty="0" smtClean="0"/>
              <a:t> </a:t>
            </a:r>
            <a:r>
              <a:rPr lang="ru-RU" dirty="0" err="1" smtClean="0"/>
              <a:t>потрібно</a:t>
            </a:r>
            <a:r>
              <a:rPr lang="ru-RU" dirty="0" smtClean="0"/>
              <a:t> </a:t>
            </a:r>
            <a:r>
              <a:rPr lang="ru-RU" dirty="0" err="1" smtClean="0"/>
              <a:t>побути</a:t>
            </a:r>
            <a:r>
              <a:rPr lang="ru-RU" dirty="0" smtClean="0"/>
              <a:t> у </a:t>
            </a:r>
            <a:r>
              <a:rPr lang="ru-RU" dirty="0" err="1" smtClean="0"/>
              <a:t>цьому</a:t>
            </a:r>
            <a:r>
              <a:rPr lang="ru-RU" dirty="0" smtClean="0"/>
              <a:t> </a:t>
            </a:r>
            <a:r>
              <a:rPr lang="ru-RU" dirty="0" err="1" smtClean="0"/>
              <a:t>просторі</a:t>
            </a:r>
            <a:r>
              <a:rPr lang="ru-RU" dirty="0" smtClean="0"/>
              <a:t>, </a:t>
            </a:r>
            <a:r>
              <a:rPr lang="ru-RU" dirty="0" err="1" smtClean="0"/>
              <a:t>щоб</a:t>
            </a:r>
            <a:r>
              <a:rPr lang="ru-RU" dirty="0" smtClean="0"/>
              <a:t> </a:t>
            </a:r>
            <a:r>
              <a:rPr lang="ru-RU" dirty="0" err="1" smtClean="0"/>
              <a:t>заспокоїтися</a:t>
            </a:r>
            <a:r>
              <a:rPr lang="ru-RU" dirty="0" smtClean="0"/>
              <a:t> і </a:t>
            </a:r>
            <a:r>
              <a:rPr lang="ru-RU" dirty="0" err="1" smtClean="0"/>
              <a:t>вийти</a:t>
            </a:r>
            <a:r>
              <a:rPr lang="ru-RU" dirty="0" smtClean="0"/>
              <a:t> </a:t>
            </a:r>
            <a:r>
              <a:rPr lang="ru-RU" dirty="0" err="1" smtClean="0"/>
              <a:t>зі</a:t>
            </a:r>
            <a:r>
              <a:rPr lang="ru-RU" dirty="0" smtClean="0"/>
              <a:t> стану </a:t>
            </a:r>
            <a:r>
              <a:rPr lang="ru-RU" dirty="0" err="1" smtClean="0"/>
              <a:t>засмученості</a:t>
            </a:r>
            <a:r>
              <a:rPr lang="ru-RU" dirty="0" smtClean="0"/>
              <a:t>. Педагог </a:t>
            </a:r>
            <a:r>
              <a:rPr lang="ru-RU" dirty="0" err="1" smtClean="0"/>
              <a:t>може</a:t>
            </a:r>
            <a:r>
              <a:rPr lang="ru-RU" dirty="0" smtClean="0"/>
              <a:t> </a:t>
            </a:r>
            <a:r>
              <a:rPr lang="ru-RU" dirty="0" err="1" smtClean="0"/>
              <a:t>запросити</a:t>
            </a:r>
            <a:r>
              <a:rPr lang="ru-RU" dirty="0" smtClean="0"/>
              <a:t> </a:t>
            </a:r>
            <a:r>
              <a:rPr lang="ru-RU" dirty="0" err="1" smtClean="0"/>
              <a:t>дитину</a:t>
            </a:r>
            <a:r>
              <a:rPr lang="ru-RU" dirty="0" smtClean="0"/>
              <a:t> в </a:t>
            </a:r>
            <a:r>
              <a:rPr lang="ru-RU" dirty="0" err="1" smtClean="0"/>
              <a:t>безпечне</a:t>
            </a:r>
            <a:r>
              <a:rPr lang="ru-RU" dirty="0" smtClean="0"/>
              <a:t> </a:t>
            </a:r>
            <a:r>
              <a:rPr lang="ru-RU" dirty="0" err="1" smtClean="0"/>
              <a:t>місце</a:t>
            </a:r>
            <a:r>
              <a:rPr lang="ru-RU" dirty="0" smtClean="0"/>
              <a:t>, </a:t>
            </a:r>
            <a:r>
              <a:rPr lang="ru-RU" dirty="0" err="1" smtClean="0"/>
              <a:t>якщо</a:t>
            </a:r>
            <a:r>
              <a:rPr lang="ru-RU" dirty="0" smtClean="0"/>
              <a:t> </a:t>
            </a:r>
            <a:r>
              <a:rPr lang="ru-RU" dirty="0" err="1" smtClean="0"/>
              <a:t>бачить</a:t>
            </a:r>
            <a:r>
              <a:rPr lang="ru-RU" dirty="0" smtClean="0"/>
              <a:t> у </a:t>
            </a:r>
            <a:r>
              <a:rPr lang="ru-RU" dirty="0" err="1" smtClean="0"/>
              <a:t>цьому</a:t>
            </a:r>
            <a:r>
              <a:rPr lang="ru-RU" dirty="0" smtClean="0"/>
              <a:t> </a:t>
            </a:r>
            <a:r>
              <a:rPr lang="ru-RU" dirty="0" err="1" smtClean="0"/>
              <a:t>необхідність</a:t>
            </a:r>
            <a:r>
              <a:rPr lang="ru-RU" dirty="0" smtClean="0"/>
              <a:t>, але </a:t>
            </a:r>
            <a:r>
              <a:rPr lang="ru-RU" dirty="0" err="1" smtClean="0"/>
              <a:t>це</a:t>
            </a:r>
            <a:r>
              <a:rPr lang="ru-RU" dirty="0" smtClean="0"/>
              <a:t> </a:t>
            </a:r>
            <a:r>
              <a:rPr lang="ru-RU" dirty="0" err="1" smtClean="0"/>
              <a:t>має</a:t>
            </a:r>
            <a:r>
              <a:rPr lang="ru-RU" dirty="0" smtClean="0"/>
              <a:t> бути у </a:t>
            </a:r>
            <a:r>
              <a:rPr lang="ru-RU" dirty="0" err="1" smtClean="0"/>
              <a:t>формі</a:t>
            </a:r>
            <a:r>
              <a:rPr lang="ru-RU" dirty="0" smtClean="0"/>
              <a:t> </a:t>
            </a:r>
            <a:r>
              <a:rPr lang="ru-RU" dirty="0" err="1" smtClean="0"/>
              <a:t>поради</a:t>
            </a:r>
            <a:r>
              <a:rPr lang="ru-RU" dirty="0" smtClean="0"/>
              <a:t>, а не наказу </a:t>
            </a:r>
            <a:r>
              <a:rPr lang="ru-RU" dirty="0" err="1" smtClean="0"/>
              <a:t>чи</a:t>
            </a:r>
            <a:r>
              <a:rPr lang="ru-RU" dirty="0" smtClean="0"/>
              <a:t> </a:t>
            </a:r>
            <a:r>
              <a:rPr lang="ru-RU" dirty="0" err="1" smtClean="0"/>
              <a:t>команди</a:t>
            </a:r>
            <a:r>
              <a:rPr lang="ru-RU" dirty="0" smtClean="0"/>
              <a:t>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187541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uk-UA" dirty="0" smtClean="0"/>
              <a:t>При дистанційному навчанні, керівник закладу загальної</a:t>
            </a:r>
          </a:p>
          <a:p>
            <a:pPr marL="0" indent="0">
              <a:buNone/>
            </a:pPr>
            <a:r>
              <a:rPr lang="uk-UA" dirty="0" smtClean="0"/>
              <a:t>середньої освіти самостійно приймає рішення щодо зняття обмеження на максимальну кількість учнів у класі. При цьому, освітній процес у початковій школі  бажано здійснювати в очній формі, ураховуючи необхідність соціалізації дітей.</a:t>
            </a:r>
          </a:p>
          <a:p>
            <a:r>
              <a:rPr lang="uk-UA" dirty="0" smtClean="0"/>
              <a:t>Форма організації освітнього процесу може змінюватися впродовж навчального  року, залежно від </a:t>
            </a:r>
            <a:r>
              <a:rPr lang="uk-UA" dirty="0" err="1" smtClean="0"/>
              <a:t>безпекової</a:t>
            </a:r>
            <a:r>
              <a:rPr lang="uk-UA" dirty="0" smtClean="0"/>
              <a:t> </a:t>
            </a:r>
            <a:r>
              <a:rPr lang="uk-UA" dirty="0" err="1" smtClean="0"/>
              <a:t>ситуаці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004260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uk-UA" dirty="0" smtClean="0"/>
              <a:t>У 2019 році Україна приєдналася до Декларації про безпеку шкіл (</a:t>
            </a:r>
            <a:r>
              <a:rPr lang="en-US" dirty="0" smtClean="0"/>
              <a:t>Safe Schools Declaration) </a:t>
            </a:r>
            <a:r>
              <a:rPr lang="uk-UA" dirty="0" smtClean="0"/>
              <a:t>і стала сотою країною, що підтримала положення цього документа. Декларація містить низку зобов’язань для  попередження і реагування на напади та використання закладів освіти у військових цілях у період збройного конфлікту. 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831725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365124"/>
            <a:ext cx="10515600" cy="6492875"/>
          </a:xfrm>
        </p:spPr>
        <p:txBody>
          <a:bodyPr>
            <a:normAutofit fontScale="92500" lnSpcReduction="20000"/>
          </a:bodyPr>
          <a:lstStyle/>
          <a:p>
            <a:r>
              <a:rPr lang="uk-UA" dirty="0" smtClean="0"/>
              <a:t>У квітні 2023 року Кабінет Міністрів України ухвалив Концепцію безпеки</a:t>
            </a:r>
          </a:p>
          <a:p>
            <a:pPr marL="0" indent="0">
              <a:buNone/>
            </a:pPr>
            <a:r>
              <a:rPr lang="uk-UA" dirty="0" smtClean="0"/>
              <a:t>закладів освіти на 2023-2025 роки [4]. Метою цього стратегічного документа є</a:t>
            </a:r>
          </a:p>
          <a:p>
            <a:pPr marL="0" indent="0">
              <a:buNone/>
            </a:pPr>
            <a:r>
              <a:rPr lang="uk-UA" dirty="0" smtClean="0"/>
              <a:t>створення рівних, належних і безпечних умов здобуття освіти та організація</a:t>
            </a:r>
          </a:p>
          <a:p>
            <a:pPr marL="0" indent="0">
              <a:buNone/>
            </a:pPr>
            <a:r>
              <a:rPr lang="uk-UA" dirty="0" smtClean="0"/>
              <a:t>безпечного освітнього середовища, в якому визначено ключові завдання:</a:t>
            </a:r>
          </a:p>
          <a:p>
            <a:pPr marL="0" indent="0">
              <a:buNone/>
            </a:pPr>
            <a:r>
              <a:rPr lang="uk-UA" dirty="0" smtClean="0"/>
              <a:t>1. Створення безпечної інфраструктури закладів освіти. Реалізація цього</a:t>
            </a:r>
          </a:p>
          <a:p>
            <a:pPr marL="0" indent="0">
              <a:buNone/>
            </a:pPr>
            <a:r>
              <a:rPr lang="uk-UA" dirty="0" smtClean="0"/>
              <a:t>напряму передбачає виконання таких заходів:</a:t>
            </a:r>
          </a:p>
          <a:p>
            <a:pPr marL="0" indent="0">
              <a:buNone/>
            </a:pPr>
            <a:r>
              <a:rPr lang="uk-UA" dirty="0" smtClean="0"/>
              <a:t> удосконалення нормативно-правової бази у сфері цивільного захисту;</a:t>
            </a:r>
          </a:p>
          <a:p>
            <a:pPr marL="0" indent="0">
              <a:buNone/>
            </a:pPr>
            <a:r>
              <a:rPr lang="uk-UA" dirty="0" smtClean="0"/>
              <a:t> облаштування існуючих та будівництво нових захисних споруд</a:t>
            </a:r>
          </a:p>
          <a:p>
            <a:pPr marL="0" indent="0">
              <a:buNone/>
            </a:pPr>
            <a:r>
              <a:rPr lang="uk-UA" dirty="0" smtClean="0"/>
              <a:t>цивільного захисту закладів освіти й забезпечення в них мінімальних</a:t>
            </a:r>
          </a:p>
          <a:p>
            <a:pPr marL="0" indent="0">
              <a:buNone/>
            </a:pPr>
            <a:r>
              <a:rPr lang="uk-UA" dirty="0" smtClean="0"/>
              <a:t>вимог для належної організації освітнього процесу;</a:t>
            </a:r>
          </a:p>
          <a:p>
            <a:pPr marL="0" indent="0">
              <a:buNone/>
            </a:pPr>
            <a:r>
              <a:rPr lang="uk-UA" dirty="0" smtClean="0"/>
              <a:t> забезпечення пожежної та техногенної безпеки закладів освіти;</a:t>
            </a:r>
          </a:p>
          <a:p>
            <a:pPr marL="0" indent="0">
              <a:buNone/>
            </a:pPr>
            <a:r>
              <a:rPr lang="uk-UA" dirty="0" smtClean="0"/>
              <a:t> забезпечення охорони закладів освіти із залученням поліції, охорони,</a:t>
            </a:r>
          </a:p>
          <a:p>
            <a:pPr marL="0" indent="0">
              <a:buNone/>
            </a:pPr>
            <a:r>
              <a:rPr lang="uk-UA" dirty="0" smtClean="0"/>
              <a:t>встановлення комплексу тривожної сигналізації та стаціонарних</a:t>
            </a:r>
          </a:p>
          <a:p>
            <a:pPr marL="0" indent="0">
              <a:buNone/>
            </a:pPr>
            <a:r>
              <a:rPr lang="uk-UA" dirty="0" err="1" smtClean="0"/>
              <a:t>металодетекторів</a:t>
            </a:r>
            <a:r>
              <a:rPr lang="uk-UA" dirty="0" smtClean="0"/>
              <a:t>, облаштування необхідних огорож та здійснення інших</a:t>
            </a:r>
          </a:p>
          <a:p>
            <a:pPr marL="0" indent="0">
              <a:buNone/>
            </a:pPr>
            <a:r>
              <a:rPr lang="uk-UA" dirty="0" smtClean="0"/>
              <a:t>інфраструктурних заходів.</a:t>
            </a:r>
          </a:p>
          <a:p>
            <a:pPr marL="0" indent="0">
              <a:buNone/>
            </a:pPr>
            <a:r>
              <a:rPr lang="uk-UA" dirty="0" smtClean="0"/>
              <a:t>2. Ефективне попередження та протидія негативним </a:t>
            </a:r>
            <a:r>
              <a:rPr lang="uk-UA" dirty="0" err="1" smtClean="0"/>
              <a:t>безпековим</a:t>
            </a:r>
            <a:r>
              <a:rPr lang="uk-UA" dirty="0" smtClean="0"/>
              <a:t> явищам в</a:t>
            </a:r>
          </a:p>
          <a:p>
            <a:pPr marL="0" indent="0">
              <a:buNone/>
            </a:pPr>
            <a:r>
              <a:rPr lang="uk-UA" dirty="0" smtClean="0"/>
              <a:t>освітньому середовищі.</a:t>
            </a:r>
          </a:p>
          <a:p>
            <a:r>
              <a:rPr lang="uk-UA" dirty="0" smtClean="0"/>
              <a:t>3. Формування компетентностей безпеки в учасників освітнього процесу. 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564609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 smtClean="0"/>
              <a:t>Концепцією передбачено проведення таких заходів </a:t>
            </a:r>
            <a:br>
              <a:rPr lang="uk-UA" dirty="0" smtClean="0"/>
            </a:b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uk-UA" dirty="0" smtClean="0"/>
              <a:t> організація системного навчання учасників освітнього процесу діям в</a:t>
            </a:r>
          </a:p>
          <a:p>
            <a:r>
              <a:rPr lang="uk-UA" dirty="0" smtClean="0"/>
              <a:t>умовах надзвичайних ситуацій;</a:t>
            </a:r>
          </a:p>
          <a:p>
            <a:r>
              <a:rPr lang="uk-UA" dirty="0" smtClean="0"/>
              <a:t> перегляд та актуалізація освітніх програм з питань безпеки життєдіяльності, цивільного захисту та </a:t>
            </a:r>
            <a:r>
              <a:rPr lang="uk-UA" dirty="0" err="1" smtClean="0"/>
              <a:t>домедичної</a:t>
            </a:r>
            <a:r>
              <a:rPr lang="uk-UA" dirty="0" smtClean="0"/>
              <a:t> допомоги, прав,</a:t>
            </a:r>
          </a:p>
          <a:p>
            <a:r>
              <a:rPr lang="uk-UA" dirty="0" smtClean="0"/>
              <a:t>свобод та обов’язків громадянина. Окрема увага має бути приділена  впровадженню соціально-емоційного навчання та здійсненню інтеграції  знань про психічне здоров’я в освітній процес;</a:t>
            </a:r>
          </a:p>
          <a:p>
            <a:r>
              <a:rPr lang="uk-UA" dirty="0" smtClean="0"/>
              <a:t> запровадження в освітній процес закладів освіти програм, спрямованих на формування у здобувачів освіти правової поведінки, запобігання конфліктам та правопорушенням, здобуття навичок щодо безпечної  поведінки в Інтернеті;</a:t>
            </a:r>
          </a:p>
          <a:p>
            <a:r>
              <a:rPr lang="uk-UA" dirty="0" smtClean="0"/>
              <a:t> запровадження обов’язкового підвищення кваліфікації педагогічних та інших працівників закладів освіти з </a:t>
            </a:r>
            <a:r>
              <a:rPr lang="uk-UA" dirty="0" err="1" smtClean="0"/>
              <a:t>безпекових</a:t>
            </a:r>
            <a:r>
              <a:rPr lang="uk-UA" dirty="0" smtClean="0"/>
              <a:t> питань, питань базових психологічних </a:t>
            </a:r>
            <a:r>
              <a:rPr lang="uk-UA" dirty="0" err="1" smtClean="0"/>
              <a:t>втручань</a:t>
            </a:r>
            <a:r>
              <a:rPr lang="uk-UA" dirty="0" smtClean="0"/>
              <a:t>, основ психологічної самодопомоги і прав,</a:t>
            </a:r>
          </a:p>
          <a:p>
            <a:r>
              <a:rPr lang="uk-UA" dirty="0" smtClean="0"/>
              <a:t>свобод та обов’язків громадянина. 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237546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uk-UA" dirty="0"/>
              <a:t> </a:t>
            </a:r>
            <a:r>
              <a:rPr lang="ru-RU" dirty="0" smtClean="0"/>
              <a:t>Гнатюк Ольга </a:t>
            </a:r>
            <a:r>
              <a:rPr lang="ru-RU" dirty="0" err="1" smtClean="0"/>
              <a:t>Владиславівна</a:t>
            </a:r>
            <a:r>
              <a:rPr lang="ru-RU" dirty="0" smtClean="0"/>
              <a:t> </a:t>
            </a:r>
            <a:r>
              <a:rPr lang="ru-RU" dirty="0" smtClean="0"/>
              <a:t>БЕЗПЕЧНЕ ОСВІТНЄ СЕРЕДОВИЩЕ В УМОВАХ ВОЄННОГО ЧАСУ: ПСИХОЛОГІЧНИЙ АСПЕКТ (м. </a:t>
            </a:r>
            <a:r>
              <a:rPr lang="ru-RU" dirty="0" err="1" smtClean="0"/>
              <a:t>Київ</a:t>
            </a:r>
            <a:r>
              <a:rPr lang="ru-RU" dirty="0" smtClean="0"/>
              <a:t>, </a:t>
            </a:r>
            <a:r>
              <a:rPr lang="ru-RU" dirty="0" err="1" smtClean="0"/>
              <a:t>Україна</a:t>
            </a:r>
            <a:r>
              <a:rPr lang="ru-RU" dirty="0" smtClean="0"/>
              <a:t>) </a:t>
            </a:r>
            <a:r>
              <a:rPr lang="en-US" dirty="0" smtClean="0"/>
              <a:t>https://lib.iitta.gov.ua/id/eprint/744969/1/%D0%A2%D0%B5%D0%BA%D1%81%D1%82.pdf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6612407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18</TotalTime>
  <Words>1035</Words>
  <Application>Microsoft Office PowerPoint</Application>
  <PresentationFormat>Широкоэкранный</PresentationFormat>
  <Paragraphs>75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Century Gothic</vt:lpstr>
      <vt:lpstr>Times New Roman</vt:lpstr>
      <vt:lpstr>Wingdings 3</vt:lpstr>
      <vt:lpstr>Ион</vt:lpstr>
      <vt:lpstr>Безпечне життєве середовище</vt:lpstr>
      <vt:lpstr>Презентация PowerPoint</vt:lpstr>
      <vt:lpstr>Презентация PowerPoint</vt:lpstr>
      <vt:lpstr>Презентация PowerPoint</vt:lpstr>
      <vt:lpstr>Презентация PowerPoint</vt:lpstr>
      <vt:lpstr>Психологічне забезпечення таких напрямів освітньої діяльності:  </vt:lpstr>
      <vt:lpstr>Рекомендації щодо заходів створення безпечного освітнього середовища: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Концепцією передбачено проведення таких заходів  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4</cp:revision>
  <dcterms:created xsi:type="dcterms:W3CDTF">2025-09-17T15:49:59Z</dcterms:created>
  <dcterms:modified xsi:type="dcterms:W3CDTF">2025-09-17T16:08:45Z</dcterms:modified>
</cp:coreProperties>
</file>