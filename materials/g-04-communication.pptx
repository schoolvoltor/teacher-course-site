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Pangolin" panose="020B0604020202020204" charset="-52"/>
      <p:regular r:id="rId16"/>
    </p:embeddedFont>
    <p:embeddedFont>
      <p:font typeface="Smile Font TH" panose="020B0604020202020204" charset="-34"/>
      <p:regular r:id="rId17"/>
    </p:embeddedFont>
    <p:embeddedFont>
      <p:font typeface="Smile Font TH Bold" panose="020B0604020202020204" charset="-34"/>
      <p:regular r:id="rId18"/>
    </p:embeddedFont>
    <p:embeddedFont>
      <p:font typeface="Calibri" panose="020F0502020204030204" pitchFamily="34" charset="0"/>
      <p:regular r:id="rId19"/>
      <p:bold r:id="rId20"/>
      <p:italic r:id="rId21"/>
      <p:boldItalic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6" d="100"/>
          <a:sy n="46" d="100"/>
        </p:scale>
        <p:origin x="756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6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image" Target="../media/image8.svg"/><Relationship Id="rId1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svg"/><Relationship Id="rId7" Type="http://schemas.openxmlformats.org/officeDocument/2006/relationships/image" Target="../media/image24.svg"/><Relationship Id="rId12" Type="http://schemas.openxmlformats.org/officeDocument/2006/relationships/image" Target="../media/image2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22.sv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24.sv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24.sv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17.png"/><Relationship Id="rId3" Type="http://schemas.openxmlformats.org/officeDocument/2006/relationships/image" Target="../media/image2.svg"/><Relationship Id="rId7" Type="http://schemas.openxmlformats.org/officeDocument/2006/relationships/image" Target="../media/image24.svg"/><Relationship Id="rId12" Type="http://schemas.openxmlformats.org/officeDocument/2006/relationships/image" Target="../media/image4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38.svg"/><Relationship Id="rId4" Type="http://schemas.openxmlformats.org/officeDocument/2006/relationships/image" Target="../media/image14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24.svg"/><Relationship Id="rId10" Type="http://schemas.openxmlformats.org/officeDocument/2006/relationships/image" Target="../media/image18.png"/><Relationship Id="rId4" Type="http://schemas.openxmlformats.org/officeDocument/2006/relationships/image" Target="../media/image10.png"/><Relationship Id="rId9" Type="http://schemas.openxmlformats.org/officeDocument/2006/relationships/image" Target="../media/image2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sv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sv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.svg"/><Relationship Id="rId7" Type="http://schemas.openxmlformats.org/officeDocument/2006/relationships/image" Target="../media/image2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22.sv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14.svg"/><Relationship Id="rId3" Type="http://schemas.openxmlformats.org/officeDocument/2006/relationships/image" Target="../media/image2.svg"/><Relationship Id="rId7" Type="http://schemas.openxmlformats.org/officeDocument/2006/relationships/image" Target="../media/image30.svg"/><Relationship Id="rId12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34.svg"/><Relationship Id="rId5" Type="http://schemas.openxmlformats.org/officeDocument/2006/relationships/image" Target="../media/image24.svg"/><Relationship Id="rId10" Type="http://schemas.openxmlformats.org/officeDocument/2006/relationships/image" Target="../media/image22.png"/><Relationship Id="rId4" Type="http://schemas.openxmlformats.org/officeDocument/2006/relationships/image" Target="../media/image10.png"/><Relationship Id="rId9" Type="http://schemas.openxmlformats.org/officeDocument/2006/relationships/image" Target="../media/image32.svg"/><Relationship Id="rId1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image" Target="../media/image2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4.sv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sv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.svg"/><Relationship Id="rId7" Type="http://schemas.openxmlformats.org/officeDocument/2006/relationships/image" Target="../media/image57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2.sv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2.svg"/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4.sv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B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06462" y="2027359"/>
            <a:ext cx="15388351" cy="6232282"/>
          </a:xfrm>
          <a:custGeom>
            <a:avLst/>
            <a:gdLst/>
            <a:ahLst/>
            <a:cxnLst/>
            <a:rect l="l" t="t" r="r" b="b"/>
            <a:pathLst>
              <a:path w="15388351" h="6232282">
                <a:moveTo>
                  <a:pt x="0" y="0"/>
                </a:moveTo>
                <a:lnTo>
                  <a:pt x="15388350" y="0"/>
                </a:lnTo>
                <a:lnTo>
                  <a:pt x="15388350" y="6232282"/>
                </a:lnTo>
                <a:lnTo>
                  <a:pt x="0" y="62322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379087" y="1910460"/>
            <a:ext cx="15388351" cy="6232282"/>
          </a:xfrm>
          <a:custGeom>
            <a:avLst/>
            <a:gdLst/>
            <a:ahLst/>
            <a:cxnLst/>
            <a:rect l="l" t="t" r="r" b="b"/>
            <a:pathLst>
              <a:path w="15388351" h="6232282">
                <a:moveTo>
                  <a:pt x="0" y="0"/>
                </a:moveTo>
                <a:lnTo>
                  <a:pt x="15388351" y="0"/>
                </a:lnTo>
                <a:lnTo>
                  <a:pt x="15388351" y="6232281"/>
                </a:lnTo>
                <a:lnTo>
                  <a:pt x="0" y="62322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204622" y="-119247"/>
            <a:ext cx="3669459" cy="3435948"/>
          </a:xfrm>
          <a:custGeom>
            <a:avLst/>
            <a:gdLst/>
            <a:ahLst/>
            <a:cxnLst/>
            <a:rect l="l" t="t" r="r" b="b"/>
            <a:pathLst>
              <a:path w="3669459" h="3435948">
                <a:moveTo>
                  <a:pt x="0" y="0"/>
                </a:moveTo>
                <a:lnTo>
                  <a:pt x="3669459" y="0"/>
                </a:lnTo>
                <a:lnTo>
                  <a:pt x="3669459" y="3435949"/>
                </a:lnTo>
                <a:lnTo>
                  <a:pt x="0" y="34359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2218701">
            <a:off x="1412196" y="6664632"/>
            <a:ext cx="1399032" cy="4114800"/>
          </a:xfrm>
          <a:custGeom>
            <a:avLst/>
            <a:gdLst/>
            <a:ahLst/>
            <a:cxnLst/>
            <a:rect l="l" t="t" r="r" b="b"/>
            <a:pathLst>
              <a:path w="1399032" h="4114800">
                <a:moveTo>
                  <a:pt x="0" y="0"/>
                </a:moveTo>
                <a:lnTo>
                  <a:pt x="1399032" y="0"/>
                </a:lnTo>
                <a:lnTo>
                  <a:pt x="139903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744017">
            <a:off x="695783" y="-31779"/>
            <a:ext cx="2927097" cy="2943151"/>
          </a:xfrm>
          <a:custGeom>
            <a:avLst/>
            <a:gdLst/>
            <a:ahLst/>
            <a:cxnLst/>
            <a:rect l="l" t="t" r="r" b="b"/>
            <a:pathLst>
              <a:path w="2927097" h="2943151">
                <a:moveTo>
                  <a:pt x="0" y="0"/>
                </a:moveTo>
                <a:lnTo>
                  <a:pt x="2927097" y="0"/>
                </a:lnTo>
                <a:lnTo>
                  <a:pt x="2927097" y="2943151"/>
                </a:lnTo>
                <a:lnTo>
                  <a:pt x="0" y="294315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902567">
            <a:off x="14813038" y="7500004"/>
            <a:ext cx="2586965" cy="2839982"/>
          </a:xfrm>
          <a:custGeom>
            <a:avLst/>
            <a:gdLst/>
            <a:ahLst/>
            <a:cxnLst/>
            <a:rect l="l" t="t" r="r" b="b"/>
            <a:pathLst>
              <a:path w="2586965" h="2839982">
                <a:moveTo>
                  <a:pt x="0" y="0"/>
                </a:moveTo>
                <a:lnTo>
                  <a:pt x="2586965" y="0"/>
                </a:lnTo>
                <a:lnTo>
                  <a:pt x="2586965" y="2839982"/>
                </a:lnTo>
                <a:lnTo>
                  <a:pt x="0" y="283998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880126">
            <a:off x="11465554" y="8305210"/>
            <a:ext cx="1694778" cy="2201010"/>
          </a:xfrm>
          <a:custGeom>
            <a:avLst/>
            <a:gdLst/>
            <a:ahLst/>
            <a:cxnLst/>
            <a:rect l="l" t="t" r="r" b="b"/>
            <a:pathLst>
              <a:path w="1694778" h="2201010">
                <a:moveTo>
                  <a:pt x="0" y="0"/>
                </a:moveTo>
                <a:lnTo>
                  <a:pt x="1694778" y="0"/>
                </a:lnTo>
                <a:lnTo>
                  <a:pt x="1694778" y="2201011"/>
                </a:lnTo>
                <a:lnTo>
                  <a:pt x="0" y="220101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3459610">
            <a:off x="5317209" y="204149"/>
            <a:ext cx="1694778" cy="2201010"/>
          </a:xfrm>
          <a:custGeom>
            <a:avLst/>
            <a:gdLst/>
            <a:ahLst/>
            <a:cxnLst/>
            <a:rect l="l" t="t" r="r" b="b"/>
            <a:pathLst>
              <a:path w="1694778" h="2201010">
                <a:moveTo>
                  <a:pt x="0" y="0"/>
                </a:moveTo>
                <a:lnTo>
                  <a:pt x="1694778" y="0"/>
                </a:lnTo>
                <a:lnTo>
                  <a:pt x="1694778" y="2201011"/>
                </a:lnTo>
                <a:lnTo>
                  <a:pt x="0" y="220101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6379087" y="7749929"/>
            <a:ext cx="1656015" cy="2537071"/>
          </a:xfrm>
          <a:custGeom>
            <a:avLst/>
            <a:gdLst/>
            <a:ahLst/>
            <a:cxnLst/>
            <a:rect l="l" t="t" r="r" b="b"/>
            <a:pathLst>
              <a:path w="1656015" h="2537071">
                <a:moveTo>
                  <a:pt x="0" y="0"/>
                </a:moveTo>
                <a:lnTo>
                  <a:pt x="1656016" y="0"/>
                </a:lnTo>
                <a:lnTo>
                  <a:pt x="1656016" y="2537071"/>
                </a:lnTo>
                <a:lnTo>
                  <a:pt x="0" y="253707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=""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0069899" y="156308"/>
            <a:ext cx="1759546" cy="2566977"/>
          </a:xfrm>
          <a:custGeom>
            <a:avLst/>
            <a:gdLst/>
            <a:ahLst/>
            <a:cxnLst/>
            <a:rect l="l" t="t" r="r" b="b"/>
            <a:pathLst>
              <a:path w="1759546" h="2566977">
                <a:moveTo>
                  <a:pt x="0" y="0"/>
                </a:moveTo>
                <a:lnTo>
                  <a:pt x="1759546" y="0"/>
                </a:lnTo>
                <a:lnTo>
                  <a:pt x="1759546" y="2566976"/>
                </a:lnTo>
                <a:lnTo>
                  <a:pt x="0" y="256697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=""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499981" y="3843196"/>
            <a:ext cx="15288039" cy="2718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59"/>
              </a:lnSpc>
              <a:spcBef>
                <a:spcPct val="0"/>
              </a:spcBef>
            </a:pPr>
            <a:r>
              <a:rPr lang="en-US" sz="8799" dirty="0" smtClean="0">
                <a:solidFill>
                  <a:srgbClr val="110064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КОМУНІКАЦІЯ</a:t>
            </a:r>
            <a:r>
              <a:rPr lang="en-US" sz="8799" dirty="0" smtClean="0">
                <a:solidFill>
                  <a:srgbClr val="0097B2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 </a:t>
            </a:r>
            <a:r>
              <a:rPr lang="uk-UA" sz="8799" dirty="0" smtClean="0">
                <a:latin typeface="Bubblebody Neue"/>
                <a:ea typeface="Bubblebody Neue"/>
                <a:cs typeface="Bubblebody Neue"/>
                <a:sym typeface="Bubblebody Neue"/>
              </a:rPr>
              <a:t>В ОСВІТНЬОМУ ПРОЦЕСІ</a:t>
            </a:r>
            <a:endParaRPr lang="en-US" sz="8799" dirty="0">
              <a:latin typeface="Bubblebody Neue"/>
              <a:ea typeface="Bubblebody Neue"/>
              <a:cs typeface="Bubblebody Neue"/>
              <a:sym typeface="Bubblebody Neu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B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61681">
            <a:off x="535279" y="237800"/>
            <a:ext cx="26605027" cy="10775036"/>
          </a:xfrm>
          <a:custGeom>
            <a:avLst/>
            <a:gdLst/>
            <a:ahLst/>
            <a:cxnLst/>
            <a:rect l="l" t="t" r="r" b="b"/>
            <a:pathLst>
              <a:path w="26605027" h="10775036">
                <a:moveTo>
                  <a:pt x="0" y="0"/>
                </a:moveTo>
                <a:lnTo>
                  <a:pt x="26605028" y="0"/>
                </a:lnTo>
                <a:lnTo>
                  <a:pt x="26605028" y="10775036"/>
                </a:lnTo>
                <a:lnTo>
                  <a:pt x="0" y="107750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1372931"/>
            <a:ext cx="15451254" cy="844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64"/>
              </a:lnSpc>
            </a:pPr>
            <a:r>
              <a:rPr lang="en-US" sz="3200">
                <a:solidFill>
                  <a:srgbClr val="0097B2"/>
                </a:solidFill>
                <a:latin typeface="More Sugar"/>
                <a:ea typeface="More Sugar"/>
                <a:cs typeface="More Sugar"/>
                <a:sym typeface="More Sugar"/>
              </a:rPr>
              <a:t>ЖИВЕ СПІЛКУВАННЯ. ВЕРБАЛЬНІ І НЕВЕРБАЛЬНІ ЗАСОБИ СПІЛКУВАННЯ. ВМІТИ СКАЗАТИ І ВМІТИ ПОЧУТИ</a:t>
            </a:r>
          </a:p>
        </p:txBody>
      </p:sp>
      <p:sp>
        <p:nvSpPr>
          <p:cNvPr id="4" name="Freeform 4"/>
          <p:cNvSpPr/>
          <p:nvPr/>
        </p:nvSpPr>
        <p:spPr>
          <a:xfrm rot="-1880126">
            <a:off x="16746704" y="665977"/>
            <a:ext cx="2052323" cy="2665355"/>
          </a:xfrm>
          <a:custGeom>
            <a:avLst/>
            <a:gdLst/>
            <a:ahLst/>
            <a:cxnLst/>
            <a:rect l="l" t="t" r="r" b="b"/>
            <a:pathLst>
              <a:path w="2052323" h="2665355">
                <a:moveTo>
                  <a:pt x="0" y="0"/>
                </a:moveTo>
                <a:lnTo>
                  <a:pt x="2052323" y="0"/>
                </a:lnTo>
                <a:lnTo>
                  <a:pt x="2052323" y="2665355"/>
                </a:lnTo>
                <a:lnTo>
                  <a:pt x="0" y="26653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7687953" y="2487253"/>
            <a:ext cx="2912094" cy="564218"/>
          </a:xfrm>
          <a:custGeom>
            <a:avLst/>
            <a:gdLst/>
            <a:ahLst/>
            <a:cxnLst/>
            <a:rect l="l" t="t" r="r" b="b"/>
            <a:pathLst>
              <a:path w="2912094" h="564218">
                <a:moveTo>
                  <a:pt x="0" y="0"/>
                </a:moveTo>
                <a:lnTo>
                  <a:pt x="2912094" y="0"/>
                </a:lnTo>
                <a:lnTo>
                  <a:pt x="2912094" y="564219"/>
                </a:lnTo>
                <a:lnTo>
                  <a:pt x="0" y="5642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6810121" y="3261022"/>
            <a:ext cx="10233868" cy="2785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1">
                <a:solidFill>
                  <a:srgbClr val="00334A"/>
                </a:solidFill>
                <a:latin typeface="Smile Font TH Bold"/>
                <a:ea typeface="Smile Font TH Bold"/>
                <a:cs typeface="Smile Font TH Bold"/>
                <a:sym typeface="Smile Font TH Bold"/>
              </a:rPr>
              <a:t>Комунікація</a:t>
            </a:r>
            <a:r>
              <a:rPr lang="en-US" sz="3200">
                <a:solidFill>
                  <a:srgbClr val="000000"/>
                </a:solidFill>
                <a:latin typeface="Smile Font TH"/>
                <a:ea typeface="Smile Font TH"/>
                <a:cs typeface="Smile Font TH"/>
                <a:sym typeface="Smile Font TH"/>
              </a:rPr>
              <a:t> — це передача інформації: повідомлення передається від відправника до отримувача за допомогою певного середовища (звуку, письмових знаків, рухів тіла або електронних засобів).</a:t>
            </a:r>
          </a:p>
        </p:txBody>
      </p:sp>
      <p:sp>
        <p:nvSpPr>
          <p:cNvPr id="8" name="Freeform 8"/>
          <p:cNvSpPr/>
          <p:nvPr/>
        </p:nvSpPr>
        <p:spPr>
          <a:xfrm rot="108913">
            <a:off x="1231916" y="3851938"/>
            <a:ext cx="5029105" cy="986962"/>
          </a:xfrm>
          <a:custGeom>
            <a:avLst/>
            <a:gdLst/>
            <a:ahLst/>
            <a:cxnLst/>
            <a:rect l="l" t="t" r="r" b="b"/>
            <a:pathLst>
              <a:path w="5029105" h="986962">
                <a:moveTo>
                  <a:pt x="0" y="0"/>
                </a:moveTo>
                <a:lnTo>
                  <a:pt x="5029105" y="0"/>
                </a:lnTo>
                <a:lnTo>
                  <a:pt x="5029105" y="986962"/>
                </a:lnTo>
                <a:lnTo>
                  <a:pt x="0" y="9869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388992" y="4118724"/>
            <a:ext cx="4642723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Smile Font TH"/>
                <a:ea typeface="Smile Font TH"/>
                <a:cs typeface="Smile Font TH"/>
                <a:sym typeface="Smile Font TH"/>
              </a:rPr>
              <a:t>Перегляньте навчальне відео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038826" y="6703992"/>
            <a:ext cx="14785538" cy="1021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More Sugar"/>
                <a:ea typeface="More Sugar"/>
                <a:cs typeface="More Sugar"/>
                <a:sym typeface="More Sugar"/>
              </a:rPr>
              <a:t>Існує багато форм комунікації. Головними принципами розрізнення є: </a:t>
            </a:r>
          </a:p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More Sugar"/>
                <a:ea typeface="More Sugar"/>
                <a:cs typeface="More Sugar"/>
                <a:sym typeface="More Sugar"/>
              </a:rPr>
              <a:t>а) між ким вона відбувається; б) чи використовується мова в процесі комунікації.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B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966856" y="1159453"/>
            <a:ext cx="12354287" cy="5003486"/>
          </a:xfrm>
          <a:custGeom>
            <a:avLst/>
            <a:gdLst/>
            <a:ahLst/>
            <a:cxnLst/>
            <a:rect l="l" t="t" r="r" b="b"/>
            <a:pathLst>
              <a:path w="12354287" h="5003486">
                <a:moveTo>
                  <a:pt x="0" y="0"/>
                </a:moveTo>
                <a:lnTo>
                  <a:pt x="12354288" y="0"/>
                </a:lnTo>
                <a:lnTo>
                  <a:pt x="12354288" y="5003486"/>
                </a:lnTo>
                <a:lnTo>
                  <a:pt x="0" y="50034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966856" y="3764839"/>
            <a:ext cx="12354287" cy="5003486"/>
          </a:xfrm>
          <a:custGeom>
            <a:avLst/>
            <a:gdLst/>
            <a:ahLst/>
            <a:cxnLst/>
            <a:rect l="l" t="t" r="r" b="b"/>
            <a:pathLst>
              <a:path w="12354287" h="5003486">
                <a:moveTo>
                  <a:pt x="0" y="0"/>
                </a:moveTo>
                <a:lnTo>
                  <a:pt x="12354288" y="0"/>
                </a:lnTo>
                <a:lnTo>
                  <a:pt x="12354288" y="5003486"/>
                </a:lnTo>
                <a:lnTo>
                  <a:pt x="0" y="50034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687953" y="2993431"/>
            <a:ext cx="2912094" cy="564218"/>
          </a:xfrm>
          <a:custGeom>
            <a:avLst/>
            <a:gdLst/>
            <a:ahLst/>
            <a:cxnLst/>
            <a:rect l="l" t="t" r="r" b="b"/>
            <a:pathLst>
              <a:path w="2912094" h="564218">
                <a:moveTo>
                  <a:pt x="0" y="0"/>
                </a:moveTo>
                <a:lnTo>
                  <a:pt x="2912094" y="0"/>
                </a:lnTo>
                <a:lnTo>
                  <a:pt x="2912094" y="564218"/>
                </a:lnTo>
                <a:lnTo>
                  <a:pt x="0" y="5642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8000"/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3517459" y="3849607"/>
            <a:ext cx="11286839" cy="3324805"/>
          </a:xfrm>
          <a:custGeom>
            <a:avLst/>
            <a:gdLst/>
            <a:ahLst/>
            <a:cxnLst/>
            <a:rect l="l" t="t" r="r" b="b"/>
            <a:pathLst>
              <a:path w="11286839" h="3324805">
                <a:moveTo>
                  <a:pt x="0" y="0"/>
                </a:moveTo>
                <a:lnTo>
                  <a:pt x="11286839" y="0"/>
                </a:lnTo>
                <a:lnTo>
                  <a:pt x="11286839" y="3324806"/>
                </a:lnTo>
                <a:lnTo>
                  <a:pt x="0" y="33248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691883" y="1977854"/>
            <a:ext cx="10904235" cy="1297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48"/>
              </a:lnSpc>
            </a:pPr>
            <a:r>
              <a:rPr lang="en-US" sz="2400">
                <a:solidFill>
                  <a:srgbClr val="00334A"/>
                </a:solidFill>
                <a:latin typeface="More Sugar"/>
                <a:ea typeface="More Sugar"/>
                <a:cs typeface="More Sugar"/>
                <a:sym typeface="More Sugar"/>
              </a:rPr>
              <a:t>ЗА ПРИНЦИПОМ «МІЖ КИМ ВІДБУВАЄТЬСЯ КОМУНІКАЦІЯ» РОЗРІЗНЯЮТЬ ВНУТРІШНЬООСОБИСТІСНЕ, МІЖОСОБИСТІСНЕ ТА МАСОВЕ СПІЛКУВАННЯ.</a:t>
            </a:r>
          </a:p>
          <a:p>
            <a:pPr algn="ctr">
              <a:lnSpc>
                <a:spcPts val="2855"/>
              </a:lnSpc>
            </a:pPr>
            <a:endParaRPr lang="en-US" sz="2400">
              <a:solidFill>
                <a:srgbClr val="00334A"/>
              </a:solidFill>
              <a:latin typeface="More Sugar"/>
              <a:ea typeface="More Sugar"/>
              <a:cs typeface="More Sugar"/>
              <a:sym typeface="More Sugar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B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966856" y="1159453"/>
            <a:ext cx="12354287" cy="5003486"/>
          </a:xfrm>
          <a:custGeom>
            <a:avLst/>
            <a:gdLst/>
            <a:ahLst/>
            <a:cxnLst/>
            <a:rect l="l" t="t" r="r" b="b"/>
            <a:pathLst>
              <a:path w="12354287" h="5003486">
                <a:moveTo>
                  <a:pt x="0" y="0"/>
                </a:moveTo>
                <a:lnTo>
                  <a:pt x="12354288" y="0"/>
                </a:lnTo>
                <a:lnTo>
                  <a:pt x="12354288" y="5003486"/>
                </a:lnTo>
                <a:lnTo>
                  <a:pt x="0" y="50034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966856" y="3764839"/>
            <a:ext cx="12354287" cy="5003486"/>
          </a:xfrm>
          <a:custGeom>
            <a:avLst/>
            <a:gdLst/>
            <a:ahLst/>
            <a:cxnLst/>
            <a:rect l="l" t="t" r="r" b="b"/>
            <a:pathLst>
              <a:path w="12354287" h="5003486">
                <a:moveTo>
                  <a:pt x="0" y="0"/>
                </a:moveTo>
                <a:lnTo>
                  <a:pt x="12354288" y="0"/>
                </a:lnTo>
                <a:lnTo>
                  <a:pt x="12354288" y="5003486"/>
                </a:lnTo>
                <a:lnTo>
                  <a:pt x="0" y="50034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687953" y="2993431"/>
            <a:ext cx="2912094" cy="564218"/>
          </a:xfrm>
          <a:custGeom>
            <a:avLst/>
            <a:gdLst/>
            <a:ahLst/>
            <a:cxnLst/>
            <a:rect l="l" t="t" r="r" b="b"/>
            <a:pathLst>
              <a:path w="2912094" h="564218">
                <a:moveTo>
                  <a:pt x="0" y="0"/>
                </a:moveTo>
                <a:lnTo>
                  <a:pt x="2912094" y="0"/>
                </a:lnTo>
                <a:lnTo>
                  <a:pt x="2912094" y="564218"/>
                </a:lnTo>
                <a:lnTo>
                  <a:pt x="0" y="5642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8000"/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3604671" y="3661196"/>
            <a:ext cx="11078658" cy="4081611"/>
          </a:xfrm>
          <a:custGeom>
            <a:avLst/>
            <a:gdLst/>
            <a:ahLst/>
            <a:cxnLst/>
            <a:rect l="l" t="t" r="r" b="b"/>
            <a:pathLst>
              <a:path w="11078658" h="4081611">
                <a:moveTo>
                  <a:pt x="0" y="0"/>
                </a:moveTo>
                <a:lnTo>
                  <a:pt x="11078658" y="0"/>
                </a:lnTo>
                <a:lnTo>
                  <a:pt x="11078658" y="4081611"/>
                </a:lnTo>
                <a:lnTo>
                  <a:pt x="0" y="40816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691883" y="1977854"/>
            <a:ext cx="10904235" cy="931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48"/>
              </a:lnSpc>
            </a:pPr>
            <a:r>
              <a:rPr lang="en-US" sz="2400">
                <a:solidFill>
                  <a:srgbClr val="00334A"/>
                </a:solidFill>
                <a:latin typeface="More Sugar"/>
                <a:ea typeface="More Sugar"/>
                <a:cs typeface="More Sugar"/>
                <a:sym typeface="More Sugar"/>
              </a:rPr>
              <a:t>ЗА ПРИНЦИПОМ «ЧИ ВИКОРИСТОВУЄТЬСЯ МОВА В ПРОЦЕСІ СПІЛКУВАННЯ» РОЗРІЗНЯЮТЬ ВЕРБАЛЬНУ І НЕВЕРБАЛЬНУ КОМУНІКАЦІЇ.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B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61681">
            <a:off x="535279" y="237800"/>
            <a:ext cx="26605027" cy="10775036"/>
          </a:xfrm>
          <a:custGeom>
            <a:avLst/>
            <a:gdLst/>
            <a:ahLst/>
            <a:cxnLst/>
            <a:rect l="l" t="t" r="r" b="b"/>
            <a:pathLst>
              <a:path w="26605027" h="10775036">
                <a:moveTo>
                  <a:pt x="0" y="0"/>
                </a:moveTo>
                <a:lnTo>
                  <a:pt x="26605028" y="0"/>
                </a:lnTo>
                <a:lnTo>
                  <a:pt x="26605028" y="10775036"/>
                </a:lnTo>
                <a:lnTo>
                  <a:pt x="0" y="107750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880126">
            <a:off x="16580552" y="330074"/>
            <a:ext cx="1996723" cy="2593147"/>
          </a:xfrm>
          <a:custGeom>
            <a:avLst/>
            <a:gdLst/>
            <a:ahLst/>
            <a:cxnLst/>
            <a:rect l="l" t="t" r="r" b="b"/>
            <a:pathLst>
              <a:path w="1996723" h="2593147">
                <a:moveTo>
                  <a:pt x="0" y="0"/>
                </a:moveTo>
                <a:lnTo>
                  <a:pt x="1996724" y="0"/>
                </a:lnTo>
                <a:lnTo>
                  <a:pt x="1996724" y="2593147"/>
                </a:lnTo>
                <a:lnTo>
                  <a:pt x="0" y="25931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544283" y="2351236"/>
            <a:ext cx="2912094" cy="564218"/>
          </a:xfrm>
          <a:custGeom>
            <a:avLst/>
            <a:gdLst/>
            <a:ahLst/>
            <a:cxnLst/>
            <a:rect l="l" t="t" r="r" b="b"/>
            <a:pathLst>
              <a:path w="2912094" h="564218">
                <a:moveTo>
                  <a:pt x="0" y="0"/>
                </a:moveTo>
                <a:lnTo>
                  <a:pt x="2912095" y="0"/>
                </a:lnTo>
                <a:lnTo>
                  <a:pt x="2912095" y="564218"/>
                </a:lnTo>
                <a:lnTo>
                  <a:pt x="0" y="5642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80000"/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440760" y="4903237"/>
            <a:ext cx="7918001" cy="4496074"/>
          </a:xfrm>
          <a:custGeom>
            <a:avLst/>
            <a:gdLst/>
            <a:ahLst/>
            <a:cxnLst/>
            <a:rect l="l" t="t" r="r" b="b"/>
            <a:pathLst>
              <a:path w="7918001" h="4496074">
                <a:moveTo>
                  <a:pt x="0" y="0"/>
                </a:moveTo>
                <a:lnTo>
                  <a:pt x="7918002" y="0"/>
                </a:lnTo>
                <a:lnTo>
                  <a:pt x="7918002" y="4496074"/>
                </a:lnTo>
                <a:lnTo>
                  <a:pt x="0" y="44960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7839617">
            <a:off x="8556575" y="6147728"/>
            <a:ext cx="1174849" cy="443506"/>
          </a:xfrm>
          <a:custGeom>
            <a:avLst/>
            <a:gdLst/>
            <a:ahLst/>
            <a:cxnLst/>
            <a:rect l="l" t="t" r="r" b="b"/>
            <a:pathLst>
              <a:path w="1174849" h="443506">
                <a:moveTo>
                  <a:pt x="0" y="0"/>
                </a:moveTo>
                <a:lnTo>
                  <a:pt x="1174850" y="0"/>
                </a:lnTo>
                <a:lnTo>
                  <a:pt x="1174850" y="443505"/>
                </a:lnTo>
                <a:lnTo>
                  <a:pt x="0" y="44350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=""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8914626" y="6173433"/>
            <a:ext cx="8664288" cy="3235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100">
                <a:solidFill>
                  <a:srgbClr val="000000"/>
                </a:solidFill>
                <a:latin typeface="Smile Font TH"/>
                <a:ea typeface="Smile Font TH"/>
                <a:cs typeface="Smile Font TH"/>
                <a:sym typeface="Smile Font TH"/>
              </a:rPr>
              <a:t> </a:t>
            </a:r>
            <a:r>
              <a:rPr lang="en-US" sz="3100" b="1">
                <a:solidFill>
                  <a:srgbClr val="00334A"/>
                </a:solidFill>
                <a:latin typeface="Smile Font TH Bold"/>
                <a:ea typeface="Smile Font TH Bold"/>
                <a:cs typeface="Smile Font TH Bold"/>
                <a:sym typeface="Smile Font TH Bold"/>
              </a:rPr>
              <a:t>«Парамова»</a:t>
            </a:r>
            <a:r>
              <a:rPr lang="en-US" sz="3100">
                <a:solidFill>
                  <a:srgbClr val="000000"/>
                </a:solidFill>
                <a:latin typeface="Smile Font TH"/>
                <a:ea typeface="Smile Font TH"/>
                <a:cs typeface="Smile Font TH"/>
                <a:sym typeface="Smile Font TH"/>
              </a:rPr>
              <a:t> («пара» — префікс у давньогрецькій мові, який означає «поряд», «повз») — невербальні звукові сигнали, які оформлюють мову — тональність, звук, темп, паузи, зітхання тощо. </a:t>
            </a:r>
          </a:p>
        </p:txBody>
      </p:sp>
      <p:sp>
        <p:nvSpPr>
          <p:cNvPr id="9" name="Freeform 9"/>
          <p:cNvSpPr/>
          <p:nvPr/>
        </p:nvSpPr>
        <p:spPr>
          <a:xfrm>
            <a:off x="13139802" y="5523490"/>
            <a:ext cx="2912094" cy="564218"/>
          </a:xfrm>
          <a:custGeom>
            <a:avLst/>
            <a:gdLst/>
            <a:ahLst/>
            <a:cxnLst/>
            <a:rect l="l" t="t" r="r" b="b"/>
            <a:pathLst>
              <a:path w="2912094" h="564218">
                <a:moveTo>
                  <a:pt x="0" y="0"/>
                </a:moveTo>
                <a:lnTo>
                  <a:pt x="2912094" y="0"/>
                </a:lnTo>
                <a:lnTo>
                  <a:pt x="2912094" y="564218"/>
                </a:lnTo>
                <a:lnTo>
                  <a:pt x="0" y="5642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70000"/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084454" y="1777377"/>
            <a:ext cx="3440412" cy="2556194"/>
          </a:xfrm>
          <a:custGeom>
            <a:avLst/>
            <a:gdLst/>
            <a:ahLst/>
            <a:cxnLst/>
            <a:rect l="l" t="t" r="r" b="b"/>
            <a:pathLst>
              <a:path w="3440412" h="2556194">
                <a:moveTo>
                  <a:pt x="0" y="0"/>
                </a:moveTo>
                <a:lnTo>
                  <a:pt x="3440412" y="0"/>
                </a:lnTo>
                <a:lnTo>
                  <a:pt x="3440412" y="2556194"/>
                </a:lnTo>
                <a:lnTo>
                  <a:pt x="0" y="255619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452001" y="2858304"/>
            <a:ext cx="11004376" cy="166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1">
                <a:solidFill>
                  <a:srgbClr val="00334A"/>
                </a:solidFill>
                <a:latin typeface="Smile Font TH Bold"/>
                <a:ea typeface="Smile Font TH Bold"/>
                <a:cs typeface="Smile Font TH Bold"/>
                <a:sym typeface="Smile Font TH Bold"/>
              </a:rPr>
              <a:t>Невербальна комунікація</a:t>
            </a:r>
            <a:r>
              <a:rPr lang="en-US" sz="3200">
                <a:solidFill>
                  <a:srgbClr val="000000"/>
                </a:solidFill>
                <a:latin typeface="Smile Font TH"/>
                <a:ea typeface="Smile Font TH"/>
                <a:cs typeface="Smile Font TH"/>
                <a:sym typeface="Smile Font TH"/>
              </a:rPr>
              <a:t> — спілкування за допомогою жестів, міміки, рухів тіла й деяких інших засобів, за винятком мовних.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337599" y="971550"/>
            <a:ext cx="10517677" cy="166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1">
                <a:solidFill>
                  <a:srgbClr val="00334A"/>
                </a:solidFill>
                <a:latin typeface="Smile Font TH Bold"/>
                <a:ea typeface="Smile Font TH Bold"/>
                <a:cs typeface="Smile Font TH Bold"/>
                <a:sym typeface="Smile Font TH Bold"/>
              </a:rPr>
              <a:t>Вербальна комунікація</a:t>
            </a:r>
            <a:r>
              <a:rPr lang="en-US" sz="3200">
                <a:solidFill>
                  <a:srgbClr val="000000"/>
                </a:solidFill>
                <a:latin typeface="Smile Font TH"/>
                <a:ea typeface="Smile Font TH"/>
                <a:cs typeface="Smile Font TH"/>
                <a:sym typeface="Smile Font TH"/>
              </a:rPr>
              <a:t> (лат. verbalis — «словесний») — це спілкування людей за допомогою мови.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914626" y="5087473"/>
            <a:ext cx="2716292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00334A"/>
                </a:solidFill>
                <a:latin typeface="Smile Font TH Bold"/>
                <a:ea typeface="Smile Font TH Bold"/>
                <a:cs typeface="Smile Font TH Bold"/>
                <a:sym typeface="Smile Font TH Bold"/>
              </a:rPr>
              <a:t>«Мова тіла»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589505" y="4605655"/>
            <a:ext cx="3118604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00334A"/>
                </a:solidFill>
                <a:latin typeface="Smile Font TH Bold"/>
                <a:ea typeface="Smile Font TH Bold"/>
                <a:cs typeface="Smile Font TH Bold"/>
                <a:sym typeface="Smile Font TH Bold"/>
              </a:rPr>
              <a:t>«Розміщення»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B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61681">
            <a:off x="-8268425" y="-510980"/>
            <a:ext cx="20048483" cy="8119635"/>
          </a:xfrm>
          <a:custGeom>
            <a:avLst/>
            <a:gdLst/>
            <a:ahLst/>
            <a:cxnLst/>
            <a:rect l="l" t="t" r="r" b="b"/>
            <a:pathLst>
              <a:path w="20048483" h="8119635">
                <a:moveTo>
                  <a:pt x="0" y="0"/>
                </a:moveTo>
                <a:lnTo>
                  <a:pt x="20048482" y="0"/>
                </a:lnTo>
                <a:lnTo>
                  <a:pt x="20048482" y="8119636"/>
                </a:lnTo>
                <a:lnTo>
                  <a:pt x="0" y="81196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61681">
            <a:off x="-8268425" y="3250451"/>
            <a:ext cx="20048483" cy="8119635"/>
          </a:xfrm>
          <a:custGeom>
            <a:avLst/>
            <a:gdLst/>
            <a:ahLst/>
            <a:cxnLst/>
            <a:rect l="l" t="t" r="r" b="b"/>
            <a:pathLst>
              <a:path w="20048483" h="8119635">
                <a:moveTo>
                  <a:pt x="0" y="0"/>
                </a:moveTo>
                <a:lnTo>
                  <a:pt x="20048482" y="0"/>
                </a:lnTo>
                <a:lnTo>
                  <a:pt x="20048482" y="8119635"/>
                </a:lnTo>
                <a:lnTo>
                  <a:pt x="0" y="81196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108990" y="1660986"/>
            <a:ext cx="2912094" cy="564218"/>
          </a:xfrm>
          <a:custGeom>
            <a:avLst/>
            <a:gdLst/>
            <a:ahLst/>
            <a:cxnLst/>
            <a:rect l="l" t="t" r="r" b="b"/>
            <a:pathLst>
              <a:path w="2912094" h="564218">
                <a:moveTo>
                  <a:pt x="0" y="0"/>
                </a:moveTo>
                <a:lnTo>
                  <a:pt x="2912094" y="0"/>
                </a:lnTo>
                <a:lnTo>
                  <a:pt x="2912094" y="564218"/>
                </a:lnTo>
                <a:lnTo>
                  <a:pt x="0" y="5642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5000"/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292276" y="2350732"/>
            <a:ext cx="9986733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1">
                <a:solidFill>
                  <a:srgbClr val="00334A"/>
                </a:solidFill>
                <a:latin typeface="Smile Font TH Bold"/>
                <a:ea typeface="Smile Font TH Bold"/>
                <a:cs typeface="Smile Font TH Bold"/>
                <a:sym typeface="Smile Font TH Bold"/>
              </a:rPr>
              <a:t>Складові комунікативної компетентності</a:t>
            </a:r>
          </a:p>
        </p:txBody>
      </p:sp>
      <p:sp>
        <p:nvSpPr>
          <p:cNvPr id="7" name="Freeform 7"/>
          <p:cNvSpPr/>
          <p:nvPr/>
        </p:nvSpPr>
        <p:spPr>
          <a:xfrm rot="108913">
            <a:off x="5348020" y="174952"/>
            <a:ext cx="11080673" cy="2174582"/>
          </a:xfrm>
          <a:custGeom>
            <a:avLst/>
            <a:gdLst/>
            <a:ahLst/>
            <a:cxnLst/>
            <a:rect l="l" t="t" r="r" b="b"/>
            <a:pathLst>
              <a:path w="11080673" h="2174582">
                <a:moveTo>
                  <a:pt x="0" y="0"/>
                </a:moveTo>
                <a:lnTo>
                  <a:pt x="11080674" y="0"/>
                </a:lnTo>
                <a:lnTo>
                  <a:pt x="11080674" y="2174582"/>
                </a:lnTo>
                <a:lnTo>
                  <a:pt x="0" y="21745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292276" y="2524487"/>
            <a:ext cx="15696623" cy="7475517"/>
          </a:xfrm>
          <a:custGeom>
            <a:avLst/>
            <a:gdLst/>
            <a:ahLst/>
            <a:cxnLst/>
            <a:rect l="l" t="t" r="r" b="b"/>
            <a:pathLst>
              <a:path w="15696623" h="7475517">
                <a:moveTo>
                  <a:pt x="0" y="0"/>
                </a:moveTo>
                <a:lnTo>
                  <a:pt x="15696623" y="0"/>
                </a:lnTo>
                <a:lnTo>
                  <a:pt x="15696623" y="7475516"/>
                </a:lnTo>
                <a:lnTo>
                  <a:pt x="0" y="747551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5721514" y="787005"/>
            <a:ext cx="10269096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49"/>
              </a:lnSpc>
            </a:pPr>
            <a:r>
              <a:rPr lang="en-US" sz="2499">
                <a:solidFill>
                  <a:srgbClr val="000000"/>
                </a:solidFill>
                <a:latin typeface="More Sugar"/>
                <a:ea typeface="More Sugar"/>
                <a:cs typeface="More Sugar"/>
                <a:sym typeface="More Sugar"/>
              </a:rPr>
              <a:t>ЗДАТНІСТЬ ЕФЕКТИВНО СПІЛКУВАТИСЯ ТА ОБИРАТИ АДЕКВАТНУ КОМУНІКАТИВНУ ПОВЕДІНКУ НАЗИВАЄТЬСЯ </a:t>
            </a:r>
            <a:r>
              <a:rPr lang="en-US" sz="2499">
                <a:solidFill>
                  <a:srgbClr val="FF5959"/>
                </a:solidFill>
                <a:latin typeface="More Sugar"/>
                <a:ea typeface="More Sugar"/>
                <a:cs typeface="More Sugar"/>
                <a:sym typeface="More Sugar"/>
              </a:rPr>
              <a:t>КОМУНІКАТИВНОЮ КОМПЕТЕНТНІСТЮ</a:t>
            </a:r>
            <a:r>
              <a:rPr lang="en-US" sz="2499">
                <a:solidFill>
                  <a:srgbClr val="000000"/>
                </a:solidFill>
                <a:latin typeface="More Sugar"/>
                <a:ea typeface="More Sugar"/>
                <a:cs typeface="More Sugar"/>
                <a:sym typeface="More Sugar"/>
              </a:rPr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B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966856" y="1159453"/>
            <a:ext cx="12354287" cy="5003486"/>
          </a:xfrm>
          <a:custGeom>
            <a:avLst/>
            <a:gdLst/>
            <a:ahLst/>
            <a:cxnLst/>
            <a:rect l="l" t="t" r="r" b="b"/>
            <a:pathLst>
              <a:path w="12354287" h="5003486">
                <a:moveTo>
                  <a:pt x="0" y="0"/>
                </a:moveTo>
                <a:lnTo>
                  <a:pt x="12354288" y="0"/>
                </a:lnTo>
                <a:lnTo>
                  <a:pt x="12354288" y="5003486"/>
                </a:lnTo>
                <a:lnTo>
                  <a:pt x="0" y="50034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966856" y="4330578"/>
            <a:ext cx="12354287" cy="5003486"/>
          </a:xfrm>
          <a:custGeom>
            <a:avLst/>
            <a:gdLst/>
            <a:ahLst/>
            <a:cxnLst/>
            <a:rect l="l" t="t" r="r" b="b"/>
            <a:pathLst>
              <a:path w="12354287" h="5003486">
                <a:moveTo>
                  <a:pt x="0" y="0"/>
                </a:moveTo>
                <a:lnTo>
                  <a:pt x="12354288" y="0"/>
                </a:lnTo>
                <a:lnTo>
                  <a:pt x="12354288" y="5003487"/>
                </a:lnTo>
                <a:lnTo>
                  <a:pt x="0" y="50034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324395" y="1322816"/>
            <a:ext cx="2912094" cy="564218"/>
          </a:xfrm>
          <a:custGeom>
            <a:avLst/>
            <a:gdLst/>
            <a:ahLst/>
            <a:cxnLst/>
            <a:rect l="l" t="t" r="r" b="b"/>
            <a:pathLst>
              <a:path w="2912094" h="564218">
                <a:moveTo>
                  <a:pt x="0" y="0"/>
                </a:moveTo>
                <a:lnTo>
                  <a:pt x="2912094" y="0"/>
                </a:lnTo>
                <a:lnTo>
                  <a:pt x="2912094" y="564218"/>
                </a:lnTo>
                <a:lnTo>
                  <a:pt x="0" y="5642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9000"/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987646" y="568141"/>
            <a:ext cx="9585591" cy="591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84"/>
              </a:lnSpc>
            </a:pPr>
            <a:r>
              <a:rPr lang="en-US" sz="4200">
                <a:solidFill>
                  <a:srgbClr val="486953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МІРКУЄМО І ДІЄМО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854910" y="6000116"/>
            <a:ext cx="10935076" cy="2453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>
                <a:solidFill>
                  <a:srgbClr val="00334A"/>
                </a:solidFill>
                <a:latin typeface="Smile Font TH Bold"/>
                <a:ea typeface="Smile Font TH Bold"/>
                <a:cs typeface="Smile Font TH Bold"/>
                <a:sym typeface="Smile Font TH Bold"/>
              </a:rPr>
              <a:t>Що таке вербальне спілкування?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Smile Font TH"/>
                <a:ea typeface="Smile Font TH"/>
                <a:cs typeface="Smile Font TH"/>
                <a:sym typeface="Smile Font TH"/>
              </a:rPr>
              <a:t>спілкування через смайли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Smile Font TH"/>
                <a:ea typeface="Smile Font TH"/>
                <a:cs typeface="Smile Font TH"/>
                <a:sym typeface="Smile Font TH"/>
              </a:rPr>
              <a:t>спілкування через жести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Smile Font TH"/>
                <a:ea typeface="Smile Font TH"/>
                <a:cs typeface="Smile Font TH"/>
                <a:sym typeface="Smile Font TH"/>
              </a:rPr>
              <a:t>спілкування з використанням мови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Smile Font TH"/>
                <a:ea typeface="Smile Font TH"/>
                <a:cs typeface="Smile Font TH"/>
                <a:sym typeface="Smile Font TH"/>
              </a:rPr>
              <a:t>спілкування через міміку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264345" y="2001334"/>
            <a:ext cx="11764189" cy="3938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>
                <a:solidFill>
                  <a:srgbClr val="00334A"/>
                </a:solidFill>
                <a:latin typeface="Smile Font TH Bold"/>
                <a:ea typeface="Smile Font TH Bold"/>
                <a:cs typeface="Smile Font TH Bold"/>
                <a:sym typeface="Smile Font TH Bold"/>
              </a:rPr>
              <a:t>Що таке комунікація?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Smile Font TH"/>
                <a:ea typeface="Smile Font TH"/>
                <a:cs typeface="Smile Font TH"/>
                <a:sym typeface="Smile Font TH"/>
              </a:rPr>
              <a:t>спілкування лише за допомогою жестів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Smile Font TH"/>
                <a:ea typeface="Smile Font TH"/>
                <a:cs typeface="Smile Font TH"/>
                <a:sym typeface="Smile Font TH"/>
              </a:rPr>
              <a:t>процес спілкування без передання інформації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Smile Font TH"/>
                <a:ea typeface="Smile Font TH"/>
                <a:cs typeface="Smile Font TH"/>
                <a:sym typeface="Smile Font TH"/>
              </a:rPr>
              <a:t>тільки передавання інформації через письмові повідомлення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Smile Font TH"/>
                <a:ea typeface="Smile Font TH"/>
                <a:cs typeface="Smile Font TH"/>
                <a:sym typeface="Smile Font TH"/>
              </a:rPr>
              <a:t>процес спілкування й передавання інформації між людьми або групами</a:t>
            </a:r>
          </a:p>
          <a:p>
            <a:pPr algn="ctr">
              <a:lnSpc>
                <a:spcPts val="3919"/>
              </a:lnSpc>
            </a:pPr>
            <a:endParaRPr lang="en-US" sz="2799">
              <a:solidFill>
                <a:srgbClr val="000000"/>
              </a:solidFill>
              <a:latin typeface="Smile Font TH"/>
              <a:ea typeface="Smile Font TH"/>
              <a:cs typeface="Smile Font TH"/>
              <a:sym typeface="Smile Font TH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B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966856" y="1159453"/>
            <a:ext cx="12354287" cy="5003486"/>
          </a:xfrm>
          <a:custGeom>
            <a:avLst/>
            <a:gdLst/>
            <a:ahLst/>
            <a:cxnLst/>
            <a:rect l="l" t="t" r="r" b="b"/>
            <a:pathLst>
              <a:path w="12354287" h="5003486">
                <a:moveTo>
                  <a:pt x="0" y="0"/>
                </a:moveTo>
                <a:lnTo>
                  <a:pt x="12354288" y="0"/>
                </a:lnTo>
                <a:lnTo>
                  <a:pt x="12354288" y="5003486"/>
                </a:lnTo>
                <a:lnTo>
                  <a:pt x="0" y="50034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213295" y="2848358"/>
            <a:ext cx="14362867" cy="5816961"/>
          </a:xfrm>
          <a:custGeom>
            <a:avLst/>
            <a:gdLst/>
            <a:ahLst/>
            <a:cxnLst/>
            <a:rect l="l" t="t" r="r" b="b"/>
            <a:pathLst>
              <a:path w="14362867" h="5816961">
                <a:moveTo>
                  <a:pt x="0" y="0"/>
                </a:moveTo>
                <a:lnTo>
                  <a:pt x="14362866" y="0"/>
                </a:lnTo>
                <a:lnTo>
                  <a:pt x="14362866" y="5816961"/>
                </a:lnTo>
                <a:lnTo>
                  <a:pt x="0" y="58169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324395" y="1537296"/>
            <a:ext cx="2912094" cy="564218"/>
          </a:xfrm>
          <a:custGeom>
            <a:avLst/>
            <a:gdLst/>
            <a:ahLst/>
            <a:cxnLst/>
            <a:rect l="l" t="t" r="r" b="b"/>
            <a:pathLst>
              <a:path w="2912094" h="564218">
                <a:moveTo>
                  <a:pt x="0" y="0"/>
                </a:moveTo>
                <a:lnTo>
                  <a:pt x="2912094" y="0"/>
                </a:lnTo>
                <a:lnTo>
                  <a:pt x="2912094" y="564219"/>
                </a:lnTo>
                <a:lnTo>
                  <a:pt x="0" y="5642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9000"/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261905" y="2181689"/>
            <a:ext cx="11764189" cy="444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1">
                <a:solidFill>
                  <a:srgbClr val="110064"/>
                </a:solidFill>
                <a:latin typeface="Smile Font TH Bold"/>
                <a:ea typeface="Smile Font TH Bold"/>
                <a:cs typeface="Smile Font TH Bold"/>
                <a:sym typeface="Smile Font TH Bold"/>
              </a:rPr>
              <a:t>Рольова гра «Інтерв’ю».</a:t>
            </a:r>
            <a:r>
              <a:rPr lang="en-US" sz="3600">
                <a:solidFill>
                  <a:srgbClr val="110064"/>
                </a:solidFill>
                <a:latin typeface="Smile Font TH"/>
                <a:ea typeface="Smile Font TH"/>
                <a:cs typeface="Smile Font TH"/>
                <a:sym typeface="Smile Font TH"/>
              </a:rPr>
              <a:t> </a:t>
            </a:r>
          </a:p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Smile Font TH"/>
                <a:ea typeface="Smile Font TH"/>
                <a:cs typeface="Smile Font TH"/>
                <a:sym typeface="Smile Font TH"/>
              </a:rPr>
              <a:t>У парах розподіліть ролі. Хтось ставить запитання, хтось відповідає. </a:t>
            </a:r>
          </a:p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EB906D"/>
                </a:solidFill>
                <a:latin typeface="Smile Font TH"/>
                <a:ea typeface="Smile Font TH"/>
                <a:cs typeface="Smile Font TH"/>
                <a:sym typeface="Smile Font TH"/>
              </a:rPr>
              <a:t>Завдання</a:t>
            </a:r>
            <a:r>
              <a:rPr lang="en-US" sz="3600">
                <a:solidFill>
                  <a:srgbClr val="000000"/>
                </a:solidFill>
                <a:latin typeface="Smile Font TH"/>
                <a:ea typeface="Smile Font TH"/>
                <a:cs typeface="Smile Font TH"/>
                <a:sym typeface="Smile Font TH"/>
              </a:rPr>
              <a:t>: звернути увагу на вербальні та невербальні сигнали (жести, міміку, інтонацію), а потім обговорити, як вони вплинули на комунікацію.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87646" y="568141"/>
            <a:ext cx="9585591" cy="591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84"/>
              </a:lnSpc>
            </a:pPr>
            <a:r>
              <a:rPr lang="en-US" sz="4200" b="1">
                <a:solidFill>
                  <a:srgbClr val="486953"/>
                </a:solidFill>
                <a:latin typeface="Bubblebody Neue Bold"/>
                <a:ea typeface="Bubblebody Neue Bold"/>
                <a:cs typeface="Bubblebody Neue Bold"/>
                <a:sym typeface="Bubblebody Neue Bold"/>
              </a:rPr>
              <a:t>ПРАЦЮЄМО РАЗОМ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B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61681">
            <a:off x="535279" y="237800"/>
            <a:ext cx="26605027" cy="10775036"/>
          </a:xfrm>
          <a:custGeom>
            <a:avLst/>
            <a:gdLst/>
            <a:ahLst/>
            <a:cxnLst/>
            <a:rect l="l" t="t" r="r" b="b"/>
            <a:pathLst>
              <a:path w="26605027" h="10775036">
                <a:moveTo>
                  <a:pt x="0" y="0"/>
                </a:moveTo>
                <a:lnTo>
                  <a:pt x="26605028" y="0"/>
                </a:lnTo>
                <a:lnTo>
                  <a:pt x="26605028" y="10775036"/>
                </a:lnTo>
                <a:lnTo>
                  <a:pt x="0" y="107750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1076325"/>
            <a:ext cx="15451254" cy="435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64"/>
              </a:lnSpc>
            </a:pPr>
            <a:r>
              <a:rPr lang="en-US" sz="3200">
                <a:solidFill>
                  <a:srgbClr val="0097B2"/>
                </a:solidFill>
                <a:latin typeface="More Sugar"/>
                <a:ea typeface="More Sugar"/>
                <a:cs typeface="More Sugar"/>
                <a:sym typeface="More Sugar"/>
              </a:rPr>
              <a:t>СПІЛКУВАННЯ ОНЛАЙН</a:t>
            </a:r>
          </a:p>
        </p:txBody>
      </p:sp>
      <p:sp>
        <p:nvSpPr>
          <p:cNvPr id="4" name="Freeform 4"/>
          <p:cNvSpPr/>
          <p:nvPr/>
        </p:nvSpPr>
        <p:spPr>
          <a:xfrm rot="-1880126">
            <a:off x="16746704" y="665977"/>
            <a:ext cx="2052323" cy="2665355"/>
          </a:xfrm>
          <a:custGeom>
            <a:avLst/>
            <a:gdLst/>
            <a:ahLst/>
            <a:cxnLst/>
            <a:rect l="l" t="t" r="r" b="b"/>
            <a:pathLst>
              <a:path w="2052323" h="2665355">
                <a:moveTo>
                  <a:pt x="0" y="0"/>
                </a:moveTo>
                <a:lnTo>
                  <a:pt x="2052323" y="0"/>
                </a:lnTo>
                <a:lnTo>
                  <a:pt x="2052323" y="2665355"/>
                </a:lnTo>
                <a:lnTo>
                  <a:pt x="0" y="26653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108913">
            <a:off x="5938376" y="1576007"/>
            <a:ext cx="7163420" cy="1405821"/>
          </a:xfrm>
          <a:custGeom>
            <a:avLst/>
            <a:gdLst/>
            <a:ahLst/>
            <a:cxnLst/>
            <a:rect l="l" t="t" r="r" b="b"/>
            <a:pathLst>
              <a:path w="7163420" h="1405821">
                <a:moveTo>
                  <a:pt x="0" y="0"/>
                </a:moveTo>
                <a:lnTo>
                  <a:pt x="7163420" y="0"/>
                </a:lnTo>
                <a:lnTo>
                  <a:pt x="7163420" y="1405821"/>
                </a:lnTo>
                <a:lnTo>
                  <a:pt x="0" y="14058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506351" y="2525118"/>
            <a:ext cx="14357318" cy="7566196"/>
          </a:xfrm>
          <a:custGeom>
            <a:avLst/>
            <a:gdLst/>
            <a:ahLst/>
            <a:cxnLst/>
            <a:rect l="l" t="t" r="r" b="b"/>
            <a:pathLst>
              <a:path w="14357318" h="7566196">
                <a:moveTo>
                  <a:pt x="0" y="0"/>
                </a:moveTo>
                <a:lnTo>
                  <a:pt x="14357319" y="0"/>
                </a:lnTo>
                <a:lnTo>
                  <a:pt x="14357319" y="7566196"/>
                </a:lnTo>
                <a:lnTo>
                  <a:pt x="0" y="75661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5660425" y="1971895"/>
            <a:ext cx="7719321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362D63"/>
                </a:solidFill>
                <a:latin typeface="Pangolin"/>
                <a:ea typeface="Pangolin"/>
                <a:cs typeface="Pangolin"/>
                <a:sym typeface="Pangolin"/>
              </a:rPr>
              <a:t>ПРАВИЛА ОНЛАЙН-СПІЛКУВАННЯ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B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966856" y="1159453"/>
            <a:ext cx="12354287" cy="5003486"/>
          </a:xfrm>
          <a:custGeom>
            <a:avLst/>
            <a:gdLst/>
            <a:ahLst/>
            <a:cxnLst/>
            <a:rect l="l" t="t" r="r" b="b"/>
            <a:pathLst>
              <a:path w="12354287" h="5003486">
                <a:moveTo>
                  <a:pt x="0" y="0"/>
                </a:moveTo>
                <a:lnTo>
                  <a:pt x="12354288" y="0"/>
                </a:lnTo>
                <a:lnTo>
                  <a:pt x="12354288" y="5003486"/>
                </a:lnTo>
                <a:lnTo>
                  <a:pt x="0" y="50034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966856" y="3764839"/>
            <a:ext cx="12354287" cy="5003486"/>
          </a:xfrm>
          <a:custGeom>
            <a:avLst/>
            <a:gdLst/>
            <a:ahLst/>
            <a:cxnLst/>
            <a:rect l="l" t="t" r="r" b="b"/>
            <a:pathLst>
              <a:path w="12354287" h="5003486">
                <a:moveTo>
                  <a:pt x="0" y="0"/>
                </a:moveTo>
                <a:lnTo>
                  <a:pt x="12354288" y="0"/>
                </a:lnTo>
                <a:lnTo>
                  <a:pt x="12354288" y="5003486"/>
                </a:lnTo>
                <a:lnTo>
                  <a:pt x="0" y="50034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687953" y="2190746"/>
            <a:ext cx="2912094" cy="564218"/>
          </a:xfrm>
          <a:custGeom>
            <a:avLst/>
            <a:gdLst/>
            <a:ahLst/>
            <a:cxnLst/>
            <a:rect l="l" t="t" r="r" b="b"/>
            <a:pathLst>
              <a:path w="2912094" h="564218">
                <a:moveTo>
                  <a:pt x="0" y="0"/>
                </a:moveTo>
                <a:lnTo>
                  <a:pt x="2912094" y="0"/>
                </a:lnTo>
                <a:lnTo>
                  <a:pt x="2912094" y="564218"/>
                </a:lnTo>
                <a:lnTo>
                  <a:pt x="0" y="5642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8000"/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866076" y="7454326"/>
            <a:ext cx="2309584" cy="2162610"/>
          </a:xfrm>
          <a:custGeom>
            <a:avLst/>
            <a:gdLst/>
            <a:ahLst/>
            <a:cxnLst/>
            <a:rect l="l" t="t" r="r" b="b"/>
            <a:pathLst>
              <a:path w="2309584" h="2162610">
                <a:moveTo>
                  <a:pt x="0" y="0"/>
                </a:moveTo>
                <a:lnTo>
                  <a:pt x="2309583" y="0"/>
                </a:lnTo>
                <a:lnTo>
                  <a:pt x="2309583" y="2162610"/>
                </a:lnTo>
                <a:lnTo>
                  <a:pt x="0" y="21626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5000"/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323498">
            <a:off x="14209899" y="244165"/>
            <a:ext cx="2662016" cy="1824691"/>
          </a:xfrm>
          <a:custGeom>
            <a:avLst/>
            <a:gdLst/>
            <a:ahLst/>
            <a:cxnLst/>
            <a:rect l="l" t="t" r="r" b="b"/>
            <a:pathLst>
              <a:path w="2662016" h="1824691">
                <a:moveTo>
                  <a:pt x="0" y="0"/>
                </a:moveTo>
                <a:lnTo>
                  <a:pt x="2662016" y="0"/>
                </a:lnTo>
                <a:lnTo>
                  <a:pt x="2662016" y="1824691"/>
                </a:lnTo>
                <a:lnTo>
                  <a:pt x="0" y="182469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80000"/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630200">
            <a:off x="1470376" y="8202586"/>
            <a:ext cx="4094167" cy="1131479"/>
          </a:xfrm>
          <a:custGeom>
            <a:avLst/>
            <a:gdLst/>
            <a:ahLst/>
            <a:cxnLst/>
            <a:rect l="l" t="t" r="r" b="b"/>
            <a:pathLst>
              <a:path w="4094167" h="1131479">
                <a:moveTo>
                  <a:pt x="0" y="0"/>
                </a:moveTo>
                <a:lnTo>
                  <a:pt x="4094167" y="0"/>
                </a:lnTo>
                <a:lnTo>
                  <a:pt x="4094167" y="1131479"/>
                </a:lnTo>
                <a:lnTo>
                  <a:pt x="0" y="113147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61000"/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81880" y="883514"/>
            <a:ext cx="2074811" cy="3178680"/>
          </a:xfrm>
          <a:custGeom>
            <a:avLst/>
            <a:gdLst/>
            <a:ahLst/>
            <a:cxnLst/>
            <a:rect l="l" t="t" r="r" b="b"/>
            <a:pathLst>
              <a:path w="2074811" h="3178680">
                <a:moveTo>
                  <a:pt x="0" y="0"/>
                </a:moveTo>
                <a:lnTo>
                  <a:pt x="2074812" y="0"/>
                </a:lnTo>
                <a:lnTo>
                  <a:pt x="2074812" y="3178681"/>
                </a:lnTo>
                <a:lnTo>
                  <a:pt x="0" y="317868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65999"/>
              <a:extLs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3201043" y="3093677"/>
            <a:ext cx="11885915" cy="2925409"/>
          </a:xfrm>
          <a:custGeom>
            <a:avLst/>
            <a:gdLst/>
            <a:ahLst/>
            <a:cxnLst/>
            <a:rect l="l" t="t" r="r" b="b"/>
            <a:pathLst>
              <a:path w="11885915" h="2925409">
                <a:moveTo>
                  <a:pt x="0" y="0"/>
                </a:moveTo>
                <a:lnTo>
                  <a:pt x="11885914" y="0"/>
                </a:lnTo>
                <a:lnTo>
                  <a:pt x="11885914" y="2925409"/>
                </a:lnTo>
                <a:lnTo>
                  <a:pt x="0" y="292540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B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09240" y="883514"/>
            <a:ext cx="13035617" cy="5279425"/>
          </a:xfrm>
          <a:custGeom>
            <a:avLst/>
            <a:gdLst/>
            <a:ahLst/>
            <a:cxnLst/>
            <a:rect l="l" t="t" r="r" b="b"/>
            <a:pathLst>
              <a:path w="13035617" h="5279425">
                <a:moveTo>
                  <a:pt x="0" y="0"/>
                </a:moveTo>
                <a:lnTo>
                  <a:pt x="13035617" y="0"/>
                </a:lnTo>
                <a:lnTo>
                  <a:pt x="13035617" y="5279425"/>
                </a:lnTo>
                <a:lnTo>
                  <a:pt x="0" y="52794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409240" y="3764839"/>
            <a:ext cx="13338669" cy="5402161"/>
          </a:xfrm>
          <a:custGeom>
            <a:avLst/>
            <a:gdLst/>
            <a:ahLst/>
            <a:cxnLst/>
            <a:rect l="l" t="t" r="r" b="b"/>
            <a:pathLst>
              <a:path w="13338669" h="5402161">
                <a:moveTo>
                  <a:pt x="0" y="0"/>
                </a:moveTo>
                <a:lnTo>
                  <a:pt x="13338669" y="0"/>
                </a:lnTo>
                <a:lnTo>
                  <a:pt x="13338669" y="5402161"/>
                </a:lnTo>
                <a:lnTo>
                  <a:pt x="0" y="54021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300645" y="1421937"/>
            <a:ext cx="2912094" cy="564218"/>
          </a:xfrm>
          <a:custGeom>
            <a:avLst/>
            <a:gdLst/>
            <a:ahLst/>
            <a:cxnLst/>
            <a:rect l="l" t="t" r="r" b="b"/>
            <a:pathLst>
              <a:path w="2912094" h="564218">
                <a:moveTo>
                  <a:pt x="0" y="0"/>
                </a:moveTo>
                <a:lnTo>
                  <a:pt x="2912094" y="0"/>
                </a:lnTo>
                <a:lnTo>
                  <a:pt x="2912094" y="564218"/>
                </a:lnTo>
                <a:lnTo>
                  <a:pt x="0" y="5642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8000"/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3655076" y="2136819"/>
            <a:ext cx="10211000" cy="6013361"/>
          </a:xfrm>
          <a:custGeom>
            <a:avLst/>
            <a:gdLst/>
            <a:ahLst/>
            <a:cxnLst/>
            <a:rect l="l" t="t" r="r" b="b"/>
            <a:pathLst>
              <a:path w="10211000" h="6013361">
                <a:moveTo>
                  <a:pt x="0" y="0"/>
                </a:moveTo>
                <a:lnTo>
                  <a:pt x="10211000" y="0"/>
                </a:lnTo>
                <a:lnTo>
                  <a:pt x="10211000" y="6013362"/>
                </a:lnTo>
                <a:lnTo>
                  <a:pt x="0" y="60133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108913">
            <a:off x="6143070" y="1239166"/>
            <a:ext cx="5235011" cy="1027371"/>
          </a:xfrm>
          <a:custGeom>
            <a:avLst/>
            <a:gdLst/>
            <a:ahLst/>
            <a:cxnLst/>
            <a:rect l="l" t="t" r="r" b="b"/>
            <a:pathLst>
              <a:path w="5235011" h="1027371">
                <a:moveTo>
                  <a:pt x="0" y="0"/>
                </a:moveTo>
                <a:lnTo>
                  <a:pt x="5235011" y="0"/>
                </a:lnTo>
                <a:lnTo>
                  <a:pt x="5235011" y="1027371"/>
                </a:lnTo>
                <a:lnTo>
                  <a:pt x="0" y="102737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6128112" y="1588773"/>
            <a:ext cx="5264927" cy="397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5"/>
              </a:lnSpc>
              <a:spcBef>
                <a:spcPct val="0"/>
              </a:spcBef>
            </a:pPr>
            <a:r>
              <a:rPr lang="en-US" sz="2799" b="1">
                <a:solidFill>
                  <a:srgbClr val="362D63"/>
                </a:solidFill>
                <a:latin typeface="Bubblebody Neue Bold"/>
                <a:ea typeface="Bubblebody Neue Bold"/>
                <a:cs typeface="Bubblebody Neue Bold"/>
                <a:sym typeface="Bubblebody Neue Bold"/>
              </a:rPr>
              <a:t>БЕЗПЕКА В ІНТЕРНЕТІ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B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966856" y="1159453"/>
            <a:ext cx="12354287" cy="5003486"/>
          </a:xfrm>
          <a:custGeom>
            <a:avLst/>
            <a:gdLst/>
            <a:ahLst/>
            <a:cxnLst/>
            <a:rect l="l" t="t" r="r" b="b"/>
            <a:pathLst>
              <a:path w="12354287" h="5003486">
                <a:moveTo>
                  <a:pt x="0" y="0"/>
                </a:moveTo>
                <a:lnTo>
                  <a:pt x="12354288" y="0"/>
                </a:lnTo>
                <a:lnTo>
                  <a:pt x="12354288" y="5003486"/>
                </a:lnTo>
                <a:lnTo>
                  <a:pt x="0" y="50034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153929" y="4330578"/>
            <a:ext cx="12167214" cy="4927722"/>
          </a:xfrm>
          <a:custGeom>
            <a:avLst/>
            <a:gdLst/>
            <a:ahLst/>
            <a:cxnLst/>
            <a:rect l="l" t="t" r="r" b="b"/>
            <a:pathLst>
              <a:path w="12167214" h="4927722">
                <a:moveTo>
                  <a:pt x="0" y="0"/>
                </a:moveTo>
                <a:lnTo>
                  <a:pt x="12167215" y="0"/>
                </a:lnTo>
                <a:lnTo>
                  <a:pt x="12167215" y="4927722"/>
                </a:lnTo>
                <a:lnTo>
                  <a:pt x="0" y="49277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324395" y="1322816"/>
            <a:ext cx="2912094" cy="564218"/>
          </a:xfrm>
          <a:custGeom>
            <a:avLst/>
            <a:gdLst/>
            <a:ahLst/>
            <a:cxnLst/>
            <a:rect l="l" t="t" r="r" b="b"/>
            <a:pathLst>
              <a:path w="2912094" h="564218">
                <a:moveTo>
                  <a:pt x="0" y="0"/>
                </a:moveTo>
                <a:lnTo>
                  <a:pt x="2912094" y="0"/>
                </a:lnTo>
                <a:lnTo>
                  <a:pt x="2912094" y="564218"/>
                </a:lnTo>
                <a:lnTo>
                  <a:pt x="0" y="5642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9000"/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987646" y="568141"/>
            <a:ext cx="9585591" cy="591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84"/>
              </a:lnSpc>
            </a:pPr>
            <a:r>
              <a:rPr lang="en-US" sz="4200">
                <a:solidFill>
                  <a:srgbClr val="486953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МІРКУЄМО І ДІЄМО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261905" y="2417606"/>
            <a:ext cx="11764189" cy="1012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09" lvl="1" indent="-313054" algn="ctr">
              <a:lnSpc>
                <a:spcPts val="4059"/>
              </a:lnSpc>
              <a:buAutoNum type="arabicPeriod"/>
            </a:pPr>
            <a:r>
              <a:rPr lang="en-US" sz="2899">
                <a:solidFill>
                  <a:srgbClr val="000000"/>
                </a:solidFill>
                <a:latin typeface="Smile Font TH"/>
                <a:ea typeface="Smile Font TH"/>
                <a:cs typeface="Smile Font TH"/>
                <a:sym typeface="Smile Font TH"/>
              </a:rPr>
              <a:t>Хто такі блогери й інфлюенсери, і чому вони повинні нести відповідальність за свої дії в інтернеті?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153929" y="4282953"/>
            <a:ext cx="11764189" cy="2453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ctr">
              <a:lnSpc>
                <a:spcPts val="3919"/>
              </a:lnSpc>
              <a:buAutoNum type="arabicPeriod"/>
            </a:pPr>
            <a:r>
              <a:rPr lang="en-US" sz="2799" b="1" dirty="0" err="1">
                <a:solidFill>
                  <a:srgbClr val="000000"/>
                </a:solidFill>
                <a:latin typeface="Smile Font TH Bold"/>
                <a:ea typeface="Smile Font TH Bold"/>
                <a:cs typeface="Smile Font TH Bold"/>
                <a:sym typeface="Smile Font TH Bold"/>
              </a:rPr>
              <a:t>Створіть</a:t>
            </a:r>
            <a:r>
              <a:rPr lang="en-US" sz="2799" b="1" dirty="0">
                <a:solidFill>
                  <a:srgbClr val="000000"/>
                </a:solidFill>
                <a:latin typeface="Smile Font TH Bold"/>
                <a:ea typeface="Smile Font TH Bold"/>
                <a:cs typeface="Smile Font TH Bold"/>
                <a:sym typeface="Smile Font TH Bold"/>
              </a:rPr>
              <a:t> </a:t>
            </a:r>
            <a:r>
              <a:rPr lang="en-US" sz="2799" b="1" dirty="0" err="1">
                <a:solidFill>
                  <a:srgbClr val="000000"/>
                </a:solidFill>
                <a:latin typeface="Smile Font TH Bold"/>
                <a:ea typeface="Smile Font TH Bold"/>
                <a:cs typeface="Smile Font TH Bold"/>
                <a:sym typeface="Smile Font TH Bold"/>
              </a:rPr>
              <a:t>блогпост</a:t>
            </a:r>
            <a:r>
              <a:rPr lang="en-US" sz="2799" b="1" dirty="0">
                <a:solidFill>
                  <a:srgbClr val="000000"/>
                </a:solidFill>
                <a:latin typeface="Smile Font TH Bold"/>
                <a:ea typeface="Smile Font TH Bold"/>
                <a:cs typeface="Smile Font TH Bold"/>
                <a:sym typeface="Smile Font TH Bold"/>
              </a:rPr>
              <a:t>.</a:t>
            </a:r>
            <a:r>
              <a:rPr lang="en-US" sz="2799" dirty="0">
                <a:solidFill>
                  <a:srgbClr val="000000"/>
                </a:solidFill>
                <a:latin typeface="Smile Font TH"/>
                <a:ea typeface="Smile Font TH"/>
                <a:cs typeface="Smile Font TH"/>
                <a:sym typeface="Smile Font TH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Smile Font TH"/>
                <a:ea typeface="Smile Font TH"/>
                <a:cs typeface="Smile Font TH"/>
                <a:sym typeface="Smile Font TH"/>
              </a:rPr>
              <a:t>Напишіть</a:t>
            </a:r>
            <a:r>
              <a:rPr lang="en-US" sz="2799" dirty="0">
                <a:solidFill>
                  <a:srgbClr val="000000"/>
                </a:solidFill>
                <a:latin typeface="Smile Font TH"/>
                <a:ea typeface="Smile Font TH"/>
                <a:cs typeface="Smile Font TH"/>
                <a:sym typeface="Smile Font TH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Smile Font TH"/>
                <a:ea typeface="Smile Font TH"/>
                <a:cs typeface="Smile Font TH"/>
                <a:sym typeface="Smile Font TH"/>
              </a:rPr>
              <a:t>невеликий</a:t>
            </a:r>
            <a:r>
              <a:rPr lang="en-US" sz="2799" dirty="0">
                <a:solidFill>
                  <a:srgbClr val="000000"/>
                </a:solidFill>
                <a:latin typeface="Smile Font TH"/>
                <a:ea typeface="Smile Font TH"/>
                <a:cs typeface="Smile Font TH"/>
                <a:sym typeface="Smile Font TH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Smile Font TH"/>
                <a:ea typeface="Smile Font TH"/>
                <a:cs typeface="Smile Font TH"/>
                <a:sym typeface="Smile Font TH"/>
              </a:rPr>
              <a:t>пост</a:t>
            </a:r>
            <a:r>
              <a:rPr lang="en-US" sz="2799" dirty="0">
                <a:solidFill>
                  <a:srgbClr val="000000"/>
                </a:solidFill>
                <a:latin typeface="Smile Font TH"/>
                <a:ea typeface="Smile Font TH"/>
                <a:cs typeface="Smile Font TH"/>
                <a:sym typeface="Smile Font TH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Smile Font TH"/>
                <a:ea typeface="Smile Font TH"/>
                <a:cs typeface="Smile Font TH"/>
                <a:sym typeface="Smile Font TH"/>
              </a:rPr>
              <a:t>або</a:t>
            </a:r>
            <a:r>
              <a:rPr lang="en-US" sz="2799" dirty="0">
                <a:solidFill>
                  <a:srgbClr val="000000"/>
                </a:solidFill>
                <a:latin typeface="Smile Font TH"/>
                <a:ea typeface="Smile Font TH"/>
                <a:cs typeface="Smile Font TH"/>
                <a:sym typeface="Smile Font TH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Smile Font TH"/>
                <a:ea typeface="Smile Font TH"/>
                <a:cs typeface="Smile Font TH"/>
                <a:sym typeface="Smile Font TH"/>
              </a:rPr>
              <a:t>коментар</a:t>
            </a:r>
            <a:r>
              <a:rPr lang="en-US" sz="2799" dirty="0">
                <a:solidFill>
                  <a:srgbClr val="000000"/>
                </a:solidFill>
                <a:latin typeface="Smile Font TH"/>
                <a:ea typeface="Smile Font TH"/>
                <a:cs typeface="Smile Font TH"/>
                <a:sym typeface="Smile Font TH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Smile Font TH"/>
                <a:ea typeface="Smile Font TH"/>
                <a:cs typeface="Smile Font TH"/>
                <a:sym typeface="Smile Font TH"/>
              </a:rPr>
              <a:t>на</a:t>
            </a:r>
            <a:r>
              <a:rPr lang="en-US" sz="2799" dirty="0">
                <a:solidFill>
                  <a:srgbClr val="000000"/>
                </a:solidFill>
                <a:latin typeface="Smile Font TH"/>
                <a:ea typeface="Smile Font TH"/>
                <a:cs typeface="Smile Font TH"/>
                <a:sym typeface="Smile Font TH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Smile Font TH"/>
                <a:ea typeface="Smile Font TH"/>
                <a:cs typeface="Smile Font TH"/>
                <a:sym typeface="Smile Font TH"/>
              </a:rPr>
              <a:t>тему</a:t>
            </a:r>
            <a:r>
              <a:rPr lang="en-US" sz="2799" dirty="0">
                <a:solidFill>
                  <a:srgbClr val="000000"/>
                </a:solidFill>
                <a:latin typeface="Smile Font TH"/>
                <a:ea typeface="Smile Font TH"/>
                <a:cs typeface="Smile Font TH"/>
                <a:sym typeface="Smile Font TH"/>
              </a:rPr>
              <a:t>, </a:t>
            </a:r>
            <a:r>
              <a:rPr lang="en-US" sz="2799" dirty="0" err="1">
                <a:solidFill>
                  <a:srgbClr val="000000"/>
                </a:solidFill>
                <a:latin typeface="Smile Font TH"/>
                <a:ea typeface="Smile Font TH"/>
                <a:cs typeface="Smile Font TH"/>
                <a:sym typeface="Smile Font TH"/>
              </a:rPr>
              <a:t>яка</a:t>
            </a:r>
            <a:r>
              <a:rPr lang="en-US" sz="2799" dirty="0">
                <a:solidFill>
                  <a:srgbClr val="000000"/>
                </a:solidFill>
                <a:latin typeface="Smile Font TH"/>
                <a:ea typeface="Smile Font TH"/>
                <a:cs typeface="Smile Font TH"/>
                <a:sym typeface="Smile Font TH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Smile Font TH"/>
                <a:ea typeface="Smile Font TH"/>
                <a:cs typeface="Smile Font TH"/>
                <a:sym typeface="Smile Font TH"/>
              </a:rPr>
              <a:t>вас</a:t>
            </a:r>
            <a:r>
              <a:rPr lang="en-US" sz="2799" dirty="0">
                <a:solidFill>
                  <a:srgbClr val="000000"/>
                </a:solidFill>
                <a:latin typeface="Smile Font TH"/>
                <a:ea typeface="Smile Font TH"/>
                <a:cs typeface="Smile Font TH"/>
                <a:sym typeface="Smile Font TH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Smile Font TH"/>
                <a:ea typeface="Smile Font TH"/>
                <a:cs typeface="Smile Font TH"/>
                <a:sym typeface="Smile Font TH"/>
              </a:rPr>
              <a:t>цікавить</a:t>
            </a:r>
            <a:r>
              <a:rPr lang="en-US" sz="2799" dirty="0">
                <a:solidFill>
                  <a:srgbClr val="000000"/>
                </a:solidFill>
                <a:latin typeface="Smile Font TH"/>
                <a:ea typeface="Smile Font TH"/>
                <a:cs typeface="Smile Font TH"/>
                <a:sym typeface="Smile Font TH"/>
              </a:rPr>
              <a:t>, </a:t>
            </a:r>
            <a:r>
              <a:rPr lang="en-US" sz="2799" dirty="0" err="1">
                <a:solidFill>
                  <a:srgbClr val="000000"/>
                </a:solidFill>
                <a:latin typeface="Smile Font TH"/>
                <a:ea typeface="Smile Font TH"/>
                <a:cs typeface="Smile Font TH"/>
                <a:sym typeface="Smile Font TH"/>
              </a:rPr>
              <a:t>дотримуючись</a:t>
            </a:r>
            <a:r>
              <a:rPr lang="en-US" sz="2799" dirty="0">
                <a:solidFill>
                  <a:srgbClr val="000000"/>
                </a:solidFill>
                <a:latin typeface="Smile Font TH"/>
                <a:ea typeface="Smile Font TH"/>
                <a:cs typeface="Smile Font TH"/>
                <a:sym typeface="Smile Font TH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Smile Font TH"/>
                <a:ea typeface="Smile Font TH"/>
                <a:cs typeface="Smile Font TH"/>
                <a:sym typeface="Smile Font TH"/>
              </a:rPr>
              <a:t>правил</a:t>
            </a:r>
            <a:r>
              <a:rPr lang="en-US" sz="2799" dirty="0">
                <a:solidFill>
                  <a:srgbClr val="000000"/>
                </a:solidFill>
                <a:latin typeface="Smile Font TH"/>
                <a:ea typeface="Smile Font TH"/>
                <a:cs typeface="Smile Font TH"/>
                <a:sym typeface="Smile Font TH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Smile Font TH"/>
                <a:ea typeface="Smile Font TH"/>
                <a:cs typeface="Smile Font TH"/>
                <a:sym typeface="Smile Font TH"/>
              </a:rPr>
              <a:t>онлайн-спілкування</a:t>
            </a:r>
            <a:r>
              <a:rPr lang="en-US" sz="2799" dirty="0">
                <a:solidFill>
                  <a:srgbClr val="000000"/>
                </a:solidFill>
                <a:latin typeface="Smile Font TH"/>
                <a:ea typeface="Smile Font TH"/>
                <a:cs typeface="Smile Font TH"/>
                <a:sym typeface="Smile Font TH"/>
              </a:rPr>
              <a:t>, </a:t>
            </a:r>
            <a:r>
              <a:rPr lang="en-US" sz="2799" dirty="0" err="1">
                <a:solidFill>
                  <a:srgbClr val="000000"/>
                </a:solidFill>
                <a:latin typeface="Smile Font TH"/>
                <a:ea typeface="Smile Font TH"/>
                <a:cs typeface="Smile Font TH"/>
                <a:sym typeface="Smile Font TH"/>
              </a:rPr>
              <a:t>звертаючи</a:t>
            </a:r>
            <a:r>
              <a:rPr lang="en-US" sz="2799" dirty="0">
                <a:solidFill>
                  <a:srgbClr val="000000"/>
                </a:solidFill>
                <a:latin typeface="Smile Font TH"/>
                <a:ea typeface="Smile Font TH"/>
                <a:cs typeface="Smile Font TH"/>
                <a:sym typeface="Smile Font TH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Smile Font TH"/>
                <a:ea typeface="Smile Font TH"/>
                <a:cs typeface="Smile Font TH"/>
                <a:sym typeface="Smile Font TH"/>
              </a:rPr>
              <a:t>увагу</a:t>
            </a:r>
            <a:r>
              <a:rPr lang="en-US" sz="2799" dirty="0">
                <a:solidFill>
                  <a:srgbClr val="000000"/>
                </a:solidFill>
                <a:latin typeface="Smile Font TH"/>
                <a:ea typeface="Smile Font TH"/>
                <a:cs typeface="Smile Font TH"/>
                <a:sym typeface="Smile Font TH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Smile Font TH"/>
                <a:ea typeface="Smile Font TH"/>
                <a:cs typeface="Smile Font TH"/>
                <a:sym typeface="Smile Font TH"/>
              </a:rPr>
              <a:t>на</a:t>
            </a:r>
            <a:r>
              <a:rPr lang="en-US" sz="2799" dirty="0">
                <a:solidFill>
                  <a:srgbClr val="000000"/>
                </a:solidFill>
                <a:latin typeface="Smile Font TH"/>
                <a:ea typeface="Smile Font TH"/>
                <a:cs typeface="Smile Font TH"/>
                <a:sym typeface="Smile Font TH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Smile Font TH"/>
                <a:ea typeface="Smile Font TH"/>
                <a:cs typeface="Smile Font TH"/>
                <a:sym typeface="Smile Font TH"/>
              </a:rPr>
              <a:t>грамотність</a:t>
            </a:r>
            <a:r>
              <a:rPr lang="en-US" sz="2799" dirty="0">
                <a:solidFill>
                  <a:srgbClr val="000000"/>
                </a:solidFill>
                <a:latin typeface="Smile Font TH"/>
                <a:ea typeface="Smile Font TH"/>
                <a:cs typeface="Smile Font TH"/>
                <a:sym typeface="Smile Font TH"/>
              </a:rPr>
              <a:t>, </a:t>
            </a:r>
            <a:r>
              <a:rPr lang="en-US" sz="2799" dirty="0" err="1">
                <a:solidFill>
                  <a:srgbClr val="000000"/>
                </a:solidFill>
                <a:latin typeface="Smile Font TH"/>
                <a:ea typeface="Smile Font TH"/>
                <a:cs typeface="Smile Font TH"/>
                <a:sym typeface="Smile Font TH"/>
              </a:rPr>
              <a:t>ввічливість</a:t>
            </a:r>
            <a:r>
              <a:rPr lang="en-US" sz="2799" dirty="0">
                <a:solidFill>
                  <a:srgbClr val="000000"/>
                </a:solidFill>
                <a:latin typeface="Smile Font TH"/>
                <a:ea typeface="Smile Font TH"/>
                <a:cs typeface="Smile Font TH"/>
                <a:sym typeface="Smile Font TH"/>
              </a:rPr>
              <a:t> і </a:t>
            </a:r>
            <a:r>
              <a:rPr lang="en-US" sz="2799" dirty="0" err="1">
                <a:solidFill>
                  <a:srgbClr val="000000"/>
                </a:solidFill>
                <a:latin typeface="Smile Font TH"/>
                <a:ea typeface="Smile Font TH"/>
                <a:cs typeface="Smile Font TH"/>
                <a:sym typeface="Smile Font TH"/>
              </a:rPr>
              <a:t>конфіденційність</a:t>
            </a:r>
            <a:r>
              <a:rPr lang="en-US" sz="2799" dirty="0">
                <a:solidFill>
                  <a:srgbClr val="000000"/>
                </a:solidFill>
                <a:latin typeface="Smile Font TH"/>
                <a:ea typeface="Smile Font TH"/>
                <a:cs typeface="Smile Font TH"/>
                <a:sym typeface="Smile Font TH"/>
              </a:rPr>
              <a:t>.</a:t>
            </a:r>
          </a:p>
          <a:p>
            <a:pPr algn="ctr">
              <a:lnSpc>
                <a:spcPts val="3919"/>
              </a:lnSpc>
            </a:pPr>
            <a:endParaRPr lang="en-US" sz="2799" dirty="0">
              <a:solidFill>
                <a:srgbClr val="000000"/>
              </a:solidFill>
              <a:latin typeface="Smile Font TH"/>
              <a:ea typeface="Smile Font TH"/>
              <a:cs typeface="Smile Font TH"/>
              <a:sym typeface="Smile Font TH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B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61681">
            <a:off x="535279" y="237800"/>
            <a:ext cx="26605027" cy="10775036"/>
          </a:xfrm>
          <a:custGeom>
            <a:avLst/>
            <a:gdLst/>
            <a:ahLst/>
            <a:cxnLst/>
            <a:rect l="l" t="t" r="r" b="b"/>
            <a:pathLst>
              <a:path w="26605027" h="10775036">
                <a:moveTo>
                  <a:pt x="0" y="0"/>
                </a:moveTo>
                <a:lnTo>
                  <a:pt x="26605028" y="0"/>
                </a:lnTo>
                <a:lnTo>
                  <a:pt x="26605028" y="10775036"/>
                </a:lnTo>
                <a:lnTo>
                  <a:pt x="0" y="107750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1057275"/>
            <a:ext cx="15451254" cy="454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64"/>
              </a:lnSpc>
            </a:pPr>
            <a:r>
              <a:rPr lang="en-US" sz="3200" dirty="0">
                <a:solidFill>
                  <a:srgbClr val="0097B2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 СВОБОДА СЛОВА І ВІДПОВІДАЛЬНІСТЬ</a:t>
            </a:r>
          </a:p>
        </p:txBody>
      </p:sp>
      <p:sp>
        <p:nvSpPr>
          <p:cNvPr id="4" name="Freeform 4"/>
          <p:cNvSpPr/>
          <p:nvPr/>
        </p:nvSpPr>
        <p:spPr>
          <a:xfrm rot="-1880126">
            <a:off x="16746704" y="665977"/>
            <a:ext cx="2052323" cy="2665355"/>
          </a:xfrm>
          <a:custGeom>
            <a:avLst/>
            <a:gdLst/>
            <a:ahLst/>
            <a:cxnLst/>
            <a:rect l="l" t="t" r="r" b="b"/>
            <a:pathLst>
              <a:path w="2052323" h="2665355">
                <a:moveTo>
                  <a:pt x="0" y="0"/>
                </a:moveTo>
                <a:lnTo>
                  <a:pt x="2052323" y="0"/>
                </a:lnTo>
                <a:lnTo>
                  <a:pt x="2052323" y="2665355"/>
                </a:lnTo>
                <a:lnTo>
                  <a:pt x="0" y="26653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108913">
            <a:off x="3431203" y="1525552"/>
            <a:ext cx="8988036" cy="1763902"/>
          </a:xfrm>
          <a:custGeom>
            <a:avLst/>
            <a:gdLst/>
            <a:ahLst/>
            <a:cxnLst/>
            <a:rect l="l" t="t" r="r" b="b"/>
            <a:pathLst>
              <a:path w="8988036" h="1763902">
                <a:moveTo>
                  <a:pt x="0" y="0"/>
                </a:moveTo>
                <a:lnTo>
                  <a:pt x="8988036" y="0"/>
                </a:lnTo>
                <a:lnTo>
                  <a:pt x="8988036" y="1763902"/>
                </a:lnTo>
                <a:lnTo>
                  <a:pt x="0" y="17639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019867" y="4906561"/>
            <a:ext cx="15439261" cy="3484347"/>
          </a:xfrm>
          <a:custGeom>
            <a:avLst/>
            <a:gdLst/>
            <a:ahLst/>
            <a:cxnLst/>
            <a:rect l="l" t="t" r="r" b="b"/>
            <a:pathLst>
              <a:path w="15439261" h="3484347">
                <a:moveTo>
                  <a:pt x="0" y="0"/>
                </a:moveTo>
                <a:lnTo>
                  <a:pt x="15439261" y="0"/>
                </a:lnTo>
                <a:lnTo>
                  <a:pt x="15439261" y="3484347"/>
                </a:lnTo>
                <a:lnTo>
                  <a:pt x="0" y="348434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079693" y="2036755"/>
            <a:ext cx="7691055" cy="931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48"/>
              </a:lnSpc>
              <a:spcBef>
                <a:spcPct val="0"/>
              </a:spcBef>
            </a:pPr>
            <a:r>
              <a:rPr lang="en-US" sz="2400">
                <a:solidFill>
                  <a:srgbClr val="362D63"/>
                </a:solidFill>
                <a:latin typeface="Pangolin"/>
                <a:ea typeface="Pangolin"/>
                <a:cs typeface="Pangolin"/>
                <a:sym typeface="Pangolin"/>
              </a:rPr>
              <a:t> «НАША СВОБОДА ЗАЛЕЖИТЬ ВІД СВОБОДИ ПРЕСИ. ЯКЩО ЇЇ ОБМЕЖИТИ, ВОНА БУДЕ ВТРАЧЕНА».</a:t>
            </a:r>
          </a:p>
          <a:p>
            <a:pPr algn="r">
              <a:lnSpc>
                <a:spcPts val="2448"/>
              </a:lnSpc>
              <a:spcBef>
                <a:spcPct val="0"/>
              </a:spcBef>
            </a:pPr>
            <a:r>
              <a:rPr lang="en-US" sz="2400">
                <a:solidFill>
                  <a:srgbClr val="545454"/>
                </a:solidFill>
                <a:latin typeface="Pangolin"/>
                <a:ea typeface="Pangolin"/>
                <a:cs typeface="Pangolin"/>
                <a:sym typeface="Pangolin"/>
              </a:rPr>
              <a:t>ТОМАС ДЖЕФФЕРСОН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019867" y="3708697"/>
            <a:ext cx="14460087" cy="626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48"/>
              </a:lnSpc>
              <a:spcBef>
                <a:spcPct val="0"/>
              </a:spcBef>
            </a:pPr>
            <a:r>
              <a:rPr lang="en-US" sz="2400" b="1">
                <a:solidFill>
                  <a:srgbClr val="110064"/>
                </a:solidFill>
                <a:latin typeface="Smile Font TH Bold"/>
                <a:ea typeface="Smile Font TH Bold"/>
                <a:cs typeface="Smile Font TH Bold"/>
                <a:sym typeface="Smile Font TH Bold"/>
              </a:rPr>
              <a:t>СВОБОДА СЛОВА</a:t>
            </a:r>
            <a:r>
              <a:rPr lang="en-US" sz="2400">
                <a:solidFill>
                  <a:srgbClr val="000000"/>
                </a:solidFill>
                <a:latin typeface="Smile Font TH"/>
                <a:ea typeface="Smile Font TH"/>
                <a:cs typeface="Smile Font TH"/>
                <a:sym typeface="Smile Font TH"/>
              </a:rPr>
              <a:t> — ЦЕ ПРАВО ЛЮДИНИ ВИСЛОВЛЮВАТИ СВОЇ ПОГЛЯДИ В УСНІЙ І ПИСЬМОВІЙ ФОРМАХ, ЗОКРЕМА ЧЕРЕЗ ЗАСОБИ МАСОВОЇ ІНФОРМАЦІЇ.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B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966856" y="1159453"/>
            <a:ext cx="12354287" cy="5003486"/>
          </a:xfrm>
          <a:custGeom>
            <a:avLst/>
            <a:gdLst/>
            <a:ahLst/>
            <a:cxnLst/>
            <a:rect l="l" t="t" r="r" b="b"/>
            <a:pathLst>
              <a:path w="12354287" h="5003486">
                <a:moveTo>
                  <a:pt x="0" y="0"/>
                </a:moveTo>
                <a:lnTo>
                  <a:pt x="12354288" y="0"/>
                </a:lnTo>
                <a:lnTo>
                  <a:pt x="12354288" y="5003486"/>
                </a:lnTo>
                <a:lnTo>
                  <a:pt x="0" y="50034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966856" y="4330578"/>
            <a:ext cx="12354287" cy="5003486"/>
          </a:xfrm>
          <a:custGeom>
            <a:avLst/>
            <a:gdLst/>
            <a:ahLst/>
            <a:cxnLst/>
            <a:rect l="l" t="t" r="r" b="b"/>
            <a:pathLst>
              <a:path w="12354287" h="5003486">
                <a:moveTo>
                  <a:pt x="0" y="0"/>
                </a:moveTo>
                <a:lnTo>
                  <a:pt x="12354288" y="0"/>
                </a:lnTo>
                <a:lnTo>
                  <a:pt x="12354288" y="5003487"/>
                </a:lnTo>
                <a:lnTo>
                  <a:pt x="0" y="50034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324395" y="1684145"/>
            <a:ext cx="2912094" cy="564218"/>
          </a:xfrm>
          <a:custGeom>
            <a:avLst/>
            <a:gdLst/>
            <a:ahLst/>
            <a:cxnLst/>
            <a:rect l="l" t="t" r="r" b="b"/>
            <a:pathLst>
              <a:path w="2912094" h="564218">
                <a:moveTo>
                  <a:pt x="0" y="0"/>
                </a:moveTo>
                <a:lnTo>
                  <a:pt x="2912094" y="0"/>
                </a:lnTo>
                <a:lnTo>
                  <a:pt x="2912094" y="564219"/>
                </a:lnTo>
                <a:lnTo>
                  <a:pt x="0" y="5642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9000"/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987646" y="568141"/>
            <a:ext cx="9585591" cy="591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84"/>
              </a:lnSpc>
            </a:pPr>
            <a:r>
              <a:rPr lang="en-US" sz="4200">
                <a:solidFill>
                  <a:srgbClr val="486953"/>
                </a:solidFill>
                <a:latin typeface="Bubblebody Neue"/>
                <a:ea typeface="Bubblebody Neue"/>
                <a:cs typeface="Bubblebody Neue"/>
                <a:sym typeface="Bubblebody Neue"/>
              </a:rPr>
              <a:t>МІРКУЄМО І ДІЄМО</a:t>
            </a:r>
          </a:p>
        </p:txBody>
      </p:sp>
      <p:sp>
        <p:nvSpPr>
          <p:cNvPr id="9" name="Freeform 9"/>
          <p:cNvSpPr/>
          <p:nvPr/>
        </p:nvSpPr>
        <p:spPr>
          <a:xfrm>
            <a:off x="8298769" y="6539926"/>
            <a:ext cx="2137040" cy="1804018"/>
          </a:xfrm>
          <a:custGeom>
            <a:avLst/>
            <a:gdLst/>
            <a:ahLst/>
            <a:cxnLst/>
            <a:rect l="l" t="t" r="r" b="b"/>
            <a:pathLst>
              <a:path w="2137040" h="1804018">
                <a:moveTo>
                  <a:pt x="0" y="0"/>
                </a:moveTo>
                <a:lnTo>
                  <a:pt x="2137040" y="0"/>
                </a:lnTo>
                <a:lnTo>
                  <a:pt x="2137040" y="1804018"/>
                </a:lnTo>
                <a:lnTo>
                  <a:pt x="0" y="18040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0000"/>
              <a:extLs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261905" y="2863008"/>
            <a:ext cx="11764189" cy="3069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09" lvl="1" indent="-313054" algn="just">
              <a:lnSpc>
                <a:spcPts val="4059"/>
              </a:lnSpc>
              <a:buAutoNum type="arabicPeriod"/>
            </a:pPr>
            <a:r>
              <a:rPr lang="en-US" sz="2899">
                <a:solidFill>
                  <a:srgbClr val="000000"/>
                </a:solidFill>
                <a:latin typeface="Smile Font TH"/>
                <a:ea typeface="Smile Font TH"/>
                <a:cs typeface="Smile Font TH"/>
                <a:sym typeface="Smile Font TH"/>
              </a:rPr>
              <a:t>Чи є свобода слова абсолютною? Поясніть свою відповідь. </a:t>
            </a:r>
          </a:p>
          <a:p>
            <a:pPr marL="626109" lvl="1" indent="-313054" algn="just">
              <a:lnSpc>
                <a:spcPts val="4059"/>
              </a:lnSpc>
              <a:buAutoNum type="arabicPeriod"/>
            </a:pPr>
            <a:r>
              <a:rPr lang="en-US" sz="2899">
                <a:solidFill>
                  <a:srgbClr val="000000"/>
                </a:solidFill>
                <a:latin typeface="Smile Font TH"/>
                <a:ea typeface="Smile Font TH"/>
                <a:cs typeface="Smile Font TH"/>
                <a:sym typeface="Smile Font TH"/>
              </a:rPr>
              <a:t>Назвіть три умови, за якими може бути обмежена свобода слова. </a:t>
            </a:r>
          </a:p>
          <a:p>
            <a:pPr marL="626109" lvl="1" indent="-313054" algn="just">
              <a:lnSpc>
                <a:spcPts val="4059"/>
              </a:lnSpc>
              <a:buAutoNum type="arabicPeriod"/>
            </a:pPr>
            <a:r>
              <a:rPr lang="en-US" sz="2899">
                <a:solidFill>
                  <a:srgbClr val="000000"/>
                </a:solidFill>
                <a:latin typeface="Smile Font TH"/>
                <a:ea typeface="Smile Font TH"/>
                <a:cs typeface="Smile Font TH"/>
                <a:sym typeface="Smile Font TH"/>
              </a:rPr>
              <a:t>Як в умовах війни інформація може використовуватись як зброя?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440</Words>
  <Application>Microsoft Office PowerPoint</Application>
  <PresentationFormat>Произвольный</PresentationFormat>
  <Paragraphs>44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3" baseType="lpstr">
      <vt:lpstr>Pangolin</vt:lpstr>
      <vt:lpstr>Smile Font TH</vt:lpstr>
      <vt:lpstr>Arial</vt:lpstr>
      <vt:lpstr>Bubblebody Neue</vt:lpstr>
      <vt:lpstr>More Sugar</vt:lpstr>
      <vt:lpstr>Bubblebody Neue Bold</vt:lpstr>
      <vt:lpstr>Smile Font TH Bold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Ефективна комунікація</dc:title>
  <dc:creator>User</dc:creator>
  <cp:lastModifiedBy>User</cp:lastModifiedBy>
  <cp:revision>3</cp:revision>
  <dcterms:created xsi:type="dcterms:W3CDTF">2006-08-16T00:00:00Z</dcterms:created>
  <dcterms:modified xsi:type="dcterms:W3CDTF">2026-09-30T15:55:24Z</dcterms:modified>
  <dc:identifier>DAHAcC4ecw4</dc:identifier>
</cp:coreProperties>
</file>