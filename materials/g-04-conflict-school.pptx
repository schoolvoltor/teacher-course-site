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Темный стиль 2 -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-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Средний стиль 4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llt.multycourse.com.ua/ru/glossary/165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4" y="0"/>
            <a:ext cx="9143303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60648"/>
            <a:ext cx="7772400" cy="5544617"/>
          </a:xfrm>
        </p:spPr>
        <p:txBody>
          <a:bodyPr>
            <a:normAutofit/>
          </a:bodyPr>
          <a:lstStyle/>
          <a:p>
            <a: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  <a:t>Конфлікт</a:t>
            </a:r>
            <a:b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</a:br>
            <a: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uk-UA" sz="6000" b="1" dirty="0">
                <a:solidFill>
                  <a:srgbClr val="FF0000"/>
                </a:solidFill>
                <a:latin typeface="Bookman Old Style" pitchFamily="18" charset="0"/>
              </a:rPr>
              <a:t>у </a:t>
            </a:r>
            <a: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  <a:t/>
            </a:r>
            <a:b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</a:br>
            <a: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  <a:t/>
            </a:r>
            <a:b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</a:br>
            <a: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  <a:t>  закладі </a:t>
            </a:r>
            <a:b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</a:br>
            <a:r>
              <a:rPr lang="uk-UA" sz="6000" b="1" dirty="0" smtClean="0">
                <a:solidFill>
                  <a:srgbClr val="FF0000"/>
                </a:solidFill>
                <a:latin typeface="Bookman Old Style" pitchFamily="18" charset="0"/>
              </a:rPr>
              <a:t>   освіти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617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7344816" cy="1786210"/>
          </a:xfrm>
        </p:spPr>
        <p:txBody>
          <a:bodyPr>
            <a:normAutofit fontScale="90000"/>
          </a:bodyPr>
          <a:lstStyle/>
          <a:p>
            <a:pPr algn="r"/>
            <a:r>
              <a:rPr lang="uk-UA" b="1" i="1" dirty="0">
                <a:solidFill>
                  <a:srgbClr val="0070C0"/>
                </a:solidFill>
              </a:rPr>
              <a:t>«Безконфліктний колектив – це мертвий колектив»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1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37876" y="4877842"/>
            <a:ext cx="3096344" cy="1091355"/>
          </a:xfrm>
        </p:spPr>
        <p:txBody>
          <a:bodyPr>
            <a:normAutofit/>
          </a:bodyPr>
          <a:lstStyle/>
          <a:p>
            <a:r>
              <a:rPr lang="uk-UA" b="1" dirty="0" smtClean="0">
                <a:solidFill>
                  <a:srgbClr val="FF0000"/>
                </a:solidFill>
              </a:rPr>
              <a:t>адміністрація-батьки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1187624" y="4941168"/>
            <a:ext cx="3024336" cy="1418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 smtClean="0">
                <a:solidFill>
                  <a:srgbClr val="FF0000"/>
                </a:solidFill>
              </a:rPr>
              <a:t>вчителі-батьки; 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2757849" y="3429000"/>
            <a:ext cx="3145589" cy="1418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 smtClean="0">
                <a:solidFill>
                  <a:srgbClr val="FF0000"/>
                </a:solidFill>
              </a:rPr>
              <a:t>вчитель-адміністрація; 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1234299" y="1828157"/>
            <a:ext cx="3096344" cy="1418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 smtClean="0">
                <a:solidFill>
                  <a:srgbClr val="FF0000"/>
                </a:solidFill>
              </a:rPr>
              <a:t>колектив-адміністрація; 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5292080" y="1836856"/>
            <a:ext cx="2818656" cy="1113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 smtClean="0">
                <a:solidFill>
                  <a:srgbClr val="FF0000"/>
                </a:solidFill>
              </a:rPr>
              <a:t>вчитель-вчитель; 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5903438" y="462668"/>
            <a:ext cx="3011218" cy="108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 smtClean="0">
                <a:solidFill>
                  <a:srgbClr val="FF0000"/>
                </a:solidFill>
              </a:rPr>
              <a:t>учень-вчитель; 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537642" y="683011"/>
            <a:ext cx="2884140" cy="89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 smtClean="0">
                <a:solidFill>
                  <a:srgbClr val="FF0000"/>
                </a:solidFill>
              </a:rPr>
              <a:t>учень-учень; 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40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68341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612068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0" indent="0" algn="ctr">
              <a:buNone/>
            </a:pPr>
            <a:r>
              <a:rPr lang="uk-UA" sz="6600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криза</a:t>
            </a:r>
            <a:endParaRPr lang="ru-RU" sz="6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marL="0" lvl="0" indent="0" algn="ctr">
              <a:buNone/>
            </a:pPr>
            <a:r>
              <a:rPr lang="uk-UA" sz="6600" b="1" i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непорозуміння</a:t>
            </a:r>
            <a:r>
              <a:rPr lang="uk-UA" sz="6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endParaRPr lang="uk-UA" sz="66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marL="0" lvl="0" indent="0" algn="ctr">
              <a:buNone/>
            </a:pPr>
            <a:r>
              <a:rPr lang="uk-UA" sz="6600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інциденти</a:t>
            </a:r>
            <a:r>
              <a:rPr lang="uk-UA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</a:p>
          <a:p>
            <a:pPr marL="0" lvl="0" indent="0" algn="ctr">
              <a:buNone/>
            </a:pPr>
            <a:r>
              <a:rPr lang="uk-UA" sz="6600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напруга </a:t>
            </a:r>
          </a:p>
          <a:p>
            <a:pPr marL="0" lvl="0" indent="0" algn="ctr">
              <a:buNone/>
            </a:pPr>
            <a:r>
              <a:rPr lang="uk-UA" sz="6600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дискомфорт</a:t>
            </a:r>
            <a:endParaRPr lang="ru-RU" sz="6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23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" y="14626"/>
            <a:ext cx="9123705" cy="684337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856984" cy="1412776"/>
          </a:xfrm>
        </p:spPr>
        <p:txBody>
          <a:bodyPr>
            <a:normAutofit fontScale="90000"/>
          </a:bodyPr>
          <a:lstStyle/>
          <a:p>
            <a:r>
              <a:rPr lang="uk-UA" sz="3100" b="1" i="1" dirty="0">
                <a:solidFill>
                  <a:srgbClr val="002060"/>
                </a:solidFill>
                <a:cs typeface="Arial" pitchFamily="34" charset="0"/>
              </a:rPr>
              <a:t>Для вчительських колективів сучасної школи найбільш характерними є:</a:t>
            </a:r>
            <a:r>
              <a:rPr lang="ru-RU" dirty="0">
                <a:solidFill>
                  <a:srgbClr val="002060"/>
                </a:solidFill>
              </a:rPr>
              <a:t/>
            </a:r>
            <a:br>
              <a:rPr lang="ru-RU" dirty="0">
                <a:solidFill>
                  <a:srgbClr val="002060"/>
                </a:solidFill>
              </a:rPr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12776"/>
            <a:ext cx="8568952" cy="5184576"/>
          </a:xfrm>
        </p:spPr>
        <p:txBody>
          <a:bodyPr>
            <a:normAutofit fontScale="92500"/>
          </a:bodyPr>
          <a:lstStyle/>
          <a:p>
            <a:pPr lvl="0" algn="ctr"/>
            <a:r>
              <a:rPr lang="uk-UA" b="1" dirty="0">
                <a:solidFill>
                  <a:srgbClr val="FF0000"/>
                </a:solidFill>
                <a:latin typeface="Bookman Old Style" pitchFamily="18" charset="0"/>
              </a:rPr>
              <a:t>Нетактовне ставлення один до одного.</a:t>
            </a:r>
            <a:endParaRPr lang="ru-RU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b="1" dirty="0">
                <a:solidFill>
                  <a:srgbClr val="FF0000"/>
                </a:solidFill>
                <a:latin typeface="Bookman Old Style" pitchFamily="18" charset="0"/>
              </a:rPr>
              <a:t>Незручний розклад.</a:t>
            </a:r>
            <a:endParaRPr lang="ru-RU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b="1" dirty="0">
                <a:solidFill>
                  <a:srgbClr val="FF0000"/>
                </a:solidFill>
                <a:latin typeface="Bookman Old Style" pitchFamily="18" charset="0"/>
              </a:rPr>
              <a:t>Непродумані нововведення в школі.</a:t>
            </a:r>
            <a:endParaRPr lang="ru-RU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b="1" dirty="0">
                <a:solidFill>
                  <a:srgbClr val="FF0000"/>
                </a:solidFill>
                <a:latin typeface="Bookman Old Style" pitchFamily="18" charset="0"/>
              </a:rPr>
              <a:t>Нерівномірний розподіл педагогічного навантаження.</a:t>
            </a:r>
            <a:endParaRPr lang="ru-RU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b="1" dirty="0">
                <a:solidFill>
                  <a:srgbClr val="FF0000"/>
                </a:solidFill>
                <a:latin typeface="Bookman Old Style" pitchFamily="18" charset="0"/>
              </a:rPr>
              <a:t>Відсутність умов для міжособистісного спілкування.</a:t>
            </a:r>
            <a:endParaRPr lang="ru-RU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b="1" dirty="0">
                <a:solidFill>
                  <a:srgbClr val="FF0000"/>
                </a:solidFill>
                <a:latin typeface="Bookman Old Style" pitchFamily="18" charset="0"/>
              </a:rPr>
              <a:t>Непорозуміння між учителями різного віку.</a:t>
            </a:r>
            <a:endParaRPr lang="ru-RU" b="1" dirty="0">
              <a:solidFill>
                <a:srgbClr val="FF0000"/>
              </a:solidFill>
              <a:latin typeface="Bookman Old Style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215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648"/>
            <a:ext cx="9144001" cy="610819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0387" y="188640"/>
            <a:ext cx="8856984" cy="1412776"/>
          </a:xfrm>
        </p:spPr>
        <p:txBody>
          <a:bodyPr>
            <a:normAutofit fontScale="90000"/>
          </a:bodyPr>
          <a:lstStyle/>
          <a:p>
            <a:r>
              <a:rPr lang="uk-UA" sz="3600" b="1" i="1" dirty="0" smtClean="0">
                <a:solidFill>
                  <a:srgbClr val="002060"/>
                </a:solidFill>
              </a:rPr>
              <a:t/>
            </a:r>
            <a:br>
              <a:rPr lang="uk-UA" sz="3600" b="1" i="1" dirty="0" smtClean="0">
                <a:solidFill>
                  <a:srgbClr val="002060"/>
                </a:solidFill>
              </a:rPr>
            </a:br>
            <a:r>
              <a:rPr lang="uk-UA" sz="3600" b="1" i="1" dirty="0">
                <a:solidFill>
                  <a:srgbClr val="002060"/>
                </a:solidFill>
              </a:rPr>
              <a:t/>
            </a:r>
            <a:br>
              <a:rPr lang="uk-UA" sz="3600" b="1" i="1" dirty="0">
                <a:solidFill>
                  <a:srgbClr val="002060"/>
                </a:solidFill>
              </a:rPr>
            </a:br>
            <a:r>
              <a:rPr lang="uk-UA" sz="3600" b="1" i="1" dirty="0" smtClean="0">
                <a:solidFill>
                  <a:srgbClr val="002060"/>
                </a:solidFill>
              </a:rPr>
              <a:t>На </a:t>
            </a:r>
            <a:r>
              <a:rPr lang="uk-UA" sz="3600" b="1" i="1" dirty="0">
                <a:solidFill>
                  <a:srgbClr val="002060"/>
                </a:solidFill>
              </a:rPr>
              <a:t>думку вчителів, конфлікти між вчителями та учнями виникають через: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dirty="0">
                <a:solidFill>
                  <a:srgbClr val="002060"/>
                </a:solidFill>
              </a:rPr>
              <a:t/>
            </a:r>
            <a:br>
              <a:rPr lang="ru-RU" dirty="0">
                <a:solidFill>
                  <a:srgbClr val="002060"/>
                </a:solidFill>
              </a:rPr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12776"/>
            <a:ext cx="8568952" cy="5184576"/>
          </a:xfrm>
        </p:spPr>
        <p:txBody>
          <a:bodyPr>
            <a:normAutofit/>
          </a:bodyPr>
          <a:lstStyle/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Порушення дисципліни на уроці;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Невиконання домашнього завдання;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Неповага до вчителя;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Недоброзичливі відносини між учнями.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6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648"/>
            <a:ext cx="9144001" cy="610819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0387" y="188640"/>
            <a:ext cx="8856984" cy="1412776"/>
          </a:xfrm>
        </p:spPr>
        <p:txBody>
          <a:bodyPr>
            <a:noAutofit/>
          </a:bodyPr>
          <a:lstStyle/>
          <a:p>
            <a:r>
              <a:rPr lang="uk-UA" sz="4000" b="1" i="1" dirty="0" smtClean="0">
                <a:solidFill>
                  <a:srgbClr val="002060"/>
                </a:solidFill>
              </a:rPr>
              <a:t/>
            </a:r>
            <a:br>
              <a:rPr lang="uk-UA" sz="4000" b="1" i="1" dirty="0" smtClean="0">
                <a:solidFill>
                  <a:srgbClr val="002060"/>
                </a:solidFill>
              </a:rPr>
            </a:br>
            <a:r>
              <a:rPr lang="uk-UA" sz="4000" b="1" i="1" dirty="0">
                <a:solidFill>
                  <a:srgbClr val="002060"/>
                </a:solidFill>
              </a:rPr>
              <a:t/>
            </a:r>
            <a:br>
              <a:rPr lang="uk-UA" sz="4000" b="1" i="1" dirty="0">
                <a:solidFill>
                  <a:srgbClr val="002060"/>
                </a:solidFill>
              </a:rPr>
            </a:br>
            <a:r>
              <a:rPr lang="uk-UA" sz="4000" b="1" i="1" dirty="0" smtClean="0">
                <a:solidFill>
                  <a:srgbClr val="002060"/>
                </a:solidFill>
              </a:rPr>
              <a:t/>
            </a:r>
            <a:br>
              <a:rPr lang="uk-UA" sz="4000" b="1" i="1" dirty="0" smtClean="0">
                <a:solidFill>
                  <a:srgbClr val="002060"/>
                </a:solidFill>
              </a:rPr>
            </a:br>
            <a:r>
              <a:rPr lang="uk-UA" sz="3600" b="1" i="1" dirty="0" smtClean="0">
                <a:solidFill>
                  <a:srgbClr val="002060"/>
                </a:solidFill>
              </a:rPr>
              <a:t>На </a:t>
            </a:r>
            <a:r>
              <a:rPr lang="uk-UA" sz="3600" b="1" i="1" dirty="0">
                <a:solidFill>
                  <a:srgbClr val="002060"/>
                </a:solidFill>
              </a:rPr>
              <a:t>думку учнів причинами їхніх конфліктів з учителями є: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200" dirty="0"/>
              <a:t/>
            </a:r>
            <a:br>
              <a:rPr lang="ru-RU" sz="3200" dirty="0"/>
            </a:br>
            <a:r>
              <a:rPr lang="ru-RU" sz="4800" dirty="0">
                <a:solidFill>
                  <a:srgbClr val="002060"/>
                </a:solidFill>
              </a:rPr>
              <a:t/>
            </a:r>
            <a:br>
              <a:rPr lang="ru-RU" sz="4800" dirty="0">
                <a:solidFill>
                  <a:srgbClr val="002060"/>
                </a:solidFill>
              </a:rPr>
            </a:br>
            <a:endParaRPr lang="ru-RU" sz="4800" dirty="0">
              <a:solidFill>
                <a:srgbClr val="00206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5328592"/>
          </a:xfrm>
        </p:spPr>
        <p:txBody>
          <a:bodyPr>
            <a:normAutofit fontScale="92500" lnSpcReduction="10000"/>
          </a:bodyPr>
          <a:lstStyle/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Пропуск уроків;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Непідготовлені домашні завдання;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Нецікаве проведення уроку;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Наявність «улюбленців» у вчителів;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lvl="0" algn="ctr"/>
            <a:r>
              <a:rPr lang="uk-UA" sz="4000" b="1" dirty="0">
                <a:solidFill>
                  <a:srgbClr val="FF0000"/>
                </a:solidFill>
                <a:latin typeface="Bookman Old Style" pitchFamily="18" charset="0"/>
              </a:rPr>
              <a:t>Образи зі сторони вчителя, грубість і нестриманість (роззява, нахаба та інші).</a:t>
            </a:r>
            <a:endParaRPr lang="ru-RU" sz="4000" b="1" dirty="0">
              <a:solidFill>
                <a:srgbClr val="FF0000"/>
              </a:solidFill>
              <a:latin typeface="Bookman Old Style" pitchFamily="18" charset="0"/>
            </a:endParaRPr>
          </a:p>
          <a:p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04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3" r="28577"/>
          <a:stretch/>
        </p:blipFill>
        <p:spPr>
          <a:xfrm>
            <a:off x="251520" y="116632"/>
            <a:ext cx="5195759" cy="6480720"/>
          </a:xfrm>
        </p:spPr>
      </p:pic>
      <p:sp>
        <p:nvSpPr>
          <p:cNvPr id="8" name="Текст 7"/>
          <p:cNvSpPr>
            <a:spLocks noGrp="1"/>
          </p:cNvSpPr>
          <p:nvPr>
            <p:ph type="body" sz="half" idx="2"/>
          </p:nvPr>
        </p:nvSpPr>
        <p:spPr>
          <a:xfrm>
            <a:off x="5652120" y="188640"/>
            <a:ext cx="3312368" cy="6336704"/>
          </a:xfrm>
        </p:spPr>
        <p:txBody>
          <a:bodyPr>
            <a:normAutofit/>
          </a:bodyPr>
          <a:lstStyle/>
          <a:p>
            <a:pPr algn="ctr"/>
            <a:r>
              <a:rPr lang="uk-UA" sz="1800" b="1" dirty="0" smtClean="0">
                <a:solidFill>
                  <a:srgbClr val="0070C0"/>
                </a:solidFill>
                <a:latin typeface="Bookman Old Style" pitchFamily="18" charset="0"/>
              </a:rPr>
              <a:t> - Позиції (вимоги, ЩО кажуть, ЩО вони хочуть)</a:t>
            </a:r>
          </a:p>
          <a:p>
            <a:endParaRPr lang="uk-UA" sz="1800" b="1" dirty="0" smtClean="0">
              <a:solidFill>
                <a:srgbClr val="0070C0"/>
              </a:solidFill>
              <a:latin typeface="Bookman Old Style" pitchFamily="18" charset="0"/>
            </a:endParaRPr>
          </a:p>
          <a:p>
            <a:endParaRPr lang="uk-UA" sz="1800" b="1" dirty="0">
              <a:solidFill>
                <a:srgbClr val="0070C0"/>
              </a:solidFill>
              <a:latin typeface="Bookman Old Style" pitchFamily="18" charset="0"/>
            </a:endParaRPr>
          </a:p>
          <a:p>
            <a:endParaRPr lang="uk-UA" sz="1800" b="1" dirty="0" smtClean="0">
              <a:solidFill>
                <a:srgbClr val="0070C0"/>
              </a:solidFill>
              <a:latin typeface="Bookman Old Style" pitchFamily="18" charset="0"/>
            </a:endParaRPr>
          </a:p>
          <a:p>
            <a:endParaRPr lang="uk-UA" sz="1800" b="1" dirty="0">
              <a:solidFill>
                <a:srgbClr val="0070C0"/>
              </a:solidFill>
              <a:latin typeface="Bookman Old Style" pitchFamily="18" charset="0"/>
            </a:endParaRPr>
          </a:p>
          <a:p>
            <a:endParaRPr lang="uk-UA" sz="1800" b="1" dirty="0" smtClean="0">
              <a:solidFill>
                <a:srgbClr val="0070C0"/>
              </a:solidFill>
              <a:latin typeface="Bookman Old Style" pitchFamily="18" charset="0"/>
            </a:endParaRPr>
          </a:p>
          <a:p>
            <a:pPr algn="ctr"/>
            <a:endParaRPr lang="uk-UA" sz="1800" b="1" dirty="0" smtClean="0">
              <a:solidFill>
                <a:srgbClr val="0070C0"/>
              </a:solidFill>
              <a:latin typeface="Bookman Old Style" pitchFamily="18" charset="0"/>
            </a:endParaRPr>
          </a:p>
          <a:p>
            <a:pPr algn="ctr"/>
            <a:endParaRPr lang="uk-UA" sz="1800" b="1" dirty="0">
              <a:solidFill>
                <a:srgbClr val="0070C0"/>
              </a:solidFill>
              <a:latin typeface="Bookman Old Style" pitchFamily="18" charset="0"/>
            </a:endParaRPr>
          </a:p>
          <a:p>
            <a:pPr algn="ctr"/>
            <a:r>
              <a:rPr lang="uk-UA" sz="1800" b="1" dirty="0" smtClean="0">
                <a:solidFill>
                  <a:srgbClr val="0070C0"/>
                </a:solidFill>
                <a:latin typeface="Bookman Old Style" pitchFamily="18" charset="0"/>
              </a:rPr>
              <a:t> - Інтереси (ЧОМУ люди кажуть, ЩО вони кажуть)</a:t>
            </a:r>
            <a:endParaRPr lang="ru-RU" sz="1800" b="1" dirty="0">
              <a:solidFill>
                <a:srgbClr val="0070C0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8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635767"/>
              </p:ext>
            </p:extLst>
          </p:nvPr>
        </p:nvGraphicFramePr>
        <p:xfrm>
          <a:off x="395536" y="2060848"/>
          <a:ext cx="8424936" cy="3312369"/>
        </p:xfrm>
        <a:graphic>
          <a:graphicData uri="http://schemas.openxmlformats.org/drawingml/2006/table">
            <a:tbl>
              <a:tblPr firstRow="1" firstCol="1" bandRow="1">
                <a:tableStyleId>{85BE263C-DBD7-4A20-BB59-AAB30ACAA65A}</a:tableStyleId>
              </a:tblPr>
              <a:tblGrid>
                <a:gridCol w="1996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8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4123">
                <a:tc>
                  <a:txBody>
                    <a:bodyPr/>
                    <a:lstStyle/>
                    <a:p>
                      <a:pPr marR="88900" indent="44958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8900" indent="449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Позиція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88900" indent="449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Інтерес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123">
                <a:tc>
                  <a:txBody>
                    <a:bodyPr/>
                    <a:lstStyle/>
                    <a:p>
                      <a:pPr marR="88900" indent="449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Сестра 1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8900" indent="44958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effectLst/>
                        </a:rPr>
                        <a:t>Закрити штори</a:t>
                      </a:r>
                      <a:endParaRPr lang="ru-RU" sz="1800" b="1" dirty="0" smtClean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R="88900" indent="449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uk-UA" sz="1800" b="1" dirty="0" smtClean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890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effectLst/>
                        </a:rPr>
                        <a:t>Хоче заснути, світло заважає.</a:t>
                      </a:r>
                    </a:p>
                    <a:p>
                      <a:pPr marR="889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4123">
                <a:tc>
                  <a:txBody>
                    <a:bodyPr/>
                    <a:lstStyle/>
                    <a:p>
                      <a:pPr marR="88900" indent="449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Сестра 2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8900" indent="44958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effectLst/>
                        </a:rPr>
                        <a:t>Відкрити штори</a:t>
                      </a:r>
                      <a:endParaRPr lang="ru-RU" sz="1800" b="1" dirty="0" smtClean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R="88900" indent="449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8890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effectLst/>
                        </a:rPr>
                        <a:t>Потрібно світло для читання.</a:t>
                      </a:r>
                      <a:endParaRPr lang="ru-RU" sz="1800" b="1" dirty="0" smtClean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marR="889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528" y="260648"/>
            <a:ext cx="8640960" cy="1656184"/>
          </a:xfrm>
        </p:spPr>
        <p:txBody>
          <a:bodyPr>
            <a:noAutofit/>
          </a:bodyPr>
          <a:lstStyle/>
          <a:p>
            <a:pPr algn="ctr"/>
            <a:r>
              <a:rPr lang="uk-UA" sz="2400" b="1" i="1" dirty="0" smtClean="0">
                <a:solidFill>
                  <a:schemeClr val="accent1">
                    <a:lumMod val="75000"/>
                  </a:schemeClr>
                </a:solidFill>
              </a:rPr>
              <a:t>Дві </a:t>
            </a:r>
            <a:r>
              <a:rPr lang="uk-UA" sz="2400" b="1" i="1" dirty="0">
                <a:solidFill>
                  <a:schemeClr val="accent1">
                    <a:lumMod val="75000"/>
                  </a:schemeClr>
                </a:solidFill>
              </a:rPr>
              <a:t>сестри лежать на своїх ліжках у кімнаті, в якій обидві живуть, і сваряться через те, закрити чи підняти фіранки. Одна встає і закриває їх; інша встає та відкриває їх. Їх конфлікт здається нерозв’язним. </a:t>
            </a:r>
            <a:endParaRPr lang="ru-RU" sz="2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2060848"/>
            <a:ext cx="842493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600" b="1" i="1" dirty="0">
                <a:solidFill>
                  <a:schemeClr val="accent1">
                    <a:lumMod val="75000"/>
                  </a:schemeClr>
                </a:solidFill>
              </a:rPr>
              <a:t>Вирішення. Заходить їх молодших брат і запитує, що відбувається. Одна сестра говорить, що яскраве сонячне світло заважає їй, так як вона намагається здрімнути. Інша сестра говорить, що вона намагається читати книгу зі свого домашнього завдання, і їй потрібне світло з вікна. Почувши це, молодший брат підходить, вмикає лампу біля ліжка і закриває штору. Обидві сестри задоволені.</a:t>
            </a:r>
            <a:endParaRPr lang="ru-RU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71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741757"/>
              </p:ext>
            </p:extLst>
          </p:nvPr>
        </p:nvGraphicFramePr>
        <p:xfrm>
          <a:off x="323528" y="1356231"/>
          <a:ext cx="8496944" cy="519560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839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2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6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solidFill>
                            <a:srgbClr val="FF0000"/>
                          </a:solidFill>
                          <a:effectLst/>
                          <a:latin typeface="Bookman Old Style" pitchFamily="18" charset="0"/>
                        </a:rPr>
                        <a:t>Фаза конфлікту</a:t>
                      </a:r>
                      <a:endParaRPr lang="ru-RU" sz="1400" b="1" dirty="0">
                        <a:solidFill>
                          <a:srgbClr val="FF0000"/>
                        </a:solidFill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solidFill>
                            <a:srgbClr val="FF0000"/>
                          </a:solidFill>
                          <a:effectLst/>
                          <a:latin typeface="Bookman Old Style" pitchFamily="18" charset="0"/>
                        </a:rPr>
                        <a:t>Етап конфлікту</a:t>
                      </a:r>
                      <a:endParaRPr lang="ru-RU" sz="1400" b="1" dirty="0">
                        <a:solidFill>
                          <a:srgbClr val="FF0000"/>
                        </a:solidFill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solidFill>
                            <a:srgbClr val="FF0000"/>
                          </a:solidFill>
                          <a:effectLst/>
                          <a:latin typeface="Bookman Old Style" pitchFamily="18" charset="0"/>
                        </a:rPr>
                        <a:t>Можливості</a:t>
                      </a:r>
                      <a:endParaRPr lang="ru-RU" sz="1400" b="1" dirty="0">
                        <a:solidFill>
                          <a:srgbClr val="FF0000"/>
                        </a:solidFill>
                        <a:effectLst/>
                        <a:latin typeface="Bookman Old Style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solidFill>
                            <a:srgbClr val="FF0000"/>
                          </a:solidFill>
                          <a:effectLst/>
                          <a:latin typeface="Bookman Old Style" pitchFamily="18" charset="0"/>
                        </a:rPr>
                        <a:t>вирішення</a:t>
                      </a:r>
                      <a:endParaRPr lang="ru-RU" sz="1400" b="1" dirty="0">
                        <a:solidFill>
                          <a:srgbClr val="FF0000"/>
                        </a:solidFill>
                        <a:effectLst/>
                        <a:latin typeface="Bookman Old Style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solidFill>
                            <a:srgbClr val="FF0000"/>
                          </a:solidFill>
                          <a:effectLst/>
                          <a:latin typeface="Bookman Old Style" pitchFamily="18" charset="0"/>
                        </a:rPr>
                        <a:t>конфлікту, %</a:t>
                      </a:r>
                      <a:endParaRPr lang="ru-RU" sz="1400" b="1" dirty="0">
                        <a:solidFill>
                          <a:srgbClr val="FF0000"/>
                        </a:solidFill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6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solidFill>
                            <a:srgbClr val="00B050"/>
                          </a:solidFill>
                          <a:effectLst/>
                          <a:latin typeface="Bookman Old Style" pitchFamily="18" charset="0"/>
                        </a:rPr>
                        <a:t>Початкова фаза</a:t>
                      </a:r>
                      <a:endParaRPr lang="ru-RU" sz="1600" b="1" dirty="0">
                        <a:solidFill>
                          <a:srgbClr val="00B050"/>
                        </a:solidFill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  <a:latin typeface="Bookman Old Style" pitchFamily="18" charset="0"/>
                        </a:rPr>
                        <a:t>1.Виникнення і розвиток конфліктної ситуації</a:t>
                      </a:r>
                      <a:endParaRPr lang="ru-RU" sz="1400" b="1" dirty="0">
                        <a:effectLst/>
                        <a:latin typeface="Bookman Old Style" pitchFamily="18" charset="0"/>
                      </a:endParaRPr>
                    </a:p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  <a:latin typeface="Bookman Old Style" pitchFamily="18" charset="0"/>
                        </a:rPr>
                        <a:t>2.Усвідомлення конфліктної ситуації</a:t>
                      </a:r>
                      <a:endParaRPr lang="ru-RU" sz="1400" b="1" dirty="0"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  <a:latin typeface="Bookman Old Style" pitchFamily="18" charset="0"/>
                        </a:rPr>
                        <a:t>90%</a:t>
                      </a:r>
                      <a:endParaRPr lang="ru-RU" sz="1400" b="1" dirty="0"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solidFill>
                            <a:srgbClr val="00B050"/>
                          </a:solidFill>
                          <a:effectLst/>
                          <a:latin typeface="Bookman Old Style" pitchFamily="18" charset="0"/>
                        </a:rPr>
                        <a:t>Фаза підйому</a:t>
                      </a:r>
                      <a:endParaRPr lang="ru-RU" sz="1600" b="1" dirty="0">
                        <a:solidFill>
                          <a:srgbClr val="00B050"/>
                        </a:solidFill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  <a:latin typeface="Bookman Old Style" pitchFamily="18" charset="0"/>
                        </a:rPr>
                        <a:t>3.Початок відкритої конфліктної взаємодії</a:t>
                      </a:r>
                      <a:endParaRPr lang="ru-RU" sz="1400" b="1" dirty="0"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  <a:latin typeface="Bookman Old Style" pitchFamily="18" charset="0"/>
                        </a:rPr>
                        <a:t>50%</a:t>
                      </a:r>
                      <a:endParaRPr lang="ru-RU" sz="1400" b="1" dirty="0"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9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solidFill>
                            <a:srgbClr val="00B050"/>
                          </a:solidFill>
                          <a:effectLst/>
                          <a:latin typeface="Bookman Old Style" pitchFamily="18" charset="0"/>
                        </a:rPr>
                        <a:t>Пік конфлікту</a:t>
                      </a:r>
                      <a:endParaRPr lang="ru-RU" sz="1600" b="1" dirty="0">
                        <a:solidFill>
                          <a:srgbClr val="00B050"/>
                        </a:solidFill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  <a:latin typeface="Bookman Old Style" pitchFamily="18" charset="0"/>
                        </a:rPr>
                        <a:t>4.Розвиток відкритого конфлікту</a:t>
                      </a:r>
                      <a:endParaRPr lang="ru-RU" sz="1400" b="1" dirty="0"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  <a:latin typeface="Bookman Old Style" pitchFamily="18" charset="0"/>
                        </a:rPr>
                        <a:t>5%</a:t>
                      </a:r>
                      <a:endParaRPr lang="ru-RU" sz="1400" b="1" dirty="0"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9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solidFill>
                            <a:srgbClr val="00B050"/>
                          </a:solidFill>
                          <a:effectLst/>
                          <a:latin typeface="Bookman Old Style" pitchFamily="18" charset="0"/>
                        </a:rPr>
                        <a:t>Фаза спаду</a:t>
                      </a:r>
                      <a:endParaRPr lang="ru-RU" sz="1600" b="1" dirty="0">
                        <a:solidFill>
                          <a:srgbClr val="00B050"/>
                        </a:solidFill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>
                          <a:effectLst/>
                          <a:latin typeface="Bookman Old Style" pitchFamily="18" charset="0"/>
                        </a:rPr>
                        <a:t>5. Вирішення конфлікту</a:t>
                      </a:r>
                      <a:endParaRPr lang="ru-RU" sz="1400" b="1"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/>
                </a:tc>
                <a:tc>
                  <a:txBody>
                    <a:bodyPr/>
                    <a:lstStyle/>
                    <a:p>
                      <a:pPr indent="44958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  <a:latin typeface="Bookman Old Style" pitchFamily="18" charset="0"/>
                        </a:rPr>
                        <a:t>20%</a:t>
                      </a:r>
                      <a:endParaRPr lang="ru-RU" sz="1400" b="1" dirty="0">
                        <a:effectLst/>
                        <a:latin typeface="Bookman Old Style" pitchFamily="18" charset="0"/>
                        <a:cs typeface="Times New Roman"/>
                      </a:endParaRPr>
                    </a:p>
                  </a:txBody>
                  <a:tcPr marL="20437" marR="2043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246221"/>
            <a:ext cx="9144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sz="3200" b="1" i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«Співвідношення фаз і етапів конфлікту залежно від можливості його вирішення»</a:t>
            </a:r>
            <a:endParaRPr kumimoji="0" lang="uk-UA" sz="40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07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09"/>
            <a:ext cx="9176870" cy="68509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507288" cy="1162050"/>
          </a:xfrm>
        </p:spPr>
        <p:txBody>
          <a:bodyPr>
            <a:noAutofit/>
          </a:bodyPr>
          <a:lstStyle/>
          <a:p>
            <a:pPr algn="ctr"/>
            <a:r>
              <a:rPr lang="uk-UA" sz="7200" dirty="0" smtClean="0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Карта конфлікту</a:t>
            </a:r>
            <a:endParaRPr lang="ru-RU" sz="7200" dirty="0">
              <a:ln w="18000">
                <a:solidFill>
                  <a:srgbClr val="C00000"/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484784"/>
            <a:ext cx="8856984" cy="52565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dirty="0" smtClean="0">
                <a:latin typeface="Calibri" pitchFamily="34" charset="0"/>
                <a:cs typeface="Calibri" pitchFamily="34" charset="0"/>
              </a:rPr>
              <a:t>1</a:t>
            </a:r>
            <a:r>
              <a:rPr lang="uk-UA" dirty="0">
                <a:latin typeface="Calibri" pitchFamily="34" charset="0"/>
                <a:cs typeface="Calibri" pitchFamily="34" charset="0"/>
              </a:rPr>
              <a:t>. Суть проблеми. </a:t>
            </a: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r>
              <a:rPr lang="uk-UA" dirty="0">
                <a:latin typeface="Calibri" pitchFamily="34" charset="0"/>
                <a:cs typeface="Calibri" pitchFamily="34" charset="0"/>
              </a:rPr>
              <a:t>2. Які сторони беруть участь у конфлікті? Хто виступає від імені кожної зі сторін?</a:t>
            </a: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r>
              <a:rPr lang="uk-UA" dirty="0">
                <a:latin typeface="Calibri" pitchFamily="34" charset="0"/>
                <a:cs typeface="Calibri" pitchFamily="34" charset="0"/>
              </a:rPr>
              <a:t>3. У чому полягають відкриті та приховані інтереси кожної сторони? У чому полягають побоювання учасників конфлікту?</a:t>
            </a: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 algn="ctr">
              <a:buNone/>
            </a:pPr>
            <a:r>
              <a:rPr lang="uk-UA" dirty="0">
                <a:latin typeface="Calibri" pitchFamily="34" charset="0"/>
                <a:cs typeface="Calibri" pitchFamily="34" charset="0"/>
              </a:rPr>
              <a:t>4. Інтереси яких ще сторін зачіпає конфлікт? Чи представлена (або прагне бути представленою) третя сторона у конфлікті?</a:t>
            </a:r>
            <a:endParaRPr lang="ru-RU" dirty="0">
              <a:latin typeface="Calibri" pitchFamily="34" charset="0"/>
              <a:cs typeface="Calibri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546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640960" cy="2088232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200" dirty="0" smtClean="0">
                <a:solidFill>
                  <a:srgbClr val="FFC000"/>
                </a:solidFill>
                <a:latin typeface="Bookman Old Style" pitchFamily="18" charset="0"/>
              </a:rPr>
              <a:t>«Вулкан</a:t>
            </a:r>
            <a:r>
              <a:rPr lang="uk-UA" sz="3200" dirty="0">
                <a:solidFill>
                  <a:srgbClr val="FFC000"/>
                </a:solidFill>
                <a:latin typeface="Bookman Old Style" pitchFamily="18" charset="0"/>
              </a:rPr>
              <a:t>» - непередбачувані спалахи (людина без причини раптом починає конфліктувати)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451307"/>
            <a:ext cx="4896544" cy="5425534"/>
          </a:xfrm>
        </p:spPr>
      </p:pic>
    </p:spTree>
    <p:extLst>
      <p:ext uri="{BB962C8B-B14F-4D97-AF65-F5344CB8AC3E}">
        <p14:creationId xmlns:p14="http://schemas.microsoft.com/office/powerpoint/2010/main" val="247802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614353"/>
            <a:ext cx="4118560" cy="5256584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1520" y="188640"/>
            <a:ext cx="8784976" cy="2425948"/>
          </a:xfrm>
        </p:spPr>
        <p:txBody>
          <a:bodyPr/>
          <a:lstStyle/>
          <a:p>
            <a:pPr lvl="0" algn="ctr"/>
            <a:r>
              <a:rPr lang="uk-UA" sz="3200" b="1" dirty="0" smtClean="0">
                <a:solidFill>
                  <a:schemeClr val="accent2">
                    <a:lumMod val="50000"/>
                  </a:schemeClr>
                </a:solidFill>
                <a:latin typeface="Bookman Old Style" pitchFamily="18" charset="0"/>
              </a:rPr>
              <a:t>«Глечик</a:t>
            </a:r>
            <a:r>
              <a:rPr lang="uk-UA" sz="3200" b="1" dirty="0">
                <a:solidFill>
                  <a:schemeClr val="accent2">
                    <a:lumMod val="50000"/>
                  </a:schemeClr>
                </a:solidFill>
                <a:latin typeface="Bookman Old Style" pitchFamily="18" charset="0"/>
              </a:rPr>
              <a:t>» </a:t>
            </a:r>
            <a:r>
              <a:rPr lang="uk-UA" sz="3200" b="1" dirty="0">
                <a:latin typeface="Bookman Old Style" pitchFamily="18" charset="0"/>
              </a:rPr>
              <a:t>- </a:t>
            </a:r>
            <a:r>
              <a:rPr lang="uk-UA" sz="3200" b="1" dirty="0">
                <a:solidFill>
                  <a:schemeClr val="accent2">
                    <a:lumMod val="75000"/>
                  </a:schemeClr>
                </a:solidFill>
                <a:latin typeface="Bookman Old Style" pitchFamily="18" charset="0"/>
              </a:rPr>
              <a:t>повільно розігрівається (довго ображається, накопичує образи, потім починає конфліктувати)</a:t>
            </a:r>
            <a:endParaRPr lang="ru-RU" sz="3200" b="1" dirty="0">
              <a:solidFill>
                <a:schemeClr val="accent2">
                  <a:lumMod val="75000"/>
                </a:schemeClr>
              </a:solidFill>
              <a:latin typeface="Bookman Old Style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034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512" y="260648"/>
            <a:ext cx="8784976" cy="1512168"/>
          </a:xfrm>
        </p:spPr>
        <p:txBody>
          <a:bodyPr>
            <a:normAutofit lnSpcReduction="10000"/>
          </a:bodyPr>
          <a:lstStyle/>
          <a:p>
            <a:pPr lvl="0" algn="ctr"/>
            <a:r>
              <a:rPr lang="uk-UA" sz="2400" b="1" dirty="0" smtClean="0">
                <a:solidFill>
                  <a:schemeClr val="tx2">
                    <a:lumMod val="75000"/>
                  </a:schemeClr>
                </a:solidFill>
                <a:latin typeface="Bookman Old Style" pitchFamily="18" charset="0"/>
              </a:rPr>
              <a:t>«Хвиля</a:t>
            </a:r>
            <a:r>
              <a:rPr lang="uk-UA" sz="2400" b="1" dirty="0">
                <a:solidFill>
                  <a:schemeClr val="tx2">
                    <a:lumMod val="75000"/>
                  </a:schemeClr>
                </a:solidFill>
                <a:latin typeface="Bookman Old Style" pitchFamily="18" charset="0"/>
              </a:rPr>
              <a:t>» - </a:t>
            </a:r>
            <a:r>
              <a:rPr lang="uk-UA" sz="2400" b="1" dirty="0">
                <a:solidFill>
                  <a:srgbClr val="0070C0"/>
                </a:solidFill>
                <a:latin typeface="Bookman Old Style" pitchFamily="18" charset="0"/>
              </a:rPr>
              <a:t>спірне питання здається вирішеним, але потім піднімається знову і знов ( людина неодноразово повертається до причини конфлікту)</a:t>
            </a:r>
            <a:endParaRPr lang="ru-RU" sz="2400" b="1" dirty="0">
              <a:solidFill>
                <a:srgbClr val="0070C0"/>
              </a:solidFill>
              <a:latin typeface="Bookman Old Style" pitchFamily="18" charset="0"/>
            </a:endParaRPr>
          </a:p>
          <a:p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556792"/>
            <a:ext cx="5184576" cy="51845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066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87016" y="188640"/>
            <a:ext cx="8856984" cy="1584176"/>
          </a:xfrm>
        </p:spPr>
        <p:txBody>
          <a:bodyPr>
            <a:noAutofit/>
          </a:bodyPr>
          <a:lstStyle/>
          <a:p>
            <a:pPr lvl="0" algn="ctr"/>
            <a:r>
              <a:rPr lang="uk-UA" sz="3200" b="1" dirty="0" smtClean="0">
                <a:solidFill>
                  <a:srgbClr val="00B050"/>
                </a:solidFill>
                <a:latin typeface="Bookman Old Style" pitchFamily="18" charset="0"/>
              </a:rPr>
              <a:t>«Накопичувач</a:t>
            </a:r>
            <a:r>
              <a:rPr lang="uk-UA" sz="3200" b="1" dirty="0">
                <a:solidFill>
                  <a:srgbClr val="00B050"/>
                </a:solidFill>
                <a:latin typeface="Bookman Old Style" pitchFamily="18" charset="0"/>
              </a:rPr>
              <a:t>» </a:t>
            </a:r>
            <a:r>
              <a:rPr lang="uk-UA" sz="3200" b="1" dirty="0">
                <a:solidFill>
                  <a:srgbClr val="92D050"/>
                </a:solidFill>
                <a:latin typeface="Bookman Old Style" pitchFamily="18" charset="0"/>
              </a:rPr>
              <a:t>- накопичує образи, не показує реакції </a:t>
            </a:r>
            <a:r>
              <a:rPr lang="uk-UA" sz="3200" b="1" dirty="0" smtClean="0">
                <a:solidFill>
                  <a:srgbClr val="92D050"/>
                </a:solidFill>
                <a:latin typeface="Bookman Old Style" pitchFamily="18" charset="0"/>
              </a:rPr>
              <a:t>(ніхто </a:t>
            </a:r>
            <a:r>
              <a:rPr lang="uk-UA" sz="3200" b="1" dirty="0">
                <a:solidFill>
                  <a:srgbClr val="92D050"/>
                </a:solidFill>
                <a:latin typeface="Bookman Old Style" pitchFamily="18" charset="0"/>
              </a:rPr>
              <a:t>не знає, що він ображений)</a:t>
            </a:r>
            <a:endParaRPr lang="ru-RU" sz="3200" b="1" dirty="0">
              <a:solidFill>
                <a:srgbClr val="92D050"/>
              </a:solidFill>
              <a:latin typeface="Bookman Old Style" pitchFamily="18" charset="0"/>
            </a:endParaRPr>
          </a:p>
          <a:p>
            <a:endParaRPr lang="ru-RU" sz="1600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636912"/>
            <a:ext cx="8783374" cy="4001314"/>
          </a:xfrm>
        </p:spPr>
      </p:pic>
    </p:spTree>
    <p:extLst>
      <p:ext uri="{BB962C8B-B14F-4D97-AF65-F5344CB8AC3E}">
        <p14:creationId xmlns:p14="http://schemas.microsoft.com/office/powerpoint/2010/main" val="148806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07"/>
          <a:stretch/>
        </p:blipFill>
        <p:spPr>
          <a:xfrm>
            <a:off x="2267744" y="1772816"/>
            <a:ext cx="5111750" cy="4610440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528" y="188640"/>
            <a:ext cx="8640960" cy="1440159"/>
          </a:xfrm>
        </p:spPr>
        <p:txBody>
          <a:bodyPr>
            <a:noAutofit/>
          </a:bodyPr>
          <a:lstStyle/>
          <a:p>
            <a:pPr lvl="0" algn="ctr"/>
            <a:r>
              <a:rPr lang="uk-UA" sz="3200" b="1" dirty="0" smtClean="0">
                <a:solidFill>
                  <a:srgbClr val="C00000"/>
                </a:solidFill>
                <a:latin typeface="Bookman Old Style" pitchFamily="18" charset="0"/>
              </a:rPr>
              <a:t>«Реактор</a:t>
            </a:r>
            <a:r>
              <a:rPr lang="uk-UA" sz="3200" b="1" dirty="0">
                <a:solidFill>
                  <a:srgbClr val="C00000"/>
                </a:solidFill>
                <a:latin typeface="Bookman Old Style" pitchFamily="18" charset="0"/>
              </a:rPr>
              <a:t>»  </a:t>
            </a:r>
            <a:r>
              <a:rPr lang="uk-UA" sz="3200" b="1" dirty="0">
                <a:solidFill>
                  <a:srgbClr val="FF0000"/>
                </a:solidFill>
                <a:latin typeface="Bookman Old Style" pitchFamily="18" charset="0"/>
              </a:rPr>
              <a:t>- людина швидко «розходиться», її потім важко зупинити.</a:t>
            </a:r>
            <a:endParaRPr lang="ru-RU" sz="3200" b="1" dirty="0">
              <a:solidFill>
                <a:srgbClr val="FF0000"/>
              </a:solidFill>
              <a:latin typeface="Bookman Old Style" pitchFamily="18" charset="0"/>
            </a:endParaRP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84094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47454"/>
            <a:ext cx="9144001" cy="4710546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1520" y="188640"/>
            <a:ext cx="8640960" cy="2304256"/>
          </a:xfrm>
        </p:spPr>
        <p:txBody>
          <a:bodyPr>
            <a:normAutofit/>
          </a:bodyPr>
          <a:lstStyle/>
          <a:p>
            <a:pPr algn="ctr"/>
            <a:r>
              <a:rPr lang="uk-UA" sz="3600" b="1" i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груба людина</a:t>
            </a:r>
            <a:r>
              <a:rPr lang="uk-UA" sz="36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(агресивний вихід</a:t>
            </a:r>
            <a:r>
              <a:rPr lang="uk-UA" sz="3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algn="ctr"/>
            <a:r>
              <a:rPr lang="uk-UA" sz="3600" b="1" i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невпевнена </a:t>
            </a:r>
            <a:r>
              <a:rPr lang="uk-UA" sz="3600" b="1" i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людина</a:t>
            </a:r>
            <a:r>
              <a:rPr lang="uk-UA" sz="36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(пасивний вихід</a:t>
            </a:r>
            <a:r>
              <a:rPr lang="uk-UA" sz="3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) </a:t>
            </a:r>
          </a:p>
          <a:p>
            <a:pPr algn="ctr"/>
            <a:r>
              <a:rPr lang="uk-UA" sz="3600" b="1" i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упевнена </a:t>
            </a:r>
            <a:r>
              <a:rPr lang="uk-UA" sz="3600" b="1" i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людина</a:t>
            </a:r>
            <a:r>
              <a:rPr lang="uk-UA" sz="3600" b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(дипломатичний вихід</a:t>
            </a:r>
            <a:r>
              <a:rPr lang="uk-UA" sz="36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)</a:t>
            </a:r>
            <a:endParaRPr lang="ru-RU" sz="3600" b="1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61574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73050"/>
            <a:ext cx="8784976" cy="6324302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uk-UA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Ситуація 1. </a:t>
            </a:r>
            <a:r>
              <a:rPr lang="uk-UA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Повертаючись ввечері додому, вчителька в людному місці помітила одну із старшокласниць: вона вульгарно одягнена, яскраво нафарбована, поводить себе викликаючи, явно звертаючи на себе увагу. </a:t>
            </a:r>
            <a:r>
              <a:rPr lang="uk-UA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Що робити вчителеві?</a:t>
            </a:r>
            <a:endParaRPr lang="ru-RU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uk-UA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Ситуація 2. </a:t>
            </a:r>
            <a:r>
              <a:rPr lang="uk-UA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До класу приходить учень, який приїхав з села. Діти глузують з його провінційності. </a:t>
            </a:r>
            <a:r>
              <a:rPr lang="uk-UA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Чим може допомогти вчитель?</a:t>
            </a:r>
            <a:endParaRPr lang="ru-RU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uk-UA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Ситуація 3. </a:t>
            </a:r>
            <a:r>
              <a:rPr lang="uk-UA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У класі є розв’язна, зухвалої поведінки дівчинка із неблагополучної сім’ї. Вона палить, лихословить, вішається на шию хлопцям. </a:t>
            </a:r>
            <a:r>
              <a:rPr lang="uk-UA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Як себе з нею поводити?</a:t>
            </a:r>
            <a:endParaRPr lang="ru-RU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uk-UA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Ситуація 4. </a:t>
            </a:r>
            <a:r>
              <a:rPr lang="uk-UA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Учитель прийшов до класу і побачив бійку. Билися дві дівчинки з 9-го класу. Решта учнів спостерігали за бійкою.</a:t>
            </a:r>
            <a:r>
              <a:rPr lang="uk-UA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Якими мають бути подальші дії вчителя? Що робити класному керівнику?</a:t>
            </a:r>
            <a:endParaRPr lang="ru-RU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905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476672"/>
            <a:ext cx="8784976" cy="554461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uk-UA" sz="11500" b="1" dirty="0" smtClean="0">
                <a:solidFill>
                  <a:srgbClr val="FF0000"/>
                </a:solidFill>
              </a:rPr>
              <a:t>БУЛІНГ </a:t>
            </a:r>
          </a:p>
          <a:p>
            <a:pPr marL="0" indent="0" algn="ctr">
              <a:buNone/>
            </a:pPr>
            <a:r>
              <a:rPr lang="uk-UA" sz="11500" b="1" dirty="0" smtClean="0">
                <a:solidFill>
                  <a:srgbClr val="FF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uk-UA" sz="11500" b="1" dirty="0" smtClean="0">
                <a:solidFill>
                  <a:srgbClr val="FF0000"/>
                </a:solidFill>
              </a:rPr>
              <a:t>КОНФЛІКТ</a:t>
            </a:r>
            <a:endParaRPr lang="ru-RU" sz="11500" b="1" dirty="0">
              <a:solidFill>
                <a:srgbClr val="FF0000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445" y="1556791"/>
            <a:ext cx="4251109" cy="425110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275856" y="440184"/>
            <a:ext cx="2382383" cy="53860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uk-UA" sz="34400" b="1" dirty="0">
                <a:solidFill>
                  <a:srgbClr val="FF0000"/>
                </a:solidFill>
              </a:rPr>
              <a:t>≠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109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3342"/>
            <a:ext cx="8761162" cy="6844658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95536" y="404664"/>
            <a:ext cx="8424936" cy="6120680"/>
          </a:xfrm>
        </p:spPr>
        <p:txBody>
          <a:bodyPr>
            <a:noAutofit/>
          </a:bodyPr>
          <a:lstStyle/>
          <a:p>
            <a:pPr algn="ctr"/>
            <a:r>
              <a:rPr lang="uk-UA" sz="4400" b="1" i="1" u="sng" dirty="0" err="1" smtClean="0">
                <a:latin typeface="Bookman Old Style" pitchFamily="18" charset="0"/>
                <a:hlinkClick r:id="rId3"/>
              </a:rPr>
              <a:t>Булінґ</a:t>
            </a:r>
            <a:r>
              <a:rPr lang="uk-UA" sz="4400" b="1" i="1" dirty="0" smtClean="0">
                <a:latin typeface="Bookman Old Style" pitchFamily="18" charset="0"/>
              </a:rPr>
              <a:t> </a:t>
            </a:r>
            <a:r>
              <a:rPr lang="uk-UA" sz="4400" b="1" i="1" dirty="0">
                <a:latin typeface="Bookman Old Style" pitchFamily="18" charset="0"/>
              </a:rPr>
              <a:t>– тривалий процес свідомого жорстокого ставлення, агресивної поведінки, щоб заподіяти шкоду, викликати страх, тривогу або ж створити негативне середовище для людини.</a:t>
            </a:r>
            <a:endParaRPr lang="ru-RU" sz="4400" dirty="0">
              <a:latin typeface="Bookman Old Style" pitchFamily="18" charset="0"/>
            </a:endParaRPr>
          </a:p>
          <a:p>
            <a:pPr>
              <a:spcBef>
                <a:spcPts val="0"/>
              </a:spcBef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7179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71" b="27133"/>
          <a:stretch/>
        </p:blipFill>
        <p:spPr>
          <a:xfrm>
            <a:off x="0" y="3403600"/>
            <a:ext cx="9144000" cy="3454400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1520" y="188640"/>
            <a:ext cx="8712968" cy="3240359"/>
          </a:xfrm>
        </p:spPr>
        <p:txBody>
          <a:bodyPr>
            <a:normAutofit/>
          </a:bodyPr>
          <a:lstStyle/>
          <a:p>
            <a:pPr algn="ctr"/>
            <a:r>
              <a:rPr lang="uk-UA" sz="2800" b="1" i="1" u="sng" dirty="0">
                <a:solidFill>
                  <a:srgbClr val="00B050"/>
                </a:solidFill>
                <a:latin typeface="Bookman Old Style" pitchFamily="18" charset="0"/>
              </a:rPr>
              <a:t>Основними ознаками булінгу є: </a:t>
            </a:r>
            <a:endParaRPr lang="ru-RU" sz="2800" b="1" dirty="0">
              <a:solidFill>
                <a:srgbClr val="00B050"/>
              </a:solidFill>
              <a:latin typeface="Bookman Old Style" pitchFamily="18" charset="0"/>
            </a:endParaRPr>
          </a:p>
          <a:p>
            <a:pPr algn="ctr"/>
            <a:r>
              <a:rPr lang="uk-UA" sz="2800" b="1" i="1" dirty="0">
                <a:latin typeface="Bookman Old Style" pitchFamily="18" charset="0"/>
              </a:rPr>
              <a:t> </a:t>
            </a:r>
            <a:r>
              <a:rPr lang="uk-UA" sz="2800" b="1" i="1" dirty="0">
                <a:solidFill>
                  <a:srgbClr val="FF0000"/>
                </a:solidFill>
                <a:latin typeface="Bookman Old Style" pitchFamily="18" charset="0"/>
              </a:rPr>
              <a:t>- </a:t>
            </a:r>
            <a:r>
              <a:rPr lang="uk-UA" sz="2800" b="1" dirty="0">
                <a:solidFill>
                  <a:srgbClr val="FF0000"/>
                </a:solidFill>
                <a:latin typeface="Bookman Old Style" pitchFamily="18" charset="0"/>
              </a:rPr>
              <a:t>системність (повторюваність);</a:t>
            </a:r>
            <a:endParaRPr lang="ru-RU" sz="28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algn="ctr"/>
            <a:r>
              <a:rPr lang="uk-UA" sz="2800" b="1" dirty="0">
                <a:solidFill>
                  <a:srgbClr val="FF0000"/>
                </a:solidFill>
                <a:latin typeface="Bookman Old Style" pitchFamily="18" charset="0"/>
              </a:rPr>
              <a:t> - один із учасників обов’язково дитина;</a:t>
            </a:r>
            <a:endParaRPr lang="ru-RU" sz="28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algn="ctr"/>
            <a:r>
              <a:rPr lang="uk-UA" sz="2800" b="1" dirty="0">
                <a:solidFill>
                  <a:srgbClr val="FF0000"/>
                </a:solidFill>
                <a:latin typeface="Bookman Old Style" pitchFamily="18" charset="0"/>
              </a:rPr>
              <a:t> - ситуація сталася на території освітнього закладу або під час освітнього процесу;</a:t>
            </a:r>
            <a:endParaRPr lang="ru-RU" sz="2800" b="1" dirty="0">
              <a:solidFill>
                <a:srgbClr val="FF0000"/>
              </a:solidFill>
              <a:latin typeface="Bookman Old Style" pitchFamily="18" charset="0"/>
            </a:endParaRPr>
          </a:p>
          <a:p>
            <a:pPr algn="ctr"/>
            <a:r>
              <a:rPr lang="uk-UA" sz="2800" b="1" dirty="0">
                <a:solidFill>
                  <a:srgbClr val="FF0000"/>
                </a:solidFill>
                <a:latin typeface="Bookman Old Style" pitchFamily="18" charset="0"/>
              </a:rPr>
              <a:t> - є зафіксовані наслідки. </a:t>
            </a:r>
            <a:endParaRPr lang="ru-RU" sz="2800" b="1" dirty="0">
              <a:solidFill>
                <a:srgbClr val="FF0000"/>
              </a:solidFill>
              <a:latin typeface="Bookman Old Style" pitchFamily="18" charset="0"/>
            </a:endParaRP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4634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569603"/>
              </p:ext>
            </p:extLst>
          </p:nvPr>
        </p:nvGraphicFramePr>
        <p:xfrm>
          <a:off x="251520" y="404664"/>
          <a:ext cx="8568952" cy="6120680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428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0680">
                <a:tc>
                  <a:txBody>
                    <a:bodyPr/>
                    <a:lstStyle/>
                    <a:p>
                      <a:pPr indent="44958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solidFill>
                            <a:srgbClr val="0070C0"/>
                          </a:solidFill>
                          <a:effectLst/>
                          <a:latin typeface="Bookman Old Style" pitchFamily="18" charset="0"/>
                        </a:rPr>
                        <a:t>Денис, учень 7 класу, під час перерви обідав у їдальні, а коли зайшов у клас, щоб готуватися до уроку, побачив, що Віталій і Артем кидаються його пеналом. Денис обізвав хлопців лайливим словом і сказав негайно віддати пенал. Віталій, який в цей момент тримав пенал в руках, замість того, щоб віддати Денису, кинув його у сміттєвий бак. Денис за це грубо висловився щодо Віталія. Між хлопцями зчинилася сварка.</a:t>
                      </a:r>
                      <a:endParaRPr lang="ru-RU" sz="1100" b="1" i="1" dirty="0">
                        <a:solidFill>
                          <a:srgbClr val="0070C0"/>
                        </a:solidFill>
                        <a:effectLst/>
                        <a:latin typeface="Bookman Old Style" pitchFamily="18" charset="0"/>
                        <a:ea typeface="Times New Roman"/>
                      </a:endParaRPr>
                    </a:p>
                  </a:txBody>
                  <a:tcPr marL="52977" marR="52977" marT="0" marB="0"/>
                </a:tc>
                <a:tc>
                  <a:txBody>
                    <a:bodyPr/>
                    <a:lstStyle/>
                    <a:p>
                      <a:pPr indent="44958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2000" dirty="0">
                          <a:solidFill>
                            <a:srgbClr val="0070C0"/>
                          </a:solidFill>
                          <a:effectLst/>
                          <a:latin typeface="Bookman Old Style" pitchFamily="18" charset="0"/>
                        </a:rPr>
                        <a:t>Микита, учень 2 класу, щодня чує образливі слова від однокласниці, яка називає Микиту «бовдуром». Хлопцеві це дуже образливо. Він спочатку намагався стримуватися, не звертати уваги, але потім також почав говорити образливі слова дівчині, а іноді навіть виникали бійки між цими дітьми.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Bookman Old Style" pitchFamily="18" charset="0"/>
                      </a:endParaRPr>
                    </a:p>
                    <a:p>
                      <a:pPr indent="44958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100" dirty="0">
                          <a:effectLst/>
                        </a:rPr>
                        <a:t> </a:t>
                      </a:r>
                      <a:endParaRPr lang="ru-RU" sz="800" b="1" i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2977" marR="5297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17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5" b="10207"/>
          <a:stretch/>
        </p:blipFill>
        <p:spPr>
          <a:xfrm>
            <a:off x="1763688" y="2619827"/>
            <a:ext cx="5589240" cy="4238173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964488" cy="2664296"/>
          </a:xfrm>
        </p:spPr>
        <p:txBody>
          <a:bodyPr>
            <a:noAutofit/>
          </a:bodyPr>
          <a:lstStyle/>
          <a:p>
            <a:pPr algn="ctr"/>
            <a:r>
              <a:rPr lang="uk-UA" sz="2400" dirty="0">
                <a:latin typeface="Bookman Old Style" pitchFamily="18" charset="0"/>
                <a:cs typeface="Arial" pitchFamily="34" charset="0"/>
              </a:rPr>
              <a:t>Переговори </a:t>
            </a:r>
            <a:r>
              <a:rPr lang="ru-RU" sz="2400" i="1" dirty="0">
                <a:latin typeface="Bookman Old Style" pitchFamily="18" charset="0"/>
                <a:cs typeface="Arial" pitchFamily="34" charset="0"/>
              </a:rPr>
              <a:t>–</a:t>
            </a:r>
            <a:r>
              <a:rPr lang="uk-UA" sz="2400" dirty="0">
                <a:latin typeface="Bookman Old Style" pitchFamily="18" charset="0"/>
                <a:cs typeface="Arial" pitchFamily="34" charset="0"/>
              </a:rPr>
              <a:t> це процес, під час якого сторони намагаються розв'язати конфлікт шляхом безпосереднього обговорення між собою. Сильна сторона переговорного процесу полягає в тому, що все залежить від самих сторін </a:t>
            </a:r>
            <a:r>
              <a:rPr lang="ru-RU" sz="2400" i="1" dirty="0">
                <a:latin typeface="Bookman Old Style" pitchFamily="18" charset="0"/>
                <a:cs typeface="Arial" pitchFamily="34" charset="0"/>
              </a:rPr>
              <a:t>–</a:t>
            </a:r>
            <a:r>
              <a:rPr lang="uk-UA" sz="2400" dirty="0">
                <a:latin typeface="Bookman Old Style" pitchFamily="18" charset="0"/>
                <a:cs typeface="Arial" pitchFamily="34" charset="0"/>
              </a:rPr>
              <a:t> як процес, так і результат безпосереднього обговорення.</a:t>
            </a:r>
            <a:r>
              <a:rPr lang="ru-RU" sz="2400" dirty="0">
                <a:latin typeface="Bookman Old Style" pitchFamily="18" charset="0"/>
                <a:cs typeface="Arial" pitchFamily="34" charset="0"/>
              </a:rPr>
              <a:t/>
            </a:r>
            <a:br>
              <a:rPr lang="ru-RU" sz="2400" dirty="0">
                <a:latin typeface="Bookman Old Style" pitchFamily="18" charset="0"/>
                <a:cs typeface="Arial" pitchFamily="34" charset="0"/>
              </a:rPr>
            </a:br>
            <a:endParaRPr lang="ru-RU" sz="2400" dirty="0">
              <a:latin typeface="Bookman Old Style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712968" cy="3168352"/>
          </a:xfrm>
        </p:spPr>
        <p:txBody>
          <a:bodyPr>
            <a:noAutofit/>
          </a:bodyPr>
          <a:lstStyle/>
          <a:p>
            <a:pPr algn="ctr"/>
            <a:r>
              <a:rPr lang="uk-UA" sz="2100" dirty="0">
                <a:latin typeface="Bookman Old Style" pitchFamily="18" charset="0"/>
              </a:rPr>
              <a:t>Медіація. Під час медіації в процес вступає третя сторона </a:t>
            </a:r>
            <a:r>
              <a:rPr lang="ru-RU" sz="2100" i="1" dirty="0">
                <a:latin typeface="Bookman Old Style" pitchFamily="18" charset="0"/>
              </a:rPr>
              <a:t>–</a:t>
            </a:r>
            <a:r>
              <a:rPr lang="uk-UA" sz="2100" dirty="0">
                <a:latin typeface="Bookman Old Style" pitchFamily="18" charset="0"/>
              </a:rPr>
              <a:t> посередник, мета якої </a:t>
            </a:r>
            <a:r>
              <a:rPr lang="ru-RU" sz="2100" i="1" dirty="0">
                <a:latin typeface="Bookman Old Style" pitchFamily="18" charset="0"/>
              </a:rPr>
              <a:t>–</a:t>
            </a:r>
            <a:r>
              <a:rPr lang="uk-UA" sz="2100" dirty="0">
                <a:latin typeface="Bookman Old Style" pitchFamily="18" charset="0"/>
              </a:rPr>
              <a:t> допомогти опонентам домовитися. Виконуючи роль стороннього спостерігача і допомагаючи їх спілкуванню, медіатори намагаються сприяти пошуку сторонами рішення типу «виграш </a:t>
            </a:r>
            <a:r>
              <a:rPr lang="ru-RU" sz="2100" i="1" dirty="0">
                <a:latin typeface="Bookman Old Style" pitchFamily="18" charset="0"/>
              </a:rPr>
              <a:t>–</a:t>
            </a:r>
            <a:r>
              <a:rPr lang="uk-UA" sz="2100" dirty="0">
                <a:latin typeface="Bookman Old Style" pitchFamily="18" charset="0"/>
              </a:rPr>
              <a:t> виграш». І хоча медіатор бере на себе відповідальність за процес, все ж опоненти контролюють предмет дискусії та її результат.</a:t>
            </a:r>
            <a:r>
              <a:rPr lang="ru-RU" sz="2100" dirty="0">
                <a:latin typeface="Bookman Old Style" pitchFamily="18" charset="0"/>
              </a:rPr>
              <a:t/>
            </a:r>
            <a:br>
              <a:rPr lang="ru-RU" sz="2100" dirty="0">
                <a:latin typeface="Bookman Old Style" pitchFamily="18" charset="0"/>
              </a:rPr>
            </a:br>
            <a:endParaRPr lang="ru-RU" sz="2100" dirty="0">
              <a:latin typeface="Bookman Old Style" pitchFamily="18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930300"/>
            <a:ext cx="5760640" cy="3951342"/>
          </a:xfrm>
        </p:spPr>
      </p:pic>
    </p:spTree>
    <p:extLst>
      <p:ext uri="{BB962C8B-B14F-4D97-AF65-F5344CB8AC3E}">
        <p14:creationId xmlns:p14="http://schemas.microsoft.com/office/powerpoint/2010/main" val="78965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016" y="0"/>
            <a:ext cx="8856984" cy="2681536"/>
          </a:xfrm>
        </p:spPr>
        <p:txBody>
          <a:bodyPr>
            <a:normAutofit fontScale="90000"/>
          </a:bodyPr>
          <a:lstStyle/>
          <a:p>
            <a:pPr algn="ctr"/>
            <a:r>
              <a:rPr lang="uk-UA" sz="2300" dirty="0">
                <a:latin typeface="Bookman Old Style" pitchFamily="18" charset="0"/>
              </a:rPr>
              <a:t>Арбітраж. У випадку арбітражу третя сторона контролює не тільки процес, але й результат. Арбітри вирішують, що саме сторонам необхідно зробити для розв'язання конфлікту, і зазвичай наділені владою, здатною примусити сторони виконати відповідне рішення. У суперечках між дітьми арбітрами часто виступають батьки.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348880"/>
            <a:ext cx="8016215" cy="4509120"/>
          </a:xfrm>
        </p:spPr>
      </p:pic>
    </p:spTree>
    <p:extLst>
      <p:ext uri="{BB962C8B-B14F-4D97-AF65-F5344CB8AC3E}">
        <p14:creationId xmlns:p14="http://schemas.microsoft.com/office/powerpoint/2010/main" val="125734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" y="0"/>
            <a:ext cx="9176498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7" y="0"/>
            <a:ext cx="9142873" cy="68580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uk-UA" sz="3400" b="1" i="1" dirty="0" smtClean="0">
                <a:solidFill>
                  <a:schemeClr val="accent4"/>
                </a:solidFill>
                <a:latin typeface="Bookman Old Style" pitchFamily="18" charset="0"/>
              </a:rPr>
              <a:t>1</a:t>
            </a:r>
            <a:r>
              <a:rPr lang="uk-UA" sz="3400" b="1" i="1" dirty="0">
                <a:solidFill>
                  <a:schemeClr val="accent4"/>
                </a:solidFill>
                <a:latin typeface="Bookman Old Style" pitchFamily="18" charset="0"/>
              </a:rPr>
              <a:t>. Принцип «виходу почуттів».</a:t>
            </a:r>
            <a:r>
              <a:rPr lang="uk-UA" sz="3400" b="1" dirty="0">
                <a:solidFill>
                  <a:schemeClr val="accent4"/>
                </a:solidFill>
                <a:latin typeface="Bookman Old Style" pitchFamily="18" charset="0"/>
              </a:rPr>
              <a:t> Якщо людині дати можливість вилити свої негативні емоції, то поступово вони самі собою змінюються на позитивні, треба тільки проявити витримку і здатність емоційно підтримати людину.</a:t>
            </a:r>
            <a:endParaRPr lang="ru-RU" sz="3400" b="1" dirty="0">
              <a:solidFill>
                <a:schemeClr val="accent4"/>
              </a:solidFill>
              <a:latin typeface="Bookman Old Style" pitchFamily="18" charset="0"/>
            </a:endParaRPr>
          </a:p>
          <a:p>
            <a:pPr marL="0" indent="0" algn="ctr">
              <a:buNone/>
            </a:pPr>
            <a:r>
              <a:rPr lang="uk-UA" sz="3400" b="1" i="1" dirty="0">
                <a:solidFill>
                  <a:schemeClr val="accent3"/>
                </a:solidFill>
                <a:latin typeface="Bookman Old Style" pitchFamily="18" charset="0"/>
              </a:rPr>
              <a:t>2. Принцип «емоційного відшкодування».</a:t>
            </a:r>
            <a:r>
              <a:rPr lang="uk-UA" sz="3400" b="1" dirty="0">
                <a:solidFill>
                  <a:schemeClr val="accent3"/>
                </a:solidFill>
                <a:latin typeface="Bookman Old Style" pitchFamily="18" charset="0"/>
              </a:rPr>
              <a:t> Часто людина, яка звертається з приводу конфліктної ситуації, почуває себе потерпілою. Слухаючи її, необхідно сказати їй про те гарне, що в ній є, бо з тим, що людина страждає, не можна не рахуватись – таким чином відбувається «емоційне відшкодування пригніченого стану».</a:t>
            </a:r>
            <a:endParaRPr lang="ru-RU" sz="3400" b="1" dirty="0">
              <a:solidFill>
                <a:schemeClr val="accent3"/>
              </a:solidFill>
              <a:latin typeface="Bookman Old Style" pitchFamily="18" charset="0"/>
            </a:endParaRPr>
          </a:p>
          <a:p>
            <a:pPr marL="0" indent="0" algn="ctr">
              <a:buNone/>
            </a:pPr>
            <a:r>
              <a:rPr lang="uk-UA" sz="3400" b="1" dirty="0">
                <a:solidFill>
                  <a:srgbClr val="0070C0"/>
                </a:solidFill>
                <a:latin typeface="Bookman Old Style" pitchFamily="18" charset="0"/>
              </a:rPr>
              <a:t>3. </a:t>
            </a:r>
            <a:r>
              <a:rPr lang="uk-UA" sz="3400" b="1" i="1" dirty="0">
                <a:solidFill>
                  <a:srgbClr val="0070C0"/>
                </a:solidFill>
                <a:latin typeface="Bookman Old Style" pitchFamily="18" charset="0"/>
              </a:rPr>
              <a:t>Принцип «авторитетного третього» </a:t>
            </a:r>
            <a:r>
              <a:rPr lang="uk-UA" sz="3400" b="1" dirty="0">
                <a:solidFill>
                  <a:srgbClr val="0070C0"/>
                </a:solidFill>
                <a:latin typeface="Bookman Old Style" pitchFamily="18" charset="0"/>
              </a:rPr>
              <a:t>– тонкий психологічний прийом, при якому третій співрозмовник, слухаючи конкретну ситуацію, скупо, але авторитетно скаже позитивне про людину, яку вважають спонукачем конфлікту.</a:t>
            </a:r>
            <a:endParaRPr lang="ru-RU" sz="3400" b="1" dirty="0">
              <a:solidFill>
                <a:srgbClr val="0070C0"/>
              </a:solidFill>
              <a:latin typeface="Bookman Old Style" pitchFamily="18" charset="0"/>
            </a:endParaRPr>
          </a:p>
          <a:p>
            <a:pPr marL="0" indent="0" algn="ctr">
              <a:buNone/>
            </a:pPr>
            <a:r>
              <a:rPr lang="uk-UA" sz="3400" b="1" i="1" dirty="0"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rPr>
              <a:t>4. Принцип «оголеної агресії». </a:t>
            </a:r>
            <a:r>
              <a:rPr lang="uk-UA" sz="3400" b="1" dirty="0"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rPr>
              <a:t>Дає можливість людині, яка слухає конфліктну ситуацію, примусити тих, хто сперечається, ще раз повторити конфлікт з початку до кінця, щоб ще раз подумати над аналізом проблеми.</a:t>
            </a:r>
            <a:endParaRPr lang="ru-RU" sz="3400" b="1" dirty="0">
              <a:solidFill>
                <a:schemeClr val="accent6">
                  <a:lumMod val="75000"/>
                </a:schemeClr>
              </a:solidFill>
              <a:latin typeface="Bookman Old Style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052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5816"/>
            <a:ext cx="9192323" cy="6863816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512" y="116632"/>
            <a:ext cx="8856984" cy="6624736"/>
          </a:xfrm>
        </p:spPr>
        <p:txBody>
          <a:bodyPr>
            <a:normAutofit fontScale="55000" lnSpcReduction="20000"/>
          </a:bodyPr>
          <a:lstStyle/>
          <a:p>
            <a:r>
              <a:rPr lang="uk-UA" sz="5100" b="1" i="1" dirty="0">
                <a:latin typeface="Bookman Old Style" pitchFamily="18" charset="0"/>
              </a:rPr>
              <a:t>Я почуваюся… </a:t>
            </a:r>
            <a:r>
              <a:rPr lang="uk-UA" sz="5100" dirty="0">
                <a:latin typeface="Bookman Old Style" pitchFamily="18" charset="0"/>
              </a:rPr>
              <a:t>(власні почуття і переживання стосовно ситуації</a:t>
            </a:r>
            <a:r>
              <a:rPr lang="uk-UA" sz="5100" dirty="0" smtClean="0">
                <a:latin typeface="Bookman Old Style" pitchFamily="18" charset="0"/>
              </a:rPr>
              <a:t>)________________________________________</a:t>
            </a:r>
          </a:p>
          <a:p>
            <a:endParaRPr lang="uk-UA" sz="5100" b="1" i="1" dirty="0" smtClean="0">
              <a:latin typeface="Bookman Old Style" pitchFamily="18" charset="0"/>
            </a:endParaRPr>
          </a:p>
          <a:p>
            <a:r>
              <a:rPr lang="uk-UA" sz="5100" b="1" i="1" dirty="0" smtClean="0">
                <a:latin typeface="Bookman Old Style" pitchFamily="18" charset="0"/>
              </a:rPr>
              <a:t>коли </a:t>
            </a:r>
            <a:r>
              <a:rPr lang="uk-UA" sz="5100" b="1" i="1" dirty="0">
                <a:latin typeface="Bookman Old Style" pitchFamily="18" charset="0"/>
              </a:rPr>
              <a:t>ти… </a:t>
            </a:r>
            <a:r>
              <a:rPr lang="uk-UA" sz="5100" dirty="0">
                <a:latin typeface="Bookman Old Style" pitchFamily="18" charset="0"/>
              </a:rPr>
              <a:t>(опис конкретних дій співрозмовника, які викликають негативні емоції</a:t>
            </a:r>
            <a:r>
              <a:rPr lang="uk-UA" sz="5100" dirty="0" smtClean="0">
                <a:latin typeface="Bookman Old Style" pitchFamily="18" charset="0"/>
              </a:rPr>
              <a:t>)__________________________________________</a:t>
            </a:r>
            <a:endParaRPr lang="ru-RU" sz="5100" dirty="0">
              <a:latin typeface="Bookman Old Style" pitchFamily="18" charset="0"/>
            </a:endParaRPr>
          </a:p>
          <a:p>
            <a:endParaRPr lang="uk-UA" sz="5100" b="1" i="1" dirty="0" smtClean="0">
              <a:latin typeface="Bookman Old Style" pitchFamily="18" charset="0"/>
            </a:endParaRPr>
          </a:p>
          <a:p>
            <a:r>
              <a:rPr lang="uk-UA" sz="5100" b="1" i="1" dirty="0" smtClean="0">
                <a:latin typeface="Bookman Old Style" pitchFamily="18" charset="0"/>
              </a:rPr>
              <a:t>тому </a:t>
            </a:r>
            <a:r>
              <a:rPr lang="uk-UA" sz="5100" b="1" i="1" dirty="0">
                <a:latin typeface="Bookman Old Style" pitchFamily="18" charset="0"/>
              </a:rPr>
              <a:t>що… </a:t>
            </a:r>
            <a:r>
              <a:rPr lang="uk-UA" sz="5100" dirty="0">
                <a:latin typeface="Bookman Old Style" pitchFamily="18" charset="0"/>
              </a:rPr>
              <a:t>(пояснення, чому дії співрозмовника викликають такі емоції, висловлення власних інтересів</a:t>
            </a:r>
            <a:r>
              <a:rPr lang="uk-UA" sz="5100" dirty="0" smtClean="0">
                <a:latin typeface="Bookman Old Style" pitchFamily="18" charset="0"/>
              </a:rPr>
              <a:t>)_______________________________________</a:t>
            </a:r>
            <a:endParaRPr lang="ru-RU" sz="5100" dirty="0">
              <a:latin typeface="Bookman Old Style" pitchFamily="18" charset="0"/>
            </a:endParaRPr>
          </a:p>
          <a:p>
            <a:endParaRPr lang="uk-UA" sz="5100" b="1" i="1" dirty="0" smtClean="0">
              <a:latin typeface="Bookman Old Style" pitchFamily="18" charset="0"/>
            </a:endParaRPr>
          </a:p>
          <a:p>
            <a:r>
              <a:rPr lang="uk-UA" sz="5100" b="1" i="1" dirty="0" smtClean="0">
                <a:latin typeface="Bookman Old Style" pitchFamily="18" charset="0"/>
              </a:rPr>
              <a:t>ось </a:t>
            </a:r>
            <a:r>
              <a:rPr lang="uk-UA" sz="5100" b="1" i="1" dirty="0">
                <a:latin typeface="Bookman Old Style" pitchFamily="18" charset="0"/>
              </a:rPr>
              <a:t>чому я хочу/бажаю/хотіла б… </a:t>
            </a:r>
            <a:r>
              <a:rPr lang="uk-UA" sz="5100" dirty="0">
                <a:latin typeface="Bookman Old Style" pitchFamily="18" charset="0"/>
              </a:rPr>
              <a:t>(бажані зміни в діях співрозмовника</a:t>
            </a:r>
            <a:r>
              <a:rPr lang="uk-UA" sz="5100" dirty="0" smtClean="0">
                <a:latin typeface="Bookman Old Style" pitchFamily="18" charset="0"/>
              </a:rPr>
              <a:t>)_______________________________</a:t>
            </a:r>
            <a:endParaRPr lang="ru-RU" sz="51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39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13" y="-32161"/>
            <a:ext cx="9144000" cy="6890161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4299" y="260648"/>
            <a:ext cx="8784976" cy="6408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uk-UA" sz="3600" b="1" i="1" dirty="0">
                <a:solidFill>
                  <a:schemeClr val="bg1"/>
                </a:solidFill>
                <a:latin typeface="Bookman Old Style" pitchFamily="18" charset="0"/>
              </a:rPr>
              <a:t>Що корисного я отримав на тренінгу</a:t>
            </a:r>
            <a:r>
              <a:rPr lang="uk-UA" sz="3600" b="1" i="1" dirty="0" smtClean="0">
                <a:solidFill>
                  <a:schemeClr val="bg1"/>
                </a:solidFill>
                <a:latin typeface="Bookman Old Style" pitchFamily="18" charset="0"/>
              </a:rPr>
              <a:t>?__________________________</a:t>
            </a:r>
          </a:p>
          <a:p>
            <a:pPr marL="0" indent="0">
              <a:buNone/>
            </a:pPr>
            <a:r>
              <a:rPr lang="uk-UA" sz="3600" b="1" i="1" dirty="0" smtClean="0">
                <a:solidFill>
                  <a:schemeClr val="bg1"/>
                </a:solidFill>
                <a:latin typeface="Bookman Old Style" pitchFamily="18" charset="0"/>
              </a:rPr>
              <a:t>_____________________________________</a:t>
            </a:r>
            <a:endParaRPr lang="ru-RU" sz="3600" b="1" dirty="0">
              <a:solidFill>
                <a:schemeClr val="bg1"/>
              </a:solidFill>
              <a:latin typeface="Bookman Old Style" pitchFamily="18" charset="0"/>
            </a:endParaRPr>
          </a:p>
          <a:p>
            <a:pPr marL="0" indent="0">
              <a:buNone/>
            </a:pPr>
            <a:r>
              <a:rPr lang="uk-UA" sz="3600" b="1" i="1" dirty="0" smtClean="0">
                <a:solidFill>
                  <a:schemeClr val="bg1"/>
                </a:solidFill>
                <a:latin typeface="Bookman Old Style" pitchFamily="18" charset="0"/>
              </a:rPr>
              <a:t>Що </a:t>
            </a:r>
            <a:r>
              <a:rPr lang="uk-UA" sz="3600" b="1" i="1" dirty="0">
                <a:solidFill>
                  <a:schemeClr val="bg1"/>
                </a:solidFill>
                <a:latin typeface="Bookman Old Style" pitchFamily="18" charset="0"/>
              </a:rPr>
              <a:t>потрібно більше пізнати, вдосконалити</a:t>
            </a:r>
            <a:r>
              <a:rPr lang="uk-UA" sz="3600" b="1" i="1" dirty="0" smtClean="0">
                <a:solidFill>
                  <a:schemeClr val="bg1"/>
                </a:solidFill>
                <a:latin typeface="Bookman Old Style" pitchFamily="18" charset="0"/>
              </a:rPr>
              <a:t>?____________________</a:t>
            </a:r>
          </a:p>
          <a:p>
            <a:pPr marL="0" indent="0">
              <a:buNone/>
            </a:pPr>
            <a:r>
              <a:rPr lang="uk-UA" sz="3600" b="1" i="1" dirty="0" smtClean="0">
                <a:solidFill>
                  <a:schemeClr val="bg1"/>
                </a:solidFill>
                <a:latin typeface="Bookman Old Style" pitchFamily="18" charset="0"/>
              </a:rPr>
              <a:t>_____________________________________Що </a:t>
            </a:r>
            <a:r>
              <a:rPr lang="uk-UA" sz="3600" b="1" i="1" dirty="0">
                <a:solidFill>
                  <a:schemeClr val="bg1"/>
                </a:solidFill>
                <a:latin typeface="Bookman Old Style" pitchFamily="18" charset="0"/>
              </a:rPr>
              <a:t>ще б я хотів почути</a:t>
            </a:r>
            <a:r>
              <a:rPr lang="uk-UA" sz="3600" b="1" i="1" dirty="0" smtClean="0">
                <a:solidFill>
                  <a:schemeClr val="bg1"/>
                </a:solidFill>
                <a:latin typeface="Bookman Old Style" pitchFamily="18" charset="0"/>
              </a:rPr>
              <a:t>?________</a:t>
            </a:r>
          </a:p>
          <a:p>
            <a:pPr marL="0" indent="0">
              <a:buNone/>
            </a:pPr>
            <a:r>
              <a:rPr lang="uk-UA" sz="3600" b="1" i="1" dirty="0" smtClean="0">
                <a:solidFill>
                  <a:schemeClr val="bg1"/>
                </a:solidFill>
                <a:latin typeface="Bookman Old Style" pitchFamily="18" charset="0"/>
              </a:rPr>
              <a:t>_____________________________________</a:t>
            </a:r>
            <a:endParaRPr lang="ru-RU" sz="36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0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70512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95320" cy="6584950"/>
          </a:xfrm>
        </p:spPr>
        <p:txBody>
          <a:bodyPr>
            <a:noAutofit/>
          </a:bodyPr>
          <a:lstStyle/>
          <a:p>
            <a:pPr algn="ctr"/>
            <a:r>
              <a:rPr lang="uk-UA" sz="138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Дякуємо </a:t>
            </a:r>
            <a:br>
              <a:rPr lang="uk-UA" sz="138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</a:br>
            <a:r>
              <a:rPr lang="uk-UA" sz="138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за </a:t>
            </a:r>
            <a:br>
              <a:rPr lang="uk-UA" sz="138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</a:br>
            <a:r>
              <a:rPr lang="uk-UA" sz="1380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увагу!</a:t>
            </a:r>
            <a:endParaRPr lang="ru-RU" sz="1380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575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1287</Words>
  <Application>Microsoft Office PowerPoint</Application>
  <PresentationFormat>Экран (4:3)</PresentationFormat>
  <Paragraphs>121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Bookman Old Style</vt:lpstr>
      <vt:lpstr>Calibri</vt:lpstr>
      <vt:lpstr>Times New Roman</vt:lpstr>
      <vt:lpstr>Тема Office</vt:lpstr>
      <vt:lpstr>Конфлікт  у     закладі     освіти </vt:lpstr>
      <vt:lpstr>«Безконфліктний колектив – це мертвий колектив» </vt:lpstr>
      <vt:lpstr>Презентация PowerPoint</vt:lpstr>
      <vt:lpstr>Презентация PowerPoint</vt:lpstr>
      <vt:lpstr>Для вчительських колективів сучасної школи найбільш характерними є: </vt:lpstr>
      <vt:lpstr>  На думку вчителів, конфлікти між вчителями та учнями виникають через:  </vt:lpstr>
      <vt:lpstr>   На думку учнів причинами їхніх конфліктів з учителями є:   </vt:lpstr>
      <vt:lpstr>Презентация PowerPoint</vt:lpstr>
      <vt:lpstr>Презентация PowerPoint</vt:lpstr>
      <vt:lpstr>Презентация PowerPoint</vt:lpstr>
      <vt:lpstr>Карта конфлікту</vt:lpstr>
      <vt:lpstr>«Вулкан» - непередбачувані спалахи (людина без причини раптом починає конфліктувати)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Переговори – це процес, під час якого сторони намагаються розв'язати конфлікт шляхом безпосереднього обговорення між собою. Сильна сторона переговорного процесу полягає в тому, що все залежить від самих сторін – як процес, так і результат безпосереднього обговорення. </vt:lpstr>
      <vt:lpstr>Медіація. Під час медіації в процес вступає третя сторона – посередник, мета якої – допомогти опонентам домовитися. Виконуючи роль стороннього спостерігача і допомагаючи їх спілкуванню, медіатори намагаються сприяти пошуку сторонами рішення типу «виграш – виграш». І хоча медіатор бере на себе відповідальність за процес, все ж опоненти контролюють предмет дискусії та її результат. </vt:lpstr>
      <vt:lpstr>Арбітраж. У випадку арбітражу третя сторона контролює не тільки процес, але й результат. Арбітри вирішують, що саме сторонам необхідно зробити для розв'язання конфлікту, і зазвичай наділені владою, здатною примусити сторони виконати відповідне рішення. У суперечках між дітьми арбітрами часто виступають батьки. </vt:lpstr>
      <vt:lpstr>Презентация PowerPoint</vt:lpstr>
      <vt:lpstr>Презентация PowerPoint</vt:lpstr>
      <vt:lpstr>Презентация PowerPoint</vt:lpstr>
      <vt:lpstr>Дякуємо  за 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Конфлікт  у     закладі     освіти</dc:title>
  <dc:creator>Админ</dc:creator>
  <cp:lastModifiedBy>User</cp:lastModifiedBy>
  <cp:revision>24</cp:revision>
  <dcterms:created xsi:type="dcterms:W3CDTF">2020-03-05T07:16:34Z</dcterms:created>
  <dcterms:modified xsi:type="dcterms:W3CDTF">2025-09-26T17:55:26Z</dcterms:modified>
</cp:coreProperties>
</file>