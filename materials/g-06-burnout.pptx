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9" r:id="rId6"/>
    <p:sldId id="280" r:id="rId7"/>
    <p:sldId id="281" r:id="rId8"/>
    <p:sldId id="282" r:id="rId9"/>
    <p:sldId id="283" r:id="rId10"/>
    <p:sldId id="284"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85" r:id="rId24"/>
    <p:sldId id="273" r:id="rId25"/>
    <p:sldId id="274" r:id="rId26"/>
    <p:sldId id="275" r:id="rId27"/>
    <p:sldId id="276" r:id="rId28"/>
    <p:sldId id="277" r:id="rId29"/>
    <p:sldId id="278" r:id="rId30"/>
    <p:sldId id="272" r:id="rId31"/>
    <p:sldId id="286" r:id="rId32"/>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uk-UA"/>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uk-UA"/>
          </a:p>
        </p:txBody>
      </p:sp>
      <p:sp>
        <p:nvSpPr>
          <p:cNvPr id="4" name="Дата 3"/>
          <p:cNvSpPr>
            <a:spLocks noGrp="1"/>
          </p:cNvSpPr>
          <p:nvPr>
            <p:ph type="dt" sz="half" idx="10"/>
          </p:nvPr>
        </p:nvSpPr>
        <p:spPr/>
        <p:txBody>
          <a:bodyPr/>
          <a:lstStyle/>
          <a:p>
            <a:fld id="{BCF51230-B12E-4A99-B38C-696C5AEE49AC}" type="datetimeFigureOut">
              <a:rPr lang="uk-UA" smtClean="0"/>
              <a:t>01.10.2025</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3835263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10"/>
          </p:nvPr>
        </p:nvSpPr>
        <p:spPr/>
        <p:txBody>
          <a:bodyPr/>
          <a:lstStyle/>
          <a:p>
            <a:fld id="{BCF51230-B12E-4A99-B38C-696C5AEE49AC}" type="datetimeFigureOut">
              <a:rPr lang="uk-UA" smtClean="0"/>
              <a:t>01.10.2025</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707548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uk-UA"/>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BCF51230-B12E-4A99-B38C-696C5AEE49AC}" type="datetimeFigureOut">
              <a:rPr lang="uk-UA" smtClean="0"/>
              <a:t>01.10.2025</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389605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5" name="Дата 4"/>
          <p:cNvSpPr>
            <a:spLocks noGrp="1"/>
          </p:cNvSpPr>
          <p:nvPr>
            <p:ph type="dt" sz="half" idx="10"/>
          </p:nvPr>
        </p:nvSpPr>
        <p:spPr/>
        <p:txBody>
          <a:bodyPr/>
          <a:lstStyle/>
          <a:p>
            <a:fld id="{BCF51230-B12E-4A99-B38C-696C5AEE49AC}" type="datetimeFigureOut">
              <a:rPr lang="uk-UA" smtClean="0"/>
              <a:t>01.10.2025</a:t>
            </a:fld>
            <a:endParaRPr lang="uk-UA"/>
          </a:p>
        </p:txBody>
      </p:sp>
      <p:sp>
        <p:nvSpPr>
          <p:cNvPr id="6" name="Нижний колонтитул 5"/>
          <p:cNvSpPr>
            <a:spLocks noGrp="1"/>
          </p:cNvSpPr>
          <p:nvPr>
            <p:ph type="ftr" sz="quarter" idx="11"/>
          </p:nvPr>
        </p:nvSpPr>
        <p:spPr/>
        <p:txBody>
          <a:bodyPr/>
          <a:lstStyle/>
          <a:p>
            <a:endParaRPr lang="uk-UA"/>
          </a:p>
        </p:txBody>
      </p:sp>
      <p:sp>
        <p:nvSpPr>
          <p:cNvPr id="7" name="Номер слайда 6"/>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411308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uk-UA"/>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7" name="Дата 6"/>
          <p:cNvSpPr>
            <a:spLocks noGrp="1"/>
          </p:cNvSpPr>
          <p:nvPr>
            <p:ph type="dt" sz="half" idx="10"/>
          </p:nvPr>
        </p:nvSpPr>
        <p:spPr/>
        <p:txBody>
          <a:bodyPr/>
          <a:lstStyle/>
          <a:p>
            <a:fld id="{BCF51230-B12E-4A99-B38C-696C5AEE49AC}" type="datetimeFigureOut">
              <a:rPr lang="uk-UA" smtClean="0"/>
              <a:t>01.10.2025</a:t>
            </a:fld>
            <a:endParaRPr lang="uk-UA"/>
          </a:p>
        </p:txBody>
      </p:sp>
      <p:sp>
        <p:nvSpPr>
          <p:cNvPr id="8" name="Нижний колонтитул 7"/>
          <p:cNvSpPr>
            <a:spLocks noGrp="1"/>
          </p:cNvSpPr>
          <p:nvPr>
            <p:ph type="ftr" sz="quarter" idx="11"/>
          </p:nvPr>
        </p:nvSpPr>
        <p:spPr/>
        <p:txBody>
          <a:bodyPr/>
          <a:lstStyle/>
          <a:p>
            <a:endParaRPr lang="uk-UA"/>
          </a:p>
        </p:txBody>
      </p:sp>
      <p:sp>
        <p:nvSpPr>
          <p:cNvPr id="9" name="Номер слайда 8"/>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3924402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Дата 2"/>
          <p:cNvSpPr>
            <a:spLocks noGrp="1"/>
          </p:cNvSpPr>
          <p:nvPr>
            <p:ph type="dt" sz="half" idx="10"/>
          </p:nvPr>
        </p:nvSpPr>
        <p:spPr/>
        <p:txBody>
          <a:bodyPr/>
          <a:lstStyle/>
          <a:p>
            <a:fld id="{BCF51230-B12E-4A99-B38C-696C5AEE49AC}" type="datetimeFigureOut">
              <a:rPr lang="uk-UA" smtClean="0"/>
              <a:t>01.10.2025</a:t>
            </a:fld>
            <a:endParaRPr lang="uk-UA"/>
          </a:p>
        </p:txBody>
      </p:sp>
      <p:sp>
        <p:nvSpPr>
          <p:cNvPr id="4" name="Нижний колонтитул 3"/>
          <p:cNvSpPr>
            <a:spLocks noGrp="1"/>
          </p:cNvSpPr>
          <p:nvPr>
            <p:ph type="ftr" sz="quarter" idx="11"/>
          </p:nvPr>
        </p:nvSpPr>
        <p:spPr/>
        <p:txBody>
          <a:bodyPr/>
          <a:lstStyle/>
          <a:p>
            <a:endParaRPr lang="uk-UA"/>
          </a:p>
        </p:txBody>
      </p:sp>
      <p:sp>
        <p:nvSpPr>
          <p:cNvPr id="5" name="Номер слайда 4"/>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293412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CF51230-B12E-4A99-B38C-696C5AEE49AC}" type="datetimeFigureOut">
              <a:rPr lang="uk-UA" smtClean="0"/>
              <a:t>01.10.2025</a:t>
            </a:fld>
            <a:endParaRPr lang="uk-UA"/>
          </a:p>
        </p:txBody>
      </p:sp>
      <p:sp>
        <p:nvSpPr>
          <p:cNvPr id="3" name="Нижний колонтитул 2"/>
          <p:cNvSpPr>
            <a:spLocks noGrp="1"/>
          </p:cNvSpPr>
          <p:nvPr>
            <p:ph type="ftr" sz="quarter" idx="11"/>
          </p:nvPr>
        </p:nvSpPr>
        <p:spPr/>
        <p:txBody>
          <a:bodyPr/>
          <a:lstStyle/>
          <a:p>
            <a:endParaRPr lang="uk-UA"/>
          </a:p>
        </p:txBody>
      </p:sp>
      <p:sp>
        <p:nvSpPr>
          <p:cNvPr id="4" name="Номер слайда 3"/>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3699608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uk-UA"/>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BCF51230-B12E-4A99-B38C-696C5AEE49AC}" type="datetimeFigureOut">
              <a:rPr lang="uk-UA" smtClean="0"/>
              <a:t>01.10.2025</a:t>
            </a:fld>
            <a:endParaRPr lang="uk-UA"/>
          </a:p>
        </p:txBody>
      </p:sp>
      <p:sp>
        <p:nvSpPr>
          <p:cNvPr id="6" name="Нижний колонтитул 5"/>
          <p:cNvSpPr>
            <a:spLocks noGrp="1"/>
          </p:cNvSpPr>
          <p:nvPr>
            <p:ph type="ftr" sz="quarter" idx="11"/>
          </p:nvPr>
        </p:nvSpPr>
        <p:spPr/>
        <p:txBody>
          <a:bodyPr/>
          <a:lstStyle/>
          <a:p>
            <a:endParaRPr lang="uk-UA"/>
          </a:p>
        </p:txBody>
      </p:sp>
      <p:sp>
        <p:nvSpPr>
          <p:cNvPr id="7" name="Номер слайда 6"/>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614011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uk-UA"/>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BCF51230-B12E-4A99-B38C-696C5AEE49AC}" type="datetimeFigureOut">
              <a:rPr lang="uk-UA" smtClean="0"/>
              <a:t>01.10.2025</a:t>
            </a:fld>
            <a:endParaRPr lang="uk-UA"/>
          </a:p>
        </p:txBody>
      </p:sp>
      <p:sp>
        <p:nvSpPr>
          <p:cNvPr id="6" name="Нижний колонтитул 5"/>
          <p:cNvSpPr>
            <a:spLocks noGrp="1"/>
          </p:cNvSpPr>
          <p:nvPr>
            <p:ph type="ftr" sz="quarter" idx="11"/>
          </p:nvPr>
        </p:nvSpPr>
        <p:spPr/>
        <p:txBody>
          <a:bodyPr/>
          <a:lstStyle/>
          <a:p>
            <a:endParaRPr lang="uk-UA"/>
          </a:p>
        </p:txBody>
      </p:sp>
      <p:sp>
        <p:nvSpPr>
          <p:cNvPr id="7" name="Номер слайда 6"/>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2803123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uk-UA"/>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10"/>
          </p:nvPr>
        </p:nvSpPr>
        <p:spPr/>
        <p:txBody>
          <a:bodyPr/>
          <a:lstStyle/>
          <a:p>
            <a:fld id="{BCF51230-B12E-4A99-B38C-696C5AEE49AC}" type="datetimeFigureOut">
              <a:rPr lang="uk-UA" smtClean="0"/>
              <a:t>01.10.2025</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2019204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uk-UA"/>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10"/>
          </p:nvPr>
        </p:nvSpPr>
        <p:spPr/>
        <p:txBody>
          <a:bodyPr/>
          <a:lstStyle/>
          <a:p>
            <a:fld id="{BCF51230-B12E-4A99-B38C-696C5AEE49AC}" type="datetimeFigureOut">
              <a:rPr lang="uk-UA" smtClean="0"/>
              <a:t>01.10.2025</a:t>
            </a:fld>
            <a:endParaRPr lang="uk-UA"/>
          </a:p>
        </p:txBody>
      </p:sp>
      <p:sp>
        <p:nvSpPr>
          <p:cNvPr id="5" name="Нижний колонтитул 4"/>
          <p:cNvSpPr>
            <a:spLocks noGrp="1"/>
          </p:cNvSpPr>
          <p:nvPr>
            <p:ph type="ftr" sz="quarter" idx="11"/>
          </p:nvPr>
        </p:nvSpPr>
        <p:spPr/>
        <p:txBody>
          <a:bodyPr/>
          <a:lstStyle/>
          <a:p>
            <a:endParaRPr lang="uk-UA"/>
          </a:p>
        </p:txBody>
      </p:sp>
      <p:sp>
        <p:nvSpPr>
          <p:cNvPr id="6" name="Номер слайда 5"/>
          <p:cNvSpPr>
            <a:spLocks noGrp="1"/>
          </p:cNvSpPr>
          <p:nvPr>
            <p:ph type="sldNum" sz="quarter" idx="12"/>
          </p:nvPr>
        </p:nvSpPr>
        <p:spPr/>
        <p:txBody>
          <a:bodyPr/>
          <a:lstStyle/>
          <a:p>
            <a:fld id="{937A295A-1C58-4E22-9500-2C2DC72C45C6}" type="slidenum">
              <a:rPr lang="uk-UA" smtClean="0"/>
              <a:t>‹#›</a:t>
            </a:fld>
            <a:endParaRPr lang="uk-UA"/>
          </a:p>
        </p:txBody>
      </p:sp>
    </p:spTree>
    <p:extLst>
      <p:ext uri="{BB962C8B-B14F-4D97-AF65-F5344CB8AC3E}">
        <p14:creationId xmlns:p14="http://schemas.microsoft.com/office/powerpoint/2010/main" val="1620116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Пользовательский маке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3392" y="476672"/>
            <a:ext cx="10972800" cy="1143000"/>
          </a:xfrm>
        </p:spPr>
        <p:txBody>
          <a:bodyPr/>
          <a:lstStyle/>
          <a:p>
            <a:r>
              <a:rPr lang="ru-RU" dirty="0" smtClean="0"/>
              <a:t>Образец заголовка</a:t>
            </a:r>
            <a:endParaRPr lang="ru-RU" dirty="0"/>
          </a:p>
        </p:txBody>
      </p:sp>
      <p:sp>
        <p:nvSpPr>
          <p:cNvPr id="3" name="Дата 2"/>
          <p:cNvSpPr>
            <a:spLocks noGrp="1"/>
          </p:cNvSpPr>
          <p:nvPr>
            <p:ph type="dt" sz="half" idx="10"/>
          </p:nvPr>
        </p:nvSpPr>
        <p:spPr/>
        <p:txBody>
          <a:bodyPr/>
          <a:lstStyle/>
          <a:p>
            <a:fld id="{465B7319-8752-43DC-9251-6FF6EC4E5500}" type="datetimeFigureOut">
              <a:rPr lang="ru-RU" smtClean="0"/>
              <a:pPr/>
              <a:t>01.10.2025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A00933E-8E9E-46F7-A2F2-BCFA8E62F16D}" type="slidenum">
              <a:rPr lang="ru-RU" smtClean="0"/>
              <a:pPr/>
              <a:t>‹#›</a:t>
            </a:fld>
            <a:endParaRPr lang="ru-RU"/>
          </a:p>
        </p:txBody>
      </p:sp>
    </p:spTree>
    <p:extLst>
      <p:ext uri="{BB962C8B-B14F-4D97-AF65-F5344CB8AC3E}">
        <p14:creationId xmlns:p14="http://schemas.microsoft.com/office/powerpoint/2010/main" val="3854613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uk-UA"/>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k-UA"/>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F51230-B12E-4A99-B38C-696C5AEE49AC}" type="datetimeFigureOut">
              <a:rPr lang="uk-UA" smtClean="0"/>
              <a:t>01.10.2025</a:t>
            </a:fld>
            <a:endParaRPr lang="uk-UA"/>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7A295A-1C58-4E22-9500-2C2DC72C45C6}" type="slidenum">
              <a:rPr lang="uk-UA" smtClean="0"/>
              <a:t>‹#›</a:t>
            </a:fld>
            <a:endParaRPr lang="uk-UA"/>
          </a:p>
        </p:txBody>
      </p:sp>
    </p:spTree>
    <p:extLst>
      <p:ext uri="{BB962C8B-B14F-4D97-AF65-F5344CB8AC3E}">
        <p14:creationId xmlns:p14="http://schemas.microsoft.com/office/powerpoint/2010/main" val="2527618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b="1" dirty="0" smtClean="0">
                <a:latin typeface="Times New Roman" panose="02020603050405020304" pitchFamily="18" charset="0"/>
                <a:cs typeface="Times New Roman" panose="02020603050405020304" pitchFamily="18" charset="0"/>
              </a:rPr>
              <a:t>Синдром </a:t>
            </a:r>
            <a:r>
              <a:rPr lang="ru-RU" b="1" dirty="0" err="1" smtClean="0">
                <a:latin typeface="Times New Roman" panose="02020603050405020304" pitchFamily="18" charset="0"/>
                <a:cs typeface="Times New Roman" panose="02020603050405020304" pitchFamily="18" charset="0"/>
              </a:rPr>
              <a:t>емоційного</a:t>
            </a:r>
            <a:r>
              <a:rPr lang="ru-RU" b="1" dirty="0" smtClean="0">
                <a:latin typeface="Times New Roman" panose="02020603050405020304" pitchFamily="18" charset="0"/>
                <a:cs typeface="Times New Roman" panose="02020603050405020304" pitchFamily="18" charset="0"/>
              </a:rPr>
              <a:t> </a:t>
            </a:r>
            <a:r>
              <a:rPr lang="ru-RU" b="1" dirty="0" err="1" smtClean="0">
                <a:latin typeface="Times New Roman" panose="02020603050405020304" pitchFamily="18" charset="0"/>
                <a:cs typeface="Times New Roman" panose="02020603050405020304" pitchFamily="18" charset="0"/>
              </a:rPr>
              <a:t>вигорання</a:t>
            </a:r>
            <a:r>
              <a:rPr lang="ru-RU" b="1" dirty="0" smtClean="0">
                <a:latin typeface="Times New Roman" panose="02020603050405020304" pitchFamily="18" charset="0"/>
                <a:cs typeface="Times New Roman" panose="02020603050405020304" pitchFamily="18" charset="0"/>
              </a:rPr>
              <a:t>: причини, </a:t>
            </a:r>
            <a:r>
              <a:rPr lang="ru-RU" b="1" dirty="0" err="1" smtClean="0">
                <a:latin typeface="Times New Roman" panose="02020603050405020304" pitchFamily="18" charset="0"/>
                <a:cs typeface="Times New Roman" panose="02020603050405020304" pitchFamily="18" charset="0"/>
              </a:rPr>
              <a:t>ознаки</a:t>
            </a:r>
            <a:r>
              <a:rPr lang="ru-RU" b="1" dirty="0" smtClean="0">
                <a:latin typeface="Times New Roman" panose="02020603050405020304" pitchFamily="18" charset="0"/>
                <a:cs typeface="Times New Roman" panose="02020603050405020304" pitchFamily="18" charset="0"/>
              </a:rPr>
              <a:t>, </a:t>
            </a:r>
            <a:r>
              <a:rPr lang="ru-RU" b="1" dirty="0" err="1" smtClean="0">
                <a:latin typeface="Times New Roman" panose="02020603050405020304" pitchFamily="18" charset="0"/>
                <a:cs typeface="Times New Roman" panose="02020603050405020304" pitchFamily="18" charset="0"/>
              </a:rPr>
              <a:t>профілактика</a:t>
            </a:r>
            <a:r>
              <a:rPr lang="ru-RU" b="1" dirty="0" smtClean="0">
                <a:latin typeface="Times New Roman" panose="02020603050405020304" pitchFamily="18" charset="0"/>
                <a:cs typeface="Times New Roman" panose="02020603050405020304" pitchFamily="18" charset="0"/>
              </a:rPr>
              <a:t> та </a:t>
            </a:r>
            <a:r>
              <a:rPr lang="ru-RU" b="1" dirty="0" err="1" smtClean="0">
                <a:latin typeface="Times New Roman" panose="02020603050405020304" pitchFamily="18" charset="0"/>
                <a:cs typeface="Times New Roman" panose="02020603050405020304" pitchFamily="18" charset="0"/>
              </a:rPr>
              <a:t>відновлення</a:t>
            </a:r>
            <a:endParaRPr lang="uk-UA" b="1" dirty="0">
              <a:latin typeface="Times New Roman" panose="02020603050405020304" pitchFamily="18" charset="0"/>
              <a:cs typeface="Times New Roman" panose="02020603050405020304" pitchFamily="18" charset="0"/>
            </a:endParaRPr>
          </a:p>
        </p:txBody>
      </p:sp>
      <p:sp>
        <p:nvSpPr>
          <p:cNvPr id="3" name="Подзаголовок 2"/>
          <p:cNvSpPr>
            <a:spLocks noGrp="1"/>
          </p:cNvSpPr>
          <p:nvPr>
            <p:ph type="subTitle" idx="1"/>
          </p:nvPr>
        </p:nvSpPr>
        <p:spPr/>
        <p:txBody>
          <a:bodyPr/>
          <a:lstStyle/>
          <a:p>
            <a:endParaRPr lang="uk-UA" dirty="0"/>
          </a:p>
        </p:txBody>
      </p:sp>
    </p:spTree>
    <p:extLst>
      <p:ext uri="{BB962C8B-B14F-4D97-AF65-F5344CB8AC3E}">
        <p14:creationId xmlns:p14="http://schemas.microsoft.com/office/powerpoint/2010/main" val="2415253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lstStyle/>
          <a:p>
            <a:pPr marL="0" indent="0" algn="ctr">
              <a:buNone/>
            </a:pPr>
            <a:endParaRPr lang="ru-RU" dirty="0" smtClean="0"/>
          </a:p>
          <a:p>
            <a:pPr marL="0" indent="0" algn="ctr">
              <a:buNone/>
            </a:pPr>
            <a:endParaRPr lang="ru-RU" dirty="0"/>
          </a:p>
          <a:p>
            <a:pPr marL="0" indent="0" algn="ctr">
              <a:buNone/>
            </a:pPr>
            <a:r>
              <a:rPr lang="ru-RU" dirty="0" err="1" smtClean="0"/>
              <a:t>Емоційне</a:t>
            </a:r>
            <a:r>
              <a:rPr lang="ru-RU" dirty="0" smtClean="0"/>
              <a:t> </a:t>
            </a:r>
            <a:r>
              <a:rPr lang="ru-RU" dirty="0" err="1" smtClean="0"/>
              <a:t>вигорання</a:t>
            </a:r>
            <a:r>
              <a:rPr lang="ru-RU" dirty="0" smtClean="0"/>
              <a:t> - </a:t>
            </a:r>
            <a:r>
              <a:rPr lang="ru-RU" dirty="0" err="1" smtClean="0"/>
              <a:t>це</a:t>
            </a:r>
            <a:r>
              <a:rPr lang="ru-RU" dirty="0" smtClean="0"/>
              <a:t> не просто </a:t>
            </a:r>
            <a:r>
              <a:rPr lang="ru-RU" dirty="0" err="1" smtClean="0"/>
              <a:t>втома</a:t>
            </a:r>
            <a:r>
              <a:rPr lang="ru-RU" dirty="0" smtClean="0"/>
              <a:t> </a:t>
            </a:r>
            <a:r>
              <a:rPr lang="ru-RU" dirty="0" err="1" smtClean="0"/>
              <a:t>після</a:t>
            </a:r>
            <a:r>
              <a:rPr lang="ru-RU" dirty="0" smtClean="0"/>
              <a:t> </a:t>
            </a:r>
            <a:r>
              <a:rPr lang="ru-RU" dirty="0" err="1" smtClean="0"/>
              <a:t>напруженого</a:t>
            </a:r>
            <a:r>
              <a:rPr lang="ru-RU" dirty="0" smtClean="0"/>
              <a:t> </a:t>
            </a:r>
            <a:r>
              <a:rPr lang="ru-RU" dirty="0" err="1" smtClean="0"/>
              <a:t>робочого</a:t>
            </a:r>
            <a:r>
              <a:rPr lang="ru-RU" dirty="0" smtClean="0"/>
              <a:t> дня. </a:t>
            </a:r>
            <a:r>
              <a:rPr lang="ru-RU" dirty="0" err="1" smtClean="0"/>
              <a:t>Це</a:t>
            </a:r>
            <a:r>
              <a:rPr lang="ru-RU" dirty="0" smtClean="0"/>
              <a:t> </a:t>
            </a:r>
            <a:r>
              <a:rPr lang="ru-RU" dirty="0" err="1" smtClean="0"/>
              <a:t>глибоке</a:t>
            </a:r>
            <a:r>
              <a:rPr lang="ru-RU" dirty="0" smtClean="0"/>
              <a:t>, </a:t>
            </a:r>
            <a:r>
              <a:rPr lang="ru-RU" dirty="0" err="1" smtClean="0"/>
              <a:t>прогресуюче</a:t>
            </a:r>
            <a:r>
              <a:rPr lang="ru-RU" dirty="0" smtClean="0"/>
              <a:t> </a:t>
            </a:r>
            <a:r>
              <a:rPr lang="ru-RU" dirty="0" err="1" smtClean="0"/>
              <a:t>психоемоційне</a:t>
            </a:r>
            <a:r>
              <a:rPr lang="ru-RU" dirty="0" smtClean="0"/>
              <a:t> </a:t>
            </a:r>
            <a:r>
              <a:rPr lang="ru-RU" dirty="0" err="1" smtClean="0"/>
              <a:t>виснаження</a:t>
            </a:r>
            <a:r>
              <a:rPr lang="ru-RU" dirty="0" smtClean="0"/>
              <a:t>, яке </a:t>
            </a:r>
            <a:r>
              <a:rPr lang="ru-RU" dirty="0" err="1" smtClean="0"/>
              <a:t>впливає</a:t>
            </a:r>
            <a:r>
              <a:rPr lang="ru-RU" dirty="0" smtClean="0"/>
              <a:t> на </a:t>
            </a:r>
            <a:r>
              <a:rPr lang="ru-RU" dirty="0" err="1" smtClean="0"/>
              <a:t>всі</a:t>
            </a:r>
            <a:r>
              <a:rPr lang="ru-RU" dirty="0" smtClean="0"/>
              <a:t> </a:t>
            </a:r>
            <a:r>
              <a:rPr lang="ru-RU" dirty="0" err="1" smtClean="0"/>
              <a:t>сфери</a:t>
            </a:r>
            <a:r>
              <a:rPr lang="ru-RU" dirty="0" smtClean="0"/>
              <a:t> </a:t>
            </a:r>
            <a:r>
              <a:rPr lang="ru-RU" dirty="0" err="1" smtClean="0"/>
              <a:t>життя</a:t>
            </a:r>
            <a:r>
              <a:rPr lang="ru-RU" dirty="0" smtClean="0"/>
              <a:t>: </a:t>
            </a:r>
            <a:r>
              <a:rPr lang="ru-RU" dirty="0" err="1" smtClean="0"/>
              <a:t>від</a:t>
            </a:r>
            <a:r>
              <a:rPr lang="ru-RU" dirty="0" smtClean="0"/>
              <a:t> </a:t>
            </a:r>
            <a:r>
              <a:rPr lang="ru-RU" dirty="0" err="1" smtClean="0"/>
              <a:t>професійної</a:t>
            </a:r>
            <a:r>
              <a:rPr lang="ru-RU" dirty="0" smtClean="0"/>
              <a:t> </a:t>
            </a:r>
            <a:r>
              <a:rPr lang="ru-RU" dirty="0" err="1" smtClean="0"/>
              <a:t>діяльності</a:t>
            </a:r>
            <a:r>
              <a:rPr lang="ru-RU" dirty="0" smtClean="0"/>
              <a:t> до </a:t>
            </a:r>
            <a:r>
              <a:rPr lang="ru-RU" dirty="0" err="1" smtClean="0"/>
              <a:t>особистих</a:t>
            </a:r>
            <a:r>
              <a:rPr lang="ru-RU" dirty="0" smtClean="0"/>
              <a:t> </a:t>
            </a:r>
            <a:r>
              <a:rPr lang="ru-RU" dirty="0" err="1" smtClean="0"/>
              <a:t>стосунків</a:t>
            </a:r>
            <a:r>
              <a:rPr lang="ru-RU" dirty="0" smtClean="0"/>
              <a:t>. </a:t>
            </a:r>
            <a:endParaRPr lang="uk-UA" dirty="0"/>
          </a:p>
        </p:txBody>
      </p:sp>
    </p:spTree>
    <p:extLst>
      <p:ext uri="{BB962C8B-B14F-4D97-AF65-F5344CB8AC3E}">
        <p14:creationId xmlns:p14="http://schemas.microsoft.com/office/powerpoint/2010/main" val="2628718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sp>
        <p:nvSpPr>
          <p:cNvPr id="3" name="Объект 2"/>
          <p:cNvSpPr>
            <a:spLocks noGrp="1"/>
          </p:cNvSpPr>
          <p:nvPr>
            <p:ph idx="1"/>
          </p:nvPr>
        </p:nvSpPr>
        <p:spPr/>
        <p:txBody>
          <a:bodyPr/>
          <a:lstStyle/>
          <a:p>
            <a:pPr marL="0" indent="0">
              <a:buNone/>
            </a:pPr>
            <a:endParaRPr lang="uk-UA" dirty="0" smtClean="0"/>
          </a:p>
          <a:p>
            <a:pPr marL="0" indent="0">
              <a:buNone/>
            </a:pPr>
            <a:endParaRPr lang="uk-UA" dirty="0"/>
          </a:p>
          <a:p>
            <a:pPr marL="0" indent="0" algn="ctr">
              <a:buNone/>
            </a:pPr>
            <a:r>
              <a:rPr lang="uk-UA" dirty="0" smtClean="0"/>
              <a:t>Часто поняття емоційне вигорання та хронічна втома використовують як синоніми, але це не зовсім вірно. Хоча вони мають спільні риси, важливо розуміти їхню відмінність, щоб правильно визначити проблему та обрати метод її вирішення.</a:t>
            </a:r>
            <a:endParaRPr lang="uk-UA" dirty="0"/>
          </a:p>
        </p:txBody>
      </p:sp>
    </p:spTree>
    <p:extLst>
      <p:ext uri="{BB962C8B-B14F-4D97-AF65-F5344CB8AC3E}">
        <p14:creationId xmlns:p14="http://schemas.microsoft.com/office/powerpoint/2010/main" val="4116811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just"/>
            <a:r>
              <a:rPr lang="uk-UA" sz="2400" b="1" dirty="0" smtClean="0"/>
              <a:t/>
            </a:r>
            <a:br>
              <a:rPr lang="uk-UA" sz="2400" b="1" dirty="0" smtClean="0"/>
            </a:br>
            <a:r>
              <a:rPr lang="uk-UA" sz="2400" b="1" dirty="0"/>
              <a:t/>
            </a:r>
            <a:br>
              <a:rPr lang="uk-UA" sz="2400" b="1" dirty="0"/>
            </a:br>
            <a:r>
              <a:rPr lang="uk-UA" sz="2400" b="1" dirty="0" smtClean="0"/>
              <a:t>Синдром емоційного вигорання (термін, офіційно визнаний ВООЗ у 2019 році) - це стан, що виникає внаслідок хронічного стресу на роботі, з яким людина не може впоратися. Він характеризується трьома ключовими вимірами, що взаємно підсилюють один одного:</a:t>
            </a:r>
            <a:br>
              <a:rPr lang="uk-UA" sz="2400" b="1" dirty="0" smtClean="0"/>
            </a:br>
            <a:r>
              <a:rPr lang="uk-UA" sz="2400" b="1" dirty="0" smtClean="0"/>
              <a:t/>
            </a:r>
            <a:br>
              <a:rPr lang="uk-UA" sz="2400" b="1" dirty="0" smtClean="0"/>
            </a:br>
            <a:endParaRPr lang="uk-UA" sz="2400" b="1" dirty="0"/>
          </a:p>
        </p:txBody>
      </p:sp>
      <p:sp>
        <p:nvSpPr>
          <p:cNvPr id="3" name="Объект 2"/>
          <p:cNvSpPr>
            <a:spLocks noGrp="1"/>
          </p:cNvSpPr>
          <p:nvPr>
            <p:ph idx="1"/>
          </p:nvPr>
        </p:nvSpPr>
        <p:spPr/>
        <p:txBody>
          <a:bodyPr>
            <a:normAutofit fontScale="92500" lnSpcReduction="20000"/>
          </a:bodyPr>
          <a:lstStyle/>
          <a:p>
            <a:pPr marL="0" indent="0">
              <a:buNone/>
            </a:pPr>
            <a:r>
              <a:rPr lang="uk-UA" dirty="0" smtClean="0"/>
              <a:t>●   Емоційне виснаження: Це почуття спустошеності, втрата енергії, емоційна втома, що триває тижнями, навіть після довгого відпочинку. Ви відчуваєте, ніби "емоційний бак" порожній, і більше не можете віддавати себе іншим.</a:t>
            </a:r>
          </a:p>
          <a:p>
            <a:endParaRPr lang="uk-UA" dirty="0" smtClean="0"/>
          </a:p>
          <a:p>
            <a:pPr marL="0" indent="0">
              <a:buNone/>
            </a:pPr>
            <a:r>
              <a:rPr lang="uk-UA" dirty="0" smtClean="0"/>
              <a:t>●Деперсоналізація або цинізм: Розвиток цинічного або негативного ставлення до колег, клієнтів, начальства та самої роботи. Виникає емоційна відстороненість та емоційна дистанція. Людина починає сприймати себе і свою роботу як щось чуже, що не має до неї стосунку.</a:t>
            </a:r>
          </a:p>
          <a:p>
            <a:endParaRPr lang="uk-UA" dirty="0" smtClean="0"/>
          </a:p>
          <a:p>
            <a:pPr marL="0" indent="0">
              <a:buNone/>
            </a:pPr>
            <a:r>
              <a:rPr lang="uk-UA" dirty="0" smtClean="0"/>
              <a:t>●Знижена ефективність на роботі: Відчуття некомпетентності, втрата мотивації та продуктивності. Завдання, які раніше виконувалися легко, тепер здаються непосильними, і загальна продуктивність значно падає.</a:t>
            </a:r>
            <a:endParaRPr lang="uk-UA" dirty="0"/>
          </a:p>
        </p:txBody>
      </p:sp>
    </p:spTree>
    <p:extLst>
      <p:ext uri="{BB962C8B-B14F-4D97-AF65-F5344CB8AC3E}">
        <p14:creationId xmlns:p14="http://schemas.microsoft.com/office/powerpoint/2010/main" val="403308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Синдром </a:t>
            </a:r>
            <a:r>
              <a:rPr lang="ru-RU" dirty="0" err="1"/>
              <a:t>емоційного</a:t>
            </a:r>
            <a:r>
              <a:rPr lang="ru-RU" dirty="0"/>
              <a:t> </a:t>
            </a:r>
            <a:r>
              <a:rPr lang="ru-RU" dirty="0" err="1"/>
              <a:t>вигорання</a:t>
            </a:r>
            <a:r>
              <a:rPr lang="ru-RU" dirty="0"/>
              <a:t> </a:t>
            </a:r>
            <a:r>
              <a:rPr lang="ru-RU" dirty="0" err="1"/>
              <a:t>характерний</a:t>
            </a:r>
            <a:r>
              <a:rPr lang="ru-RU" dirty="0"/>
              <a:t> </a:t>
            </a:r>
            <a:r>
              <a:rPr lang="ru-RU" dirty="0" err="1"/>
              <a:t>лише</a:t>
            </a:r>
            <a:r>
              <a:rPr lang="ru-RU" dirty="0"/>
              <a:t> для </a:t>
            </a:r>
            <a:r>
              <a:rPr lang="ru-RU" dirty="0" err="1"/>
              <a:t>професій</a:t>
            </a:r>
            <a:r>
              <a:rPr lang="ru-RU" dirty="0"/>
              <a:t> типу «</a:t>
            </a:r>
            <a:r>
              <a:rPr lang="ru-RU" dirty="0" err="1"/>
              <a:t>людина-людина</a:t>
            </a:r>
            <a:r>
              <a:rPr lang="ru-RU" dirty="0"/>
              <a:t>»</a:t>
            </a:r>
            <a:br>
              <a:rPr lang="ru-RU" dirty="0"/>
            </a:br>
            <a:endParaRPr lang="uk-UA" dirty="0"/>
          </a:p>
        </p:txBody>
      </p:sp>
      <p:pic>
        <p:nvPicPr>
          <p:cNvPr id="4" name="Объект 3"/>
          <p:cNvPicPr>
            <a:picLocks noGrp="1" noChangeAspect="1"/>
          </p:cNvPicPr>
          <p:nvPr>
            <p:ph idx="1"/>
          </p:nvPr>
        </p:nvPicPr>
        <p:blipFill>
          <a:blip r:embed="rId2"/>
          <a:stretch>
            <a:fillRect/>
          </a:stretch>
        </p:blipFill>
        <p:spPr>
          <a:xfrm>
            <a:off x="2263454" y="1825625"/>
            <a:ext cx="7665091" cy="4351338"/>
          </a:xfrm>
          <a:prstGeom prst="rect">
            <a:avLst/>
          </a:prstGeom>
        </p:spPr>
      </p:pic>
    </p:spTree>
    <p:extLst>
      <p:ext uri="{BB962C8B-B14F-4D97-AF65-F5344CB8AC3E}">
        <p14:creationId xmlns:p14="http://schemas.microsoft.com/office/powerpoint/2010/main" val="1123896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063553" y="4015177"/>
            <a:ext cx="8161209" cy="1569660"/>
          </a:xfrm>
          <a:prstGeom prst="rect">
            <a:avLst/>
          </a:prstGeom>
        </p:spPr>
        <p:txBody>
          <a:bodyPr wrap="none">
            <a:spAutoFit/>
          </a:bodyPr>
          <a:lstStyle/>
          <a:p>
            <a:pPr algn="ctr"/>
            <a:r>
              <a:rPr lang="ru-RU" sz="4800" b="1" dirty="0">
                <a:solidFill>
                  <a:srgbClr val="FF0000"/>
                </a:solidFill>
                <a:latin typeface="Bookman Old Style" pitchFamily="18" charset="0"/>
              </a:rPr>
              <a:t>«</a:t>
            </a:r>
            <a:r>
              <a:rPr lang="ru-RU" sz="4800" b="1" dirty="0" err="1">
                <a:solidFill>
                  <a:srgbClr val="FF0000"/>
                </a:solidFill>
                <a:latin typeface="Bookman Old Style" pitchFamily="18" charset="0"/>
              </a:rPr>
              <a:t>Емоційне</a:t>
            </a:r>
            <a:r>
              <a:rPr lang="ru-RU" sz="4800" b="1" dirty="0">
                <a:solidFill>
                  <a:srgbClr val="FF0000"/>
                </a:solidFill>
                <a:latin typeface="Bookman Old Style" pitchFamily="18" charset="0"/>
              </a:rPr>
              <a:t> </a:t>
            </a:r>
            <a:r>
              <a:rPr lang="ru-RU" sz="4800" b="1" dirty="0" err="1">
                <a:solidFill>
                  <a:srgbClr val="FF0000"/>
                </a:solidFill>
                <a:latin typeface="Bookman Old Style" pitchFamily="18" charset="0"/>
              </a:rPr>
              <a:t>вигорання</a:t>
            </a:r>
            <a:r>
              <a:rPr lang="ru-RU" sz="4800" b="1" dirty="0">
                <a:solidFill>
                  <a:srgbClr val="FF0000"/>
                </a:solidFill>
                <a:latin typeface="Bookman Old Style" pitchFamily="18" charset="0"/>
              </a:rPr>
              <a:t> </a:t>
            </a:r>
            <a:r>
              <a:rPr lang="ru-RU" sz="4800" b="1" dirty="0">
                <a:solidFill>
                  <a:srgbClr val="FF0000"/>
                </a:solidFill>
                <a:latin typeface="Bookman Old Style" pitchFamily="18" charset="0"/>
              </a:rPr>
              <a:t>– </a:t>
            </a:r>
          </a:p>
          <a:p>
            <a:pPr algn="ctr"/>
            <a:r>
              <a:rPr lang="ru-RU" sz="4800" b="1" dirty="0">
                <a:solidFill>
                  <a:srgbClr val="FF0000"/>
                </a:solidFill>
                <a:latin typeface="Bookman Old Style" pitchFamily="18" charset="0"/>
              </a:rPr>
              <a:t>плата </a:t>
            </a:r>
            <a:r>
              <a:rPr lang="ru-RU" sz="4800" b="1" dirty="0">
                <a:solidFill>
                  <a:srgbClr val="FF0000"/>
                </a:solidFill>
                <a:latin typeface="Bookman Old Style" pitchFamily="18" charset="0"/>
              </a:rPr>
              <a:t>за </a:t>
            </a:r>
            <a:r>
              <a:rPr lang="ru-RU" sz="4800" b="1" dirty="0" err="1">
                <a:solidFill>
                  <a:srgbClr val="FF0000"/>
                </a:solidFill>
                <a:latin typeface="Bookman Old Style" pitchFamily="18" charset="0"/>
              </a:rPr>
              <a:t>співчуття</a:t>
            </a:r>
            <a:r>
              <a:rPr lang="ru-RU" sz="4800" b="1" dirty="0">
                <a:solidFill>
                  <a:srgbClr val="FF0000"/>
                </a:solidFill>
                <a:latin typeface="Bookman Old Style" pitchFamily="18" charset="0"/>
              </a:rPr>
              <a:t>»</a:t>
            </a:r>
            <a:endParaRPr lang="ru-RU" sz="4800" b="1" dirty="0">
              <a:solidFill>
                <a:srgbClr val="FF0000"/>
              </a:solidFill>
              <a:latin typeface="Bookman Old Style" pitchFamily="18" charset="0"/>
            </a:endParaRPr>
          </a:p>
        </p:txBody>
      </p:sp>
      <p:sp>
        <p:nvSpPr>
          <p:cNvPr id="3" name="Прямоугольник 2"/>
          <p:cNvSpPr/>
          <p:nvPr/>
        </p:nvSpPr>
        <p:spPr>
          <a:xfrm>
            <a:off x="5591944" y="1484785"/>
            <a:ext cx="4572000" cy="1384995"/>
          </a:xfrm>
          <a:prstGeom prst="rect">
            <a:avLst/>
          </a:prstGeom>
        </p:spPr>
        <p:txBody>
          <a:bodyPr>
            <a:spAutoFit/>
          </a:bodyPr>
          <a:lstStyle/>
          <a:p>
            <a:r>
              <a:rPr lang="ru-RU" sz="2800" dirty="0"/>
              <a:t> </a:t>
            </a:r>
            <a:r>
              <a:rPr lang="ru-RU" sz="2800" dirty="0"/>
              <a:t>Перша </a:t>
            </a:r>
            <a:r>
              <a:rPr lang="ru-RU" sz="2800" dirty="0" err="1"/>
              <a:t>дослідниця</a:t>
            </a:r>
            <a:r>
              <a:rPr lang="ru-RU" sz="2800" dirty="0"/>
              <a:t> </a:t>
            </a:r>
            <a:r>
              <a:rPr lang="ru-RU" sz="2800" dirty="0" err="1"/>
              <a:t>цього</a:t>
            </a:r>
            <a:r>
              <a:rPr lang="ru-RU" sz="2800" dirty="0"/>
              <a:t> </a:t>
            </a:r>
            <a:r>
              <a:rPr lang="ru-RU" sz="2800" dirty="0" err="1"/>
              <a:t>явища</a:t>
            </a:r>
            <a:r>
              <a:rPr lang="ru-RU" sz="2800" dirty="0"/>
              <a:t> Христина </a:t>
            </a:r>
            <a:r>
              <a:rPr lang="ru-RU" sz="2800" dirty="0" err="1"/>
              <a:t>Маслач</a:t>
            </a:r>
            <a:r>
              <a:rPr lang="ru-RU" sz="2800" dirty="0"/>
              <a:t> назвала свою </a:t>
            </a:r>
            <a:r>
              <a:rPr lang="ru-RU" sz="2800" dirty="0"/>
              <a:t>книгу:</a:t>
            </a:r>
            <a:endParaRPr lang="ru-RU" sz="2800" dirty="0"/>
          </a:p>
        </p:txBody>
      </p:sp>
      <p:pic>
        <p:nvPicPr>
          <p:cNvPr id="3074" name="Picture 2" descr="F:\2018\Емоційне вигорання\фото2\Кристина Маслач.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394725"/>
            <a:ext cx="3144098" cy="31440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52637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783633" y="383200"/>
            <a:ext cx="7329251" cy="584775"/>
          </a:xfrm>
          <a:prstGeom prst="rect">
            <a:avLst/>
          </a:prstGeom>
        </p:spPr>
        <p:txBody>
          <a:bodyPr wrap="none">
            <a:spAutoFit/>
          </a:bodyPr>
          <a:lstStyle/>
          <a:p>
            <a:r>
              <a:rPr lang="ru-RU" sz="3200" b="1" dirty="0" err="1">
                <a:solidFill>
                  <a:srgbClr val="0070C0"/>
                </a:solidFill>
                <a:latin typeface="Bookman Old Style" pitchFamily="18" charset="0"/>
              </a:rPr>
              <a:t>Стадії</a:t>
            </a:r>
            <a:r>
              <a:rPr lang="ru-RU" sz="3200" b="1" dirty="0">
                <a:solidFill>
                  <a:srgbClr val="0070C0"/>
                </a:solidFill>
                <a:latin typeface="Bookman Old Style" pitchFamily="18" charset="0"/>
              </a:rPr>
              <a:t> </a:t>
            </a:r>
            <a:r>
              <a:rPr lang="ru-RU" sz="3200" b="1" dirty="0" err="1">
                <a:solidFill>
                  <a:srgbClr val="0070C0"/>
                </a:solidFill>
                <a:latin typeface="Bookman Old Style" pitchFamily="18" charset="0"/>
              </a:rPr>
              <a:t>професійного</a:t>
            </a:r>
            <a:r>
              <a:rPr lang="ru-RU" sz="3200" b="1" dirty="0">
                <a:solidFill>
                  <a:srgbClr val="0070C0"/>
                </a:solidFill>
                <a:latin typeface="Bookman Old Style" pitchFamily="18" charset="0"/>
              </a:rPr>
              <a:t> </a:t>
            </a:r>
            <a:r>
              <a:rPr lang="ru-RU" sz="3200" b="1" dirty="0" err="1">
                <a:solidFill>
                  <a:srgbClr val="0070C0"/>
                </a:solidFill>
                <a:latin typeface="Bookman Old Style" pitchFamily="18" charset="0"/>
              </a:rPr>
              <a:t>вигоряння</a:t>
            </a:r>
            <a:endParaRPr lang="ru-RU" sz="3200" b="1" dirty="0">
              <a:solidFill>
                <a:srgbClr val="0070C0"/>
              </a:solidFill>
              <a:latin typeface="Bookman Old Style" pitchFamily="18" charset="0"/>
            </a:endParaRPr>
          </a:p>
        </p:txBody>
      </p:sp>
      <p:sp>
        <p:nvSpPr>
          <p:cNvPr id="3" name="Прямоугольник 2"/>
          <p:cNvSpPr/>
          <p:nvPr/>
        </p:nvSpPr>
        <p:spPr>
          <a:xfrm>
            <a:off x="1847528" y="1166844"/>
            <a:ext cx="8496944" cy="4401205"/>
          </a:xfrm>
          <a:prstGeom prst="rect">
            <a:avLst/>
          </a:prstGeom>
        </p:spPr>
        <p:txBody>
          <a:bodyPr wrap="square">
            <a:spAutoFit/>
          </a:bodyPr>
          <a:lstStyle/>
          <a:p>
            <a:r>
              <a:rPr lang="ru-RU" sz="2800" i="1" u="sng" dirty="0">
                <a:solidFill>
                  <a:srgbClr val="660066"/>
                </a:solidFill>
              </a:rPr>
              <a:t>ПЕРША СТАДІЯ: </a:t>
            </a:r>
            <a:r>
              <a:rPr lang="ru-RU" sz="2800" dirty="0"/>
              <a:t>	</a:t>
            </a:r>
          </a:p>
          <a:p>
            <a:pPr marL="457200" indent="-457200">
              <a:buFont typeface="Wingdings" pitchFamily="2" charset="2"/>
              <a:buChar char="ü"/>
            </a:pPr>
            <a:r>
              <a:rPr lang="ru-RU" sz="2800" dirty="0" err="1"/>
              <a:t>починається</a:t>
            </a:r>
            <a:r>
              <a:rPr lang="ru-RU" sz="2800" dirty="0"/>
              <a:t> </a:t>
            </a:r>
            <a:r>
              <a:rPr lang="ru-RU" sz="2800" dirty="0" err="1"/>
              <a:t>приглушення</a:t>
            </a:r>
            <a:r>
              <a:rPr lang="ru-RU" sz="2800" dirty="0"/>
              <a:t> </a:t>
            </a:r>
            <a:r>
              <a:rPr lang="ru-RU" sz="2800" dirty="0" err="1"/>
              <a:t>емоцій</a:t>
            </a:r>
            <a:r>
              <a:rPr lang="ru-RU" sz="2800" dirty="0"/>
              <a:t>, </a:t>
            </a:r>
            <a:r>
              <a:rPr lang="ru-RU" sz="2800" dirty="0" err="1"/>
              <a:t>згладжування</a:t>
            </a:r>
            <a:r>
              <a:rPr lang="ru-RU" sz="2800" dirty="0"/>
              <a:t> </a:t>
            </a:r>
            <a:r>
              <a:rPr lang="ru-RU" sz="2800" dirty="0" err="1"/>
              <a:t>гостроти</a:t>
            </a:r>
            <a:r>
              <a:rPr lang="ru-RU" sz="2800" dirty="0"/>
              <a:t> </a:t>
            </a:r>
            <a:r>
              <a:rPr lang="ru-RU" sz="2800" dirty="0" err="1"/>
              <a:t>відчуттів</a:t>
            </a:r>
            <a:r>
              <a:rPr lang="ru-RU" sz="2800" dirty="0"/>
              <a:t> і </a:t>
            </a:r>
            <a:r>
              <a:rPr lang="ru-RU" sz="2800" dirty="0" err="1"/>
              <a:t>свіжості</a:t>
            </a:r>
            <a:r>
              <a:rPr lang="ru-RU" sz="2800" dirty="0"/>
              <a:t> </a:t>
            </a:r>
            <a:r>
              <a:rPr lang="ru-RU" sz="2800" dirty="0" err="1"/>
              <a:t>переживань</a:t>
            </a:r>
            <a:r>
              <a:rPr lang="ru-RU" sz="2800" dirty="0"/>
              <a:t>; </a:t>
            </a:r>
            <a:r>
              <a:rPr lang="ru-RU" sz="2800" dirty="0" err="1"/>
              <a:t>людина</a:t>
            </a:r>
            <a:r>
              <a:rPr lang="ru-RU" sz="2800" dirty="0"/>
              <a:t> </a:t>
            </a:r>
            <a:r>
              <a:rPr lang="ru-RU" sz="2800" dirty="0" err="1"/>
              <a:t>несподівано</a:t>
            </a:r>
            <a:r>
              <a:rPr lang="ru-RU" sz="2800" dirty="0"/>
              <a:t> </a:t>
            </a:r>
            <a:r>
              <a:rPr lang="ru-RU" sz="2800" dirty="0" err="1"/>
              <a:t>зауважує</a:t>
            </a:r>
            <a:r>
              <a:rPr lang="ru-RU" sz="2800" dirty="0"/>
              <a:t>: </a:t>
            </a:r>
            <a:r>
              <a:rPr lang="ru-RU" sz="2800" dirty="0" err="1"/>
              <a:t>начебто</a:t>
            </a:r>
            <a:r>
              <a:rPr lang="ru-RU" sz="2800" dirty="0"/>
              <a:t> все </a:t>
            </a:r>
            <a:r>
              <a:rPr lang="ru-RU" sz="2800" dirty="0" err="1"/>
              <a:t>поки</a:t>
            </a:r>
            <a:r>
              <a:rPr lang="ru-RU" sz="2800" dirty="0"/>
              <a:t> нормально, але... </a:t>
            </a:r>
            <a:r>
              <a:rPr lang="ru-RU" sz="2800" dirty="0" err="1"/>
              <a:t>сумно</a:t>
            </a:r>
            <a:r>
              <a:rPr lang="ru-RU" sz="2800" dirty="0"/>
              <a:t> і </a:t>
            </a:r>
            <a:r>
              <a:rPr lang="ru-RU" sz="2800" dirty="0" err="1"/>
              <a:t>порожньо</a:t>
            </a:r>
            <a:r>
              <a:rPr lang="ru-RU" sz="2800" dirty="0"/>
              <a:t> на </a:t>
            </a:r>
            <a:r>
              <a:rPr lang="ru-RU" sz="2800" dirty="0" err="1"/>
              <a:t>душі</a:t>
            </a:r>
            <a:r>
              <a:rPr lang="ru-RU" sz="2800" dirty="0"/>
              <a:t>; </a:t>
            </a:r>
            <a:endParaRPr lang="ru-RU" sz="2800" dirty="0"/>
          </a:p>
          <a:p>
            <a:pPr marL="457200" indent="-457200">
              <a:buFont typeface="Wingdings" pitchFamily="2" charset="2"/>
              <a:buChar char="ü"/>
            </a:pPr>
            <a:r>
              <a:rPr lang="ru-RU" sz="2800" dirty="0" err="1"/>
              <a:t>зникають</a:t>
            </a:r>
            <a:r>
              <a:rPr lang="ru-RU" sz="2800" dirty="0"/>
              <a:t> </a:t>
            </a:r>
            <a:r>
              <a:rPr lang="ru-RU" sz="2800" dirty="0" err="1"/>
              <a:t>позитивні</a:t>
            </a:r>
            <a:r>
              <a:rPr lang="ru-RU" sz="2800" dirty="0"/>
              <a:t> </a:t>
            </a:r>
            <a:r>
              <a:rPr lang="ru-RU" sz="2800" dirty="0" err="1"/>
              <a:t>емоції</a:t>
            </a:r>
            <a:r>
              <a:rPr lang="ru-RU" sz="2800" dirty="0"/>
              <a:t>, </a:t>
            </a:r>
            <a:r>
              <a:rPr lang="ru-RU" sz="2800" dirty="0" err="1"/>
              <a:t>з'являється</a:t>
            </a:r>
            <a:r>
              <a:rPr lang="ru-RU" sz="2800" dirty="0"/>
              <a:t> </a:t>
            </a:r>
            <a:r>
              <a:rPr lang="ru-RU" sz="2800" dirty="0" err="1"/>
              <a:t>деяка</a:t>
            </a:r>
            <a:r>
              <a:rPr lang="ru-RU" sz="2800" dirty="0"/>
              <a:t> </a:t>
            </a:r>
            <a:r>
              <a:rPr lang="ru-RU" sz="2800" dirty="0" err="1"/>
              <a:t>відстороненість</a:t>
            </a:r>
            <a:r>
              <a:rPr lang="ru-RU" sz="2800" dirty="0"/>
              <a:t> у </a:t>
            </a:r>
            <a:r>
              <a:rPr lang="ru-RU" sz="2800" dirty="0" err="1"/>
              <a:t>стосунках</a:t>
            </a:r>
            <a:r>
              <a:rPr lang="ru-RU" sz="2800" dirty="0"/>
              <a:t> з членами </a:t>
            </a:r>
            <a:r>
              <a:rPr lang="ru-RU" sz="2800" dirty="0" err="1"/>
              <a:t>сім'ї</a:t>
            </a:r>
            <a:r>
              <a:rPr lang="ru-RU" sz="2800" dirty="0"/>
              <a:t>;</a:t>
            </a:r>
          </a:p>
          <a:p>
            <a:pPr marL="457200" indent="-457200">
              <a:buFont typeface="Wingdings" pitchFamily="2" charset="2"/>
              <a:buChar char="ü"/>
            </a:pPr>
            <a:r>
              <a:rPr lang="ru-RU" sz="2800" dirty="0" err="1"/>
              <a:t>виникає</a:t>
            </a:r>
            <a:r>
              <a:rPr lang="ru-RU" sz="2800" dirty="0"/>
              <a:t> </a:t>
            </a:r>
            <a:r>
              <a:rPr lang="ru-RU" sz="2800" dirty="0"/>
              <a:t>стан </a:t>
            </a:r>
            <a:r>
              <a:rPr lang="ru-RU" sz="2800" dirty="0" err="1"/>
              <a:t>тривоги</a:t>
            </a:r>
            <a:r>
              <a:rPr lang="ru-RU" sz="2800" dirty="0"/>
              <a:t>, </a:t>
            </a:r>
            <a:r>
              <a:rPr lang="ru-RU" sz="2800" dirty="0" err="1"/>
              <a:t>незадоволеності</a:t>
            </a:r>
            <a:r>
              <a:rPr lang="ru-RU" sz="2800" dirty="0"/>
              <a:t>; </a:t>
            </a:r>
            <a:r>
              <a:rPr lang="ru-RU" sz="2800" dirty="0" err="1"/>
              <a:t>повертаючись</a:t>
            </a:r>
            <a:r>
              <a:rPr lang="ru-RU" sz="2800" dirty="0"/>
              <a:t> </a:t>
            </a:r>
            <a:r>
              <a:rPr lang="ru-RU" sz="2800" dirty="0" err="1"/>
              <a:t>додому</a:t>
            </a:r>
            <a:r>
              <a:rPr lang="ru-RU" sz="2800" dirty="0"/>
              <a:t>, все </a:t>
            </a:r>
            <a:r>
              <a:rPr lang="ru-RU" sz="2800" dirty="0" err="1"/>
              <a:t>частіше</a:t>
            </a:r>
            <a:r>
              <a:rPr lang="ru-RU" sz="2800" dirty="0"/>
              <a:t> </a:t>
            </a:r>
            <a:r>
              <a:rPr lang="ru-RU" sz="2800" dirty="0" err="1"/>
              <a:t>хочеться</a:t>
            </a:r>
            <a:r>
              <a:rPr lang="ru-RU" sz="2800" dirty="0"/>
              <a:t> </a:t>
            </a:r>
            <a:r>
              <a:rPr lang="ru-RU" sz="2800" dirty="0" err="1"/>
              <a:t>сказати</a:t>
            </a:r>
            <a:r>
              <a:rPr lang="ru-RU" sz="2800" dirty="0"/>
              <a:t>: </a:t>
            </a:r>
            <a:r>
              <a:rPr lang="ru-RU" sz="2800" dirty="0" err="1"/>
              <a:t>Відчепіться</a:t>
            </a:r>
            <a:r>
              <a:rPr lang="ru-RU" sz="2800" dirty="0"/>
              <a:t>!" </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9556" y="320894"/>
            <a:ext cx="1064076" cy="709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3264" y="5530703"/>
            <a:ext cx="1510910" cy="1133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00155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919536" y="332657"/>
            <a:ext cx="8352928" cy="5262979"/>
          </a:xfrm>
          <a:prstGeom prst="rect">
            <a:avLst/>
          </a:prstGeom>
        </p:spPr>
        <p:txBody>
          <a:bodyPr wrap="square">
            <a:spAutoFit/>
          </a:bodyPr>
          <a:lstStyle/>
          <a:p>
            <a:r>
              <a:rPr lang="ru-RU" sz="2800" i="1" u="sng" dirty="0">
                <a:solidFill>
                  <a:srgbClr val="660066"/>
                </a:solidFill>
              </a:rPr>
              <a:t>ДРУГА СТАДІЯ: </a:t>
            </a:r>
          </a:p>
          <a:p>
            <a:r>
              <a:rPr lang="ru-RU" sz="2800" dirty="0"/>
              <a:t>	</a:t>
            </a:r>
          </a:p>
          <a:p>
            <a:pPr marL="457200" indent="-457200">
              <a:buFont typeface="Wingdings" pitchFamily="2" charset="2"/>
              <a:buChar char="ü"/>
            </a:pPr>
            <a:r>
              <a:rPr lang="ru-RU" sz="2800" dirty="0" err="1"/>
              <a:t>виникають</a:t>
            </a:r>
            <a:r>
              <a:rPr lang="ru-RU" sz="2800" dirty="0"/>
              <a:t> </a:t>
            </a:r>
            <a:r>
              <a:rPr lang="ru-RU" sz="2800" dirty="0" err="1"/>
              <a:t>непорозуміння</a:t>
            </a:r>
            <a:r>
              <a:rPr lang="ru-RU" sz="2800" dirty="0"/>
              <a:t> з </a:t>
            </a:r>
            <a:r>
              <a:rPr lang="ru-RU" sz="2800" dirty="0" err="1"/>
              <a:t>учнями</a:t>
            </a:r>
            <a:r>
              <a:rPr lang="ru-RU" sz="2800" dirty="0"/>
              <a:t>, </a:t>
            </a:r>
            <a:r>
              <a:rPr lang="ru-RU" sz="2800" dirty="0" err="1"/>
              <a:t>професіонал</a:t>
            </a:r>
            <a:r>
              <a:rPr lang="ru-RU" sz="2800" dirty="0"/>
              <a:t> в </a:t>
            </a:r>
            <a:r>
              <a:rPr lang="ru-RU" sz="2800" dirty="0" err="1"/>
              <a:t>колі</a:t>
            </a:r>
            <a:r>
              <a:rPr lang="ru-RU" sz="2800" dirty="0"/>
              <a:t> </a:t>
            </a:r>
            <a:r>
              <a:rPr lang="ru-RU" sz="2800" dirty="0" err="1"/>
              <a:t>своїх</a:t>
            </a:r>
            <a:r>
              <a:rPr lang="ru-RU" sz="2800" dirty="0"/>
              <a:t> </a:t>
            </a:r>
            <a:r>
              <a:rPr lang="ru-RU" sz="2800" dirty="0" err="1"/>
              <a:t>колег</a:t>
            </a:r>
            <a:r>
              <a:rPr lang="ru-RU" sz="2800" dirty="0"/>
              <a:t> </a:t>
            </a:r>
            <a:r>
              <a:rPr lang="ru-RU" sz="2800" dirty="0" err="1"/>
              <a:t>починає</a:t>
            </a:r>
            <a:r>
              <a:rPr lang="ru-RU" sz="2800" dirty="0"/>
              <a:t> </a:t>
            </a:r>
            <a:r>
              <a:rPr lang="ru-RU" sz="2800" dirty="0" err="1"/>
              <a:t>зневажливо</a:t>
            </a:r>
            <a:r>
              <a:rPr lang="ru-RU" sz="2800" dirty="0"/>
              <a:t> </a:t>
            </a:r>
            <a:r>
              <a:rPr lang="ru-RU" sz="2800" dirty="0" err="1"/>
              <a:t>говорити</a:t>
            </a:r>
            <a:r>
              <a:rPr lang="ru-RU" sz="2800" dirty="0"/>
              <a:t> про </a:t>
            </a:r>
            <a:r>
              <a:rPr lang="ru-RU" sz="2800" dirty="0" err="1"/>
              <a:t>деяких</a:t>
            </a:r>
            <a:r>
              <a:rPr lang="ru-RU" sz="2800" dirty="0"/>
              <a:t> з них; 	</a:t>
            </a:r>
          </a:p>
          <a:p>
            <a:pPr marL="457200" indent="-457200">
              <a:buFont typeface="Wingdings" pitchFamily="2" charset="2"/>
              <a:buChar char="ü"/>
            </a:pPr>
            <a:r>
              <a:rPr lang="ru-RU" sz="2800" dirty="0"/>
              <a:t>неприязнь </a:t>
            </a:r>
            <a:r>
              <a:rPr lang="ru-RU" sz="2800" dirty="0" err="1"/>
              <a:t>поступово</a:t>
            </a:r>
            <a:r>
              <a:rPr lang="ru-RU" sz="2800" dirty="0"/>
              <a:t> </a:t>
            </a:r>
            <a:r>
              <a:rPr lang="ru-RU" sz="2800" dirty="0" err="1"/>
              <a:t>починає</a:t>
            </a:r>
            <a:r>
              <a:rPr lang="ru-RU" sz="2800" dirty="0"/>
              <a:t> </a:t>
            </a:r>
            <a:r>
              <a:rPr lang="ru-RU" sz="2800" dirty="0" err="1"/>
              <a:t>проявлятися</a:t>
            </a:r>
            <a:r>
              <a:rPr lang="ru-RU" sz="2800" dirty="0"/>
              <a:t> в </a:t>
            </a:r>
            <a:r>
              <a:rPr lang="ru-RU" sz="2800" dirty="0" err="1"/>
              <a:t>присутності</a:t>
            </a:r>
            <a:r>
              <a:rPr lang="ru-RU" sz="2800" dirty="0"/>
              <a:t> </a:t>
            </a:r>
            <a:r>
              <a:rPr lang="ru-RU" sz="2800" dirty="0" err="1"/>
              <a:t>учнів</a:t>
            </a:r>
            <a:r>
              <a:rPr lang="ru-RU" sz="2800" dirty="0"/>
              <a:t> - </a:t>
            </a:r>
            <a:r>
              <a:rPr lang="ru-RU" sz="2800" dirty="0" err="1"/>
              <a:t>спочатку</a:t>
            </a:r>
            <a:r>
              <a:rPr lang="ru-RU" sz="2800" dirty="0"/>
              <a:t> </a:t>
            </a:r>
            <a:r>
              <a:rPr lang="ru-RU" sz="2800" dirty="0" err="1"/>
              <a:t>це</a:t>
            </a:r>
            <a:r>
              <a:rPr lang="ru-RU" sz="2800" dirty="0"/>
              <a:t> </a:t>
            </a:r>
            <a:r>
              <a:rPr lang="ru-RU" sz="2800" dirty="0" err="1"/>
              <a:t>ледве</a:t>
            </a:r>
            <a:r>
              <a:rPr lang="ru-RU" sz="2800" dirty="0"/>
              <a:t> </a:t>
            </a:r>
            <a:r>
              <a:rPr lang="ru-RU" sz="2800" dirty="0" err="1"/>
              <a:t>стримувана</a:t>
            </a:r>
            <a:r>
              <a:rPr lang="ru-RU" sz="2800" dirty="0"/>
              <a:t> </a:t>
            </a:r>
            <a:r>
              <a:rPr lang="ru-RU" sz="2800" dirty="0" err="1"/>
              <a:t>антипатія</a:t>
            </a:r>
            <a:r>
              <a:rPr lang="ru-RU" sz="2800" dirty="0"/>
              <a:t>, а </a:t>
            </a:r>
            <a:r>
              <a:rPr lang="ru-RU" sz="2800" dirty="0" err="1"/>
              <a:t>потім</a:t>
            </a:r>
            <a:r>
              <a:rPr lang="ru-RU" sz="2800" dirty="0"/>
              <a:t> і </a:t>
            </a:r>
            <a:r>
              <a:rPr lang="ru-RU" sz="2800" dirty="0" err="1"/>
              <a:t>спалах</a:t>
            </a:r>
            <a:r>
              <a:rPr lang="ru-RU" sz="2800" dirty="0"/>
              <a:t> </a:t>
            </a:r>
            <a:r>
              <a:rPr lang="ru-RU" sz="2800" dirty="0" err="1"/>
              <a:t>роздратування</a:t>
            </a:r>
            <a:r>
              <a:rPr lang="ru-RU" sz="2800" dirty="0"/>
              <a:t>. </a:t>
            </a:r>
            <a:r>
              <a:rPr lang="ru-RU" sz="2800" dirty="0" err="1"/>
              <a:t>Подібна</a:t>
            </a:r>
            <a:r>
              <a:rPr lang="ru-RU" sz="2800" dirty="0"/>
              <a:t> </a:t>
            </a:r>
            <a:r>
              <a:rPr lang="ru-RU" sz="2800" dirty="0" err="1"/>
              <a:t>поведінка</a:t>
            </a:r>
            <a:r>
              <a:rPr lang="ru-RU" sz="2800" dirty="0"/>
              <a:t> </a:t>
            </a:r>
            <a:r>
              <a:rPr lang="ru-RU" sz="2800" dirty="0" err="1"/>
              <a:t>професіонала</a:t>
            </a:r>
            <a:r>
              <a:rPr lang="ru-RU" sz="2800" dirty="0"/>
              <a:t> - </a:t>
            </a:r>
            <a:r>
              <a:rPr lang="ru-RU" sz="2800" dirty="0" err="1"/>
              <a:t>це</a:t>
            </a:r>
            <a:r>
              <a:rPr lang="ru-RU" sz="2800" dirty="0"/>
              <a:t> </a:t>
            </a:r>
            <a:r>
              <a:rPr lang="ru-RU" sz="2800" dirty="0" err="1"/>
              <a:t>неусвідомлений</a:t>
            </a:r>
            <a:r>
              <a:rPr lang="ru-RU" sz="2800" dirty="0"/>
              <a:t> ним самим </a:t>
            </a:r>
            <a:r>
              <a:rPr lang="ru-RU" sz="2800" dirty="0" err="1"/>
              <a:t>прояв</a:t>
            </a:r>
            <a:r>
              <a:rPr lang="ru-RU" sz="2800" dirty="0"/>
              <a:t> </a:t>
            </a:r>
            <a:r>
              <a:rPr lang="ru-RU" sz="2800" dirty="0" err="1"/>
              <a:t>почуття</a:t>
            </a:r>
            <a:r>
              <a:rPr lang="ru-RU" sz="2800" dirty="0"/>
              <a:t> </a:t>
            </a:r>
            <a:r>
              <a:rPr lang="ru-RU" sz="2800" dirty="0" err="1"/>
              <a:t>самозбереження</a:t>
            </a:r>
            <a:r>
              <a:rPr lang="ru-RU" sz="2800" dirty="0"/>
              <a:t> при </a:t>
            </a:r>
            <a:r>
              <a:rPr lang="ru-RU" sz="2800" dirty="0" err="1"/>
              <a:t>спілкуванні</a:t>
            </a:r>
            <a:r>
              <a:rPr lang="ru-RU" sz="2800" dirty="0"/>
              <a:t>, </a:t>
            </a:r>
            <a:r>
              <a:rPr lang="ru-RU" sz="2800" dirty="0" err="1"/>
              <a:t>що</a:t>
            </a:r>
            <a:r>
              <a:rPr lang="ru-RU" sz="2800" dirty="0"/>
              <a:t> </a:t>
            </a:r>
            <a:r>
              <a:rPr lang="ru-RU" sz="2800" dirty="0" err="1"/>
              <a:t>перевищує</a:t>
            </a:r>
            <a:r>
              <a:rPr lang="ru-RU" sz="2800" dirty="0"/>
              <a:t> </a:t>
            </a:r>
            <a:r>
              <a:rPr lang="ru-RU" sz="2800" dirty="0" err="1"/>
              <a:t>безпечний</a:t>
            </a:r>
            <a:r>
              <a:rPr lang="ru-RU" sz="2800" dirty="0"/>
              <a:t> для </a:t>
            </a:r>
            <a:r>
              <a:rPr lang="ru-RU" sz="2800" dirty="0" err="1"/>
              <a:t>організму</a:t>
            </a:r>
            <a:r>
              <a:rPr lang="ru-RU" sz="2800" dirty="0"/>
              <a:t> </a:t>
            </a:r>
            <a:r>
              <a:rPr lang="ru-RU" sz="2800" dirty="0" err="1"/>
              <a:t>рівень</a:t>
            </a:r>
            <a:r>
              <a:rPr lang="ru-RU" sz="2800" dirty="0"/>
              <a:t>. </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8289" y="260648"/>
            <a:ext cx="1729011" cy="1444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8008" y="5661248"/>
            <a:ext cx="1224136" cy="1019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46135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991544" y="404664"/>
            <a:ext cx="8208912" cy="3970318"/>
          </a:xfrm>
          <a:prstGeom prst="rect">
            <a:avLst/>
          </a:prstGeom>
        </p:spPr>
        <p:txBody>
          <a:bodyPr wrap="square">
            <a:spAutoFit/>
          </a:bodyPr>
          <a:lstStyle/>
          <a:p>
            <a:r>
              <a:rPr lang="ru-RU" sz="2800" i="1" u="sng" dirty="0">
                <a:solidFill>
                  <a:srgbClr val="660066"/>
                </a:solidFill>
              </a:rPr>
              <a:t>ТРЕТЯ СТАДІЯ: </a:t>
            </a:r>
          </a:p>
          <a:p>
            <a:endParaRPr lang="ru-RU" sz="2800" dirty="0"/>
          </a:p>
          <a:p>
            <a:pPr marL="457200" indent="-457200">
              <a:buFont typeface="Wingdings" pitchFamily="2" charset="2"/>
              <a:buChar char="ü"/>
            </a:pPr>
            <a:r>
              <a:rPr lang="ru-RU" sz="2800" dirty="0" err="1"/>
              <a:t>притупляються</a:t>
            </a:r>
            <a:r>
              <a:rPr lang="ru-RU" sz="2800" dirty="0"/>
              <a:t> </a:t>
            </a:r>
            <a:r>
              <a:rPr lang="ru-RU" sz="2800" dirty="0" err="1"/>
              <a:t>уявлення</a:t>
            </a:r>
            <a:r>
              <a:rPr lang="ru-RU" sz="2800" dirty="0"/>
              <a:t> про </a:t>
            </a:r>
            <a:r>
              <a:rPr lang="ru-RU" sz="2800" dirty="0" err="1"/>
              <a:t>цінності</a:t>
            </a:r>
            <a:r>
              <a:rPr lang="ru-RU" sz="2800" dirty="0"/>
              <a:t> </a:t>
            </a:r>
            <a:r>
              <a:rPr lang="ru-RU" sz="2800" dirty="0" err="1"/>
              <a:t>життя</a:t>
            </a:r>
            <a:r>
              <a:rPr lang="ru-RU" sz="2800" dirty="0"/>
              <a:t>, </a:t>
            </a:r>
            <a:r>
              <a:rPr lang="ru-RU" sz="2800" dirty="0" err="1"/>
              <a:t>емоційне</a:t>
            </a:r>
            <a:r>
              <a:rPr lang="ru-RU" sz="2800" dirty="0"/>
              <a:t> </a:t>
            </a:r>
            <a:r>
              <a:rPr lang="ru-RU" sz="2800" dirty="0" err="1"/>
              <a:t>ставлення</a:t>
            </a:r>
            <a:r>
              <a:rPr lang="ru-RU" sz="2800" dirty="0"/>
              <a:t> до </a:t>
            </a:r>
            <a:r>
              <a:rPr lang="ru-RU" sz="2800" dirty="0" err="1"/>
              <a:t>світу</a:t>
            </a:r>
            <a:r>
              <a:rPr lang="ru-RU" sz="2800" dirty="0"/>
              <a:t> </a:t>
            </a:r>
            <a:r>
              <a:rPr lang="ru-RU" sz="2800" dirty="0" err="1"/>
              <a:t>стає</a:t>
            </a:r>
            <a:r>
              <a:rPr lang="ru-RU" sz="2800" dirty="0"/>
              <a:t> "</a:t>
            </a:r>
            <a:r>
              <a:rPr lang="ru-RU" sz="2800" dirty="0" err="1"/>
              <a:t>пласким</a:t>
            </a:r>
            <a:r>
              <a:rPr lang="ru-RU" sz="2800" dirty="0"/>
              <a:t>", </a:t>
            </a:r>
            <a:r>
              <a:rPr lang="ru-RU" sz="2800" dirty="0" err="1"/>
              <a:t>людина</a:t>
            </a:r>
            <a:r>
              <a:rPr lang="ru-RU" sz="2800" dirty="0"/>
              <a:t> </a:t>
            </a:r>
            <a:r>
              <a:rPr lang="ru-RU" sz="2800" dirty="0" err="1"/>
              <a:t>стає</a:t>
            </a:r>
            <a:r>
              <a:rPr lang="ru-RU" sz="2800" dirty="0"/>
              <a:t> </a:t>
            </a:r>
            <a:r>
              <a:rPr lang="ru-RU" sz="2800" dirty="0" err="1"/>
              <a:t>небезпечно</a:t>
            </a:r>
            <a:r>
              <a:rPr lang="ru-RU" sz="2800" dirty="0"/>
              <a:t> </a:t>
            </a:r>
            <a:r>
              <a:rPr lang="ru-RU" sz="2800" dirty="0" err="1"/>
              <a:t>байдужою</a:t>
            </a:r>
            <a:r>
              <a:rPr lang="ru-RU" sz="2800" dirty="0"/>
              <a:t> до </a:t>
            </a:r>
            <a:r>
              <a:rPr lang="ru-RU" sz="2800" dirty="0" err="1"/>
              <a:t>всього</a:t>
            </a:r>
            <a:r>
              <a:rPr lang="ru-RU" sz="2800" dirty="0"/>
              <a:t>, </a:t>
            </a:r>
            <a:r>
              <a:rPr lang="ru-RU" sz="2800" dirty="0" err="1"/>
              <a:t>навіть</a:t>
            </a:r>
            <a:r>
              <a:rPr lang="ru-RU" sz="2800" dirty="0"/>
              <a:t> до </a:t>
            </a:r>
            <a:r>
              <a:rPr lang="ru-RU" sz="2800" dirty="0" err="1"/>
              <a:t>власного</a:t>
            </a:r>
            <a:r>
              <a:rPr lang="ru-RU" sz="2800" dirty="0"/>
              <a:t> </a:t>
            </a:r>
            <a:r>
              <a:rPr lang="ru-RU" sz="2800" dirty="0" err="1"/>
              <a:t>життя</a:t>
            </a:r>
            <a:r>
              <a:rPr lang="ru-RU" sz="2800" dirty="0"/>
              <a:t>; </a:t>
            </a:r>
          </a:p>
          <a:p>
            <a:pPr marL="457200" indent="-457200">
              <a:buFont typeface="Wingdings" pitchFamily="2" charset="2"/>
              <a:buChar char="ü"/>
            </a:pPr>
            <a:r>
              <a:rPr lang="ru-RU" sz="2800" dirty="0" err="1"/>
              <a:t>така</a:t>
            </a:r>
            <a:r>
              <a:rPr lang="ru-RU" sz="2800" dirty="0"/>
              <a:t> </a:t>
            </a:r>
            <a:r>
              <a:rPr lang="ru-RU" sz="2800" dirty="0" err="1"/>
              <a:t>людина</a:t>
            </a:r>
            <a:r>
              <a:rPr lang="ru-RU" sz="2800" dirty="0"/>
              <a:t> за </a:t>
            </a:r>
            <a:r>
              <a:rPr lang="ru-RU" sz="2800" dirty="0" err="1"/>
              <a:t>звичкою</a:t>
            </a:r>
            <a:r>
              <a:rPr lang="ru-RU" sz="2800" dirty="0"/>
              <a:t> </a:t>
            </a:r>
            <a:r>
              <a:rPr lang="ru-RU" sz="2800" dirty="0" err="1"/>
              <a:t>може</a:t>
            </a:r>
            <a:r>
              <a:rPr lang="ru-RU" sz="2800" dirty="0"/>
              <a:t> </a:t>
            </a:r>
            <a:r>
              <a:rPr lang="ru-RU" sz="2800" dirty="0" err="1"/>
              <a:t>ще</a:t>
            </a:r>
            <a:r>
              <a:rPr lang="ru-RU" sz="2800" dirty="0"/>
              <a:t> </a:t>
            </a:r>
            <a:r>
              <a:rPr lang="ru-RU" sz="2800" dirty="0" err="1"/>
              <a:t>зберігати</a:t>
            </a:r>
            <a:r>
              <a:rPr lang="ru-RU" sz="2800" dirty="0"/>
              <a:t> </a:t>
            </a:r>
            <a:r>
              <a:rPr lang="ru-RU" sz="2800" dirty="0" err="1"/>
              <a:t>зовнішню</a:t>
            </a:r>
            <a:r>
              <a:rPr lang="ru-RU" sz="2800" dirty="0"/>
              <a:t> </a:t>
            </a:r>
            <a:r>
              <a:rPr lang="ru-RU" sz="2800" dirty="0" err="1"/>
              <a:t>респектабельність</a:t>
            </a:r>
            <a:r>
              <a:rPr lang="ru-RU" sz="2800" dirty="0"/>
              <a:t>, але </a:t>
            </a:r>
            <a:r>
              <a:rPr lang="ru-RU" sz="2800" dirty="0" err="1"/>
              <a:t>його</a:t>
            </a:r>
            <a:r>
              <a:rPr lang="ru-RU" sz="2800" dirty="0"/>
              <a:t> </a:t>
            </a:r>
            <a:r>
              <a:rPr lang="ru-RU" sz="2800" dirty="0" err="1"/>
              <a:t>очі</a:t>
            </a:r>
            <a:r>
              <a:rPr lang="ru-RU" sz="2800" dirty="0"/>
              <a:t> </a:t>
            </a:r>
            <a:r>
              <a:rPr lang="ru-RU" sz="2800" dirty="0" err="1"/>
              <a:t>втрачають</a:t>
            </a:r>
            <a:r>
              <a:rPr lang="ru-RU" sz="2800" dirty="0"/>
              <a:t> </a:t>
            </a:r>
            <a:r>
              <a:rPr lang="ru-RU" sz="2800" dirty="0" err="1"/>
              <a:t>блиск</a:t>
            </a:r>
            <a:r>
              <a:rPr lang="ru-RU" sz="2800" dirty="0"/>
              <a:t> </a:t>
            </a:r>
            <a:r>
              <a:rPr lang="ru-RU" sz="2800" dirty="0" err="1"/>
              <a:t>інтерес</a:t>
            </a:r>
            <a:r>
              <a:rPr lang="ru-RU" sz="2800" dirty="0"/>
              <a:t> до </a:t>
            </a:r>
            <a:r>
              <a:rPr lang="ru-RU" sz="2800" dirty="0" err="1"/>
              <a:t>всього</a:t>
            </a:r>
            <a:r>
              <a:rPr lang="ru-RU" sz="2800" dirty="0"/>
              <a:t>. </a:t>
            </a: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16281" y="4581128"/>
            <a:ext cx="1689715" cy="168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01757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87688" y="344850"/>
            <a:ext cx="5947462" cy="1077218"/>
          </a:xfrm>
          <a:prstGeom prst="rect">
            <a:avLst/>
          </a:prstGeom>
        </p:spPr>
        <p:txBody>
          <a:bodyPr wrap="none">
            <a:spAutoFit/>
          </a:bodyPr>
          <a:lstStyle/>
          <a:p>
            <a:pPr algn="ctr"/>
            <a:r>
              <a:rPr lang="ru-RU" sz="3200" b="1" dirty="0">
                <a:solidFill>
                  <a:srgbClr val="0070C0"/>
                </a:solidFill>
                <a:latin typeface="Bookman Old Style" pitchFamily="18" charset="0"/>
              </a:rPr>
              <a:t>Три </a:t>
            </a:r>
            <a:r>
              <a:rPr lang="ru-RU" sz="3200" b="1" dirty="0" err="1">
                <a:solidFill>
                  <a:srgbClr val="0070C0"/>
                </a:solidFill>
                <a:latin typeface="Bookman Old Style" pitchFamily="18" charset="0"/>
              </a:rPr>
              <a:t>аспекти</a:t>
            </a:r>
            <a:r>
              <a:rPr lang="ru-RU" sz="3200" b="1" dirty="0">
                <a:solidFill>
                  <a:srgbClr val="0070C0"/>
                </a:solidFill>
                <a:latin typeface="Bookman Old Style" pitchFamily="18" charset="0"/>
              </a:rPr>
              <a:t> </a:t>
            </a:r>
            <a:endParaRPr lang="ru-RU" sz="3200" b="1" dirty="0">
              <a:solidFill>
                <a:srgbClr val="0070C0"/>
              </a:solidFill>
              <a:latin typeface="Bookman Old Style" pitchFamily="18" charset="0"/>
            </a:endParaRPr>
          </a:p>
          <a:p>
            <a:pPr algn="ctr"/>
            <a:r>
              <a:rPr lang="ru-RU" sz="3200" b="1" dirty="0" err="1">
                <a:solidFill>
                  <a:srgbClr val="0070C0"/>
                </a:solidFill>
                <a:latin typeface="Bookman Old Style" pitchFamily="18" charset="0"/>
              </a:rPr>
              <a:t>професійного</a:t>
            </a:r>
            <a:r>
              <a:rPr lang="ru-RU" sz="3200" b="1" dirty="0">
                <a:solidFill>
                  <a:srgbClr val="0070C0"/>
                </a:solidFill>
                <a:latin typeface="Bookman Old Style" pitchFamily="18" charset="0"/>
              </a:rPr>
              <a:t> </a:t>
            </a:r>
            <a:r>
              <a:rPr lang="ru-RU" sz="3200" b="1" dirty="0" err="1">
                <a:solidFill>
                  <a:srgbClr val="0070C0"/>
                </a:solidFill>
                <a:latin typeface="Bookman Old Style" pitchFamily="18" charset="0"/>
              </a:rPr>
              <a:t>вигоряння</a:t>
            </a:r>
            <a:r>
              <a:rPr lang="ru-RU" sz="3200" b="1" dirty="0">
                <a:solidFill>
                  <a:srgbClr val="0070C0"/>
                </a:solidFill>
                <a:latin typeface="Bookman Old Style" pitchFamily="18" charset="0"/>
              </a:rPr>
              <a:t> </a:t>
            </a:r>
          </a:p>
        </p:txBody>
      </p:sp>
      <p:sp>
        <p:nvSpPr>
          <p:cNvPr id="3" name="Прямоугольник 2"/>
          <p:cNvSpPr/>
          <p:nvPr/>
        </p:nvSpPr>
        <p:spPr>
          <a:xfrm>
            <a:off x="2279576" y="1844824"/>
            <a:ext cx="4572000" cy="523220"/>
          </a:xfrm>
          <a:prstGeom prst="rect">
            <a:avLst/>
          </a:prstGeom>
        </p:spPr>
        <p:txBody>
          <a:bodyPr>
            <a:spAutoFit/>
          </a:bodyPr>
          <a:lstStyle/>
          <a:p>
            <a:r>
              <a:rPr lang="ru-RU" sz="2800" dirty="0"/>
              <a:t>1. </a:t>
            </a:r>
            <a:r>
              <a:rPr lang="ru-RU" sz="2800" dirty="0" err="1"/>
              <a:t>Зниження</a:t>
            </a:r>
            <a:r>
              <a:rPr lang="ru-RU" sz="2800" dirty="0"/>
              <a:t> </a:t>
            </a:r>
            <a:r>
              <a:rPr lang="ru-RU" sz="2800" dirty="0" err="1"/>
              <a:t>самооцінки</a:t>
            </a:r>
            <a:r>
              <a:rPr lang="ru-RU" sz="2800" dirty="0"/>
              <a:t>. </a:t>
            </a:r>
          </a:p>
        </p:txBody>
      </p:sp>
      <p:sp>
        <p:nvSpPr>
          <p:cNvPr id="4" name="Прямоугольник 3"/>
          <p:cNvSpPr/>
          <p:nvPr/>
        </p:nvSpPr>
        <p:spPr>
          <a:xfrm>
            <a:off x="3215680" y="3140968"/>
            <a:ext cx="2296398" cy="523220"/>
          </a:xfrm>
          <a:prstGeom prst="rect">
            <a:avLst/>
          </a:prstGeom>
        </p:spPr>
        <p:txBody>
          <a:bodyPr wrap="none">
            <a:spAutoFit/>
          </a:bodyPr>
          <a:lstStyle/>
          <a:p>
            <a:r>
              <a:rPr lang="ru-RU" sz="2800" dirty="0"/>
              <a:t>2. </a:t>
            </a:r>
            <a:r>
              <a:rPr lang="ru-RU" sz="2800" dirty="0" err="1"/>
              <a:t>Самотність</a:t>
            </a:r>
            <a:r>
              <a:rPr lang="ru-RU" sz="2800" dirty="0"/>
              <a:t>.</a:t>
            </a:r>
          </a:p>
        </p:txBody>
      </p:sp>
      <p:sp>
        <p:nvSpPr>
          <p:cNvPr id="5" name="Прямоугольник 4"/>
          <p:cNvSpPr/>
          <p:nvPr/>
        </p:nvSpPr>
        <p:spPr>
          <a:xfrm>
            <a:off x="3719737" y="4653136"/>
            <a:ext cx="6125523" cy="523220"/>
          </a:xfrm>
          <a:prstGeom prst="rect">
            <a:avLst/>
          </a:prstGeom>
        </p:spPr>
        <p:txBody>
          <a:bodyPr wrap="none">
            <a:spAutoFit/>
          </a:bodyPr>
          <a:lstStyle/>
          <a:p>
            <a:r>
              <a:rPr lang="ru-RU" sz="2800" dirty="0"/>
              <a:t>3. </a:t>
            </a:r>
            <a:r>
              <a:rPr lang="ru-RU" sz="2800" dirty="0" err="1"/>
              <a:t>Емоційне</a:t>
            </a:r>
            <a:r>
              <a:rPr lang="ru-RU" sz="2800" dirty="0"/>
              <a:t> </a:t>
            </a:r>
            <a:r>
              <a:rPr lang="ru-RU" sz="2800" dirty="0" err="1"/>
              <a:t>виснаження</a:t>
            </a:r>
            <a:r>
              <a:rPr lang="ru-RU" sz="2800" dirty="0"/>
              <a:t>, </a:t>
            </a:r>
            <a:r>
              <a:rPr lang="ru-RU" sz="2800" dirty="0" err="1"/>
              <a:t>соматизація</a:t>
            </a:r>
            <a:r>
              <a:rPr lang="ru-RU" sz="2800" dirty="0"/>
              <a:t>. </a:t>
            </a:r>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6161" y="1556793"/>
            <a:ext cx="2292017" cy="2292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513" y="3942869"/>
            <a:ext cx="1857375"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09779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just"/>
            <a:r>
              <a:rPr lang="uk-UA" sz="2800" b="1" dirty="0" smtClean="0"/>
              <a:t>Синдром хронічної втоми (СХВ) — це більш складний медичний діагноз, що включає тривалу та виснажливу втому, що триває тижнями, яка не зникає навіть після відпочинку. </a:t>
            </a:r>
            <a:endParaRPr lang="uk-UA" sz="2800" b="1" dirty="0"/>
          </a:p>
        </p:txBody>
      </p:sp>
      <p:sp>
        <p:nvSpPr>
          <p:cNvPr id="3" name="Объект 2"/>
          <p:cNvSpPr>
            <a:spLocks noGrp="1"/>
          </p:cNvSpPr>
          <p:nvPr>
            <p:ph idx="1"/>
          </p:nvPr>
        </p:nvSpPr>
        <p:spPr/>
        <p:txBody>
          <a:bodyPr/>
          <a:lstStyle/>
          <a:p>
            <a:pPr marL="0" indent="0">
              <a:buNone/>
            </a:pPr>
            <a:endParaRPr lang="uk-UA" dirty="0" smtClean="0"/>
          </a:p>
          <a:p>
            <a:pPr marL="0" indent="0" algn="ctr">
              <a:buNone/>
            </a:pPr>
            <a:r>
              <a:rPr lang="uk-UA" dirty="0" smtClean="0"/>
              <a:t>Вона може супроводжуватися болем у м’язах та суглобах, порушенням сну, погіршенням пам’яті і хронічною втомою, а також проблемами з концентрацією уваги. На відміну від СХВ, синдром емоційного вигорання безпосередньо пов'язаний з професійною діяльністю та психоемоційним станом, хоча ці два стани можуть існувати одночасно.</a:t>
            </a:r>
            <a:endParaRPr lang="uk-UA" dirty="0"/>
          </a:p>
        </p:txBody>
      </p:sp>
    </p:spTree>
    <p:extLst>
      <p:ext uri="{BB962C8B-B14F-4D97-AF65-F5344CB8AC3E}">
        <p14:creationId xmlns:p14="http://schemas.microsoft.com/office/powerpoint/2010/main" val="2975822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2663175" y="1825625"/>
            <a:ext cx="6865650" cy="4351338"/>
          </a:xfrm>
          <a:prstGeom prst="rect">
            <a:avLst/>
          </a:prstGeom>
        </p:spPr>
      </p:pic>
    </p:spTree>
    <p:extLst>
      <p:ext uri="{BB962C8B-B14F-4D97-AF65-F5344CB8AC3E}">
        <p14:creationId xmlns:p14="http://schemas.microsoft.com/office/powerpoint/2010/main" val="1967041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928098"/>
          </a:xfrm>
        </p:spPr>
        <p:txBody>
          <a:bodyPr>
            <a:normAutofit fontScale="90000"/>
          </a:bodyPr>
          <a:lstStyle/>
          <a:p>
            <a:pPr algn="ctr"/>
            <a:r>
              <a:rPr lang="uk-UA" b="1" dirty="0" smtClean="0"/>
              <a:t>Причини</a:t>
            </a:r>
            <a:r>
              <a:rPr lang="uk-UA" dirty="0" smtClean="0"/>
              <a:t> </a:t>
            </a:r>
            <a:r>
              <a:rPr lang="uk-UA" b="1" dirty="0" smtClean="0"/>
              <a:t>вигорання</a:t>
            </a:r>
            <a:r>
              <a:rPr lang="uk-UA" dirty="0" smtClean="0"/>
              <a:t/>
            </a:r>
            <a:br>
              <a:rPr lang="uk-UA" dirty="0" smtClean="0"/>
            </a:br>
            <a:endParaRPr lang="uk-UA" dirty="0"/>
          </a:p>
        </p:txBody>
      </p:sp>
      <p:sp>
        <p:nvSpPr>
          <p:cNvPr id="3" name="Объект 2"/>
          <p:cNvSpPr>
            <a:spLocks noGrp="1"/>
          </p:cNvSpPr>
          <p:nvPr>
            <p:ph idx="1"/>
          </p:nvPr>
        </p:nvSpPr>
        <p:spPr>
          <a:xfrm>
            <a:off x="838200" y="1031966"/>
            <a:ext cx="10515600" cy="5144997"/>
          </a:xfrm>
        </p:spPr>
        <p:txBody>
          <a:bodyPr>
            <a:noAutofit/>
          </a:bodyPr>
          <a:lstStyle/>
          <a:p>
            <a:endParaRPr lang="uk-UA" sz="1800" dirty="0" smtClean="0"/>
          </a:p>
          <a:p>
            <a:r>
              <a:rPr lang="uk-UA" sz="1800" dirty="0" smtClean="0"/>
              <a:t>Професійне вигорання не виникає миттєво. Воно накопичується поступово, як снігова куля, що зростає з часом. Основні причини вигорання через роботу включають:</a:t>
            </a:r>
          </a:p>
          <a:p>
            <a:pPr marL="0" indent="0">
              <a:buNone/>
            </a:pPr>
            <a:endParaRPr lang="uk-UA" sz="1800" dirty="0" smtClean="0"/>
          </a:p>
          <a:p>
            <a:r>
              <a:rPr lang="uk-UA" sz="1800" dirty="0" smtClean="0"/>
              <a:t>Надмірне навантаження та постійний стрес. Довгі робочі години, великий обсяг завдань та стислі терміни призводять до постійного напруження. Виснаження і стрес стають хронічними, і організм просто не встигає відновитися.</a:t>
            </a:r>
          </a:p>
          <a:p>
            <a:endParaRPr lang="uk-UA" sz="1800" dirty="0" smtClean="0"/>
          </a:p>
          <a:p>
            <a:r>
              <a:rPr lang="uk-UA" sz="1800" dirty="0" smtClean="0"/>
              <a:t>Відсутність балансу між роботою та особистим життям (</a:t>
            </a:r>
            <a:r>
              <a:rPr lang="en-US" sz="1800" dirty="0" smtClean="0"/>
              <a:t>work-life balance). </a:t>
            </a:r>
            <a:r>
              <a:rPr lang="uk-UA" sz="1800" dirty="0" smtClean="0"/>
              <a:t>Коли робота займає весь час, а на відпочинок, хобі, сім'ю та друзів його не вистачає. Це призводить до відчуття, що життя обмежується лише робочими обов'язками.</a:t>
            </a:r>
          </a:p>
          <a:p>
            <a:endParaRPr lang="uk-UA" sz="1800" dirty="0" smtClean="0"/>
          </a:p>
          <a:p>
            <a:r>
              <a:rPr lang="uk-UA" sz="1800" dirty="0" smtClean="0"/>
              <a:t>Відсутність контролю. Коли людина не може впливати на робочі процеси, приймати рішення або відчуває себе лише виконавцем. Це викликає відчуття безпорадності та втрати власної значущості.</a:t>
            </a:r>
          </a:p>
          <a:p>
            <a:endParaRPr lang="uk-UA" sz="1800" dirty="0" smtClean="0"/>
          </a:p>
          <a:p>
            <a:r>
              <a:rPr lang="uk-UA" sz="1800" dirty="0" smtClean="0"/>
              <a:t>Невідповідність цінностей. Коли цінності компанії або завдання, які виконуються, суперечать вашим особистим переконанням.</a:t>
            </a:r>
          </a:p>
          <a:p>
            <a:endParaRPr lang="uk-UA" sz="1800" dirty="0" smtClean="0"/>
          </a:p>
          <a:p>
            <a:r>
              <a:rPr lang="uk-UA" sz="1800" dirty="0" smtClean="0"/>
              <a:t>Внутрішні фактори. Високі вимоги до себе, </a:t>
            </a:r>
            <a:r>
              <a:rPr lang="uk-UA" sz="1800" dirty="0" err="1" smtClean="0"/>
              <a:t>перфекціонізм</a:t>
            </a:r>
            <a:r>
              <a:rPr lang="uk-UA" sz="1800" dirty="0" smtClean="0"/>
              <a:t>, звичка брати на себе забагато відповідальності та не вміння відмовляти.</a:t>
            </a:r>
            <a:endParaRPr lang="uk-UA" sz="1800" dirty="0"/>
          </a:p>
        </p:txBody>
      </p:sp>
    </p:spTree>
    <p:extLst>
      <p:ext uri="{BB962C8B-B14F-4D97-AF65-F5344CB8AC3E}">
        <p14:creationId xmlns:p14="http://schemas.microsoft.com/office/powerpoint/2010/main" val="1570538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22514" y="500062"/>
            <a:ext cx="11144794" cy="1325563"/>
          </a:xfrm>
        </p:spPr>
        <p:txBody>
          <a:bodyPr/>
          <a:lstStyle/>
          <a:p>
            <a:pPr algn="ctr"/>
            <a:r>
              <a:rPr lang="ru-RU" b="1" dirty="0" err="1" smtClean="0"/>
              <a:t>Особливості</a:t>
            </a:r>
            <a:r>
              <a:rPr lang="ru-RU" b="1" dirty="0" smtClean="0"/>
              <a:t> </a:t>
            </a:r>
            <a:r>
              <a:rPr lang="ru-RU" b="1" dirty="0" err="1" smtClean="0"/>
              <a:t>вигорання</a:t>
            </a:r>
            <a:r>
              <a:rPr lang="ru-RU" b="1" dirty="0" smtClean="0"/>
              <a:t> у </a:t>
            </a:r>
            <a:r>
              <a:rPr lang="ru-RU" b="1" dirty="0" err="1" smtClean="0"/>
              <a:t>медиків</a:t>
            </a:r>
            <a:r>
              <a:rPr lang="ru-RU" b="1" dirty="0" smtClean="0"/>
              <a:t>, </a:t>
            </a:r>
            <a:r>
              <a:rPr lang="ru-RU" b="1" dirty="0" err="1" smtClean="0"/>
              <a:t>педагогів</a:t>
            </a:r>
            <a:r>
              <a:rPr lang="ru-RU" b="1" dirty="0" smtClean="0"/>
              <a:t> та </a:t>
            </a:r>
            <a:r>
              <a:rPr lang="ru-RU" b="1" dirty="0" err="1" smtClean="0"/>
              <a:t>соціальних</a:t>
            </a:r>
            <a:r>
              <a:rPr lang="ru-RU" b="1" dirty="0" smtClean="0"/>
              <a:t> </a:t>
            </a:r>
            <a:r>
              <a:rPr lang="ru-RU" b="1" dirty="0" err="1" smtClean="0"/>
              <a:t>працівників</a:t>
            </a:r>
            <a:endParaRPr lang="uk-UA" b="1" dirty="0"/>
          </a:p>
        </p:txBody>
      </p:sp>
      <p:sp>
        <p:nvSpPr>
          <p:cNvPr id="3" name="Объект 2"/>
          <p:cNvSpPr>
            <a:spLocks noGrp="1"/>
          </p:cNvSpPr>
          <p:nvPr>
            <p:ph idx="1"/>
          </p:nvPr>
        </p:nvSpPr>
        <p:spPr/>
        <p:txBody>
          <a:bodyPr>
            <a:normAutofit/>
          </a:bodyPr>
          <a:lstStyle/>
          <a:p>
            <a:pPr marL="0" indent="0">
              <a:buNone/>
            </a:pPr>
            <a:r>
              <a:rPr lang="en-US" dirty="0" smtClean="0"/>
              <a:t>Second-impact fatigue </a:t>
            </a:r>
            <a:r>
              <a:rPr lang="uk-UA" dirty="0" smtClean="0"/>
              <a:t>або </a:t>
            </a:r>
            <a:r>
              <a:rPr lang="uk-UA" dirty="0" err="1" smtClean="0"/>
              <a:t>компасійне</a:t>
            </a:r>
            <a:r>
              <a:rPr lang="uk-UA" dirty="0" smtClean="0"/>
              <a:t> виснаження особливо часто зустрічається у спеціалістів «</a:t>
            </a:r>
            <a:r>
              <a:rPr lang="uk-UA" dirty="0" err="1" smtClean="0"/>
              <a:t>допомагаючих</a:t>
            </a:r>
            <a:r>
              <a:rPr lang="uk-UA" dirty="0" smtClean="0"/>
              <a:t>» професій. Ця форма вигорання пов’язана з емпатією та постійним емоційним залученням у проблеми інших людей. Емоційне вигорання лікарів та вигорання у педагогів є однією з найгостріших проблем сьогодення, оскільки ці професії вимагають постійної емоційної віддачі, що призводить до виснаження. Наприклад, лікар, який щодня стикається з людським болем та стражданням, може з часом виробити захисний цинізм, щоб уникнути емоційного перевантаження.</a:t>
            </a:r>
          </a:p>
          <a:p>
            <a:endParaRPr lang="uk-UA" dirty="0" smtClean="0"/>
          </a:p>
          <a:p>
            <a:endParaRPr lang="uk-UA" dirty="0"/>
          </a:p>
        </p:txBody>
      </p:sp>
    </p:spTree>
    <p:extLst>
      <p:ext uri="{BB962C8B-B14F-4D97-AF65-F5344CB8AC3E}">
        <p14:creationId xmlns:p14="http://schemas.microsoft.com/office/powerpoint/2010/main" val="4060079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smtClean="0"/>
              <a:t>Ознаки</a:t>
            </a:r>
            <a:r>
              <a:rPr lang="ru-RU" dirty="0" smtClean="0"/>
              <a:t> та </a:t>
            </a:r>
            <a:r>
              <a:rPr lang="ru-RU" dirty="0" err="1" smtClean="0"/>
              <a:t>симптоми</a:t>
            </a:r>
            <a:r>
              <a:rPr lang="ru-RU" dirty="0" smtClean="0"/>
              <a:t> </a:t>
            </a:r>
            <a:r>
              <a:rPr lang="ru-RU" dirty="0" err="1" smtClean="0"/>
              <a:t>емоційного</a:t>
            </a:r>
            <a:r>
              <a:rPr lang="ru-RU" dirty="0" smtClean="0"/>
              <a:t> </a:t>
            </a:r>
            <a:r>
              <a:rPr lang="ru-RU" dirty="0" err="1" smtClean="0"/>
              <a:t>вигорання</a:t>
            </a:r>
            <a:endParaRPr lang="uk-UA" dirty="0"/>
          </a:p>
        </p:txBody>
      </p:sp>
      <p:sp>
        <p:nvSpPr>
          <p:cNvPr id="3" name="Объект 2"/>
          <p:cNvSpPr>
            <a:spLocks noGrp="1"/>
          </p:cNvSpPr>
          <p:nvPr>
            <p:ph idx="1"/>
          </p:nvPr>
        </p:nvSpPr>
        <p:spPr/>
        <p:txBody>
          <a:bodyPr>
            <a:normAutofit fontScale="70000" lnSpcReduction="20000"/>
          </a:bodyPr>
          <a:lstStyle/>
          <a:p>
            <a:pPr marL="0" indent="0">
              <a:buNone/>
            </a:pPr>
            <a:r>
              <a:rPr lang="uk-UA" dirty="0" smtClean="0"/>
              <a:t>Психоемоційні прояви:</a:t>
            </a:r>
          </a:p>
          <a:p>
            <a:endParaRPr lang="uk-UA" dirty="0" smtClean="0"/>
          </a:p>
          <a:p>
            <a:pPr marL="0" indent="0">
              <a:buNone/>
            </a:pPr>
            <a:r>
              <a:rPr lang="uk-UA" dirty="0" smtClean="0"/>
              <a:t>●      Апатія та втрата інтересу до справ, які раніше приносили задоволення.</a:t>
            </a:r>
          </a:p>
          <a:p>
            <a:endParaRPr lang="uk-UA" dirty="0" smtClean="0"/>
          </a:p>
          <a:p>
            <a:pPr marL="0" indent="0">
              <a:buNone/>
            </a:pPr>
            <a:r>
              <a:rPr lang="uk-UA" dirty="0" smtClean="0"/>
              <a:t>● Дратівливість, цинізм, емоційна відстороненість, відчуття, що ви "на відстані" від своїх емоцій.</a:t>
            </a:r>
          </a:p>
          <a:p>
            <a:endParaRPr lang="uk-UA" dirty="0" smtClean="0"/>
          </a:p>
          <a:p>
            <a:pPr marL="0" indent="0">
              <a:buNone/>
            </a:pPr>
            <a:r>
              <a:rPr lang="uk-UA" dirty="0" smtClean="0"/>
              <a:t>●     Знижена концентрація уваги та погіршення пам'яті. Ви можете відчувати, що не можете сфокусуватися на завданні, і це вас дратує.</a:t>
            </a:r>
          </a:p>
          <a:p>
            <a:endParaRPr lang="uk-UA" dirty="0" smtClean="0"/>
          </a:p>
          <a:p>
            <a:pPr marL="0" indent="0">
              <a:buNone/>
            </a:pPr>
            <a:r>
              <a:rPr lang="uk-UA" dirty="0" smtClean="0"/>
              <a:t>●      Відчуття марності, безпорадності та безнадійності.</a:t>
            </a:r>
          </a:p>
          <a:p>
            <a:endParaRPr lang="uk-UA" dirty="0" smtClean="0"/>
          </a:p>
          <a:p>
            <a:pPr marL="0" indent="0">
              <a:buNone/>
            </a:pPr>
            <a:r>
              <a:rPr lang="uk-UA" dirty="0" smtClean="0"/>
              <a:t>●   Погіршення настрою, яке може супроводжуватися тривогою або навіть депресивними станами.</a:t>
            </a:r>
            <a:endParaRPr lang="uk-UA" dirty="0"/>
          </a:p>
        </p:txBody>
      </p:sp>
    </p:spTree>
    <p:extLst>
      <p:ext uri="{BB962C8B-B14F-4D97-AF65-F5344CB8AC3E}">
        <p14:creationId xmlns:p14="http://schemas.microsoft.com/office/powerpoint/2010/main" val="1410388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Фізичні прояви:</a:t>
            </a:r>
            <a:endParaRPr lang="uk-UA" dirty="0"/>
          </a:p>
        </p:txBody>
      </p:sp>
      <p:sp>
        <p:nvSpPr>
          <p:cNvPr id="3" name="Объект 2"/>
          <p:cNvSpPr>
            <a:spLocks noGrp="1"/>
          </p:cNvSpPr>
          <p:nvPr>
            <p:ph idx="1"/>
          </p:nvPr>
        </p:nvSpPr>
        <p:spPr/>
        <p:txBody>
          <a:bodyPr>
            <a:normAutofit fontScale="92500" lnSpcReduction="10000"/>
          </a:bodyPr>
          <a:lstStyle/>
          <a:p>
            <a:pPr marL="0" indent="0">
              <a:buNone/>
            </a:pPr>
            <a:r>
              <a:rPr lang="uk-UA" dirty="0" smtClean="0"/>
              <a:t>●      Постійна втома, що триває тижнями, навіть після сну.</a:t>
            </a:r>
          </a:p>
          <a:p>
            <a:endParaRPr lang="uk-UA" dirty="0" smtClean="0"/>
          </a:p>
          <a:p>
            <a:pPr marL="0" indent="0">
              <a:buNone/>
            </a:pPr>
            <a:r>
              <a:rPr lang="uk-UA" dirty="0" smtClean="0"/>
              <a:t>●      Часті головні болі, болі в м’язах та суглобах, які не мають чіткої причини.</a:t>
            </a:r>
          </a:p>
          <a:p>
            <a:endParaRPr lang="uk-UA" dirty="0" smtClean="0"/>
          </a:p>
          <a:p>
            <a:pPr marL="0" indent="0">
              <a:buNone/>
            </a:pPr>
            <a:r>
              <a:rPr lang="uk-UA" dirty="0" smtClean="0"/>
              <a:t>●      Порушення сну при вигоранні, безсоння через стрес або, навпаки, постійна сонливість.</a:t>
            </a:r>
          </a:p>
          <a:p>
            <a:endParaRPr lang="uk-UA" dirty="0" smtClean="0"/>
          </a:p>
          <a:p>
            <a:pPr marL="0" indent="0">
              <a:buNone/>
            </a:pPr>
            <a:r>
              <a:rPr lang="uk-UA" dirty="0" smtClean="0"/>
              <a:t>●      Знижений імунітет, що виявляється у частих застудах та вірусних захворюваннях. Організм, виснажений стресом, стає більш вразливим.</a:t>
            </a:r>
          </a:p>
          <a:p>
            <a:endParaRPr lang="uk-UA" dirty="0" smtClean="0"/>
          </a:p>
          <a:p>
            <a:endParaRPr lang="uk-UA" dirty="0"/>
          </a:p>
        </p:txBody>
      </p:sp>
    </p:spTree>
    <p:extLst>
      <p:ext uri="{BB962C8B-B14F-4D97-AF65-F5344CB8AC3E}">
        <p14:creationId xmlns:p14="http://schemas.microsoft.com/office/powerpoint/2010/main" val="2400379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Наслідки професійного вигорання</a:t>
            </a:r>
            <a:endParaRPr lang="uk-UA" dirty="0"/>
          </a:p>
        </p:txBody>
      </p:sp>
      <p:sp>
        <p:nvSpPr>
          <p:cNvPr id="3" name="Объект 2"/>
          <p:cNvSpPr>
            <a:spLocks noGrp="1"/>
          </p:cNvSpPr>
          <p:nvPr>
            <p:ph idx="1"/>
          </p:nvPr>
        </p:nvSpPr>
        <p:spPr/>
        <p:txBody>
          <a:bodyPr>
            <a:normAutofit fontScale="77500" lnSpcReduction="20000"/>
          </a:bodyPr>
          <a:lstStyle/>
          <a:p>
            <a:pPr marL="0" indent="0">
              <a:buNone/>
            </a:pPr>
            <a:r>
              <a:rPr lang="uk-UA" dirty="0" smtClean="0"/>
              <a:t>●Зниження ефективності. Вигорання призводить до зниження продуктивності, частих помилок, втрати креативності та мотивації. Ваша робоча ефективність падає, а це може призвести до проблем з начальством або навіть до звільнення.</a:t>
            </a:r>
          </a:p>
          <a:p>
            <a:endParaRPr lang="uk-UA" dirty="0" smtClean="0"/>
          </a:p>
          <a:p>
            <a:pPr marL="0" indent="0">
              <a:buNone/>
            </a:pPr>
            <a:r>
              <a:rPr lang="uk-UA" dirty="0" smtClean="0"/>
              <a:t>● Проблеми зі здоров’ям. Тривалий стрес може спричинити депресію, тривожні розлади, порушення роботи серцево-судинної системи, цукровий діабет та інші захворювання. Знизився імунітет через втому - один з перших сигналів.</a:t>
            </a:r>
          </a:p>
          <a:p>
            <a:endParaRPr lang="uk-UA" dirty="0" smtClean="0"/>
          </a:p>
          <a:p>
            <a:pPr marL="0" indent="0">
              <a:buNone/>
            </a:pPr>
            <a:r>
              <a:rPr lang="uk-UA" dirty="0" smtClean="0"/>
              <a:t>●   Погіршення стосунків. Емоційна відстороненість та дратівливість можуть зруйнувати стосунки з колегами, друзями та близькими. Людина стає закритою, уникає спілкування, що поглиблює відчуття самотності.</a:t>
            </a:r>
          </a:p>
          <a:p>
            <a:endParaRPr lang="uk-UA" dirty="0" smtClean="0"/>
          </a:p>
          <a:p>
            <a:pPr marL="0" indent="0">
              <a:buNone/>
            </a:pPr>
            <a:r>
              <a:rPr lang="uk-UA" dirty="0" smtClean="0"/>
              <a:t>●    Залежності. У деяких випадках люди намагаються впоратися з емоційним виснаженням за допомогою алкоголю, куріння або інших шкідливих звичок.</a:t>
            </a:r>
          </a:p>
          <a:p>
            <a:endParaRPr lang="uk-UA" dirty="0" smtClean="0"/>
          </a:p>
          <a:p>
            <a:endParaRPr lang="uk-UA" dirty="0"/>
          </a:p>
        </p:txBody>
      </p:sp>
    </p:spTree>
    <p:extLst>
      <p:ext uri="{BB962C8B-B14F-4D97-AF65-F5344CB8AC3E}">
        <p14:creationId xmlns:p14="http://schemas.microsoft.com/office/powerpoint/2010/main" val="5270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uk-UA"/>
          </a:p>
        </p:txBody>
      </p:sp>
      <p:pic>
        <p:nvPicPr>
          <p:cNvPr id="4" name="Объект 3"/>
          <p:cNvPicPr>
            <a:picLocks noGrp="1" noChangeAspect="1"/>
          </p:cNvPicPr>
          <p:nvPr>
            <p:ph idx="1"/>
          </p:nvPr>
        </p:nvPicPr>
        <p:blipFill>
          <a:blip r:embed="rId2"/>
          <a:stretch>
            <a:fillRect/>
          </a:stretch>
        </p:blipFill>
        <p:spPr>
          <a:xfrm>
            <a:off x="2222765" y="1825625"/>
            <a:ext cx="7746470" cy="4351338"/>
          </a:xfrm>
          <a:prstGeom prst="rect">
            <a:avLst/>
          </a:prstGeom>
        </p:spPr>
      </p:pic>
    </p:spTree>
    <p:extLst>
      <p:ext uri="{BB962C8B-B14F-4D97-AF65-F5344CB8AC3E}">
        <p14:creationId xmlns:p14="http://schemas.microsoft.com/office/powerpoint/2010/main" val="3455210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Як </a:t>
            </a:r>
            <a:r>
              <a:rPr lang="ru-RU" dirty="0" err="1" smtClean="0"/>
              <a:t>боротися</a:t>
            </a:r>
            <a:r>
              <a:rPr lang="ru-RU" dirty="0" smtClean="0"/>
              <a:t> та </a:t>
            </a:r>
            <a:r>
              <a:rPr lang="ru-RU" dirty="0" err="1" smtClean="0"/>
              <a:t>відновлювати</a:t>
            </a:r>
            <a:r>
              <a:rPr lang="ru-RU" dirty="0" smtClean="0"/>
              <a:t> </a:t>
            </a:r>
            <a:r>
              <a:rPr lang="ru-RU" dirty="0" err="1" smtClean="0"/>
              <a:t>сили</a:t>
            </a:r>
            <a:endParaRPr lang="uk-UA" dirty="0"/>
          </a:p>
        </p:txBody>
      </p:sp>
      <p:sp>
        <p:nvSpPr>
          <p:cNvPr id="3" name="Объект 2"/>
          <p:cNvSpPr>
            <a:spLocks noGrp="1"/>
          </p:cNvSpPr>
          <p:nvPr>
            <p:ph idx="1"/>
          </p:nvPr>
        </p:nvSpPr>
        <p:spPr/>
        <p:txBody>
          <a:bodyPr>
            <a:normAutofit fontScale="85000" lnSpcReduction="20000"/>
          </a:bodyPr>
          <a:lstStyle/>
          <a:p>
            <a:pPr marL="0" indent="0">
              <a:buNone/>
            </a:pPr>
            <a:r>
              <a:rPr lang="uk-UA" dirty="0" smtClean="0"/>
              <a:t>●   Здоровий режим праці та відпочинку. Спробуйте встановити межі в роботі, не працюйте понаднормово та регулярно робіть перерви. Важливо мати час на відпочинок та відновлення.</a:t>
            </a:r>
          </a:p>
          <a:p>
            <a:endParaRPr lang="uk-UA" dirty="0" smtClean="0"/>
          </a:p>
          <a:p>
            <a:pPr marL="0" indent="0">
              <a:buNone/>
            </a:pPr>
            <a:r>
              <a:rPr lang="uk-UA" dirty="0" smtClean="0"/>
              <a:t>●  Фізична активність. Регулярні фізичні вправи, прогулянки на свіжому повітрі допомагають знизити рівень стресу та покращити настрій.</a:t>
            </a:r>
          </a:p>
          <a:p>
            <a:endParaRPr lang="uk-UA" dirty="0" smtClean="0"/>
          </a:p>
          <a:p>
            <a:pPr marL="0" indent="0">
              <a:buNone/>
            </a:pPr>
            <a:r>
              <a:rPr lang="uk-UA" dirty="0" smtClean="0"/>
              <a:t>●    </a:t>
            </a:r>
            <a:r>
              <a:rPr lang="en-US" dirty="0" smtClean="0"/>
              <a:t>Mindfulness </a:t>
            </a:r>
            <a:r>
              <a:rPr lang="uk-UA" dirty="0" smtClean="0"/>
              <a:t>та релаксація при емоційному виснаженні. Йога, медитація, дихальні вправи, прогулянки на свіжому повітрі допомагають відновити внутрішню гармонію.</a:t>
            </a:r>
          </a:p>
          <a:p>
            <a:endParaRPr lang="uk-UA" dirty="0" smtClean="0"/>
          </a:p>
          <a:p>
            <a:pPr marL="0" indent="0">
              <a:buNone/>
            </a:pPr>
            <a:r>
              <a:rPr lang="uk-UA" dirty="0" smtClean="0"/>
              <a:t>●   Здорове харчування та якісний сон. Ці прості, але важливі речі є основою для відновлення сил після перегорання.</a:t>
            </a:r>
            <a:endParaRPr lang="uk-UA" dirty="0"/>
          </a:p>
        </p:txBody>
      </p:sp>
    </p:spTree>
    <p:extLst>
      <p:ext uri="{BB962C8B-B14F-4D97-AF65-F5344CB8AC3E}">
        <p14:creationId xmlns:p14="http://schemas.microsoft.com/office/powerpoint/2010/main" val="2830076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Професійна допомога: </a:t>
            </a:r>
            <a:endParaRPr lang="uk-UA" dirty="0"/>
          </a:p>
        </p:txBody>
      </p:sp>
      <p:sp>
        <p:nvSpPr>
          <p:cNvPr id="3" name="Объект 2"/>
          <p:cNvSpPr>
            <a:spLocks noGrp="1"/>
          </p:cNvSpPr>
          <p:nvPr>
            <p:ph idx="1"/>
          </p:nvPr>
        </p:nvSpPr>
        <p:spPr/>
        <p:txBody>
          <a:bodyPr>
            <a:normAutofit fontScale="85000" lnSpcReduction="20000"/>
          </a:bodyPr>
          <a:lstStyle/>
          <a:p>
            <a:r>
              <a:rPr lang="uk-UA" dirty="0" smtClean="0"/>
              <a:t>Коли самостійні методи не допомагають, звернення до фахівця стає </a:t>
            </a:r>
            <a:r>
              <a:rPr lang="uk-UA" dirty="0" err="1" smtClean="0"/>
              <a:t>життєво</a:t>
            </a:r>
            <a:r>
              <a:rPr lang="uk-UA" dirty="0" smtClean="0"/>
              <a:t> необхідним. Консультація психолога при вигоранні - це ефективний спосіб отримати кваліфіковану допомогу.</a:t>
            </a:r>
          </a:p>
          <a:p>
            <a:endParaRPr lang="uk-UA" dirty="0" smtClean="0"/>
          </a:p>
          <a:p>
            <a:r>
              <a:rPr lang="uk-UA" dirty="0" err="1" smtClean="0"/>
              <a:t>Когнітивно</a:t>
            </a:r>
            <a:r>
              <a:rPr lang="uk-UA" dirty="0" smtClean="0"/>
              <a:t>-поведінкова терапія (</a:t>
            </a:r>
            <a:r>
              <a:rPr lang="en-US" dirty="0" smtClean="0"/>
              <a:t>CBT) </a:t>
            </a:r>
            <a:r>
              <a:rPr lang="uk-UA" dirty="0" smtClean="0"/>
              <a:t>при вигоранні допомагає ідентифікувати та змінити негативні думки та поведінкові </a:t>
            </a:r>
            <a:r>
              <a:rPr lang="uk-UA" dirty="0" err="1" smtClean="0"/>
              <a:t>патерни</a:t>
            </a:r>
            <a:r>
              <a:rPr lang="uk-UA" dirty="0" smtClean="0"/>
              <a:t>, що сприяють стресу.</a:t>
            </a:r>
          </a:p>
          <a:p>
            <a:endParaRPr lang="uk-UA" dirty="0" smtClean="0"/>
          </a:p>
          <a:p>
            <a:r>
              <a:rPr lang="uk-UA" dirty="0" smtClean="0"/>
              <a:t>  Психотерапія дозволяє знайти внутрішні ресурси, навчитися ефективно управляти емоціями та встановлювати здорові межі.</a:t>
            </a:r>
          </a:p>
          <a:p>
            <a:endParaRPr lang="uk-UA" dirty="0" smtClean="0"/>
          </a:p>
          <a:p>
            <a:r>
              <a:rPr lang="uk-UA" dirty="0" smtClean="0"/>
              <a:t>   Медична допомога при вигоранні може бути необхідна у випадках, коли вигорання переходить у депресію або інші психологічні розлади.</a:t>
            </a:r>
            <a:endParaRPr lang="uk-UA" dirty="0"/>
          </a:p>
        </p:txBody>
      </p:sp>
    </p:spTree>
    <p:extLst>
      <p:ext uri="{BB962C8B-B14F-4D97-AF65-F5344CB8AC3E}">
        <p14:creationId xmlns:p14="http://schemas.microsoft.com/office/powerpoint/2010/main" val="151621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Профілактика вигорання</a:t>
            </a:r>
            <a:endParaRPr lang="uk-UA" dirty="0"/>
          </a:p>
        </p:txBody>
      </p:sp>
      <p:sp>
        <p:nvSpPr>
          <p:cNvPr id="3" name="Объект 2"/>
          <p:cNvSpPr>
            <a:spLocks noGrp="1"/>
          </p:cNvSpPr>
          <p:nvPr>
            <p:ph idx="1"/>
          </p:nvPr>
        </p:nvSpPr>
        <p:spPr/>
        <p:txBody>
          <a:bodyPr>
            <a:normAutofit fontScale="62500" lnSpcReduction="20000"/>
          </a:bodyPr>
          <a:lstStyle/>
          <a:p>
            <a:pPr marL="0" indent="0">
              <a:buNone/>
            </a:pPr>
            <a:r>
              <a:rPr lang="uk-UA" dirty="0" smtClean="0"/>
              <a:t>Профілактика вигорання завжди краща за лікування. Щоб уникнути психоемоційного виснаження, дотримуйтесь простих правил:</a:t>
            </a:r>
          </a:p>
          <a:p>
            <a:endParaRPr lang="uk-UA" dirty="0" smtClean="0"/>
          </a:p>
          <a:p>
            <a:pPr marL="0" indent="0">
              <a:buNone/>
            </a:pPr>
            <a:r>
              <a:rPr lang="uk-UA" dirty="0" smtClean="0"/>
              <a:t>● Баланс робота–життя. Створіть чіткі межі між роботою та особистим життям. Не дозволяйте роботі поглинати весь ваш вільний час.</a:t>
            </a:r>
          </a:p>
          <a:p>
            <a:endParaRPr lang="uk-UA" dirty="0" smtClean="0"/>
          </a:p>
          <a:p>
            <a:pPr marL="0" indent="0">
              <a:buNone/>
            </a:pPr>
            <a:r>
              <a:rPr lang="uk-UA" dirty="0" smtClean="0"/>
              <a:t>●    Управління стресом на роботі. Використовуйте техніки релаксації, вчіться делегувати завдання.</a:t>
            </a:r>
          </a:p>
          <a:p>
            <a:endParaRPr lang="uk-UA" dirty="0" smtClean="0"/>
          </a:p>
          <a:p>
            <a:pPr marL="0" indent="0">
              <a:buNone/>
            </a:pPr>
            <a:r>
              <a:rPr lang="uk-UA" dirty="0" smtClean="0"/>
              <a:t>●   Встановлення меж. Не бійтеся говорити "ні" і не беріть на себе надмірне навантаження, особливо якщо ви вже відчуваєте ознаки надмірного навантаження.</a:t>
            </a:r>
          </a:p>
          <a:p>
            <a:endParaRPr lang="uk-UA" dirty="0" smtClean="0"/>
          </a:p>
          <a:p>
            <a:pPr marL="0" indent="0">
              <a:buNone/>
            </a:pPr>
            <a:r>
              <a:rPr lang="uk-UA" dirty="0" smtClean="0"/>
              <a:t>●  Підтримка колег. Обговорюйте свої проблеми з колегами, обмінюйтеся досвідом.</a:t>
            </a:r>
          </a:p>
          <a:p>
            <a:endParaRPr lang="uk-UA" dirty="0" smtClean="0"/>
          </a:p>
          <a:p>
            <a:pPr marL="0" indent="0">
              <a:buNone/>
            </a:pPr>
            <a:r>
              <a:rPr lang="uk-UA" dirty="0" smtClean="0"/>
              <a:t>●  Розвивайте свої хобі та інтереси, що не пов'язані з роботою. Це допомагає переключити увагу та відновити сили.</a:t>
            </a:r>
            <a:endParaRPr lang="uk-UA" dirty="0"/>
          </a:p>
        </p:txBody>
      </p:sp>
    </p:spTree>
    <p:extLst>
      <p:ext uri="{BB962C8B-B14F-4D97-AF65-F5344CB8AC3E}">
        <p14:creationId xmlns:p14="http://schemas.microsoft.com/office/powerpoint/2010/main" val="57416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Роль роботодавця</a:t>
            </a:r>
            <a:endParaRPr lang="uk-UA" dirty="0"/>
          </a:p>
        </p:txBody>
      </p:sp>
      <p:sp>
        <p:nvSpPr>
          <p:cNvPr id="3" name="Объект 2"/>
          <p:cNvSpPr>
            <a:spLocks noGrp="1"/>
          </p:cNvSpPr>
          <p:nvPr>
            <p:ph idx="1"/>
          </p:nvPr>
        </p:nvSpPr>
        <p:spPr/>
        <p:txBody>
          <a:bodyPr>
            <a:normAutofit fontScale="77500" lnSpcReduction="20000"/>
          </a:bodyPr>
          <a:lstStyle/>
          <a:p>
            <a:r>
              <a:rPr lang="uk-UA" dirty="0" smtClean="0"/>
              <a:t>Втручання роботодавця при вигоранні та підтримка своїх співробітників є ключовими для створення здорової та продуктивної робочої атмосфери.</a:t>
            </a:r>
          </a:p>
          <a:p>
            <a:endParaRPr lang="uk-UA" dirty="0" smtClean="0"/>
          </a:p>
          <a:p>
            <a:r>
              <a:rPr lang="uk-UA" dirty="0" smtClean="0"/>
              <a:t> Програми підтримки. Роботодавці можуть впроваджувати програми психологічної допомоги, проводити тренінги з управління стресом на роботі та профілактики вигорання.</a:t>
            </a:r>
          </a:p>
          <a:p>
            <a:endParaRPr lang="uk-UA" dirty="0" smtClean="0"/>
          </a:p>
          <a:p>
            <a:r>
              <a:rPr lang="uk-UA" dirty="0" smtClean="0"/>
              <a:t>   Психологічна безпека на роботі. Створення атмосфери, де співробітники не бояться говорити про свої проблеми та отримувати допомогу, є надзвичайно важливим.</a:t>
            </a:r>
          </a:p>
          <a:p>
            <a:endParaRPr lang="uk-UA" dirty="0" smtClean="0"/>
          </a:p>
          <a:p>
            <a:r>
              <a:rPr lang="uk-UA" dirty="0" smtClean="0"/>
              <a:t>     Справедливе навантаження. Роботодавці повинні слідкувати за тим, щоб навантаження на співробітників було справедливим та відповідало їхнім можливостям.</a:t>
            </a:r>
            <a:endParaRPr lang="uk-UA" dirty="0"/>
          </a:p>
        </p:txBody>
      </p:sp>
    </p:spTree>
    <p:extLst>
      <p:ext uri="{BB962C8B-B14F-4D97-AF65-F5344CB8AC3E}">
        <p14:creationId xmlns:p14="http://schemas.microsoft.com/office/powerpoint/2010/main" val="2647673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63552" y="548680"/>
            <a:ext cx="8208912" cy="3046988"/>
          </a:xfrm>
          <a:prstGeom prst="rect">
            <a:avLst/>
          </a:prstGeom>
          <a:noFill/>
        </p:spPr>
        <p:txBody>
          <a:bodyPr wrap="square" rtlCol="0">
            <a:spAutoFit/>
          </a:bodyPr>
          <a:lstStyle/>
          <a:p>
            <a:r>
              <a:rPr lang="uk-UA" sz="2400" dirty="0"/>
              <a:t>Адекватне відношення до роботи і відведення їй належного місця у житті – найкраща профілактика професійного вигорання. На жаль, у житті ми не завжди маємо змогу робити тільки те, що нам подобається, приносить радість. А робота без радості пришвидшує вигорання в багато разів. Якщо ж користуватися настановою: </a:t>
            </a:r>
            <a:r>
              <a:rPr lang="uk-UA" sz="2400" b="1" dirty="0">
                <a:solidFill>
                  <a:srgbClr val="FF0000"/>
                </a:solidFill>
              </a:rPr>
              <a:t>«Не можеш робити те, що любиш – навчись любити те, що робиш», </a:t>
            </a:r>
            <a:r>
              <a:rPr lang="uk-UA" sz="2400" dirty="0"/>
              <a:t>- то ніяке професійне вигорання нам не загрожуватиме!</a:t>
            </a:r>
            <a:endParaRPr lang="ru-RU" sz="2400" dirty="0"/>
          </a:p>
        </p:txBody>
      </p:sp>
      <p:sp>
        <p:nvSpPr>
          <p:cNvPr id="3" name="TextBox 2"/>
          <p:cNvSpPr txBox="1"/>
          <p:nvPr/>
        </p:nvSpPr>
        <p:spPr>
          <a:xfrm>
            <a:off x="3177390" y="4285654"/>
            <a:ext cx="5651227" cy="1815882"/>
          </a:xfrm>
          <a:prstGeom prst="rect">
            <a:avLst/>
          </a:prstGeom>
          <a:noFill/>
        </p:spPr>
        <p:txBody>
          <a:bodyPr wrap="none" rtlCol="0">
            <a:spAutoFit/>
          </a:bodyPr>
          <a:lstStyle/>
          <a:p>
            <a:pPr algn="ctr"/>
            <a:r>
              <a:rPr lang="uk-UA" sz="2800" b="1" dirty="0">
                <a:solidFill>
                  <a:srgbClr val="660066"/>
                </a:solidFill>
              </a:rPr>
              <a:t>Правильно плануйте свій час:</a:t>
            </a:r>
          </a:p>
          <a:p>
            <a:r>
              <a:rPr lang="uk-UA" sz="2800" b="1" dirty="0">
                <a:solidFill>
                  <a:srgbClr val="660066"/>
                </a:solidFill>
              </a:rPr>
              <a:t>8 год. – повноцінний здоровий сон</a:t>
            </a:r>
          </a:p>
          <a:p>
            <a:r>
              <a:rPr lang="uk-UA" sz="2800" b="1" dirty="0">
                <a:solidFill>
                  <a:srgbClr val="660066"/>
                </a:solidFill>
              </a:rPr>
              <a:t>8 год. – робота </a:t>
            </a:r>
          </a:p>
          <a:p>
            <a:r>
              <a:rPr lang="uk-UA" sz="2800" b="1" dirty="0">
                <a:solidFill>
                  <a:srgbClr val="660066"/>
                </a:solidFill>
              </a:rPr>
              <a:t>8 год. – активний відпочинок</a:t>
            </a:r>
            <a:endParaRPr lang="ru-RU" sz="2800" b="1" dirty="0">
              <a:solidFill>
                <a:srgbClr val="660066"/>
              </a:solidFill>
            </a:endParaRPr>
          </a:p>
        </p:txBody>
      </p:sp>
    </p:spTree>
    <p:extLst>
      <p:ext uri="{BB962C8B-B14F-4D97-AF65-F5344CB8AC3E}">
        <p14:creationId xmlns:p14="http://schemas.microsoft.com/office/powerpoint/2010/main" val="18826007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05236" y="817356"/>
            <a:ext cx="7941568" cy="1080120"/>
          </a:xfrm>
        </p:spPr>
        <p:txBody>
          <a:bodyPr>
            <a:noAutofit/>
          </a:bodyPr>
          <a:lstStyle/>
          <a:p>
            <a:pPr lvl="0"/>
            <a:r>
              <a:rPr lang="uk-UA" sz="3600" b="1" dirty="0"/>
              <a:t>Самодіагностика «Асоціація на слово «робота»</a:t>
            </a:r>
            <a:r>
              <a:rPr lang="ru-RU" sz="3600" dirty="0"/>
              <a:t/>
            </a:r>
            <a:br>
              <a:rPr lang="ru-RU" sz="3600" dirty="0"/>
            </a:br>
            <a:endParaRPr lang="ru-RU" sz="3600" dirty="0"/>
          </a:p>
        </p:txBody>
      </p:sp>
      <p:sp>
        <p:nvSpPr>
          <p:cNvPr id="3" name="Прямоугольник 2"/>
          <p:cNvSpPr/>
          <p:nvPr/>
        </p:nvSpPr>
        <p:spPr>
          <a:xfrm>
            <a:off x="2711624" y="1916833"/>
            <a:ext cx="7128792" cy="3139321"/>
          </a:xfrm>
          <a:prstGeom prst="rect">
            <a:avLst/>
          </a:prstGeom>
        </p:spPr>
        <p:txBody>
          <a:bodyPr wrap="square">
            <a:spAutoFit/>
          </a:bodyPr>
          <a:lstStyle/>
          <a:p>
            <a:pPr fontAlgn="base"/>
            <a:r>
              <a:rPr lang="uk-UA" b="1" i="1" dirty="0"/>
              <a:t>Питання для обговорення:</a:t>
            </a:r>
            <a:endParaRPr lang="ru-RU" dirty="0"/>
          </a:p>
          <a:p>
            <a:pPr lvl="0" fontAlgn="base"/>
            <a:r>
              <a:rPr lang="uk-UA" dirty="0"/>
              <a:t>Чи легко було передавати на папір власні асоціації</a:t>
            </a:r>
            <a:r>
              <a:rPr lang="uk-UA" dirty="0"/>
              <a:t>?</a:t>
            </a:r>
          </a:p>
          <a:p>
            <a:pPr lvl="0" fontAlgn="base"/>
            <a:r>
              <a:rPr lang="uk-UA" dirty="0"/>
              <a:t>Чого більше гарного чи поганого?</a:t>
            </a:r>
            <a:endParaRPr lang="ru-RU" dirty="0"/>
          </a:p>
          <a:p>
            <a:pPr lvl="0" fontAlgn="base"/>
            <a:r>
              <a:rPr lang="uk-UA" dirty="0"/>
              <a:t>Скільки слів та речень ви встигли записати за 10 хв.?</a:t>
            </a:r>
            <a:endParaRPr lang="ru-RU" dirty="0"/>
          </a:p>
          <a:p>
            <a:pPr lvl="0" fontAlgn="base"/>
            <a:r>
              <a:rPr lang="uk-UA" b="1" dirty="0"/>
              <a:t>Аналіз відповідей</a:t>
            </a:r>
            <a:endParaRPr lang="ru-RU" b="1" dirty="0"/>
          </a:p>
          <a:p>
            <a:pPr fontAlgn="base"/>
            <a:r>
              <a:rPr lang="uk-UA" b="1" i="1" dirty="0"/>
              <a:t>Зелений </a:t>
            </a:r>
            <a:r>
              <a:rPr lang="uk-UA" dirty="0"/>
              <a:t>– Ви </a:t>
            </a:r>
            <a:r>
              <a:rPr lang="uk-UA" dirty="0"/>
              <a:t>бажєте </a:t>
            </a:r>
            <a:r>
              <a:rPr lang="uk-UA" dirty="0"/>
              <a:t>домогтися більшого, впевнені у власних здібностях та успіху.</a:t>
            </a:r>
            <a:endParaRPr lang="ru-RU" dirty="0"/>
          </a:p>
          <a:p>
            <a:pPr fontAlgn="base"/>
            <a:r>
              <a:rPr lang="uk-UA" b="1" i="1" dirty="0"/>
              <a:t>Червоний </a:t>
            </a:r>
            <a:r>
              <a:rPr lang="uk-UA" dirty="0"/>
              <a:t>– на Вашу упевненість у собі негативно впливає думка інших та страх невдачі.</a:t>
            </a:r>
            <a:endParaRPr lang="ru-RU" dirty="0"/>
          </a:p>
          <a:p>
            <a:pPr fontAlgn="base"/>
            <a:r>
              <a:rPr lang="uk-UA" b="1" i="1" dirty="0"/>
              <a:t>Жовтий </a:t>
            </a:r>
            <a:r>
              <a:rPr lang="uk-UA" dirty="0"/>
              <a:t>– бажання досягти більшого на роботі має таку ж силу, як і страх невдачі.</a:t>
            </a:r>
            <a:endParaRPr lang="ru-RU" dirty="0"/>
          </a:p>
        </p:txBody>
      </p:sp>
    </p:spTree>
    <p:extLst>
      <p:ext uri="{BB962C8B-B14F-4D97-AF65-F5344CB8AC3E}">
        <p14:creationId xmlns:p14="http://schemas.microsoft.com/office/powerpoint/2010/main" val="2496424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39616" y="476672"/>
            <a:ext cx="7416824" cy="1512168"/>
          </a:xfrm>
        </p:spPr>
        <p:txBody>
          <a:bodyPr>
            <a:noAutofit/>
          </a:bodyPr>
          <a:lstStyle/>
          <a:p>
            <a:r>
              <a:rPr lang="uk-UA" sz="3200" b="1" dirty="0">
                <a:latin typeface="+mn-lt"/>
              </a:rPr>
              <a:t>Мозковий штурм «</a:t>
            </a:r>
            <a:r>
              <a:rPr lang="uk-UA" sz="3200" b="1" dirty="0">
                <a:latin typeface="+mn-lt"/>
              </a:rPr>
              <a:t>«Особистісні риси, які сприяють успішній роботі»</a:t>
            </a:r>
            <a:r>
              <a:rPr lang="uk-UA" sz="3200" b="1" dirty="0">
                <a:latin typeface="+mn-lt"/>
              </a:rPr>
              <a:t>»</a:t>
            </a:r>
            <a:endParaRPr lang="ru-RU" sz="3200" b="1" dirty="0">
              <a:latin typeface="+mn-lt"/>
            </a:endParaRPr>
          </a:p>
        </p:txBody>
      </p:sp>
      <p:sp>
        <p:nvSpPr>
          <p:cNvPr id="3" name="Прямоугольник 2"/>
          <p:cNvSpPr/>
          <p:nvPr/>
        </p:nvSpPr>
        <p:spPr>
          <a:xfrm>
            <a:off x="2567608" y="2276872"/>
            <a:ext cx="5184576" cy="1569660"/>
          </a:xfrm>
          <a:prstGeom prst="rect">
            <a:avLst/>
          </a:prstGeom>
        </p:spPr>
        <p:txBody>
          <a:bodyPr wrap="square">
            <a:spAutoFit/>
          </a:bodyPr>
          <a:lstStyle/>
          <a:p>
            <a:pPr marL="0" lvl="3" algn="just"/>
            <a:r>
              <a:rPr lang="uk-UA" sz="3200" dirty="0"/>
              <a:t>- інтерес </a:t>
            </a:r>
            <a:r>
              <a:rPr lang="uk-UA" sz="3200" dirty="0"/>
              <a:t>до життя</a:t>
            </a:r>
            <a:endParaRPr lang="ru-RU" sz="2400" dirty="0"/>
          </a:p>
          <a:p>
            <a:pPr marL="0" lvl="3" algn="just"/>
            <a:r>
              <a:rPr lang="uk-UA" sz="3200" dirty="0"/>
              <a:t>- інтерес </a:t>
            </a:r>
            <a:r>
              <a:rPr lang="uk-UA" sz="3200" dirty="0"/>
              <a:t>до людини як такої</a:t>
            </a:r>
            <a:endParaRPr lang="ru-RU" sz="2400" dirty="0"/>
          </a:p>
          <a:p>
            <a:pPr marL="0" lvl="3" algn="just"/>
            <a:r>
              <a:rPr lang="uk-UA" sz="3200" dirty="0"/>
              <a:t>- інтерес </a:t>
            </a:r>
            <a:r>
              <a:rPr lang="uk-UA" sz="3200" dirty="0"/>
              <a:t>до культури</a:t>
            </a:r>
            <a:endParaRPr lang="ru-RU" sz="2400" dirty="0"/>
          </a:p>
        </p:txBody>
      </p:sp>
    </p:spTree>
    <p:extLst>
      <p:ext uri="{BB962C8B-B14F-4D97-AF65-F5344CB8AC3E}">
        <p14:creationId xmlns:p14="http://schemas.microsoft.com/office/powerpoint/2010/main" val="5246443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Прямоугольник 1"/>
          <p:cNvSpPr>
            <a:spLocks noChangeArrowheads="1"/>
          </p:cNvSpPr>
          <p:nvPr/>
        </p:nvSpPr>
        <p:spPr bwMode="auto">
          <a:xfrm>
            <a:off x="2783632" y="677518"/>
            <a:ext cx="3672408" cy="529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ru-RU" dirty="0"/>
              <a:t>  </a:t>
            </a:r>
            <a:r>
              <a:rPr lang="uk-UA" sz="2000" dirty="0"/>
              <a:t>Адекватне відношення до роботи і відведення їй належного місця у житті – найкраща </a:t>
            </a:r>
            <a:r>
              <a:rPr lang="uk-UA" sz="2000" i="1" u="sng" dirty="0"/>
              <a:t>профілактика професійного вигорання.</a:t>
            </a:r>
            <a:r>
              <a:rPr lang="uk-UA" sz="2000" dirty="0"/>
              <a:t> </a:t>
            </a:r>
          </a:p>
          <a:p>
            <a:pPr algn="just"/>
            <a:r>
              <a:rPr lang="uk-UA" sz="2000" dirty="0"/>
              <a:t>На жаль, у житті ми не завжди маємо змогу робити тільки те, що нам подобається, приносить радість. А робота без радості пришвидшує вигорання в багато разів. Якщо ж користуватися настановою «Не можеш робити те, що любиш – навчись любити те, що робиш», то ніяке професійне вигорання нам не загрожуватиме</a:t>
            </a:r>
            <a:r>
              <a:rPr lang="uk-UA" dirty="0"/>
              <a:t>! </a:t>
            </a:r>
            <a:br>
              <a:rPr lang="uk-UA" dirty="0"/>
            </a:br>
            <a:endParaRPr lang="uk-UA" dirty="0"/>
          </a:p>
        </p:txBody>
      </p:sp>
      <p:sp>
        <p:nvSpPr>
          <p:cNvPr id="26627" name="Прямоугольник 2"/>
          <p:cNvSpPr>
            <a:spLocks noChangeArrowheads="1"/>
          </p:cNvSpPr>
          <p:nvPr/>
        </p:nvSpPr>
        <p:spPr bwMode="auto">
          <a:xfrm>
            <a:off x="6672062" y="4365105"/>
            <a:ext cx="3636022"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ru-RU" dirty="0"/>
              <a:t>  </a:t>
            </a:r>
            <a:r>
              <a:rPr lang="uk-UA" dirty="0"/>
              <a:t>Правильно плануйте свій час:</a:t>
            </a:r>
            <a:br>
              <a:rPr lang="uk-UA" dirty="0"/>
            </a:br>
            <a:r>
              <a:rPr lang="uk-UA" dirty="0"/>
              <a:t>- 8 </a:t>
            </a:r>
            <a:r>
              <a:rPr lang="uk-UA" dirty="0" err="1"/>
              <a:t>год</a:t>
            </a:r>
            <a:r>
              <a:rPr lang="uk-UA" dirty="0"/>
              <a:t> – повноцінний здоровий сон</a:t>
            </a:r>
            <a:br>
              <a:rPr lang="uk-UA" dirty="0"/>
            </a:br>
            <a:r>
              <a:rPr lang="uk-UA" dirty="0"/>
              <a:t>- 8 </a:t>
            </a:r>
            <a:r>
              <a:rPr lang="uk-UA" dirty="0" err="1"/>
              <a:t>год</a:t>
            </a:r>
            <a:r>
              <a:rPr lang="uk-UA" dirty="0"/>
              <a:t> – робота </a:t>
            </a:r>
            <a:br>
              <a:rPr lang="uk-UA" dirty="0"/>
            </a:br>
            <a:r>
              <a:rPr lang="uk-UA" dirty="0"/>
              <a:t>- 8 </a:t>
            </a:r>
            <a:r>
              <a:rPr lang="uk-UA" dirty="0" err="1"/>
              <a:t>год</a:t>
            </a:r>
            <a:r>
              <a:rPr lang="uk-UA" dirty="0"/>
              <a:t> – активний відпочинок</a:t>
            </a:r>
            <a:r>
              <a:rPr lang="ru-RU" dirty="0"/>
              <a:t> </a:t>
            </a:r>
            <a:br>
              <a:rPr lang="ru-RU" dirty="0"/>
            </a:br>
            <a:r>
              <a:rPr lang="ru-RU" dirty="0"/>
              <a:t/>
            </a:r>
            <a:br>
              <a:rPr lang="ru-RU" dirty="0"/>
            </a:br>
            <a:endParaRPr lang="ru-RU" dirty="0"/>
          </a:p>
        </p:txBody>
      </p:sp>
      <p:pic>
        <p:nvPicPr>
          <p:cNvPr id="26628" name="Picture 4" descr="C:\Users\Лена\Desktop\Емоційне вигорання вчителів\ne-vigoraj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2063" y="548680"/>
            <a:ext cx="3511749" cy="273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58148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barn(inVertical)">
                                      <p:cBhvr>
                                        <p:cTn id="7" dur="500"/>
                                        <p:tgtEl>
                                          <p:spTgt spid="266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6627"/>
                                        </p:tgtEl>
                                        <p:attrNameLst>
                                          <p:attrName>style.visibility</p:attrName>
                                        </p:attrNameLst>
                                      </p:cBhvr>
                                      <p:to>
                                        <p:strVal val="visible"/>
                                      </p:to>
                                    </p:set>
                                    <p:animEffect transition="in" filter="circle(in)">
                                      <p:cBhvr>
                                        <p:cTn id="12" dur="2000"/>
                                        <p:tgtEl>
                                          <p:spTgt spid="266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26628"/>
                                        </p:tgtEl>
                                        <p:attrNameLst>
                                          <p:attrName>style.visibility</p:attrName>
                                        </p:attrNameLst>
                                      </p:cBhvr>
                                      <p:to>
                                        <p:strVal val="visible"/>
                                      </p:to>
                                    </p:set>
                                    <p:animEffect transition="in" filter="circle(in)">
                                      <p:cBhvr>
                                        <p:cTn id="17" dur="20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a:spLocks noChangeArrowheads="1"/>
          </p:cNvSpPr>
          <p:nvPr/>
        </p:nvSpPr>
        <p:spPr bwMode="auto">
          <a:xfrm>
            <a:off x="2351584" y="671152"/>
            <a:ext cx="3096344"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ru-RU"/>
              <a:t>- </a:t>
            </a:r>
            <a:r>
              <a:rPr lang="ru-RU" i="1"/>
              <a:t>терапія мінералами</a:t>
            </a:r>
            <a:br>
              <a:rPr lang="ru-RU" i="1"/>
            </a:br>
            <a:endParaRPr lang="ru-RU"/>
          </a:p>
        </p:txBody>
      </p:sp>
      <p:sp>
        <p:nvSpPr>
          <p:cNvPr id="3" name="Прямоугольник 2"/>
          <p:cNvSpPr>
            <a:spLocks noChangeArrowheads="1"/>
          </p:cNvSpPr>
          <p:nvPr/>
        </p:nvSpPr>
        <p:spPr bwMode="auto">
          <a:xfrm>
            <a:off x="5303838" y="2133601"/>
            <a:ext cx="457200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ru-RU" i="1"/>
              <a:t>- дихальні вправи </a:t>
            </a:r>
            <a:r>
              <a:rPr lang="ru-RU"/>
              <a:t>(заспокійливе з подовженим видихом дихання зменшує надлишкове збудження і нервове напруження; мобілізуюче дихання з збільшеним вдихом допомагає подолати в'ялість, сонливість)</a:t>
            </a:r>
            <a:br>
              <a:rPr lang="ru-RU"/>
            </a:br>
            <a:endParaRPr lang="ru-RU"/>
          </a:p>
        </p:txBody>
      </p:sp>
      <p:sp>
        <p:nvSpPr>
          <p:cNvPr id="4" name="Прямоугольник 3"/>
          <p:cNvSpPr>
            <a:spLocks noChangeArrowheads="1"/>
          </p:cNvSpPr>
          <p:nvPr/>
        </p:nvSpPr>
        <p:spPr bwMode="auto">
          <a:xfrm>
            <a:off x="3667248" y="4064794"/>
            <a:ext cx="4572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ru-RU" dirty="0"/>
              <a:t>- </a:t>
            </a:r>
            <a:r>
              <a:rPr lang="ru-RU" i="1" dirty="0"/>
              <a:t>баня і </a:t>
            </a:r>
            <a:r>
              <a:rPr lang="ru-RU" i="1" dirty="0" err="1"/>
              <a:t>водні</a:t>
            </a:r>
            <a:r>
              <a:rPr lang="ru-RU" i="1" dirty="0"/>
              <a:t> </a:t>
            </a:r>
            <a:r>
              <a:rPr lang="ru-RU" i="1" dirty="0" err="1"/>
              <a:t>процедури</a:t>
            </a:r>
            <a:r>
              <a:rPr lang="ru-RU" i="1" dirty="0"/>
              <a:t> </a:t>
            </a:r>
            <a:r>
              <a:rPr lang="ru-RU" dirty="0"/>
              <a:t>(</a:t>
            </a:r>
            <a:r>
              <a:rPr lang="ru-RU" dirty="0" err="1"/>
              <a:t>контрастний</a:t>
            </a:r>
            <a:r>
              <a:rPr lang="ru-RU" dirty="0"/>
              <a:t> душ перед сном </a:t>
            </a:r>
            <a:r>
              <a:rPr lang="ru-RU" dirty="0" err="1"/>
              <a:t>допоможе</a:t>
            </a:r>
            <a:r>
              <a:rPr lang="ru-RU" dirty="0"/>
              <a:t> </a:t>
            </a:r>
            <a:r>
              <a:rPr lang="ru-RU" dirty="0" err="1"/>
              <a:t>зняти</a:t>
            </a:r>
            <a:r>
              <a:rPr lang="ru-RU" dirty="0"/>
              <a:t> </a:t>
            </a:r>
            <a:r>
              <a:rPr lang="ru-RU" dirty="0" err="1"/>
              <a:t>втому</a:t>
            </a:r>
            <a:r>
              <a:rPr lang="ru-RU" dirty="0"/>
              <a:t> дня, а </a:t>
            </a:r>
            <a:r>
              <a:rPr lang="ru-RU" dirty="0" err="1"/>
              <a:t>зранку</a:t>
            </a:r>
            <a:r>
              <a:rPr lang="ru-RU" dirty="0"/>
              <a:t> </a:t>
            </a:r>
            <a:r>
              <a:rPr lang="ru-RU" dirty="0" err="1"/>
              <a:t>додасть</a:t>
            </a:r>
            <a:r>
              <a:rPr lang="ru-RU" dirty="0"/>
              <a:t> </a:t>
            </a:r>
            <a:r>
              <a:rPr lang="ru-RU" dirty="0" err="1"/>
              <a:t>бадьорості</a:t>
            </a:r>
            <a:r>
              <a:rPr lang="ru-RU" dirty="0"/>
              <a:t>; </a:t>
            </a:r>
            <a:r>
              <a:rPr lang="ru-RU" dirty="0" err="1"/>
              <a:t>взагалі</a:t>
            </a:r>
            <a:r>
              <a:rPr lang="ru-RU" dirty="0"/>
              <a:t>, вода </a:t>
            </a:r>
            <a:r>
              <a:rPr lang="ru-RU" dirty="0" err="1"/>
              <a:t>чудово</a:t>
            </a:r>
            <a:r>
              <a:rPr lang="ru-RU" dirty="0"/>
              <a:t> </a:t>
            </a:r>
            <a:r>
              <a:rPr lang="ru-RU" dirty="0" err="1"/>
              <a:t>змиває</a:t>
            </a:r>
            <a:r>
              <a:rPr lang="ru-RU" dirty="0"/>
              <a:t> будь-</a:t>
            </a:r>
            <a:r>
              <a:rPr lang="ru-RU" dirty="0" err="1"/>
              <a:t>який</a:t>
            </a:r>
            <a:r>
              <a:rPr lang="ru-RU" dirty="0"/>
              <a:t> негатив)</a:t>
            </a:r>
            <a:br>
              <a:rPr lang="ru-RU" dirty="0"/>
            </a:br>
            <a:endParaRPr lang="ru-RU" dirty="0"/>
          </a:p>
        </p:txBody>
      </p:sp>
      <p:pic>
        <p:nvPicPr>
          <p:cNvPr id="63490" name="Picture 2" descr="C:\Users\Лена\Desktop\Емоційне вигорання вчителів\stoun_terap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0407" y="454808"/>
            <a:ext cx="2376686" cy="1596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3" descr="C:\Users\Лена\Desktop\Емоційне вигорання вчителів\dykhatelnye-uprazhneniya-uluchshayut-zdorov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907" y="1700809"/>
            <a:ext cx="2736298" cy="17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494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63490"/>
                                        </p:tgtEl>
                                        <p:attrNameLst>
                                          <p:attrName>style.visibility</p:attrName>
                                        </p:attrNameLst>
                                      </p:cBhvr>
                                      <p:to>
                                        <p:strVal val="visible"/>
                                      </p:to>
                                    </p:set>
                                    <p:animEffect transition="in" filter="circle(in)">
                                      <p:cBhvr>
                                        <p:cTn id="12" dur="2000"/>
                                        <p:tgtEl>
                                          <p:spTgt spid="634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nodeType="clickEffect">
                                  <p:stCondLst>
                                    <p:cond delay="0"/>
                                  </p:stCondLst>
                                  <p:childTnLst>
                                    <p:set>
                                      <p:cBhvr>
                                        <p:cTn id="21" dur="1" fill="hold">
                                          <p:stCondLst>
                                            <p:cond delay="0"/>
                                          </p:stCondLst>
                                        </p:cTn>
                                        <p:tgtEl>
                                          <p:spTgt spid="63491"/>
                                        </p:tgtEl>
                                        <p:attrNameLst>
                                          <p:attrName>style.visibility</p:attrName>
                                        </p:attrNameLst>
                                      </p:cBhvr>
                                      <p:to>
                                        <p:strVal val="visible"/>
                                      </p:to>
                                    </p:set>
                                    <p:animEffect transition="in" filter="circle(in)">
                                      <p:cBhvr>
                                        <p:cTn id="22" dur="2000"/>
                                        <p:tgtEl>
                                          <p:spTgt spid="634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inVertic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Прямоугольник 1"/>
          <p:cNvSpPr>
            <a:spLocks noChangeArrowheads="1"/>
          </p:cNvSpPr>
          <p:nvPr/>
        </p:nvSpPr>
        <p:spPr bwMode="auto">
          <a:xfrm>
            <a:off x="2351584" y="404665"/>
            <a:ext cx="750254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ru-RU" dirty="0"/>
              <a:t> </a:t>
            </a:r>
            <a:r>
              <a:rPr lang="ru-RU" b="1" u="sng" dirty="0"/>
              <a:t> </a:t>
            </a:r>
            <a:r>
              <a:rPr lang="uk-UA" sz="2400" b="1" u="sng" dirty="0"/>
              <a:t>Емоційно-вольова регуляція психофізичного стану</a:t>
            </a:r>
          </a:p>
          <a:p>
            <a:r>
              <a:rPr lang="uk-UA" sz="2400" b="1" u="sng" dirty="0"/>
              <a:t>(вплив на емоційний стан):</a:t>
            </a:r>
            <a:r>
              <a:rPr lang="uk-UA" sz="2400" u="sng" dirty="0"/>
              <a:t/>
            </a:r>
            <a:br>
              <a:rPr lang="uk-UA" sz="2400" u="sng" dirty="0"/>
            </a:br>
            <a:endParaRPr lang="uk-UA" sz="2400" u="sng" dirty="0"/>
          </a:p>
        </p:txBody>
      </p:sp>
      <p:sp>
        <p:nvSpPr>
          <p:cNvPr id="30723" name="Прямоугольник 2"/>
          <p:cNvSpPr>
            <a:spLocks noChangeArrowheads="1"/>
          </p:cNvSpPr>
          <p:nvPr/>
        </p:nvSpPr>
        <p:spPr bwMode="auto">
          <a:xfrm>
            <a:off x="2797944" y="1111250"/>
            <a:ext cx="5080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ru-RU" dirty="0"/>
              <a:t>- </a:t>
            </a:r>
            <a:r>
              <a:rPr lang="uk-UA" i="1" dirty="0"/>
              <a:t>гумор</a:t>
            </a:r>
            <a:r>
              <a:rPr lang="uk-UA" dirty="0"/>
              <a:t> (сміх позитивно впливає на імунну систему, активізуючи Т-лімфоцити крові; у відповідь на вашу усмішку організм продукуватиме бажані гормони радості; гумор чудово «перезаряджає» негатив)</a:t>
            </a:r>
            <a:br>
              <a:rPr lang="uk-UA" dirty="0"/>
            </a:br>
            <a:endParaRPr lang="uk-UA" dirty="0"/>
          </a:p>
        </p:txBody>
      </p:sp>
      <p:sp>
        <p:nvSpPr>
          <p:cNvPr id="2" name="Прямоугольник 1"/>
          <p:cNvSpPr>
            <a:spLocks noChangeArrowheads="1"/>
          </p:cNvSpPr>
          <p:nvPr/>
        </p:nvSpPr>
        <p:spPr bwMode="auto">
          <a:xfrm>
            <a:off x="5519936" y="2780928"/>
            <a:ext cx="4572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ru-RU" i="1" dirty="0"/>
              <a:t>- </a:t>
            </a:r>
            <a:r>
              <a:rPr lang="uk-UA" i="1" dirty="0"/>
              <a:t>музика </a:t>
            </a:r>
            <a:r>
              <a:rPr lang="uk-UA" dirty="0"/>
              <a:t>(найкраще сприяє гармонізації психоемоційного стану прослуховування класичної музики, хоча у малих дозах </a:t>
            </a:r>
            <a:r>
              <a:rPr lang="uk-UA" dirty="0" err="1"/>
              <a:t>рок</a:t>
            </a:r>
            <a:r>
              <a:rPr lang="uk-UA" dirty="0"/>
              <a:t> теж буває корисним, він допомагає вивільнитись від негативних емоцій)</a:t>
            </a:r>
            <a:br>
              <a:rPr lang="uk-UA" dirty="0"/>
            </a:br>
            <a:endParaRPr lang="uk-UA" dirty="0"/>
          </a:p>
        </p:txBody>
      </p:sp>
      <p:sp>
        <p:nvSpPr>
          <p:cNvPr id="3" name="Прямоугольник 2"/>
          <p:cNvSpPr>
            <a:spLocks noChangeArrowheads="1"/>
          </p:cNvSpPr>
          <p:nvPr/>
        </p:nvSpPr>
        <p:spPr bwMode="auto">
          <a:xfrm>
            <a:off x="5519936" y="4535116"/>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ru-RU" dirty="0"/>
              <a:t>- </a:t>
            </a:r>
            <a:r>
              <a:rPr lang="uk-UA" i="1" dirty="0"/>
              <a:t>спілкування з сім’єю, друзями</a:t>
            </a:r>
            <a:r>
              <a:rPr lang="uk-UA" dirty="0"/>
              <a:t/>
            </a:r>
            <a:br>
              <a:rPr lang="uk-UA" dirty="0"/>
            </a:br>
            <a:endParaRPr lang="uk-UA" dirty="0"/>
          </a:p>
        </p:txBody>
      </p:sp>
      <p:pic>
        <p:nvPicPr>
          <p:cNvPr id="30724" name="Picture 4" descr="C:\Users\Лена\Desktop\Емоційне вигорання вчителів\2094359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8887" y="651669"/>
            <a:ext cx="1709737"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5" descr="C:\Users\Лена\Desktop\Емоційне вигорання вчителів\yak-vplivaye-muzika-na-lyudinu.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6635" y="2924175"/>
            <a:ext cx="2528887"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16757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barn(inVertical)">
                                      <p:cBhvr>
                                        <p:cTn id="7" dur="500"/>
                                        <p:tgtEl>
                                          <p:spTgt spid="30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0723"/>
                                        </p:tgtEl>
                                        <p:attrNameLst>
                                          <p:attrName>style.visibility</p:attrName>
                                        </p:attrNameLst>
                                      </p:cBhvr>
                                      <p:to>
                                        <p:strVal val="visible"/>
                                      </p:to>
                                    </p:set>
                                    <p:animEffect transition="in" filter="barn(inVertical)">
                                      <p:cBhvr>
                                        <p:cTn id="12" dur="500"/>
                                        <p:tgtEl>
                                          <p:spTgt spid="307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30724"/>
                                        </p:tgtEl>
                                        <p:attrNameLst>
                                          <p:attrName>style.visibility</p:attrName>
                                        </p:attrNameLst>
                                      </p:cBhvr>
                                      <p:to>
                                        <p:strVal val="visible"/>
                                      </p:to>
                                    </p:set>
                                    <p:animEffect transition="in" filter="circle(in)">
                                      <p:cBhvr>
                                        <p:cTn id="17" dur="2000"/>
                                        <p:tgtEl>
                                          <p:spTgt spid="307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30725"/>
                                        </p:tgtEl>
                                        <p:attrNameLst>
                                          <p:attrName>style.visibility</p:attrName>
                                        </p:attrNameLst>
                                      </p:cBhvr>
                                      <p:to>
                                        <p:strVal val="visible"/>
                                      </p:to>
                                    </p:set>
                                    <p:animEffect transition="in" filter="circle(in)">
                                      <p:cBhvr>
                                        <p:cTn id="27" dur="2000"/>
                                        <p:tgtEl>
                                          <p:spTgt spid="307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inVertical)">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a:spLocks noChangeArrowheads="1"/>
          </p:cNvSpPr>
          <p:nvPr/>
        </p:nvSpPr>
        <p:spPr bwMode="auto">
          <a:xfrm>
            <a:off x="4999038" y="548681"/>
            <a:ext cx="45720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ru-RU" i="1" dirty="0"/>
              <a:t>- </a:t>
            </a:r>
            <a:r>
              <a:rPr lang="uk-UA" i="1" dirty="0"/>
              <a:t>масаж</a:t>
            </a:r>
            <a:r>
              <a:rPr lang="ru-RU" i="1" dirty="0"/>
              <a:t> </a:t>
            </a:r>
            <a:r>
              <a:rPr lang="uk-UA" dirty="0"/>
              <a:t>(допоможе як класичний масаж, так і масаж біологічно активних точок на руках і ногах людини; корисно просто походити босоніж по землі, або по насипаним у коробку камінчикам)</a:t>
            </a:r>
            <a:br>
              <a:rPr lang="uk-UA" dirty="0"/>
            </a:br>
            <a:endParaRPr lang="uk-UA" dirty="0"/>
          </a:p>
        </p:txBody>
      </p:sp>
      <p:sp>
        <p:nvSpPr>
          <p:cNvPr id="3" name="Прямоугольник 2"/>
          <p:cNvSpPr>
            <a:spLocks noChangeArrowheads="1"/>
          </p:cNvSpPr>
          <p:nvPr/>
        </p:nvSpPr>
        <p:spPr bwMode="auto">
          <a:xfrm>
            <a:off x="5159896" y="2060849"/>
            <a:ext cx="4572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ru-RU" dirty="0"/>
              <a:t>- </a:t>
            </a:r>
            <a:r>
              <a:rPr lang="uk-UA" i="1" dirty="0"/>
              <a:t>терапія кольором </a:t>
            </a:r>
            <a:r>
              <a:rPr lang="uk-UA" dirty="0"/>
              <a:t>(зелений та синій колір допомагають заспокоїтись, червоний та жовтий надають енергію і бадьорість</a:t>
            </a:r>
            <a:r>
              <a:rPr lang="ru-RU" dirty="0"/>
              <a:t>)</a:t>
            </a:r>
            <a:r>
              <a:rPr lang="ru-RU" dirty="0"/>
              <a:t/>
            </a:r>
            <a:br>
              <a:rPr lang="ru-RU" dirty="0"/>
            </a:br>
            <a:endParaRPr lang="ru-RU" dirty="0"/>
          </a:p>
        </p:txBody>
      </p:sp>
      <p:sp>
        <p:nvSpPr>
          <p:cNvPr id="4" name="Прямоугольник 3"/>
          <p:cNvSpPr>
            <a:spLocks noChangeArrowheads="1"/>
          </p:cNvSpPr>
          <p:nvPr/>
        </p:nvSpPr>
        <p:spPr bwMode="auto">
          <a:xfrm>
            <a:off x="2713038" y="3716339"/>
            <a:ext cx="457200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uk-UA" dirty="0"/>
              <a:t>- </a:t>
            </a:r>
            <a:r>
              <a:rPr lang="uk-UA" i="1" dirty="0" err="1"/>
              <a:t>ароматерапія</a:t>
            </a:r>
            <a:r>
              <a:rPr lang="uk-UA" dirty="0"/>
              <a:t> (запахи апельсину, бергамоту діють на нервову систему збуджуючи, з'являється відчуття приливу сил; запахи лаванди, анісу, шавлії діють заспокійливо, допомагають зняти нервове напруження) </a:t>
            </a:r>
            <a:r>
              <a:rPr lang="ru-RU" dirty="0"/>
              <a:t/>
            </a:r>
            <a:br>
              <a:rPr lang="ru-RU" dirty="0"/>
            </a:br>
            <a:endParaRPr lang="ru-RU" dirty="0"/>
          </a:p>
        </p:txBody>
      </p:sp>
      <p:pic>
        <p:nvPicPr>
          <p:cNvPr id="62467" name="Picture 3" descr="C:\Users\Лена\Desktop\Емоційне вигорання вчителів\783584012-290x28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608" y="1257498"/>
            <a:ext cx="2135188"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4" descr="C:\Users\Лена\Desktop\Емоційне вигорання вчителів\81095513_1268250412_d697395b6bc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888" y="3205092"/>
            <a:ext cx="1962150" cy="257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6659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62467"/>
                                        </p:tgtEl>
                                        <p:attrNameLst>
                                          <p:attrName>style.visibility</p:attrName>
                                        </p:attrNameLst>
                                      </p:cBhvr>
                                      <p:to>
                                        <p:strVal val="visible"/>
                                      </p:to>
                                    </p:set>
                                    <p:animEffect transition="in" filter="circle(in)">
                                      <p:cBhvr>
                                        <p:cTn id="17" dur="2000"/>
                                        <p:tgtEl>
                                          <p:spTgt spid="624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62468"/>
                                        </p:tgtEl>
                                        <p:attrNameLst>
                                          <p:attrName>style.visibility</p:attrName>
                                        </p:attrNameLst>
                                      </p:cBhvr>
                                      <p:to>
                                        <p:strVal val="visible"/>
                                      </p:to>
                                    </p:set>
                                    <p:animEffect transition="in" filter="circle(in)">
                                      <p:cBhvr>
                                        <p:cTn id="27" dur="2000"/>
                                        <p:tgtEl>
                                          <p:spTgt spid="62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dirty="0" smtClean="0"/>
              <a:t>https://www.beztryvog.com.ua/post</a:t>
            </a:r>
            <a:r>
              <a:rPr lang="en-US" smtClean="0"/>
              <a:t>/%D1%81%D0%B8%D0%BD%D0%B4%D1%80%D0%BE%D0%BC-</a:t>
            </a:r>
            <a:endParaRPr lang="uk-UA" dirty="0"/>
          </a:p>
        </p:txBody>
      </p:sp>
      <p:pic>
        <p:nvPicPr>
          <p:cNvPr id="4" name="Объект 3"/>
          <p:cNvPicPr>
            <a:picLocks noGrp="1" noChangeAspect="1"/>
          </p:cNvPicPr>
          <p:nvPr>
            <p:ph idx="1"/>
          </p:nvPr>
        </p:nvPicPr>
        <p:blipFill>
          <a:blip r:embed="rId2"/>
          <a:stretch>
            <a:fillRect/>
          </a:stretch>
        </p:blipFill>
        <p:spPr>
          <a:xfrm>
            <a:off x="2830290" y="1825625"/>
            <a:ext cx="6531420" cy="4351338"/>
          </a:xfrm>
          <a:prstGeom prst="rect">
            <a:avLst/>
          </a:prstGeom>
        </p:spPr>
      </p:pic>
    </p:spTree>
    <p:extLst>
      <p:ext uri="{BB962C8B-B14F-4D97-AF65-F5344CB8AC3E}">
        <p14:creationId xmlns:p14="http://schemas.microsoft.com/office/powerpoint/2010/main" val="1167148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847528" y="620689"/>
            <a:ext cx="6975692" cy="4893647"/>
          </a:xfrm>
          <a:prstGeom prst="rect">
            <a:avLst/>
          </a:prstGeom>
          <a:noFill/>
        </p:spPr>
        <p:txBody>
          <a:bodyPr wrap="none" lIns="91440" tIns="45720" rIns="91440" bIns="45720">
            <a:spAutoFit/>
          </a:bodyPr>
          <a:lstStyle/>
          <a:p>
            <a:r>
              <a:rPr lang="ru-RU" sz="4800" b="1" dirty="0">
                <a:ln w="28575">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Д – </a:t>
            </a:r>
            <a:r>
              <a:rPr lang="ru-RU" sz="4800" b="1" dirty="0" err="1">
                <a:ln w="28575">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досвід</a:t>
            </a:r>
            <a:r>
              <a:rPr lang="ru-RU" sz="4800" b="1" dirty="0">
                <a:ln w="28575">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ru-RU"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r>
              <a:rPr lang="ru-RU"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що</a:t>
            </a:r>
            <a:r>
              <a:rPr lang="ru-RU"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t>
            </a:r>
            <a:r>
              <a:rPr lang="ru-RU"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запам</a:t>
            </a:r>
            <a:r>
              <a:rPr lang="en-US"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r>
              <a:rPr lang="ru-RU" sz="36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яталося</a:t>
            </a:r>
            <a:r>
              <a:rPr lang="ru-RU"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a:p>
            <a:r>
              <a:rPr lang="uk-UA" sz="4800" b="1" dirty="0">
                <a:ln w="28575">
                  <a:solidFill>
                    <a:srgbClr val="0070C0"/>
                  </a:solidFill>
                  <a:prstDash val="solid"/>
                </a:ln>
                <a:solidFill>
                  <a:schemeClr val="bg2">
                    <a:tint val="85000"/>
                    <a:satMod val="155000"/>
                  </a:schemeClr>
                </a:solidFill>
                <a:effectLst>
                  <a:outerShdw blurRad="41275" dist="20320" dir="1800000" algn="tl" rotWithShape="0">
                    <a:srgbClr val="000000">
                      <a:alpha val="40000"/>
                    </a:srgbClr>
                  </a:outerShdw>
                </a:effectLst>
              </a:rPr>
              <a:t>Р – рефлексія </a:t>
            </a:r>
            <a:r>
              <a:rPr lang="uk-UA"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(які відчуття)</a:t>
            </a:r>
          </a:p>
          <a:p>
            <a:r>
              <a:rPr lang="uk-UA" sz="4800" b="1" dirty="0">
                <a:ln w="28575">
                  <a:solidFill>
                    <a:srgbClr val="002060"/>
                  </a:solidFill>
                  <a:prstDash val="solid"/>
                </a:ln>
                <a:solidFill>
                  <a:schemeClr val="bg2">
                    <a:tint val="85000"/>
                    <a:satMod val="155000"/>
                  </a:schemeClr>
                </a:solidFill>
                <a:effectLst>
                  <a:outerShdw blurRad="41275" dist="20320" dir="1800000" algn="tl" rotWithShape="0">
                    <a:srgbClr val="000000">
                      <a:alpha val="40000"/>
                    </a:srgbClr>
                  </a:outerShdw>
                </a:effectLst>
              </a:rPr>
              <a:t>І – інформація </a:t>
            </a:r>
            <a:r>
              <a:rPr lang="uk-UA"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(яку </a:t>
            </a:r>
          </a:p>
          <a:p>
            <a:r>
              <a:rPr lang="uk-UA"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інформацію отримали, які </a:t>
            </a:r>
          </a:p>
          <a:p>
            <a:r>
              <a:rPr lang="uk-UA"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висновки) </a:t>
            </a:r>
          </a:p>
          <a:p>
            <a:r>
              <a:rPr lang="uk-UA" sz="4800" b="1" dirty="0">
                <a:ln w="28575">
                  <a:solidFill>
                    <a:srgbClr val="7030A0"/>
                  </a:solidFill>
                  <a:prstDash val="solid"/>
                </a:ln>
                <a:solidFill>
                  <a:schemeClr val="bg2">
                    <a:tint val="85000"/>
                    <a:satMod val="155000"/>
                  </a:schemeClr>
                </a:solidFill>
                <a:effectLst>
                  <a:outerShdw blurRad="41275" dist="20320" dir="1800000" algn="tl" rotWithShape="0">
                    <a:srgbClr val="000000">
                      <a:alpha val="40000"/>
                    </a:srgbClr>
                  </a:outerShdw>
                </a:effectLst>
              </a:rPr>
              <a:t>Д – дія </a:t>
            </a:r>
            <a:r>
              <a:rPr lang="uk-UA"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(як будете діяти в </a:t>
            </a:r>
          </a:p>
          <a:p>
            <a:r>
              <a:rPr lang="uk-UA"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майбутньому)</a:t>
            </a:r>
            <a:endParaRPr lang="ru-RU"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775668569"/>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2087</Words>
  <Application>Microsoft Office PowerPoint</Application>
  <PresentationFormat>Широкоэкранный</PresentationFormat>
  <Paragraphs>157</Paragraphs>
  <Slides>31</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31</vt:i4>
      </vt:variant>
    </vt:vector>
  </HeadingPairs>
  <TitlesOfParts>
    <vt:vector size="38" baseType="lpstr">
      <vt:lpstr>Arial</vt:lpstr>
      <vt:lpstr>Bookman Old Style</vt:lpstr>
      <vt:lpstr>Calibri</vt:lpstr>
      <vt:lpstr>Calibri Light</vt:lpstr>
      <vt:lpstr>Times New Roman</vt:lpstr>
      <vt:lpstr>Wingdings</vt:lpstr>
      <vt:lpstr>Тема Office</vt:lpstr>
      <vt:lpstr>Синдром емоційного вигорання: причини, ознаки, профілактика та відновлення</vt:lpstr>
      <vt:lpstr>Презентация PowerPoint</vt:lpstr>
      <vt:lpstr>Презентация PowerPoint</vt:lpstr>
      <vt:lpstr>  Синдром емоційного вигорання (термін, офіційно визнаний ВООЗ у 2019 році) - це стан, що виникає внаслідок хронічного стресу на роботі, з яким людина не може впоратися. Він характеризується трьома ключовими вимірами, що взаємно підсилюють один одного:  </vt:lpstr>
      <vt:lpstr>Синдром емоційного вигорання характерний лише для професій типу «людина-людина» </vt:lpstr>
      <vt:lpstr>Презентация PowerPoint</vt:lpstr>
      <vt:lpstr>Презентация PowerPoint</vt:lpstr>
      <vt:lpstr>Презентация PowerPoint</vt:lpstr>
      <vt:lpstr>Презентация PowerPoint</vt:lpstr>
      <vt:lpstr>Презентация PowerPoint</vt:lpstr>
      <vt:lpstr>Синдром хронічної втоми (СХВ) — це більш складний медичний діагноз, що включає тривалу та виснажливу втому, що триває тижнями, яка не зникає навіть після відпочинку. </vt:lpstr>
      <vt:lpstr>Презентация PowerPoint</vt:lpstr>
      <vt:lpstr>Причини вигорання </vt:lpstr>
      <vt:lpstr>Особливості вигорання у медиків, педагогів та соціальних працівників</vt:lpstr>
      <vt:lpstr>Ознаки та симптоми емоційного вигорання</vt:lpstr>
      <vt:lpstr>Фізичні прояви:</vt:lpstr>
      <vt:lpstr>Наслідки професійного вигорання</vt:lpstr>
      <vt:lpstr>Презентация PowerPoint</vt:lpstr>
      <vt:lpstr>Як боротися та відновлювати сили</vt:lpstr>
      <vt:lpstr>Професійна допомога: </vt:lpstr>
      <vt:lpstr>Профілактика вигорання</vt:lpstr>
      <vt:lpstr>Роль роботодавця</vt:lpstr>
      <vt:lpstr>Презентация PowerPoint</vt:lpstr>
      <vt:lpstr>Самодіагностика «Асоціація на слово «робота» </vt:lpstr>
      <vt:lpstr>Мозковий штурм ««Особистісні риси, які сприяють успішній роботі»»</vt:lpstr>
      <vt:lpstr>Презентация PowerPoint</vt:lpstr>
      <vt:lpstr>Презентация PowerPoint</vt:lpstr>
      <vt:lpstr>Презентация PowerPoint</vt:lpstr>
      <vt:lpstr>Презентация PowerPoint</vt:lpstr>
      <vt:lpstr>https://www.beztryvog.com.ua/post/%D1%81%D0%B8%D0%BD%D0%B4%D1%80%D0%BE%D0%BC-</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Синдром емоційного вигорання: причини, ознаки, профілактика та відновлення</dc:title>
  <dc:creator>User</dc:creator>
  <cp:lastModifiedBy>User</cp:lastModifiedBy>
  <cp:revision>4</cp:revision>
  <dcterms:created xsi:type="dcterms:W3CDTF">2025-10-01T13:30:49Z</dcterms:created>
  <dcterms:modified xsi:type="dcterms:W3CDTF">2025-10-01T13:43:19Z</dcterms:modified>
</cp:coreProperties>
</file>