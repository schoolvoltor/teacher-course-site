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2" r:id="rId6"/>
    <p:sldId id="260"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ru-RU" smtClean="0"/>
              <a:t>Образец заголовка</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A37D95A9-7A98-4FD1-9D85-E66B4AB36926}" type="datetimeFigureOut">
              <a:rPr lang="uk-UA" smtClean="0"/>
              <a:t>05.11.2025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2125947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3"/>
          <p:cNvSpPr>
            <a:spLocks noGrp="1"/>
          </p:cNvSpPr>
          <p:nvPr>
            <p:ph type="dt" sz="half" idx="10"/>
          </p:nvPr>
        </p:nvSpPr>
        <p:spPr/>
        <p:txBody>
          <a:bodyPr/>
          <a:lstStyle/>
          <a:p>
            <a:fld id="{A37D95A9-7A98-4FD1-9D85-E66B4AB36926}" type="datetimeFigureOut">
              <a:rPr lang="uk-UA" smtClean="0"/>
              <a:t>05.11.2025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191268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A37D95A9-7A98-4FD1-9D85-E66B4AB36926}" type="datetimeFigureOut">
              <a:rPr lang="uk-UA" smtClean="0"/>
              <a:t>05.11.2025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2881391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A37D95A9-7A98-4FD1-9D85-E66B4AB36926}" type="datetimeFigureOut">
              <a:rPr lang="uk-UA" smtClean="0"/>
              <a:t>05.11.2025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2023445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A37D95A9-7A98-4FD1-9D85-E66B4AB36926}" type="datetimeFigureOut">
              <a:rPr lang="uk-UA" smtClean="0"/>
              <a:t>05.11.2025</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1651243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7" name="Date Placeholder 2"/>
          <p:cNvSpPr>
            <a:spLocks noGrp="1"/>
          </p:cNvSpPr>
          <p:nvPr>
            <p:ph type="dt" sz="half" idx="10"/>
          </p:nvPr>
        </p:nvSpPr>
        <p:spPr/>
        <p:txBody>
          <a:bodyPr/>
          <a:lstStyle/>
          <a:p>
            <a:fld id="{A37D95A9-7A98-4FD1-9D85-E66B4AB36926}" type="datetimeFigureOut">
              <a:rPr lang="uk-UA" smtClean="0"/>
              <a:t>05.11.2025</a:t>
            </a:fld>
            <a:endParaRPr lang="uk-UA"/>
          </a:p>
        </p:txBody>
      </p:sp>
      <p:sp>
        <p:nvSpPr>
          <p:cNvPr id="5" name="Footer Placeholder 3"/>
          <p:cNvSpPr>
            <a:spLocks noGrp="1"/>
          </p:cNvSpPr>
          <p:nvPr>
            <p:ph type="ftr" sz="quarter" idx="11"/>
          </p:nvPr>
        </p:nvSpPr>
        <p:spPr/>
        <p:txBody>
          <a:bodyPr/>
          <a:lstStyle/>
          <a:p>
            <a:endParaRPr lang="uk-UA"/>
          </a:p>
        </p:txBody>
      </p:sp>
      <p:sp>
        <p:nvSpPr>
          <p:cNvPr id="6" name="Slide Number Placeholder 4"/>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1809110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37D95A9-7A98-4FD1-9D85-E66B4AB36926}" type="datetimeFigureOut">
              <a:rPr lang="uk-UA" smtClean="0"/>
              <a:t>05.11.2025</a:t>
            </a:fld>
            <a:endParaRPr lang="uk-UA"/>
          </a:p>
        </p:txBody>
      </p:sp>
      <p:sp>
        <p:nvSpPr>
          <p:cNvPr id="5" name="Footer Placeholder 2"/>
          <p:cNvSpPr>
            <a:spLocks noGrp="1"/>
          </p:cNvSpPr>
          <p:nvPr>
            <p:ph type="ftr" sz="quarter" idx="11"/>
          </p:nvPr>
        </p:nvSpPr>
        <p:spPr/>
        <p:txBody>
          <a:bodyPr/>
          <a:lstStyle/>
          <a:p>
            <a:endParaRPr lang="uk-UA"/>
          </a:p>
        </p:txBody>
      </p:sp>
      <p:sp>
        <p:nvSpPr>
          <p:cNvPr id="6" name="Slide Number Placeholder 3"/>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3140470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7" name="Date Placeholder 4"/>
          <p:cNvSpPr>
            <a:spLocks noGrp="1"/>
          </p:cNvSpPr>
          <p:nvPr>
            <p:ph type="dt" sz="half" idx="10"/>
          </p:nvPr>
        </p:nvSpPr>
        <p:spPr/>
        <p:txBody>
          <a:bodyPr/>
          <a:lstStyle/>
          <a:p>
            <a:fld id="{A37D95A9-7A98-4FD1-9D85-E66B4AB36926}" type="datetimeFigureOut">
              <a:rPr lang="uk-UA" smtClean="0"/>
              <a:t>05.11.2025</a:t>
            </a:fld>
            <a:endParaRPr lang="uk-UA"/>
          </a:p>
        </p:txBody>
      </p:sp>
      <p:sp>
        <p:nvSpPr>
          <p:cNvPr id="5" name="Footer Placeholder 5"/>
          <p:cNvSpPr>
            <a:spLocks noGrp="1"/>
          </p:cNvSpPr>
          <p:nvPr>
            <p:ph type="ftr" sz="quarter" idx="11"/>
          </p:nvPr>
        </p:nvSpPr>
        <p:spPr/>
        <p:txBody>
          <a:bodyPr/>
          <a:lstStyle/>
          <a:p>
            <a:endParaRPr lang="uk-UA"/>
          </a:p>
        </p:txBody>
      </p:sp>
      <p:sp>
        <p:nvSpPr>
          <p:cNvPr id="6" name="Slide Number Placeholder 6"/>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92469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A37D95A9-7A98-4FD1-9D85-E66B4AB36926}" type="datetimeFigureOut">
              <a:rPr lang="uk-UA" smtClean="0"/>
              <a:t>05.11.2025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770739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A37D95A9-7A98-4FD1-9D85-E66B4AB36926}" type="datetimeFigureOut">
              <a:rPr lang="uk-UA" smtClean="0"/>
              <a:t>05.11.2025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1171974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ru-RU" smtClean="0"/>
              <a:t>Образец заголовка</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4" name="Date Placeholder 3"/>
          <p:cNvSpPr>
            <a:spLocks noGrp="1"/>
          </p:cNvSpPr>
          <p:nvPr>
            <p:ph type="dt" sz="half" idx="10"/>
          </p:nvPr>
        </p:nvSpPr>
        <p:spPr/>
        <p:txBody>
          <a:bodyPr/>
          <a:lstStyle/>
          <a:p>
            <a:fld id="{A37D95A9-7A98-4FD1-9D85-E66B4AB36926}" type="datetimeFigureOut">
              <a:rPr lang="uk-UA" smtClean="0"/>
              <a:t>05.11.2025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8987648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ru-RU" smtClean="0"/>
              <a:t>Образец заголовка</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ru-RU" smtClean="0"/>
              <a:t>Образец текста</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4" name="Date Placeholder 3"/>
          <p:cNvSpPr>
            <a:spLocks noGrp="1"/>
          </p:cNvSpPr>
          <p:nvPr>
            <p:ph type="dt" sz="half" idx="10"/>
          </p:nvPr>
        </p:nvSpPr>
        <p:spPr/>
        <p:txBody>
          <a:bodyPr/>
          <a:lstStyle/>
          <a:p>
            <a:fld id="{A37D95A9-7A98-4FD1-9D85-E66B4AB36926}" type="datetimeFigureOut">
              <a:rPr lang="uk-UA" smtClean="0"/>
              <a:t>05.11.2025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E3627EA4-CE9D-4C85-87B9-72139B18CEE4}" type="slidenum">
              <a:rPr lang="uk-UA" smtClean="0"/>
              <a:t>‹#›</a:t>
            </a:fld>
            <a:endParaRPr lang="uk-UA"/>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8507407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A37D95A9-7A98-4FD1-9D85-E66B4AB36926}" type="datetimeFigureOut">
              <a:rPr lang="uk-UA" smtClean="0"/>
              <a:t>05.11.2025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22702333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ru-RU" smtClean="0"/>
              <a:t>Образец заголовка</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37D95A9-7A98-4FD1-9D85-E66B4AB36926}" type="datetimeFigureOut">
              <a:rPr lang="uk-UA" smtClean="0"/>
              <a:t>05.11.2025</a:t>
            </a:fld>
            <a:endParaRPr lang="uk-UA"/>
          </a:p>
        </p:txBody>
      </p:sp>
      <p:sp>
        <p:nvSpPr>
          <p:cNvPr id="4"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10613981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ru-RU" smtClean="0"/>
              <a:t>Образец заголовка</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37D95A9-7A98-4FD1-9D85-E66B4AB36926}" type="datetimeFigureOut">
              <a:rPr lang="uk-UA" smtClean="0"/>
              <a:t>05.11.2025</a:t>
            </a:fld>
            <a:endParaRPr lang="uk-UA"/>
          </a:p>
        </p:txBody>
      </p:sp>
      <p:sp>
        <p:nvSpPr>
          <p:cNvPr id="4"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4188986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nchorCtr="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A37D95A9-7A98-4FD1-9D85-E66B4AB36926}" type="datetimeFigureOut">
              <a:rPr lang="uk-UA" smtClean="0"/>
              <a:t>05.11.2025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42887676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A37D95A9-7A98-4FD1-9D85-E66B4AB36926}" type="datetimeFigureOut">
              <a:rPr lang="uk-UA" smtClean="0"/>
              <a:t>05.11.2025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E3627EA4-CE9D-4C85-87B9-72139B18CEE4}" type="slidenum">
              <a:rPr lang="uk-UA" smtClean="0"/>
              <a:t>‹#›</a:t>
            </a:fld>
            <a:endParaRPr lang="uk-UA"/>
          </a:p>
        </p:txBody>
      </p:sp>
    </p:spTree>
    <p:extLst>
      <p:ext uri="{BB962C8B-B14F-4D97-AF65-F5344CB8AC3E}">
        <p14:creationId xmlns:p14="http://schemas.microsoft.com/office/powerpoint/2010/main" val="4273116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ru-RU" smtClean="0"/>
              <a:t>Образец заголовка</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37D95A9-7A98-4FD1-9D85-E66B4AB36926}" type="datetimeFigureOut">
              <a:rPr lang="uk-UA" smtClean="0"/>
              <a:t>05.11.2025</a:t>
            </a:fld>
            <a:endParaRPr lang="uk-UA"/>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uk-UA"/>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3627EA4-CE9D-4C85-87B9-72139B18CEE4}" type="slidenum">
              <a:rPr lang="uk-UA" smtClean="0"/>
              <a:t>‹#›</a:t>
            </a:fld>
            <a:endParaRPr lang="uk-UA"/>
          </a:p>
        </p:txBody>
      </p:sp>
    </p:spTree>
    <p:extLst>
      <p:ext uri="{BB962C8B-B14F-4D97-AF65-F5344CB8AC3E}">
        <p14:creationId xmlns:p14="http://schemas.microsoft.com/office/powerpoint/2010/main" val="1434969044"/>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hryoutest.in.ua/courses/programa-pidvishchennya-kvalifikaciji-psihologichnoji-pidtrimki-dlya-osvityan-ta-batkiv" TargetMode="External"/><Relationship Id="rId2" Type="http://schemas.openxmlformats.org/officeDocument/2006/relationships/hyperlink" Target="https://www.mentalhelp.in.ua/" TargetMode="Externa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hyperlink" Target="https://hromada.academy/courses/praktichni-navichki-podolannya-stresu"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8194" name="Picture 2" descr="Психологічна допомога під час військових дій — Teletyp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9331"/>
            <a:ext cx="12181874"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Заголовок 1"/>
          <p:cNvSpPr>
            <a:spLocks noGrp="1"/>
          </p:cNvSpPr>
          <p:nvPr>
            <p:ph type="ctrTitle"/>
          </p:nvPr>
        </p:nvSpPr>
        <p:spPr>
          <a:xfrm>
            <a:off x="840509" y="304800"/>
            <a:ext cx="10664103" cy="2216727"/>
          </a:xfrm>
        </p:spPr>
        <p:txBody>
          <a:bodyPr/>
          <a:lstStyle/>
          <a:p>
            <a:pPr algn="ctr"/>
            <a:endParaRPr lang="uk-UA" dirty="0"/>
          </a:p>
        </p:txBody>
      </p:sp>
      <p:sp>
        <p:nvSpPr>
          <p:cNvPr id="3" name="Підзаголовок 2"/>
          <p:cNvSpPr>
            <a:spLocks noGrp="1"/>
          </p:cNvSpPr>
          <p:nvPr>
            <p:ph type="subTitle" idx="1"/>
          </p:nvPr>
        </p:nvSpPr>
        <p:spPr>
          <a:xfrm>
            <a:off x="840510" y="2910980"/>
            <a:ext cx="10518370" cy="2667699"/>
          </a:xfrm>
        </p:spPr>
        <p:txBody>
          <a:bodyPr>
            <a:normAutofit lnSpcReduction="10000"/>
          </a:bodyPr>
          <a:lstStyle/>
          <a:p>
            <a:endParaRPr lang="uk-UA" sz="3200" b="1" dirty="0" smtClean="0"/>
          </a:p>
          <a:p>
            <a:endParaRPr lang="uk-UA" sz="3200" b="1" dirty="0"/>
          </a:p>
          <a:p>
            <a:r>
              <a:rPr lang="uk-UA" sz="3200" b="1" dirty="0" smtClean="0">
                <a:solidFill>
                  <a:schemeClr val="tx1"/>
                </a:solidFill>
              </a:rPr>
              <a:t>«ПСИХОСОЦІАЛЬНА ПІДТРИМКА ТА ПСИХОЛОГІЧНА ДОПОМОГА УСІМ УЧАСНИКАМ ОСВІТНЬОГО ПРОЦЕСУ ПІД ЧАС ВІЙНИ»</a:t>
            </a:r>
            <a:endParaRPr lang="uk-UA" sz="3200" b="1" dirty="0">
              <a:solidFill>
                <a:schemeClr val="tx1"/>
              </a:solidFill>
            </a:endParaRPr>
          </a:p>
        </p:txBody>
      </p:sp>
    </p:spTree>
    <p:extLst>
      <p:ext uri="{BB962C8B-B14F-4D97-AF65-F5344CB8AC3E}">
        <p14:creationId xmlns:p14="http://schemas.microsoft.com/office/powerpoint/2010/main" val="231514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56145" y="624110"/>
            <a:ext cx="10248467" cy="1280890"/>
          </a:xfrm>
        </p:spPr>
        <p:txBody>
          <a:bodyPr>
            <a:noAutofit/>
          </a:bodyPr>
          <a:lstStyle/>
          <a:p>
            <a:r>
              <a:rPr lang="uk-UA" sz="3200" dirty="0"/>
              <a:t>Одним із головних завдань закладу освіти є повсякденна психологічна допомога здобувачам освіти та їхня емоційна підтримка. Психосоціальну допомогу в закладі освіти можуть надавати як педагогічні, так і інші працівники (вчителі-</a:t>
            </a:r>
            <a:r>
              <a:rPr lang="uk-UA" sz="3200" dirty="0" err="1"/>
              <a:t>предметники</a:t>
            </a:r>
            <a:r>
              <a:rPr lang="uk-UA" sz="3200" dirty="0"/>
              <a:t>, класні керівники, шкільний лікар, практичний психолог, соціальний педагог тощо), які знають та вміють застосовувати алгоритм першої психологічної допомоги.</a:t>
            </a:r>
          </a:p>
        </p:txBody>
      </p:sp>
    </p:spTree>
    <p:extLst>
      <p:ext uri="{BB962C8B-B14F-4D97-AF65-F5344CB8AC3E}">
        <p14:creationId xmlns:p14="http://schemas.microsoft.com/office/powerpoint/2010/main" val="2565798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1016000" y="858982"/>
            <a:ext cx="10488612" cy="5052240"/>
          </a:xfrm>
        </p:spPr>
        <p:txBody>
          <a:bodyPr>
            <a:normAutofit/>
          </a:bodyPr>
          <a:lstStyle/>
          <a:p>
            <a:r>
              <a:rPr lang="uk-UA" sz="3600" dirty="0"/>
              <a:t>Психосоціальна допомога спрямована на психологічну підтримку в складних і кризових ситуаціях, які викликають психологічний дискомфорт та емоційну нестабільність; на сприяння ефективній адаптації до соціального середовища, до мінливих соціальних умов як окремих особистостей, так і груп населення</a:t>
            </a:r>
          </a:p>
        </p:txBody>
      </p:sp>
    </p:spTree>
    <p:extLst>
      <p:ext uri="{BB962C8B-B14F-4D97-AF65-F5344CB8AC3E}">
        <p14:creationId xmlns:p14="http://schemas.microsoft.com/office/powerpoint/2010/main" val="1011429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31637" y="624110"/>
            <a:ext cx="10072976" cy="1280890"/>
          </a:xfrm>
        </p:spPr>
        <p:txBody>
          <a:bodyPr>
            <a:normAutofit fontScale="90000"/>
          </a:bodyPr>
          <a:lstStyle/>
          <a:p>
            <a:r>
              <a:rPr lang="ru-RU" b="1" dirty="0" err="1"/>
              <a:t>Визначення</a:t>
            </a:r>
            <a:r>
              <a:rPr lang="ru-RU" b="1" dirty="0"/>
              <a:t> </a:t>
            </a:r>
            <a:r>
              <a:rPr lang="ru-RU" b="1" dirty="0" err="1"/>
              <a:t>основних</a:t>
            </a:r>
            <a:r>
              <a:rPr lang="ru-RU" b="1" dirty="0"/>
              <a:t> понять – «</a:t>
            </a:r>
            <a:r>
              <a:rPr lang="ru-RU" b="1" dirty="0" err="1"/>
              <a:t>надзвичайна</a:t>
            </a:r>
            <a:r>
              <a:rPr lang="ru-RU" b="1" dirty="0"/>
              <a:t> </a:t>
            </a:r>
            <a:r>
              <a:rPr lang="ru-RU" b="1" dirty="0" err="1"/>
              <a:t>ситуація</a:t>
            </a:r>
            <a:r>
              <a:rPr lang="ru-RU" b="1" dirty="0"/>
              <a:t>», «</a:t>
            </a:r>
            <a:r>
              <a:rPr lang="ru-RU" b="1" dirty="0" err="1"/>
              <a:t>стрес</a:t>
            </a:r>
            <a:r>
              <a:rPr lang="ru-RU" b="1" dirty="0"/>
              <a:t>», «травма», «</a:t>
            </a:r>
            <a:r>
              <a:rPr lang="ru-RU" b="1" dirty="0" err="1"/>
              <a:t>травматичний</a:t>
            </a:r>
            <a:r>
              <a:rPr lang="ru-RU" b="1" dirty="0"/>
              <a:t> </a:t>
            </a:r>
            <a:r>
              <a:rPr lang="ru-RU" b="1" dirty="0" err="1"/>
              <a:t>стрес</a:t>
            </a:r>
            <a:r>
              <a:rPr lang="ru-RU" b="1" dirty="0"/>
              <a:t>»</a:t>
            </a:r>
            <a:endParaRPr lang="uk-UA" b="1" dirty="0"/>
          </a:p>
        </p:txBody>
      </p:sp>
      <p:sp>
        <p:nvSpPr>
          <p:cNvPr id="3" name="Місце для вмісту 2"/>
          <p:cNvSpPr>
            <a:spLocks noGrp="1"/>
          </p:cNvSpPr>
          <p:nvPr>
            <p:ph idx="1"/>
          </p:nvPr>
        </p:nvSpPr>
        <p:spPr>
          <a:xfrm>
            <a:off x="1108364" y="2133600"/>
            <a:ext cx="10396248" cy="3777622"/>
          </a:xfrm>
        </p:spPr>
        <p:txBody>
          <a:bodyPr>
            <a:normAutofit/>
          </a:bodyPr>
          <a:lstStyle/>
          <a:p>
            <a:r>
              <a:rPr lang="ru-RU" sz="3200" dirty="0"/>
              <a:t>Мета: </a:t>
            </a:r>
            <a:r>
              <a:rPr lang="ru-RU" sz="3200" dirty="0" err="1"/>
              <a:t>активувати</a:t>
            </a:r>
            <a:r>
              <a:rPr lang="ru-RU" sz="3200" dirty="0"/>
              <a:t> та </a:t>
            </a:r>
            <a:r>
              <a:rPr lang="ru-RU" sz="3200" dirty="0" err="1"/>
              <a:t>розширити</a:t>
            </a:r>
            <a:r>
              <a:rPr lang="ru-RU" sz="3200" dirty="0"/>
              <a:t> </a:t>
            </a:r>
            <a:r>
              <a:rPr lang="ru-RU" sz="3200" dirty="0" err="1"/>
              <a:t>знання</a:t>
            </a:r>
            <a:r>
              <a:rPr lang="ru-RU" sz="3200" dirty="0"/>
              <a:t> про </a:t>
            </a:r>
            <a:r>
              <a:rPr lang="ru-RU" sz="3200" dirty="0" err="1"/>
              <a:t>головні</a:t>
            </a:r>
            <a:r>
              <a:rPr lang="ru-RU" sz="3200" dirty="0"/>
              <a:t> характеристики понять та </a:t>
            </a:r>
            <a:r>
              <a:rPr lang="ru-RU" sz="3200" dirty="0" err="1"/>
              <a:t>обговорити</a:t>
            </a:r>
            <a:r>
              <a:rPr lang="ru-RU" sz="3200" dirty="0"/>
              <a:t> </a:t>
            </a:r>
            <a:r>
              <a:rPr lang="ru-RU" sz="3200" dirty="0" err="1"/>
              <a:t>основні</a:t>
            </a:r>
            <a:r>
              <a:rPr lang="ru-RU" sz="3200" dirty="0"/>
              <a:t> </a:t>
            </a:r>
            <a:r>
              <a:rPr lang="ru-RU" sz="3200" dirty="0" err="1"/>
              <a:t>положення</a:t>
            </a:r>
            <a:r>
              <a:rPr lang="ru-RU" sz="3200" dirty="0"/>
              <a:t>, </a:t>
            </a:r>
            <a:r>
              <a:rPr lang="ru-RU" sz="3200" dirty="0" err="1"/>
              <a:t>важливі</a:t>
            </a:r>
            <a:r>
              <a:rPr lang="ru-RU" sz="3200" dirty="0"/>
              <a:t> для </a:t>
            </a:r>
            <a:r>
              <a:rPr lang="ru-RU" sz="3200" dirty="0" err="1"/>
              <a:t>розуміння</a:t>
            </a:r>
            <a:r>
              <a:rPr lang="ru-RU" sz="3200" dirty="0"/>
              <a:t> та </a:t>
            </a:r>
            <a:r>
              <a:rPr lang="ru-RU" sz="3200" dirty="0" err="1"/>
              <a:t>врахування</a:t>
            </a:r>
            <a:r>
              <a:rPr lang="ru-RU" sz="3200" dirty="0"/>
              <a:t> в </a:t>
            </a:r>
            <a:r>
              <a:rPr lang="ru-RU" sz="3200" dirty="0" err="1"/>
              <a:t>роботі</a:t>
            </a:r>
            <a:r>
              <a:rPr lang="ru-RU" sz="3200" dirty="0"/>
              <a:t> з </a:t>
            </a:r>
            <a:r>
              <a:rPr lang="ru-RU" sz="3200" dirty="0" err="1"/>
              <a:t>дітьми</a:t>
            </a:r>
            <a:r>
              <a:rPr lang="ru-RU" sz="3200" dirty="0"/>
              <a:t> у </a:t>
            </a:r>
            <a:r>
              <a:rPr lang="ru-RU" sz="3200" dirty="0" err="1"/>
              <a:t>період</a:t>
            </a:r>
            <a:r>
              <a:rPr lang="ru-RU" sz="3200" dirty="0"/>
              <a:t> </a:t>
            </a:r>
            <a:r>
              <a:rPr lang="ru-RU" sz="3200" dirty="0" err="1"/>
              <a:t>війни</a:t>
            </a:r>
            <a:endParaRPr lang="uk-UA" sz="3200" dirty="0"/>
          </a:p>
        </p:txBody>
      </p:sp>
    </p:spTree>
    <p:extLst>
      <p:ext uri="{BB962C8B-B14F-4D97-AF65-F5344CB8AC3E}">
        <p14:creationId xmlns:p14="http://schemas.microsoft.com/office/powerpoint/2010/main" val="1407371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2183" y="212436"/>
            <a:ext cx="10442430" cy="1692564"/>
          </a:xfrm>
        </p:spPr>
        <p:txBody>
          <a:bodyPr>
            <a:normAutofit fontScale="90000"/>
          </a:bodyPr>
          <a:lstStyle/>
          <a:p>
            <a:r>
              <a:rPr lang="ru-RU" dirty="0" err="1"/>
              <a:t>Термін</a:t>
            </a:r>
            <a:r>
              <a:rPr lang="ru-RU" dirty="0"/>
              <a:t> «травма» </a:t>
            </a:r>
            <a:r>
              <a:rPr lang="ru-RU" dirty="0" err="1"/>
              <a:t>використовується</a:t>
            </a:r>
            <a:r>
              <a:rPr lang="ru-RU" dirty="0"/>
              <a:t> для </a:t>
            </a:r>
            <a:r>
              <a:rPr lang="ru-RU" dirty="0" err="1"/>
              <a:t>опису</a:t>
            </a:r>
            <a:r>
              <a:rPr lang="ru-RU" dirty="0"/>
              <a:t> </a:t>
            </a:r>
            <a:r>
              <a:rPr lang="ru-RU" dirty="0" err="1"/>
              <a:t>емоційного</a:t>
            </a:r>
            <a:r>
              <a:rPr lang="ru-RU" dirty="0"/>
              <a:t> стану дискомфорту та </a:t>
            </a:r>
            <a:r>
              <a:rPr lang="ru-RU" dirty="0" err="1"/>
              <a:t>стресу</a:t>
            </a:r>
            <a:r>
              <a:rPr lang="ru-RU" dirty="0"/>
              <a:t>. </a:t>
            </a:r>
            <a:r>
              <a:rPr lang="ru-RU" dirty="0" err="1"/>
              <a:t>Психотравма</a:t>
            </a:r>
            <a:r>
              <a:rPr lang="ru-RU" dirty="0"/>
              <a:t> </a:t>
            </a:r>
            <a:r>
              <a:rPr lang="ru-RU" dirty="0" err="1"/>
              <a:t>може</a:t>
            </a:r>
            <a:r>
              <a:rPr lang="ru-RU" dirty="0"/>
              <a:t> бути </a:t>
            </a:r>
            <a:r>
              <a:rPr lang="ru-RU" dirty="0" err="1"/>
              <a:t>спричинена</a:t>
            </a:r>
            <a:endParaRPr lang="uk-UA" dirty="0"/>
          </a:p>
        </p:txBody>
      </p:sp>
      <p:sp>
        <p:nvSpPr>
          <p:cNvPr id="3" name="Місце для вмісту 2"/>
          <p:cNvSpPr>
            <a:spLocks noGrp="1"/>
          </p:cNvSpPr>
          <p:nvPr>
            <p:ph idx="1"/>
          </p:nvPr>
        </p:nvSpPr>
        <p:spPr>
          <a:xfrm>
            <a:off x="757382" y="2133600"/>
            <a:ext cx="10747230" cy="3777622"/>
          </a:xfrm>
        </p:spPr>
        <p:txBody>
          <a:bodyPr>
            <a:normAutofit/>
          </a:bodyPr>
          <a:lstStyle/>
          <a:p>
            <a:r>
              <a:rPr lang="uk-UA" sz="2400" dirty="0"/>
              <a:t>подіями, які становлять небезпеку для життя, серйозного ураження тіла чи сексуального скривдження (особа може бути жертвою події, її свідком чи довідатися про травматичну подію, що сталася з рідними, зокрема про смерть чи загрозу життю</a:t>
            </a:r>
            <a:r>
              <a:rPr lang="uk-UA" sz="2400" dirty="0" smtClean="0"/>
              <a:t>);</a:t>
            </a:r>
          </a:p>
          <a:p>
            <a:r>
              <a:rPr lang="uk-UA" sz="2400" dirty="0" smtClean="0"/>
              <a:t> </a:t>
            </a:r>
            <a:r>
              <a:rPr lang="uk-UA" sz="2400" dirty="0"/>
              <a:t>- сильними стресовими подіями, що перевершують ресурси подолання їхніх наслідків та залишають «рану» у психіці; </a:t>
            </a:r>
            <a:endParaRPr lang="uk-UA" sz="2400" dirty="0" smtClean="0"/>
          </a:p>
          <a:p>
            <a:r>
              <a:rPr lang="uk-UA" sz="2400" dirty="0" smtClean="0"/>
              <a:t>- </a:t>
            </a:r>
            <a:r>
              <a:rPr lang="uk-UA" sz="2400" dirty="0"/>
              <a:t>спогадами про незвичний катастрофічний досвід, травматичну подію, які порушили почуття безпеки та цілісності людини</a:t>
            </a:r>
          </a:p>
        </p:txBody>
      </p:sp>
    </p:spTree>
    <p:extLst>
      <p:ext uri="{BB962C8B-B14F-4D97-AF65-F5344CB8AC3E}">
        <p14:creationId xmlns:p14="http://schemas.microsoft.com/office/powerpoint/2010/main" val="1422384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1117600" y="877455"/>
            <a:ext cx="10387012" cy="5033767"/>
          </a:xfrm>
        </p:spPr>
        <p:txBody>
          <a:bodyPr>
            <a:normAutofit/>
          </a:bodyPr>
          <a:lstStyle/>
          <a:p>
            <a:r>
              <a:rPr lang="uk-UA" sz="3600" dirty="0"/>
              <a:t>Надзвичайна ситуація означає таку, в якій життя, фізичне та психічне благополуччя або розвиток можливостей людини перебувають під загрозою внаслідок збройного конфлікту, стихійного лиха або проблем у соціальній чи правовій системі і де місцевий потенціал щодо виходу з кризи або вже використаний, або не є адекватним</a:t>
            </a:r>
          </a:p>
        </p:txBody>
      </p:sp>
    </p:spTree>
    <p:extLst>
      <p:ext uri="{BB962C8B-B14F-4D97-AF65-F5344CB8AC3E}">
        <p14:creationId xmlns:p14="http://schemas.microsoft.com/office/powerpoint/2010/main" val="1243339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25601" y="624110"/>
            <a:ext cx="9879012" cy="1280890"/>
          </a:xfrm>
        </p:spPr>
        <p:txBody>
          <a:bodyPr>
            <a:noAutofit/>
          </a:bodyPr>
          <a:lstStyle/>
          <a:p>
            <a:r>
              <a:rPr lang="ru-RU" sz="2000" dirty="0" err="1"/>
              <a:t>Термін</a:t>
            </a:r>
            <a:r>
              <a:rPr lang="ru-RU" sz="2000" dirty="0"/>
              <a:t> «криза» </a:t>
            </a:r>
            <a:r>
              <a:rPr lang="ru-RU" sz="2000" dirty="0" err="1"/>
              <a:t>стосується</a:t>
            </a:r>
            <a:r>
              <a:rPr lang="ru-RU" sz="2000" dirty="0"/>
              <a:t> </a:t>
            </a:r>
            <a:r>
              <a:rPr lang="ru-RU" sz="2000" dirty="0" err="1"/>
              <a:t>стресової</a:t>
            </a:r>
            <a:r>
              <a:rPr lang="ru-RU" sz="2000" dirty="0"/>
              <a:t> </a:t>
            </a:r>
            <a:r>
              <a:rPr lang="ru-RU" sz="2000" dirty="0" err="1"/>
              <a:t>ситуації</a:t>
            </a:r>
            <a:r>
              <a:rPr lang="ru-RU" sz="2000" dirty="0"/>
              <a:t>, де </a:t>
            </a:r>
            <a:r>
              <a:rPr lang="ru-RU" sz="2000" dirty="0" err="1"/>
              <a:t>попередній</a:t>
            </a:r>
            <a:r>
              <a:rPr lang="ru-RU" sz="2000" dirty="0"/>
              <a:t> </a:t>
            </a:r>
            <a:r>
              <a:rPr lang="ru-RU" sz="2000" dirty="0" err="1"/>
              <a:t>досвід</a:t>
            </a:r>
            <a:r>
              <a:rPr lang="ru-RU" sz="2000" dirty="0"/>
              <a:t> </a:t>
            </a:r>
            <a:r>
              <a:rPr lang="ru-RU" sz="2000" dirty="0" err="1"/>
              <a:t>людини</a:t>
            </a:r>
            <a:r>
              <a:rPr lang="ru-RU" sz="2000" dirty="0"/>
              <a:t> та </a:t>
            </a:r>
            <a:r>
              <a:rPr lang="ru-RU" sz="2000" dirty="0" err="1"/>
              <a:t>її</a:t>
            </a:r>
            <a:r>
              <a:rPr lang="ru-RU" sz="2000" dirty="0"/>
              <a:t> </a:t>
            </a:r>
            <a:r>
              <a:rPr lang="ru-RU" sz="2000" dirty="0" err="1"/>
              <a:t>звична</a:t>
            </a:r>
            <a:r>
              <a:rPr lang="ru-RU" sz="2000" dirty="0"/>
              <a:t> </a:t>
            </a:r>
            <a:r>
              <a:rPr lang="ru-RU" sz="2000" dirty="0" err="1"/>
              <a:t>стратегія</a:t>
            </a:r>
            <a:r>
              <a:rPr lang="ru-RU" sz="2000" dirty="0"/>
              <a:t> </a:t>
            </a:r>
            <a:r>
              <a:rPr lang="ru-RU" sz="2000" dirty="0" err="1"/>
              <a:t>виживання</a:t>
            </a:r>
            <a:r>
              <a:rPr lang="ru-RU" sz="2000" dirty="0"/>
              <a:t> не є </a:t>
            </a:r>
            <a:r>
              <a:rPr lang="ru-RU" sz="2000" dirty="0" err="1"/>
              <a:t>адекватними</a:t>
            </a:r>
            <a:r>
              <a:rPr lang="ru-RU" sz="2000" dirty="0"/>
              <a:t> для </a:t>
            </a:r>
            <a:r>
              <a:rPr lang="ru-RU" sz="2000" dirty="0" err="1"/>
              <a:t>розв’язання</a:t>
            </a:r>
            <a:r>
              <a:rPr lang="ru-RU" sz="2000" dirty="0"/>
              <a:t> </a:t>
            </a:r>
            <a:r>
              <a:rPr lang="ru-RU" sz="2000" dirty="0" err="1"/>
              <a:t>ситуації</a:t>
            </a:r>
            <a:r>
              <a:rPr lang="ru-RU" sz="2000" dirty="0"/>
              <a:t>. Криза </a:t>
            </a:r>
            <a:r>
              <a:rPr lang="ru-RU" sz="2000" dirty="0" err="1"/>
              <a:t>може</a:t>
            </a:r>
            <a:r>
              <a:rPr lang="ru-RU" sz="2000" dirty="0"/>
              <a:t> бути </a:t>
            </a:r>
            <a:r>
              <a:rPr lang="ru-RU" sz="2000" dirty="0" err="1"/>
              <a:t>раптовою</a:t>
            </a:r>
            <a:r>
              <a:rPr lang="ru-RU" sz="2000" dirty="0"/>
              <a:t> та драматичною, але </a:t>
            </a:r>
            <a:r>
              <a:rPr lang="ru-RU" sz="2000" dirty="0" err="1"/>
              <a:t>може</a:t>
            </a:r>
            <a:r>
              <a:rPr lang="ru-RU" sz="2000" dirty="0"/>
              <a:t> </a:t>
            </a:r>
            <a:r>
              <a:rPr lang="ru-RU" sz="2000" dirty="0" err="1"/>
              <a:t>розвиватися</a:t>
            </a:r>
            <a:r>
              <a:rPr lang="ru-RU" sz="2000" dirty="0"/>
              <a:t> й </a:t>
            </a:r>
            <a:r>
              <a:rPr lang="ru-RU" sz="2000" dirty="0" err="1"/>
              <a:t>поступово</a:t>
            </a:r>
            <a:endParaRPr lang="uk-UA" sz="2000" dirty="0"/>
          </a:p>
        </p:txBody>
      </p:sp>
      <p:sp>
        <p:nvSpPr>
          <p:cNvPr id="3" name="Місце для вмісту 2"/>
          <p:cNvSpPr>
            <a:spLocks noGrp="1"/>
          </p:cNvSpPr>
          <p:nvPr>
            <p:ph idx="1"/>
          </p:nvPr>
        </p:nvSpPr>
        <p:spPr>
          <a:xfrm>
            <a:off x="720436" y="2133600"/>
            <a:ext cx="10784176" cy="3777622"/>
          </a:xfrm>
        </p:spPr>
        <p:txBody>
          <a:bodyPr>
            <a:normAutofit/>
          </a:bodyPr>
          <a:lstStyle/>
          <a:p>
            <a:r>
              <a:rPr lang="uk-UA" sz="3200" dirty="0" smtClean="0"/>
              <a:t>Внутрішні</a:t>
            </a:r>
          </a:p>
          <a:p>
            <a:r>
              <a:rPr lang="uk-UA" sz="3200" dirty="0"/>
              <a:t>Зовнішні</a:t>
            </a:r>
          </a:p>
        </p:txBody>
      </p:sp>
      <p:pic>
        <p:nvPicPr>
          <p:cNvPr id="7170" name="Picture 2" descr="Криза - Симеон Илиев"/>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9833" y="2362531"/>
            <a:ext cx="2453401" cy="3319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9525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a:t>Класифікація травматичних подій</a:t>
            </a:r>
          </a:p>
        </p:txBody>
      </p:sp>
      <p:sp>
        <p:nvSpPr>
          <p:cNvPr id="3" name="Місце для вмісту 2"/>
          <p:cNvSpPr>
            <a:spLocks noGrp="1"/>
          </p:cNvSpPr>
          <p:nvPr>
            <p:ph idx="1"/>
          </p:nvPr>
        </p:nvSpPr>
        <p:spPr>
          <a:xfrm>
            <a:off x="729673" y="1745673"/>
            <a:ext cx="10774939" cy="4165549"/>
          </a:xfrm>
        </p:spPr>
        <p:txBody>
          <a:bodyPr>
            <a:noAutofit/>
          </a:bodyPr>
          <a:lstStyle/>
          <a:p>
            <a:r>
              <a:rPr lang="uk-UA" sz="2400" dirty="0" err="1"/>
              <a:t>Монотравма</a:t>
            </a:r>
            <a:r>
              <a:rPr lang="uk-UA" sz="2400" dirty="0"/>
              <a:t> (наприклад, ДТП</a:t>
            </a:r>
            <a:r>
              <a:rPr lang="uk-UA" sz="2400" dirty="0" smtClean="0"/>
              <a:t>).</a:t>
            </a:r>
          </a:p>
          <a:p>
            <a:r>
              <a:rPr lang="uk-UA" sz="2400" dirty="0" smtClean="0"/>
              <a:t> </a:t>
            </a:r>
            <a:r>
              <a:rPr lang="uk-UA" sz="2400" dirty="0" err="1"/>
              <a:t>Мультитравма</a:t>
            </a:r>
            <a:r>
              <a:rPr lang="uk-UA" sz="2400" dirty="0"/>
              <a:t> – одночасно різні види травм у певному спільному часовому проміжку (наприклад, участь у бойових діях). </a:t>
            </a:r>
            <a:endParaRPr lang="uk-UA" sz="2400" dirty="0" smtClean="0"/>
          </a:p>
          <a:p>
            <a:r>
              <a:rPr lang="uk-UA" sz="2400" dirty="0" err="1" smtClean="0"/>
              <a:t>Секвенційна</a:t>
            </a:r>
            <a:r>
              <a:rPr lang="uk-UA" sz="2400" dirty="0" smtClean="0"/>
              <a:t> </a:t>
            </a:r>
            <a:r>
              <a:rPr lang="uk-UA" sz="2400" dirty="0"/>
              <a:t>травма – той самий вид травми, яка має систематичний характер (наприклад, домашнє насильство). </a:t>
            </a:r>
            <a:endParaRPr lang="uk-UA" sz="2400" dirty="0" smtClean="0"/>
          </a:p>
          <a:p>
            <a:r>
              <a:rPr lang="uk-UA" sz="2400" dirty="0" smtClean="0"/>
              <a:t>Травма </a:t>
            </a:r>
            <a:r>
              <a:rPr lang="uk-UA" sz="2400" dirty="0"/>
              <a:t>розвитку – травматичне дитинство: повторювані травматичні події, відсутність безпечної прив’язаності, емоційне занедбання. </a:t>
            </a:r>
            <a:endParaRPr lang="uk-UA" sz="2400" dirty="0" smtClean="0"/>
          </a:p>
          <a:p>
            <a:r>
              <a:rPr lang="uk-UA" sz="2400" dirty="0"/>
              <a:t>Травма війни – зачіпає як військових, так і цивільних осіб у зоні бойових дій, біженців, медиків та інших.</a:t>
            </a:r>
          </a:p>
        </p:txBody>
      </p:sp>
    </p:spTree>
    <p:extLst>
      <p:ext uri="{BB962C8B-B14F-4D97-AF65-F5344CB8AC3E}">
        <p14:creationId xmlns:p14="http://schemas.microsoft.com/office/powerpoint/2010/main" val="1615406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94327" y="217710"/>
            <a:ext cx="10405485" cy="1564908"/>
          </a:xfrm>
        </p:spPr>
        <p:txBody>
          <a:bodyPr>
            <a:noAutofit/>
          </a:bodyPr>
          <a:lstStyle/>
          <a:p>
            <a:r>
              <a:rPr lang="uk-UA" sz="2400" dirty="0" smtClean="0"/>
              <a:t>Стрес (від </a:t>
            </a:r>
            <a:r>
              <a:rPr lang="uk-UA" sz="2400" dirty="0" err="1" smtClean="0"/>
              <a:t>англ</a:t>
            </a:r>
            <a:r>
              <a:rPr lang="uk-UA" sz="2400" dirty="0" smtClean="0"/>
              <a:t>. </a:t>
            </a:r>
            <a:r>
              <a:rPr lang="en-US" sz="2400" dirty="0" smtClean="0"/>
              <a:t>stress – </a:t>
            </a:r>
            <a:r>
              <a:rPr lang="uk-UA" sz="2400" dirty="0" smtClean="0"/>
              <a:t>напруга, тиск) – неспецифічна реакція організму у відповідь на дуже сильну зовнішню дію (подразник), яка перевищує норму, а також відповідна реакція нервової системи. </a:t>
            </a:r>
            <a:endParaRPr lang="uk-UA" sz="2400" dirty="0"/>
          </a:p>
        </p:txBody>
      </p:sp>
      <p:sp>
        <p:nvSpPr>
          <p:cNvPr id="4" name="Прямокутник 3"/>
          <p:cNvSpPr/>
          <p:nvPr/>
        </p:nvSpPr>
        <p:spPr>
          <a:xfrm>
            <a:off x="960582" y="2551837"/>
            <a:ext cx="10239230" cy="3539430"/>
          </a:xfrm>
          <a:prstGeom prst="rect">
            <a:avLst/>
          </a:prstGeom>
        </p:spPr>
        <p:txBody>
          <a:bodyPr wrap="square">
            <a:spAutoFit/>
          </a:bodyPr>
          <a:lstStyle/>
          <a:p>
            <a:r>
              <a:rPr lang="uk-UA" sz="3200" dirty="0" smtClean="0"/>
              <a:t>Стрес розрізняють за особливостями подразника, що його спричинює: </a:t>
            </a:r>
          </a:p>
          <a:p>
            <a:r>
              <a:rPr lang="uk-UA" sz="3200" b="1" dirty="0" smtClean="0"/>
              <a:t>фізичний стрес </a:t>
            </a:r>
            <a:r>
              <a:rPr lang="uk-UA" sz="3200" dirty="0" smtClean="0"/>
              <a:t>(внаслідок дії фізичних чинників: опік, травма, надсильний шум тощо); </a:t>
            </a:r>
            <a:r>
              <a:rPr lang="uk-UA" sz="3200" b="1" dirty="0" smtClean="0"/>
              <a:t>емоційний стрес </a:t>
            </a:r>
            <a:r>
              <a:rPr lang="uk-UA" sz="3200" dirty="0" smtClean="0"/>
              <a:t>(внаслідок дії психогенних чинників, які викликають неприємні, шкідливі, токсичні емоції)</a:t>
            </a:r>
            <a:endParaRPr lang="uk-UA" sz="3200" dirty="0"/>
          </a:p>
        </p:txBody>
      </p:sp>
      <p:pic>
        <p:nvPicPr>
          <p:cNvPr id="6146" name="Picture 2" descr="Стрес | КОСТОПРАВ Олесь Олександрович :: Лікар-остеопат. Мануальна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1447" y="906012"/>
            <a:ext cx="1626618" cy="2306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8372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40509" y="624110"/>
            <a:ext cx="10664103" cy="881417"/>
          </a:xfrm>
        </p:spPr>
        <p:txBody>
          <a:bodyPr/>
          <a:lstStyle/>
          <a:p>
            <a:pPr algn="ctr"/>
            <a:r>
              <a:rPr lang="ru-RU" dirty="0"/>
              <a:t>ВАЖЛИВО!!! </a:t>
            </a:r>
            <a:endParaRPr lang="uk-UA" dirty="0"/>
          </a:p>
        </p:txBody>
      </p:sp>
      <p:sp>
        <p:nvSpPr>
          <p:cNvPr id="3" name="Місце для вмісту 2"/>
          <p:cNvSpPr>
            <a:spLocks noGrp="1"/>
          </p:cNvSpPr>
          <p:nvPr>
            <p:ph idx="1"/>
          </p:nvPr>
        </p:nvSpPr>
        <p:spPr>
          <a:xfrm>
            <a:off x="840509" y="1616364"/>
            <a:ext cx="10664103" cy="4294858"/>
          </a:xfrm>
        </p:spPr>
        <p:txBody>
          <a:bodyPr>
            <a:normAutofit/>
          </a:bodyPr>
          <a:lstStyle/>
          <a:p>
            <a:pPr marL="0" indent="0">
              <a:buNone/>
            </a:pPr>
            <a:r>
              <a:rPr lang="ru-RU" sz="2400" dirty="0" err="1" smtClean="0"/>
              <a:t>Приймаємо</a:t>
            </a:r>
            <a:r>
              <a:rPr lang="ru-RU" sz="2400" dirty="0" smtClean="0"/>
              <a:t> </a:t>
            </a:r>
            <a:r>
              <a:rPr lang="ru-RU" sz="2400" dirty="0"/>
              <a:t>та </a:t>
            </a:r>
            <a:r>
              <a:rPr lang="ru-RU" sz="2400" dirty="0" err="1"/>
              <a:t>поважаємо</a:t>
            </a:r>
            <a:r>
              <a:rPr lang="ru-RU" sz="2400" dirty="0"/>
              <a:t> </a:t>
            </a:r>
            <a:r>
              <a:rPr lang="ru-RU" sz="2400" dirty="0" err="1"/>
              <a:t>стратегії</a:t>
            </a:r>
            <a:r>
              <a:rPr lang="ru-RU" sz="2400" dirty="0"/>
              <a:t> та </a:t>
            </a:r>
            <a:r>
              <a:rPr lang="ru-RU" sz="2400" dirty="0" err="1"/>
              <a:t>реакції</a:t>
            </a:r>
            <a:r>
              <a:rPr lang="ru-RU" sz="2400" dirty="0"/>
              <a:t> </a:t>
            </a:r>
            <a:r>
              <a:rPr lang="ru-RU" sz="2400" dirty="0" err="1"/>
              <a:t>людини</a:t>
            </a:r>
            <a:r>
              <a:rPr lang="ru-RU" sz="2400" dirty="0"/>
              <a:t>, яка </a:t>
            </a:r>
            <a:r>
              <a:rPr lang="ru-RU" sz="2400" dirty="0" err="1"/>
              <a:t>потрапила</a:t>
            </a:r>
            <a:r>
              <a:rPr lang="ru-RU" sz="2400" dirty="0"/>
              <a:t> </a:t>
            </a:r>
            <a:r>
              <a:rPr lang="ru-RU" sz="2400" dirty="0" err="1"/>
              <a:t>або</a:t>
            </a:r>
            <a:r>
              <a:rPr lang="ru-RU" sz="2400" dirty="0"/>
              <a:t> </a:t>
            </a:r>
            <a:r>
              <a:rPr lang="ru-RU" sz="2400" dirty="0" err="1"/>
              <a:t>перебуває</a:t>
            </a:r>
            <a:r>
              <a:rPr lang="ru-RU" sz="2400" dirty="0"/>
              <a:t> в </a:t>
            </a:r>
            <a:r>
              <a:rPr lang="ru-RU" sz="2400" dirty="0" err="1"/>
              <a:t>екстремальних</a:t>
            </a:r>
            <a:r>
              <a:rPr lang="ru-RU" sz="2400" dirty="0"/>
              <a:t> </a:t>
            </a:r>
            <a:r>
              <a:rPr lang="ru-RU" sz="2400" dirty="0" err="1"/>
              <a:t>травматичних</a:t>
            </a:r>
            <a:r>
              <a:rPr lang="ru-RU" sz="2400" dirty="0"/>
              <a:t> </a:t>
            </a:r>
            <a:r>
              <a:rPr lang="ru-RU" sz="2400" dirty="0" err="1"/>
              <a:t>умовах</a:t>
            </a:r>
            <a:r>
              <a:rPr lang="ru-RU" sz="2400" dirty="0"/>
              <a:t>! Людина в </a:t>
            </a:r>
            <a:r>
              <a:rPr lang="ru-RU" sz="2400" dirty="0" err="1"/>
              <a:t>екстремальних</a:t>
            </a:r>
            <a:r>
              <a:rPr lang="ru-RU" sz="2400" dirty="0"/>
              <a:t> </a:t>
            </a:r>
            <a:r>
              <a:rPr lang="ru-RU" sz="2400" dirty="0" err="1"/>
              <a:t>травматичних</a:t>
            </a:r>
            <a:r>
              <a:rPr lang="ru-RU" sz="2400" dirty="0"/>
              <a:t> </a:t>
            </a:r>
            <a:r>
              <a:rPr lang="ru-RU" sz="2400" dirty="0" err="1"/>
              <a:t>умовах</a:t>
            </a:r>
            <a:r>
              <a:rPr lang="ru-RU" sz="2400" dirty="0"/>
              <a:t> – НЕ «</a:t>
            </a:r>
            <a:r>
              <a:rPr lang="ru-RU" sz="2400" dirty="0" err="1"/>
              <a:t>хворий</a:t>
            </a:r>
            <a:r>
              <a:rPr lang="ru-RU" sz="2400" dirty="0"/>
              <a:t>», а </a:t>
            </a:r>
            <a:r>
              <a:rPr lang="ru-RU" sz="2400" dirty="0" err="1"/>
              <a:t>звичайна</a:t>
            </a:r>
            <a:r>
              <a:rPr lang="ru-RU" sz="2400" dirty="0"/>
              <a:t> </a:t>
            </a:r>
            <a:r>
              <a:rPr lang="ru-RU" sz="2400" dirty="0" err="1"/>
              <a:t>людина</a:t>
            </a:r>
            <a:r>
              <a:rPr lang="ru-RU" sz="2400" dirty="0"/>
              <a:t>! За результатами </a:t>
            </a:r>
            <a:r>
              <a:rPr lang="ru-RU" sz="2400" dirty="0" err="1"/>
              <a:t>досліджень</a:t>
            </a:r>
            <a:r>
              <a:rPr lang="ru-RU" sz="2400" dirty="0"/>
              <a:t>, </a:t>
            </a:r>
            <a:r>
              <a:rPr lang="ru-RU" sz="2400" dirty="0" err="1"/>
              <a:t>лише</a:t>
            </a:r>
            <a:r>
              <a:rPr lang="ru-RU" sz="2400" dirty="0"/>
              <a:t> 8 % </a:t>
            </a:r>
            <a:r>
              <a:rPr lang="ru-RU" sz="2400" dirty="0" err="1"/>
              <a:t>чоловіків</a:t>
            </a:r>
            <a:r>
              <a:rPr lang="ru-RU" sz="2400" dirty="0"/>
              <a:t> та 20 % </a:t>
            </a:r>
            <a:r>
              <a:rPr lang="ru-RU" sz="2400" dirty="0" err="1"/>
              <a:t>жінок</a:t>
            </a:r>
            <a:r>
              <a:rPr lang="ru-RU" sz="2400" dirty="0"/>
              <a:t>, </a:t>
            </a:r>
            <a:r>
              <a:rPr lang="ru-RU" sz="2400" dirty="0" err="1"/>
              <a:t>які</a:t>
            </a:r>
            <a:r>
              <a:rPr lang="ru-RU" sz="2400" dirty="0"/>
              <a:t> </a:t>
            </a:r>
            <a:r>
              <a:rPr lang="ru-RU" sz="2400" dirty="0" err="1"/>
              <a:t>зазнали</a:t>
            </a:r>
            <a:r>
              <a:rPr lang="ru-RU" sz="2400" dirty="0"/>
              <a:t> </a:t>
            </a:r>
            <a:r>
              <a:rPr lang="ru-RU" sz="2400" dirty="0" err="1"/>
              <a:t>травматичної</a:t>
            </a:r>
            <a:r>
              <a:rPr lang="ru-RU" sz="2400" dirty="0"/>
              <a:t> </a:t>
            </a:r>
            <a:r>
              <a:rPr lang="ru-RU" sz="2400" dirty="0" err="1"/>
              <a:t>події</a:t>
            </a:r>
            <a:r>
              <a:rPr lang="ru-RU" sz="2400" dirty="0"/>
              <a:t>, </a:t>
            </a:r>
            <a:r>
              <a:rPr lang="ru-RU" sz="2400" dirty="0" err="1"/>
              <a:t>потерпають</a:t>
            </a:r>
            <a:r>
              <a:rPr lang="ru-RU" sz="2400" dirty="0"/>
              <a:t> через </a:t>
            </a:r>
            <a:r>
              <a:rPr lang="ru-RU" sz="2400" dirty="0" err="1"/>
              <a:t>посттравматичні</a:t>
            </a:r>
            <a:r>
              <a:rPr lang="ru-RU" sz="2400" dirty="0"/>
              <a:t> </a:t>
            </a:r>
            <a:r>
              <a:rPr lang="ru-RU" sz="2400" dirty="0" err="1"/>
              <a:t>стресові</a:t>
            </a:r>
            <a:r>
              <a:rPr lang="ru-RU" sz="2400" dirty="0"/>
              <a:t> </a:t>
            </a:r>
            <a:r>
              <a:rPr lang="ru-RU" sz="2400" dirty="0" err="1"/>
              <a:t>розлади</a:t>
            </a:r>
            <a:r>
              <a:rPr lang="ru-RU" sz="2400" dirty="0"/>
              <a:t> (ПТСР). </a:t>
            </a:r>
            <a:r>
              <a:rPr lang="ru-RU" sz="2400" dirty="0" err="1"/>
              <a:t>Такий</a:t>
            </a:r>
            <a:r>
              <a:rPr lang="ru-RU" sz="2400" dirty="0"/>
              <a:t> стан </a:t>
            </a:r>
            <a:r>
              <a:rPr lang="ru-RU" sz="2400" dirty="0" err="1"/>
              <a:t>можна</a:t>
            </a:r>
            <a:r>
              <a:rPr lang="ru-RU" sz="2400" dirty="0"/>
              <a:t> </a:t>
            </a:r>
            <a:r>
              <a:rPr lang="ru-RU" sz="2400" dirty="0" err="1"/>
              <a:t>подолати</a:t>
            </a:r>
            <a:r>
              <a:rPr lang="ru-RU" sz="2400" dirty="0"/>
              <a:t> та </a:t>
            </a:r>
            <a:r>
              <a:rPr lang="ru-RU" sz="2400" dirty="0" err="1"/>
              <a:t>навчитися</a:t>
            </a:r>
            <a:r>
              <a:rPr lang="ru-RU" sz="2400" dirty="0"/>
              <a:t> ним </a:t>
            </a:r>
            <a:r>
              <a:rPr lang="ru-RU" sz="2400" dirty="0" err="1"/>
              <a:t>керувати</a:t>
            </a:r>
            <a:r>
              <a:rPr lang="ru-RU" sz="2400" dirty="0"/>
              <a:t>. </a:t>
            </a:r>
            <a:r>
              <a:rPr lang="ru-RU" sz="2400" dirty="0" err="1"/>
              <a:t>Переважна</a:t>
            </a:r>
            <a:r>
              <a:rPr lang="ru-RU" sz="2400" dirty="0"/>
              <a:t> </a:t>
            </a:r>
            <a:r>
              <a:rPr lang="ru-RU" sz="2400" dirty="0" err="1"/>
              <a:t>кількість</a:t>
            </a:r>
            <a:r>
              <a:rPr lang="ru-RU" sz="2400" dirty="0"/>
              <a:t> людей (70%) </a:t>
            </a:r>
            <a:r>
              <a:rPr lang="ru-RU" sz="2400" dirty="0" err="1"/>
              <a:t>вважають</a:t>
            </a:r>
            <a:r>
              <a:rPr lang="ru-RU" sz="2400" dirty="0"/>
              <a:t>, </a:t>
            </a:r>
            <a:r>
              <a:rPr lang="ru-RU" sz="2400" dirty="0" err="1"/>
              <a:t>що</a:t>
            </a:r>
            <a:r>
              <a:rPr lang="ru-RU" sz="2400" dirty="0"/>
              <a:t> вони </a:t>
            </a:r>
            <a:r>
              <a:rPr lang="ru-RU" sz="2400" dirty="0" err="1"/>
              <a:t>можуть</a:t>
            </a:r>
            <a:r>
              <a:rPr lang="ru-RU" sz="2400" dirty="0"/>
              <a:t> </a:t>
            </a:r>
            <a:r>
              <a:rPr lang="ru-RU" sz="2400" dirty="0" err="1"/>
              <a:t>впоратися</a:t>
            </a:r>
            <a:r>
              <a:rPr lang="ru-RU" sz="2400" dirty="0"/>
              <a:t> з травмою та </a:t>
            </a:r>
            <a:r>
              <a:rPr lang="ru-RU" sz="2400" dirty="0" err="1"/>
              <a:t>відновитися</a:t>
            </a:r>
            <a:r>
              <a:rPr lang="ru-RU" sz="2400" dirty="0"/>
              <a:t> без </a:t>
            </a:r>
            <a:r>
              <a:rPr lang="ru-RU" sz="2400" dirty="0" err="1"/>
              <a:t>сторонньої</a:t>
            </a:r>
            <a:r>
              <a:rPr lang="ru-RU" sz="2400" dirty="0"/>
              <a:t> </a:t>
            </a:r>
            <a:r>
              <a:rPr lang="ru-RU" sz="2400" dirty="0" err="1"/>
              <a:t>допомоги</a:t>
            </a:r>
            <a:r>
              <a:rPr lang="ru-RU" sz="2400" dirty="0"/>
              <a:t>. Разом </a:t>
            </a:r>
            <a:r>
              <a:rPr lang="ru-RU" sz="2400" dirty="0" err="1"/>
              <a:t>із</a:t>
            </a:r>
            <a:r>
              <a:rPr lang="ru-RU" sz="2400" dirty="0"/>
              <a:t> </a:t>
            </a:r>
            <a:r>
              <a:rPr lang="ru-RU" sz="2400" dirty="0" err="1"/>
              <a:t>тим</a:t>
            </a:r>
            <a:r>
              <a:rPr lang="ru-RU" sz="2400" dirty="0"/>
              <a:t>, </a:t>
            </a:r>
            <a:r>
              <a:rPr lang="ru-RU" sz="2400" dirty="0" err="1"/>
              <a:t>своєчасна</a:t>
            </a:r>
            <a:r>
              <a:rPr lang="ru-RU" sz="2400" dirty="0"/>
              <a:t> Перша </a:t>
            </a:r>
            <a:r>
              <a:rPr lang="ru-RU" sz="2400" dirty="0" err="1"/>
              <a:t>Психологічна</a:t>
            </a:r>
            <a:r>
              <a:rPr lang="ru-RU" sz="2400" dirty="0"/>
              <a:t> </a:t>
            </a:r>
            <a:r>
              <a:rPr lang="ru-RU" sz="2400" dirty="0" err="1"/>
              <a:t>Допомога</a:t>
            </a:r>
            <a:r>
              <a:rPr lang="ru-RU" sz="2400" dirty="0"/>
              <a:t> </a:t>
            </a:r>
            <a:r>
              <a:rPr lang="ru-RU" sz="2400" dirty="0" err="1"/>
              <a:t>важлива</a:t>
            </a:r>
            <a:r>
              <a:rPr lang="ru-RU" sz="2400" dirty="0"/>
              <a:t> для </a:t>
            </a:r>
            <a:r>
              <a:rPr lang="ru-RU" sz="2400" dirty="0" err="1"/>
              <a:t>прискорення</a:t>
            </a:r>
            <a:r>
              <a:rPr lang="ru-RU" sz="2400" dirty="0"/>
              <a:t> </a:t>
            </a:r>
            <a:r>
              <a:rPr lang="ru-RU" sz="2400" dirty="0" err="1"/>
              <a:t>відновлення</a:t>
            </a:r>
            <a:r>
              <a:rPr lang="ru-RU" sz="2400" dirty="0"/>
              <a:t> </a:t>
            </a:r>
            <a:r>
              <a:rPr lang="ru-RU" sz="2400" dirty="0" err="1"/>
              <a:t>після</a:t>
            </a:r>
            <a:r>
              <a:rPr lang="ru-RU" sz="2400" dirty="0"/>
              <a:t> </a:t>
            </a:r>
            <a:r>
              <a:rPr lang="ru-RU" sz="2400" dirty="0" err="1"/>
              <a:t>отримання</a:t>
            </a:r>
            <a:r>
              <a:rPr lang="ru-RU" sz="2400" dirty="0"/>
              <a:t> </a:t>
            </a:r>
            <a:r>
              <a:rPr lang="ru-RU" sz="2400" dirty="0" err="1"/>
              <a:t>травматичного</a:t>
            </a:r>
            <a:r>
              <a:rPr lang="ru-RU" sz="2400" dirty="0"/>
              <a:t> </a:t>
            </a:r>
            <a:r>
              <a:rPr lang="ru-RU" sz="2400" dirty="0" err="1"/>
              <a:t>досвіду</a:t>
            </a:r>
            <a:endParaRPr lang="uk-UA" sz="2400" dirty="0"/>
          </a:p>
        </p:txBody>
      </p:sp>
    </p:spTree>
    <p:extLst>
      <p:ext uri="{BB962C8B-B14F-4D97-AF65-F5344CB8AC3E}">
        <p14:creationId xmlns:p14="http://schemas.microsoft.com/office/powerpoint/2010/main" val="417327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Особливості</a:t>
            </a:r>
            <a:r>
              <a:rPr lang="ru-RU" dirty="0"/>
              <a:t> </a:t>
            </a:r>
            <a:r>
              <a:rPr lang="ru-RU" dirty="0" err="1"/>
              <a:t>реагування</a:t>
            </a:r>
            <a:r>
              <a:rPr lang="ru-RU" dirty="0"/>
              <a:t> </a:t>
            </a:r>
            <a:r>
              <a:rPr lang="ru-RU" dirty="0" err="1"/>
              <a:t>дітей</a:t>
            </a:r>
            <a:r>
              <a:rPr lang="ru-RU" dirty="0"/>
              <a:t> на </a:t>
            </a:r>
            <a:r>
              <a:rPr lang="ru-RU" dirty="0" err="1"/>
              <a:t>травматичні</a:t>
            </a:r>
            <a:r>
              <a:rPr lang="ru-RU" dirty="0"/>
              <a:t> </a:t>
            </a:r>
            <a:r>
              <a:rPr lang="ru-RU" dirty="0" err="1"/>
              <a:t>умови</a:t>
            </a:r>
            <a:endParaRPr lang="uk-UA" dirty="0"/>
          </a:p>
        </p:txBody>
      </p:sp>
      <p:sp>
        <p:nvSpPr>
          <p:cNvPr id="3" name="Місце для вмісту 2"/>
          <p:cNvSpPr>
            <a:spLocks noGrp="1"/>
          </p:cNvSpPr>
          <p:nvPr>
            <p:ph idx="1"/>
          </p:nvPr>
        </p:nvSpPr>
        <p:spPr>
          <a:xfrm>
            <a:off x="720436" y="2133599"/>
            <a:ext cx="10784176" cy="4433455"/>
          </a:xfrm>
        </p:spPr>
        <p:txBody>
          <a:bodyPr>
            <a:normAutofit fontScale="92500" lnSpcReduction="20000"/>
          </a:bodyPr>
          <a:lstStyle/>
          <a:p>
            <a:r>
              <a:rPr lang="uk-UA" sz="2400" dirty="0"/>
              <a:t>ЗОНА ОСОБЛИВОЇ УВАГИ! </a:t>
            </a:r>
            <a:endParaRPr lang="uk-UA" sz="2400" dirty="0" smtClean="0"/>
          </a:p>
          <a:p>
            <a:r>
              <a:rPr lang="uk-UA" sz="2400" dirty="0" smtClean="0"/>
              <a:t>• </a:t>
            </a:r>
            <a:r>
              <a:rPr lang="uk-UA" sz="2400" dirty="0"/>
              <a:t>В умовах кризи діти реагують і мислять не так, як дорослі. • Частіше дітей лякає (травмує) не сама кризова подія, а реакція дорослих на неї. </a:t>
            </a:r>
            <a:endParaRPr lang="uk-UA" sz="2400" dirty="0" smtClean="0"/>
          </a:p>
          <a:p>
            <a:r>
              <a:rPr lang="uk-UA" sz="2400" dirty="0" smtClean="0"/>
              <a:t>• </a:t>
            </a:r>
            <a:r>
              <a:rPr lang="uk-UA" sz="2400" dirty="0"/>
              <a:t>Не всі діти потребують першої психологічної допомоги. Дехто з них, як і дорослі, дуже легко долають і переживають неприємний досвід. </a:t>
            </a:r>
            <a:endParaRPr lang="uk-UA" sz="2400" dirty="0" smtClean="0"/>
          </a:p>
          <a:p>
            <a:r>
              <a:rPr lang="uk-UA" sz="2400" dirty="0" smtClean="0"/>
              <a:t>• </a:t>
            </a:r>
            <a:r>
              <a:rPr lang="uk-UA" sz="2400" dirty="0"/>
              <a:t>Сумні думки та переживання виникають практично в усіх без винятку дітей (незалежно від віку). </a:t>
            </a:r>
            <a:endParaRPr lang="uk-UA" sz="2400" dirty="0" smtClean="0"/>
          </a:p>
          <a:p>
            <a:r>
              <a:rPr lang="uk-UA" sz="2400" dirty="0" smtClean="0"/>
              <a:t>• </a:t>
            </a:r>
            <a:r>
              <a:rPr lang="uk-UA" sz="2400" dirty="0"/>
              <a:t>Потрібно стежити за «навідними» запитаннями від дітей. </a:t>
            </a:r>
            <a:endParaRPr lang="uk-UA" sz="2400" dirty="0" smtClean="0"/>
          </a:p>
          <a:p>
            <a:r>
              <a:rPr lang="uk-UA" sz="2400" dirty="0" smtClean="0"/>
              <a:t>• </a:t>
            </a:r>
            <a:r>
              <a:rPr lang="uk-UA" sz="2400" dirty="0"/>
              <a:t>Будь-яка ненормальна реакція на ненормальну ситуацію є НОРМАЛЬНОЮ</a:t>
            </a:r>
            <a:r>
              <a:rPr lang="uk-UA" sz="2400" dirty="0" smtClean="0"/>
              <a:t>!</a:t>
            </a:r>
          </a:p>
          <a:p>
            <a:r>
              <a:rPr lang="uk-UA" sz="2400" dirty="0" smtClean="0"/>
              <a:t> </a:t>
            </a:r>
            <a:r>
              <a:rPr lang="uk-UA" sz="2400" dirty="0"/>
              <a:t>• Дуже важливо розуміти І ВЧАСНО ПОМІЧАТИ зміни, які виявляються у поведінці дітей різного віку</a:t>
            </a:r>
          </a:p>
        </p:txBody>
      </p:sp>
    </p:spTree>
    <p:extLst>
      <p:ext uri="{BB962C8B-B14F-4D97-AF65-F5344CB8AC3E}">
        <p14:creationId xmlns:p14="http://schemas.microsoft.com/office/powerpoint/2010/main" val="3786875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10327" y="624110"/>
            <a:ext cx="9694285" cy="1280890"/>
          </a:xfrm>
        </p:spPr>
        <p:txBody>
          <a:bodyPr/>
          <a:lstStyle/>
          <a:p>
            <a:r>
              <a:rPr lang="uk-UA" dirty="0"/>
              <a:t>Можливий перебіг травматичного досвіду</a:t>
            </a:r>
          </a:p>
        </p:txBody>
      </p:sp>
      <p:sp>
        <p:nvSpPr>
          <p:cNvPr id="3" name="Місце для вмісту 2"/>
          <p:cNvSpPr>
            <a:spLocks noGrp="1"/>
          </p:cNvSpPr>
          <p:nvPr>
            <p:ph idx="1"/>
          </p:nvPr>
        </p:nvSpPr>
        <p:spPr>
          <a:xfrm>
            <a:off x="738909" y="2133600"/>
            <a:ext cx="10765703" cy="3777622"/>
          </a:xfrm>
        </p:spPr>
        <p:txBody>
          <a:bodyPr>
            <a:normAutofit/>
          </a:bodyPr>
          <a:lstStyle/>
          <a:p>
            <a:r>
              <a:rPr lang="ru-RU" sz="3200" dirty="0" err="1"/>
              <a:t>Гостра</a:t>
            </a:r>
            <a:r>
              <a:rPr lang="ru-RU" sz="3200" dirty="0"/>
              <a:t> </a:t>
            </a:r>
            <a:r>
              <a:rPr lang="ru-RU" sz="3200" dirty="0" err="1"/>
              <a:t>стресова</a:t>
            </a:r>
            <a:r>
              <a:rPr lang="ru-RU" sz="3200" dirty="0"/>
              <a:t> </a:t>
            </a:r>
            <a:r>
              <a:rPr lang="ru-RU" sz="3200" dirty="0" err="1"/>
              <a:t>реакція</a:t>
            </a:r>
            <a:r>
              <a:rPr lang="ru-RU" sz="3200" dirty="0"/>
              <a:t> (</a:t>
            </a:r>
            <a:r>
              <a:rPr lang="ru-RU" sz="3200" dirty="0" err="1"/>
              <a:t>перші</a:t>
            </a:r>
            <a:r>
              <a:rPr lang="ru-RU" sz="3200" dirty="0"/>
              <a:t> три </a:t>
            </a:r>
            <a:r>
              <a:rPr lang="ru-RU" sz="3200" dirty="0" err="1"/>
              <a:t>дні</a:t>
            </a:r>
            <a:r>
              <a:rPr lang="ru-RU" sz="3200" dirty="0"/>
              <a:t>). </a:t>
            </a:r>
            <a:endParaRPr lang="ru-RU" sz="3200" dirty="0" smtClean="0"/>
          </a:p>
          <a:p>
            <a:r>
              <a:rPr lang="ru-RU" sz="3200" dirty="0" err="1" smtClean="0"/>
              <a:t>Гострий</a:t>
            </a:r>
            <a:r>
              <a:rPr lang="ru-RU" sz="3200" dirty="0" smtClean="0"/>
              <a:t> </a:t>
            </a:r>
            <a:r>
              <a:rPr lang="ru-RU" sz="3200" dirty="0" err="1"/>
              <a:t>стресовий</a:t>
            </a:r>
            <a:r>
              <a:rPr lang="ru-RU" sz="3200" dirty="0"/>
              <a:t> </a:t>
            </a:r>
            <a:r>
              <a:rPr lang="ru-RU" sz="3200" dirty="0" err="1"/>
              <a:t>розлад</a:t>
            </a:r>
            <a:r>
              <a:rPr lang="ru-RU" sz="3200" dirty="0"/>
              <a:t> (до 4-х </a:t>
            </a:r>
            <a:r>
              <a:rPr lang="ru-RU" sz="3200" dirty="0" err="1"/>
              <a:t>тижнів</a:t>
            </a:r>
            <a:r>
              <a:rPr lang="ru-RU" sz="3200" dirty="0" smtClean="0"/>
              <a:t>).</a:t>
            </a:r>
          </a:p>
          <a:p>
            <a:r>
              <a:rPr lang="ru-RU" sz="3200" dirty="0" smtClean="0"/>
              <a:t> </a:t>
            </a:r>
            <a:r>
              <a:rPr lang="ru-RU" sz="3200" dirty="0" err="1"/>
              <a:t>Посттравматичний</a:t>
            </a:r>
            <a:r>
              <a:rPr lang="ru-RU" sz="3200" dirty="0"/>
              <a:t> </a:t>
            </a:r>
            <a:r>
              <a:rPr lang="ru-RU" sz="3200" dirty="0" err="1"/>
              <a:t>стресовий</a:t>
            </a:r>
            <a:r>
              <a:rPr lang="ru-RU" sz="3200" dirty="0"/>
              <a:t> </a:t>
            </a:r>
            <a:r>
              <a:rPr lang="ru-RU" sz="3200" dirty="0" err="1"/>
              <a:t>розлад</a:t>
            </a:r>
            <a:r>
              <a:rPr lang="ru-RU" sz="3200" dirty="0"/>
              <a:t> – ПТСР (</a:t>
            </a:r>
            <a:r>
              <a:rPr lang="ru-RU" sz="3200" dirty="0" err="1"/>
              <a:t>після</a:t>
            </a:r>
            <a:r>
              <a:rPr lang="ru-RU" sz="3200" dirty="0"/>
              <a:t> 4-х </a:t>
            </a:r>
            <a:r>
              <a:rPr lang="ru-RU" sz="3200" dirty="0" err="1"/>
              <a:t>тижнів</a:t>
            </a:r>
            <a:r>
              <a:rPr lang="ru-RU" sz="3200" dirty="0"/>
              <a:t>)</a:t>
            </a:r>
            <a:endParaRPr lang="uk-UA" sz="3200" dirty="0"/>
          </a:p>
        </p:txBody>
      </p:sp>
    </p:spTree>
    <p:extLst>
      <p:ext uri="{BB962C8B-B14F-4D97-AF65-F5344CB8AC3E}">
        <p14:creationId xmlns:p14="http://schemas.microsoft.com/office/powerpoint/2010/main" val="106212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06765" y="624110"/>
            <a:ext cx="10497848" cy="659745"/>
          </a:xfrm>
        </p:spPr>
        <p:txBody>
          <a:bodyPr>
            <a:noAutofit/>
          </a:bodyPr>
          <a:lstStyle/>
          <a:p>
            <a:r>
              <a:rPr lang="uk-UA" sz="2000" dirty="0" smtClean="0"/>
              <a:t>Пропоную </a:t>
            </a:r>
            <a:r>
              <a:rPr lang="uk-UA" sz="2000" dirty="0"/>
              <a:t>техніки та відеоматеріали, які вчитель може застосовувати під час проведення «психологічної хвилинки» для </a:t>
            </a:r>
            <a:r>
              <a:rPr lang="uk-UA" sz="2000" dirty="0" smtClean="0"/>
              <a:t>дітей </a:t>
            </a:r>
            <a:r>
              <a:rPr lang="uk-UA" sz="2000" dirty="0"/>
              <a:t>шкільного віку.</a:t>
            </a:r>
            <a:br>
              <a:rPr lang="uk-UA" sz="2000" dirty="0"/>
            </a:br>
            <a:r>
              <a:rPr lang="uk-UA" sz="2000" dirty="0"/>
              <a:t> Дихальні техніки для зняття стресу, панічних атак.</a:t>
            </a:r>
          </a:p>
        </p:txBody>
      </p:sp>
      <p:sp>
        <p:nvSpPr>
          <p:cNvPr id="3" name="Місце для вмісту 2"/>
          <p:cNvSpPr>
            <a:spLocks noGrp="1"/>
          </p:cNvSpPr>
          <p:nvPr>
            <p:ph idx="1"/>
          </p:nvPr>
        </p:nvSpPr>
        <p:spPr>
          <a:xfrm>
            <a:off x="942109" y="1717964"/>
            <a:ext cx="10562503" cy="4193258"/>
          </a:xfrm>
        </p:spPr>
        <p:txBody>
          <a:bodyPr/>
          <a:lstStyle/>
          <a:p>
            <a:r>
              <a:rPr lang="uk-UA" b="1" dirty="0"/>
              <a:t>Глибоке та повільне дихання</a:t>
            </a:r>
            <a:r>
              <a:rPr lang="uk-UA" dirty="0"/>
              <a:t>. Вдихаємо носом, видихаємо ротом. Робимо коротку паузу між вдихом та видихом. Видих має бути довшим за вдих. Уявляємо, що надуваємо повітряну кульку, і видихаємо довго та повільно ротом. Одного вдиху та видиху недостатньо, вправу потрібно робити мінімум 3 хвилини.</a:t>
            </a:r>
          </a:p>
          <a:p>
            <a:r>
              <a:rPr lang="uk-UA" dirty="0"/>
              <a:t> </a:t>
            </a:r>
            <a:r>
              <a:rPr lang="uk-UA" b="1" dirty="0"/>
              <a:t>Запах квітів</a:t>
            </a:r>
            <a:r>
              <a:rPr lang="uk-UA" dirty="0"/>
              <a:t>. Запропонуйте дитині уявити, що вона відчуває запах квітки, глибоко вдихаючи через ніс і видихаючи через рот. Також можна подумки уявити собі квітку. </a:t>
            </a:r>
            <a:endParaRPr lang="uk-UA" dirty="0" smtClean="0"/>
          </a:p>
          <a:p>
            <a:r>
              <a:rPr lang="uk-UA" b="1" dirty="0" smtClean="0"/>
              <a:t>Маленький </a:t>
            </a:r>
            <a:r>
              <a:rPr lang="uk-UA" b="1" dirty="0"/>
              <a:t>зайчик.</a:t>
            </a:r>
            <a:r>
              <a:rPr lang="uk-UA" dirty="0"/>
              <a:t> Мов зайчик, який стрибає у саду та нюхає все довкола, запропонуйте дитині зробити три швидкі вдихи через ніс і один довгий видих через рот.</a:t>
            </a:r>
          </a:p>
        </p:txBody>
      </p:sp>
    </p:spTree>
    <p:extLst>
      <p:ext uri="{BB962C8B-B14F-4D97-AF65-F5344CB8AC3E}">
        <p14:creationId xmlns:p14="http://schemas.microsoft.com/office/powerpoint/2010/main" val="3730786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1046738" y="757382"/>
            <a:ext cx="10544897" cy="4876749"/>
          </a:xfrm>
        </p:spPr>
        <p:txBody>
          <a:bodyPr/>
          <a:lstStyle/>
          <a:p>
            <a:r>
              <a:rPr lang="uk-UA" b="1" dirty="0"/>
              <a:t>Модифіковане дихання Лева.</a:t>
            </a:r>
            <a:r>
              <a:rPr lang="uk-UA" dirty="0"/>
              <a:t> Виконуючи цю вправу, скажіть дитині щоб вона уявила, що вона лев. Видихніть все повітря через широко розкритий рот. Запропонуйте дитині сісти зручно на підлогу або на стілець та вдихнути повітря через ніс, відкрити рот якнайширше і видихнути зі звуком «А-а-а». Вправа повторюється декілька разів.</a:t>
            </a:r>
          </a:p>
          <a:p>
            <a:r>
              <a:rPr lang="uk-UA" b="1" dirty="0"/>
              <a:t>Зігріємо метелика.</a:t>
            </a:r>
            <a:r>
              <a:rPr lang="uk-UA" dirty="0"/>
              <a:t> Покажіть на долоні уявного метелика, розкажіть, що він замерз і не може злетіти. Запропонуйте зігріти його своїм подихом. Діти складають долоньки разом, уявивши на своїх долоньках метелика, і дихають на долоні (дихальна вправа: відкрити рота і вимовити тривалий звук «А»). Метелик </a:t>
            </a:r>
            <a:r>
              <a:rPr lang="uk-UA" dirty="0" err="1"/>
              <a:t>зігрівся</a:t>
            </a:r>
            <a:r>
              <a:rPr lang="uk-UA" dirty="0"/>
              <a:t> і його треба здути з долоні. Діти роблять глибокий вдих через ніс і видих через рот (на видиху треба витягнути губи трубочкою, вимовити довгий звук</a:t>
            </a:r>
          </a:p>
        </p:txBody>
      </p:sp>
      <p:pic>
        <p:nvPicPr>
          <p:cNvPr id="5124" name="Picture 4" descr="Обои на монитор | Літо | метелик, макро, квітка, світ метеликів, крас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9186" y="4572053"/>
            <a:ext cx="3577526" cy="2124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607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517236" y="526473"/>
            <a:ext cx="11042795" cy="5264677"/>
          </a:xfrm>
        </p:spPr>
        <p:txBody>
          <a:bodyPr>
            <a:noAutofit/>
          </a:bodyPr>
          <a:lstStyle/>
          <a:p>
            <a:r>
              <a:rPr lang="uk-UA" sz="2400" b="1" dirty="0"/>
              <a:t>Тілесні техніки боротьби зі </a:t>
            </a:r>
            <a:r>
              <a:rPr lang="uk-UA" sz="2400" b="1" dirty="0" smtClean="0"/>
              <a:t>стресом</a:t>
            </a:r>
            <a:r>
              <a:rPr lang="uk-UA" sz="2400" dirty="0"/>
              <a:t>. Обійми і погойдай. Дитина сідає на підлогу. За нею сідає дорослий (обов’язково за згодою дитини) і обіймає, пригортає дитину до себе легенько погойдує її. Під час погойдування спробуйте передати дитині свою любов, заспокоїти її, передати їй почуття захищеності, потрібності. </a:t>
            </a:r>
            <a:r>
              <a:rPr lang="uk-UA" sz="2400" dirty="0" err="1"/>
              <a:t>Самообійми</a:t>
            </a:r>
            <a:r>
              <a:rPr lang="uk-UA" sz="2400" dirty="0"/>
              <a:t>. Покладіть одну руку під пахву другої, а другою рукою обхопіть себе так, щоб долоня лежала на плечі. Обіймаючи себе таким чином, ви добре відчуваєте власні межі: «де я починаюся і де закінчуюся». Гра «Я малюю, а ти відгадай». На спині дитини малюємо пальцем або легенько не гострим боком олівця геометричні фігури, цифри, літери, а дитина має відгадати. Гра «Почухай спинку». Діти стають у шеренгу, повертаються праворуч. За сигналом вчителя потрібно: розтерти долонями плечі дитини, що стоїть попереду; «місити тісто» (ребром долоні робити </a:t>
            </a:r>
            <a:r>
              <a:rPr lang="uk-UA" sz="2400" dirty="0" err="1"/>
              <a:t>погладжувальні</a:t>
            </a:r>
            <a:r>
              <a:rPr lang="uk-UA" sz="2400" dirty="0"/>
              <a:t> рухи); виконати «рейки» (ребром долоні провести зверху вниз по спині); виконати вправу «Дощик» (подушечками пальців постукати по спині).</a:t>
            </a:r>
          </a:p>
        </p:txBody>
      </p:sp>
    </p:spTree>
    <p:extLst>
      <p:ext uri="{BB962C8B-B14F-4D97-AF65-F5344CB8AC3E}">
        <p14:creationId xmlns:p14="http://schemas.microsoft.com/office/powerpoint/2010/main" val="2800588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uk-UA" b="1" smtClean="0"/>
              <a:t>ПРАКТИКИ, ЯКІ ДОПОМОЖУТЬ СТАБІЛІЗУВАТИСЯ:</a:t>
            </a:r>
            <a:br>
              <a:rPr lang="uk-UA" b="1" smtClean="0"/>
            </a:br>
            <a:endParaRPr lang="uk-UA" dirty="0"/>
          </a:p>
        </p:txBody>
      </p:sp>
      <p:sp>
        <p:nvSpPr>
          <p:cNvPr id="3" name="Місце для вмісту 2"/>
          <p:cNvSpPr>
            <a:spLocks noGrp="1"/>
          </p:cNvSpPr>
          <p:nvPr>
            <p:ph idx="1"/>
          </p:nvPr>
        </p:nvSpPr>
        <p:spPr>
          <a:xfrm>
            <a:off x="895927" y="1699491"/>
            <a:ext cx="10608685" cy="4507345"/>
          </a:xfrm>
        </p:spPr>
        <p:txBody>
          <a:bodyPr>
            <a:normAutofit fontScale="92500" lnSpcReduction="10000"/>
          </a:bodyPr>
          <a:lstStyle/>
          <a:p>
            <a:r>
              <a:rPr lang="uk-UA" b="1" u="sng" dirty="0" smtClean="0"/>
              <a:t>Контроль </a:t>
            </a:r>
            <a:r>
              <a:rPr lang="uk-UA" b="1" u="sng" dirty="0"/>
              <a:t>стоп, спини, очей і рук</a:t>
            </a:r>
            <a:endParaRPr lang="uk-UA" dirty="0"/>
          </a:p>
          <a:p>
            <a:r>
              <a:rPr lang="uk-UA" dirty="0"/>
              <a:t>Сядьте </a:t>
            </a:r>
            <a:r>
              <a:rPr lang="uk-UA" dirty="0" err="1"/>
              <a:t>стійко</a:t>
            </a:r>
            <a:r>
              <a:rPr lang="uk-UA" dirty="0"/>
              <a:t>, наскільки це можливо. Якщо ви опираєтеся на стінку стільчика, опирайтеся. Відчуйте, як щільно “</a:t>
            </a:r>
            <a:r>
              <a:rPr lang="uk-UA" dirty="0" err="1"/>
              <a:t>вм’ялися</a:t>
            </a:r>
            <a:r>
              <a:rPr lang="uk-UA" dirty="0"/>
              <a:t>” в стільчик. У людини є кілька точок опори й контакту, завдяки яким вона може вийти зі стану паніки та стресу й допомогти собі не потрапити в стан травматизації.</a:t>
            </a:r>
          </a:p>
          <a:p>
            <a:r>
              <a:rPr lang="uk-UA" b="1" u="sng" dirty="0"/>
              <a:t>Точка екстреної допомоги під час паніки</a:t>
            </a:r>
            <a:endParaRPr lang="uk-UA" dirty="0"/>
          </a:p>
          <a:p>
            <a:r>
              <a:rPr lang="uk-UA" dirty="0"/>
              <a:t>Знайдіть точку між безіменним пальцем та мізинцем і надавіть на неї. Це точка, на яку ми впливаємо, коли стає страшно. Це допомагає заспокоїтися.</a:t>
            </a:r>
          </a:p>
          <a:p>
            <a:r>
              <a:rPr lang="uk-UA" b="1" u="sng" dirty="0"/>
              <a:t>Психотерапевтична практика.</a:t>
            </a:r>
            <a:endParaRPr lang="uk-UA" dirty="0"/>
          </a:p>
          <a:p>
            <a:r>
              <a:rPr lang="uk-UA" dirty="0"/>
              <a:t>Простукуйте грудну клітину, з’єднуючи руки, наче пташки, з періодичністю один удар у секунду, чергуючи руки. А тепер проговоріть про себе чи вголос: “Я впораюся, ситуація справді складна, але я зроблю це”. Ця вправа допомагає повернути серцебиття в нормальний ритм. Тому важливо, щоби був саме один удар на секунду. Якщо робити це частіше, серцебиття пришвидшиться.</a:t>
            </a:r>
          </a:p>
        </p:txBody>
      </p:sp>
    </p:spTree>
    <p:extLst>
      <p:ext uri="{BB962C8B-B14F-4D97-AF65-F5344CB8AC3E}">
        <p14:creationId xmlns:p14="http://schemas.microsoft.com/office/powerpoint/2010/main" val="3608713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766618" y="655782"/>
            <a:ext cx="10737994" cy="5255440"/>
          </a:xfrm>
        </p:spPr>
        <p:txBody>
          <a:bodyPr>
            <a:normAutofit/>
          </a:bodyPr>
          <a:lstStyle/>
          <a:p>
            <a:r>
              <a:rPr lang="uk-UA" b="1" dirty="0"/>
              <a:t>Обов’язкова вправа .</a:t>
            </a:r>
            <a:endParaRPr lang="uk-UA" dirty="0"/>
          </a:p>
          <a:p>
            <a:pPr marL="0" indent="0">
              <a:buNone/>
            </a:pPr>
            <a:r>
              <a:rPr lang="uk-UA" dirty="0"/>
              <a:t>Навіть якщо ви </a:t>
            </a:r>
            <a:r>
              <a:rPr lang="uk-UA" dirty="0" err="1"/>
              <a:t>забудете</a:t>
            </a:r>
            <a:r>
              <a:rPr lang="uk-UA" dirty="0"/>
              <a:t> про все інше, пам’ятайте про цю вправу. Як тільки з’являється можливість, зробіть “</a:t>
            </a:r>
            <a:r>
              <a:rPr lang="uk-UA" dirty="0" err="1"/>
              <a:t>потягушки</a:t>
            </a:r>
            <a:r>
              <a:rPr lang="uk-UA" dirty="0"/>
              <a:t>”, потягніться вверх. До того ж запропонуйте дітям потягуватися. Якщо ви вмієте займатися йогою чи </a:t>
            </a:r>
            <a:r>
              <a:rPr lang="uk-UA" dirty="0" err="1"/>
              <a:t>стретчингом</a:t>
            </a:r>
            <a:r>
              <a:rPr lang="uk-UA" dirty="0"/>
              <a:t>, загадайте про це саме зараз. Пам’ятайте, що неврологи розповідають про понижений та підвищений тонуси. Коли ми в стані стресу, м’язи в спазмі. Нам треба повернути їхній нормальний тонус — саме так ми виходимо зі стану стресу.</a:t>
            </a:r>
          </a:p>
          <a:p>
            <a:r>
              <a:rPr lang="uk-UA" b="1" dirty="0"/>
              <a:t>Кондиціонер перевантаженої нервової системи.</a:t>
            </a:r>
            <a:endParaRPr lang="uk-UA" dirty="0"/>
          </a:p>
          <a:p>
            <a:pPr marL="0" indent="0">
              <a:buNone/>
            </a:pPr>
            <a:r>
              <a:rPr lang="uk-UA" b="1" dirty="0"/>
              <a:t> </a:t>
            </a:r>
            <a:r>
              <a:rPr lang="uk-UA" dirty="0"/>
              <a:t>Подуйте на великий палець руки. А тепер уявіть, що ви дмухаєте на свічку: короткий вдих, а потім видих. Коли ми перебуваємо в стані стресу, перехоплює дихання. Щоби ввімкнути в роботу парасимпатичну нервову систему, що відповідає за заспокоєння та розслаблення, треба старатися робити видихи частіше, ніж вдихи.</a:t>
            </a:r>
          </a:p>
        </p:txBody>
      </p:sp>
    </p:spTree>
    <p:extLst>
      <p:ext uri="{BB962C8B-B14F-4D97-AF65-F5344CB8AC3E}">
        <p14:creationId xmlns:p14="http://schemas.microsoft.com/office/powerpoint/2010/main" val="1218232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42473" y="624110"/>
            <a:ext cx="9962139" cy="1280890"/>
          </a:xfrm>
        </p:spPr>
        <p:txBody>
          <a:bodyPr>
            <a:normAutofit fontScale="90000"/>
          </a:bodyPr>
          <a:lstStyle/>
          <a:p>
            <a:r>
              <a:rPr lang="uk-UA" b="1" dirty="0" smtClean="0"/>
              <a:t>Методи </a:t>
            </a:r>
            <a:r>
              <a:rPr lang="uk-UA" b="1" dirty="0"/>
              <a:t>саморегуляції для педагогів.</a:t>
            </a:r>
            <a:r>
              <a:rPr lang="uk-UA" dirty="0"/>
              <a:t/>
            </a:r>
            <a:br>
              <a:rPr lang="uk-UA" dirty="0"/>
            </a:br>
            <a:endParaRPr lang="uk-UA" dirty="0"/>
          </a:p>
        </p:txBody>
      </p:sp>
      <p:sp>
        <p:nvSpPr>
          <p:cNvPr id="3" name="Місце для вмісту 2"/>
          <p:cNvSpPr>
            <a:spLocks noGrp="1"/>
          </p:cNvSpPr>
          <p:nvPr>
            <p:ph idx="1"/>
          </p:nvPr>
        </p:nvSpPr>
        <p:spPr>
          <a:xfrm>
            <a:off x="655782" y="1524000"/>
            <a:ext cx="10848830" cy="4387222"/>
          </a:xfrm>
        </p:spPr>
        <p:txBody>
          <a:bodyPr>
            <a:normAutofit lnSpcReduction="10000"/>
          </a:bodyPr>
          <a:lstStyle/>
          <a:p>
            <a:r>
              <a:rPr lang="uk-UA" dirty="0" smtClean="0"/>
              <a:t>1</a:t>
            </a:r>
            <a:r>
              <a:rPr lang="uk-UA" dirty="0"/>
              <a:t>. Негативним емоціям потрібно давати вихід — </a:t>
            </a:r>
            <a:r>
              <a:rPr lang="uk-UA" dirty="0" smtClean="0"/>
              <a:t>регулярно «випускати </a:t>
            </a:r>
            <a:r>
              <a:rPr lang="uk-UA" dirty="0"/>
              <a:t>пар» й скидати напругу після роботи. Наприклад, через </a:t>
            </a:r>
            <a:r>
              <a:rPr lang="uk-UA" dirty="0" smtClean="0"/>
              <a:t>активні фізичні </a:t>
            </a:r>
            <a:r>
              <a:rPr lang="uk-UA" dirty="0"/>
              <a:t>заняття — спорт, боротьба, плавання або танці; як варіант — </a:t>
            </a:r>
            <a:r>
              <a:rPr lang="uk-UA" dirty="0" smtClean="0"/>
              <a:t>активне прибирання </a:t>
            </a:r>
            <a:r>
              <a:rPr lang="uk-UA" dirty="0"/>
              <a:t>у будинку. Як результат — знизиться фізичне напруження </a:t>
            </a:r>
            <a:r>
              <a:rPr lang="uk-UA" dirty="0" smtClean="0"/>
              <a:t>та відбудуться </a:t>
            </a:r>
            <a:r>
              <a:rPr lang="uk-UA" dirty="0"/>
              <a:t>зміни всередині організму, буквально на хімічному рівні </a:t>
            </a:r>
            <a:r>
              <a:rPr lang="uk-UA" dirty="0" smtClean="0"/>
              <a:t>—знизиться </a:t>
            </a:r>
            <a:r>
              <a:rPr lang="uk-UA" dirty="0"/>
              <a:t>кількість гормонів стресу й натомість зросте кількість </a:t>
            </a:r>
            <a:r>
              <a:rPr lang="uk-UA" dirty="0" smtClean="0"/>
              <a:t>гормонів радості </a:t>
            </a:r>
            <a:r>
              <a:rPr lang="uk-UA" dirty="0"/>
              <a:t>— серотоніну й </a:t>
            </a:r>
            <a:r>
              <a:rPr lang="uk-UA" dirty="0" err="1"/>
              <a:t>ендорфінів</a:t>
            </a:r>
            <a:r>
              <a:rPr lang="uk-UA" dirty="0"/>
              <a:t>. При регулярних фізичних </a:t>
            </a:r>
            <a:r>
              <a:rPr lang="uk-UA" dirty="0" smtClean="0"/>
              <a:t>навантаженнях організм </a:t>
            </a:r>
            <a:r>
              <a:rPr lang="uk-UA" dirty="0"/>
              <a:t>буде відновлюватися </a:t>
            </a:r>
            <a:r>
              <a:rPr lang="uk-UA" dirty="0" err="1"/>
              <a:t>емоційно</a:t>
            </a:r>
            <a:r>
              <a:rPr lang="uk-UA" dirty="0"/>
              <a:t> та фізично.</a:t>
            </a:r>
          </a:p>
          <a:p>
            <a:r>
              <a:rPr lang="uk-UA" dirty="0"/>
              <a:t>2. Знайдіть свій спосіб безпечно звільнятися від негативних думок </a:t>
            </a:r>
            <a:r>
              <a:rPr lang="uk-UA" dirty="0" smtClean="0"/>
              <a:t>й переживань</a:t>
            </a:r>
            <a:r>
              <a:rPr lang="uk-UA" dirty="0"/>
              <a:t>, особливо це актуально й важливо в період війни, </a:t>
            </a:r>
            <a:r>
              <a:rPr lang="uk-UA" dirty="0" smtClean="0"/>
              <a:t>який проживаємо ми зараз, ділитися </a:t>
            </a:r>
            <a:r>
              <a:rPr lang="uk-UA" dirty="0"/>
              <a:t>з друзями або близькими людьми, обговорювати робочі ситуації </a:t>
            </a:r>
            <a:r>
              <a:rPr lang="uk-UA" dirty="0" smtClean="0"/>
              <a:t>з колегами </a:t>
            </a:r>
            <a:r>
              <a:rPr lang="uk-UA" dirty="0"/>
              <a:t>або консультації з психологом щодо питань, які вас турбують, а </a:t>
            </a:r>
            <a:r>
              <a:rPr lang="uk-UA" dirty="0" smtClean="0"/>
              <a:t>ви не </a:t>
            </a:r>
            <a:r>
              <a:rPr lang="uk-UA" dirty="0"/>
              <a:t>можете самостійно їх вирішити. Це особливо важливо тим людям, </a:t>
            </a:r>
            <a:r>
              <a:rPr lang="uk-UA" dirty="0" smtClean="0"/>
              <a:t>кому потрібно </a:t>
            </a:r>
            <a:r>
              <a:rPr lang="uk-UA" dirty="0"/>
              <a:t>почути зворотній зв'язок, отримати пораду або розібратися в </a:t>
            </a:r>
            <a:r>
              <a:rPr lang="uk-UA" dirty="0" smtClean="0"/>
              <a:t>якому-небудь </a:t>
            </a:r>
            <a:r>
              <a:rPr lang="uk-UA" dirty="0"/>
              <a:t>питанні, про яке не вистачає знань або особистого досвіду.</a:t>
            </a:r>
          </a:p>
        </p:txBody>
      </p:sp>
    </p:spTree>
    <p:extLst>
      <p:ext uri="{BB962C8B-B14F-4D97-AF65-F5344CB8AC3E}">
        <p14:creationId xmlns:p14="http://schemas.microsoft.com/office/powerpoint/2010/main" val="589559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1034473" y="701964"/>
            <a:ext cx="10470139" cy="5209258"/>
          </a:xfrm>
        </p:spPr>
        <p:txBody>
          <a:bodyPr>
            <a:noAutofit/>
          </a:bodyPr>
          <a:lstStyle/>
          <a:p>
            <a:r>
              <a:rPr lang="uk-UA" sz="2400" dirty="0" smtClean="0"/>
              <a:t>Для </a:t>
            </a:r>
            <a:r>
              <a:rPr lang="uk-UA" sz="2400" dirty="0"/>
              <a:t>інтроверта хороший спосіб виписувати свої переживання </a:t>
            </a:r>
            <a:r>
              <a:rPr lang="uk-UA" sz="2400" dirty="0" smtClean="0"/>
              <a:t>в щоденник</a:t>
            </a:r>
            <a:r>
              <a:rPr lang="uk-UA" sz="2400" dirty="0"/>
              <a:t>. Можна писати вірші, малювати шаржі або просто </a:t>
            </a:r>
            <a:r>
              <a:rPr lang="uk-UA" sz="2400" dirty="0" smtClean="0"/>
              <a:t>розмальовувати аркуші </a:t>
            </a:r>
            <a:r>
              <a:rPr lang="uk-UA" sz="2400" dirty="0"/>
              <a:t>паперу кольоровими плямами, виражаючи негативні емоції. </a:t>
            </a:r>
            <a:r>
              <a:rPr lang="uk-UA" sz="2400" dirty="0" smtClean="0"/>
              <a:t>Можна покричати </a:t>
            </a:r>
            <a:r>
              <a:rPr lang="uk-UA" sz="2400" dirty="0"/>
              <a:t>на стадіоні або в лісі, побити тарілки з непотрібного сервізу, </a:t>
            </a:r>
            <a:r>
              <a:rPr lang="uk-UA" sz="2400" dirty="0" smtClean="0"/>
              <a:t>або побити </a:t>
            </a:r>
            <a:r>
              <a:rPr lang="uk-UA" sz="2400" dirty="0"/>
              <a:t>боксерську грушу. Будь-який з цих способів може стати </a:t>
            </a:r>
            <a:r>
              <a:rPr lang="uk-UA" sz="2400" dirty="0" smtClean="0"/>
              <a:t>корисним засобом </a:t>
            </a:r>
            <a:r>
              <a:rPr lang="uk-UA" sz="2400" dirty="0"/>
              <a:t>для емоційного відновлення. Сенс в тому, щоб якимось </a:t>
            </a:r>
            <a:r>
              <a:rPr lang="uk-UA" sz="2400" dirty="0" smtClean="0"/>
              <a:t>найбільш сприятливим </a:t>
            </a:r>
            <a:r>
              <a:rPr lang="uk-UA" sz="2400" dirty="0"/>
              <a:t>для вас та екологічним способом виразити накопичені </a:t>
            </a:r>
            <a:r>
              <a:rPr lang="uk-UA" sz="2400" dirty="0" smtClean="0"/>
              <a:t>емоції, виплеснути </a:t>
            </a:r>
            <a:r>
              <a:rPr lang="uk-UA" sz="2400" dirty="0"/>
              <a:t>їх й звільнитися від внутрішньої </a:t>
            </a:r>
            <a:r>
              <a:rPr lang="uk-UA" sz="2400" dirty="0" smtClean="0"/>
              <a:t>напруги. Це </a:t>
            </a:r>
            <a:r>
              <a:rPr lang="uk-UA" sz="2400" dirty="0"/>
              <a:t>не скасовує необхідності вирішення проблемних ситуацій, </a:t>
            </a:r>
            <a:r>
              <a:rPr lang="uk-UA" sz="2400" dirty="0" smtClean="0"/>
              <a:t>якщо вони </a:t>
            </a:r>
            <a:r>
              <a:rPr lang="uk-UA" sz="2400" dirty="0"/>
              <a:t>вимагають активних дій. Але після такого «сеансу </a:t>
            </a:r>
            <a:r>
              <a:rPr lang="uk-UA" sz="2400" dirty="0" smtClean="0"/>
              <a:t>емоційного звільнення</a:t>
            </a:r>
            <a:r>
              <a:rPr lang="uk-UA" sz="2400" dirty="0"/>
              <a:t>» й наведення порядку в думках, ви відчуєте полегшення </a:t>
            </a:r>
            <a:r>
              <a:rPr lang="uk-UA" sz="2400" dirty="0" smtClean="0"/>
              <a:t>та зможете </a:t>
            </a:r>
            <a:r>
              <a:rPr lang="uk-UA" sz="2400" dirty="0"/>
              <a:t>проаналізувати свої дії з ясною головою.</a:t>
            </a:r>
          </a:p>
        </p:txBody>
      </p:sp>
    </p:spTree>
    <p:extLst>
      <p:ext uri="{BB962C8B-B14F-4D97-AF65-F5344CB8AC3E}">
        <p14:creationId xmlns:p14="http://schemas.microsoft.com/office/powerpoint/2010/main" val="834162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1182255" y="701964"/>
            <a:ext cx="10322357" cy="5209258"/>
          </a:xfrm>
        </p:spPr>
        <p:txBody>
          <a:bodyPr>
            <a:normAutofit/>
          </a:bodyPr>
          <a:lstStyle/>
          <a:p>
            <a:r>
              <a:rPr lang="uk-UA" sz="2400" dirty="0" smtClean="0"/>
              <a:t> </a:t>
            </a:r>
            <a:r>
              <a:rPr lang="uk-UA" sz="2400" dirty="0"/>
              <a:t>Для відновлення енергетичних ресурсів необхідно обов'язково</a:t>
            </a:r>
          </a:p>
          <a:p>
            <a:r>
              <a:rPr lang="uk-UA" sz="2400" dirty="0"/>
              <a:t>висипатися — спати потрібну конкретно вам кількість годин, й подбати </a:t>
            </a:r>
            <a:r>
              <a:rPr lang="uk-UA" sz="2400" dirty="0" smtClean="0"/>
              <a:t>про поліпшення </a:t>
            </a:r>
            <a:r>
              <a:rPr lang="uk-UA" sz="2400" dirty="0"/>
              <a:t>якості сну</a:t>
            </a:r>
            <a:r>
              <a:rPr lang="uk-UA" sz="2400" dirty="0" smtClean="0"/>
              <a:t>.</a:t>
            </a:r>
          </a:p>
          <a:p>
            <a:r>
              <a:rPr lang="uk-UA" sz="2400" dirty="0" smtClean="0"/>
              <a:t> </a:t>
            </a:r>
            <a:r>
              <a:rPr lang="uk-UA" sz="2400" dirty="0"/>
              <a:t>Друге — це проводити час на свіжому повітрі. </a:t>
            </a:r>
            <a:r>
              <a:rPr lang="uk-UA" sz="2400" dirty="0" smtClean="0"/>
              <a:t>Брак кисню </a:t>
            </a:r>
            <a:r>
              <a:rPr lang="uk-UA" sz="2400" dirty="0"/>
              <a:t>відразу ж позначається на занепаді сил. </a:t>
            </a:r>
            <a:endParaRPr lang="uk-UA" sz="2400" dirty="0" smtClean="0"/>
          </a:p>
          <a:p>
            <a:r>
              <a:rPr lang="uk-UA" sz="2400" dirty="0" smtClean="0"/>
              <a:t>Третє </a:t>
            </a:r>
            <a:r>
              <a:rPr lang="uk-UA" sz="2400" dirty="0"/>
              <a:t>— </a:t>
            </a:r>
            <a:r>
              <a:rPr lang="uk-UA" sz="2400" dirty="0" smtClean="0"/>
              <a:t>навчитися розслаблятися</a:t>
            </a:r>
            <a:r>
              <a:rPr lang="uk-UA" sz="2400" dirty="0"/>
              <a:t>, особливо перед сном. Якщо ви засинаєте насилу </a:t>
            </a:r>
            <a:r>
              <a:rPr lang="uk-UA" sz="2400" dirty="0" smtClean="0"/>
              <a:t>долаючи плутанину </a:t>
            </a:r>
            <a:r>
              <a:rPr lang="uk-UA" sz="2400" dirty="0"/>
              <a:t>думок у голові, або після перегляду десятка </a:t>
            </a:r>
            <a:r>
              <a:rPr lang="uk-UA" sz="2400" dirty="0" smtClean="0"/>
              <a:t>інформаційних передач</a:t>
            </a:r>
            <a:r>
              <a:rPr lang="uk-UA" sz="2400" dirty="0"/>
              <a:t>, ви не зможете повноцінно відновитися вночі. Тут допоможуть </a:t>
            </a:r>
            <a:r>
              <a:rPr lang="uk-UA" sz="2400" dirty="0" smtClean="0"/>
              <a:t>будь-які </a:t>
            </a:r>
            <a:r>
              <a:rPr lang="uk-UA" sz="2400" dirty="0"/>
              <a:t>способи релаксації — масаж, теплий душ, медитація, дихальні техніки </a:t>
            </a:r>
            <a:r>
              <a:rPr lang="uk-UA" sz="2400" dirty="0" smtClean="0"/>
              <a:t>або йогівські </a:t>
            </a:r>
            <a:r>
              <a:rPr lang="uk-UA" sz="2400" dirty="0"/>
              <a:t>вправи</a:t>
            </a:r>
            <a:r>
              <a:rPr lang="uk-UA" sz="2400" dirty="0" smtClean="0"/>
              <a:t>.</a:t>
            </a:r>
          </a:p>
          <a:p>
            <a:endParaRPr lang="uk-UA" sz="2400" dirty="0"/>
          </a:p>
        </p:txBody>
      </p:sp>
    </p:spTree>
    <p:extLst>
      <p:ext uri="{BB962C8B-B14F-4D97-AF65-F5344CB8AC3E}">
        <p14:creationId xmlns:p14="http://schemas.microsoft.com/office/powerpoint/2010/main" val="40558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1394691" y="674255"/>
            <a:ext cx="10109921" cy="5236967"/>
          </a:xfrm>
        </p:spPr>
        <p:txBody>
          <a:bodyPr/>
          <a:lstStyle/>
          <a:p>
            <a:r>
              <a:rPr lang="uk-UA" dirty="0"/>
              <a:t>4. Брати паузи в роботі та планувати відпустки, хоча б короткі. </a:t>
            </a:r>
            <a:r>
              <a:rPr lang="uk-UA" dirty="0" smtClean="0"/>
              <a:t>У проміжках </a:t>
            </a:r>
            <a:r>
              <a:rPr lang="uk-UA" dirty="0"/>
              <a:t>між відпустками хоча б раз на місяць присвячувати один або </a:t>
            </a:r>
            <a:r>
              <a:rPr lang="uk-UA" dirty="0" smtClean="0"/>
              <a:t>два вихідних </a:t>
            </a:r>
            <a:r>
              <a:rPr lang="uk-UA" dirty="0"/>
              <a:t>дні своєму відновленню та максимальному відпочинку </a:t>
            </a:r>
            <a:r>
              <a:rPr lang="uk-UA" dirty="0" smtClean="0"/>
              <a:t>від поточних </a:t>
            </a:r>
            <a:r>
              <a:rPr lang="uk-UA" dirty="0"/>
              <a:t>справ й роботи.</a:t>
            </a:r>
          </a:p>
          <a:p>
            <a:r>
              <a:rPr lang="uk-UA" dirty="0"/>
              <a:t>5. Ставити цілі на перспективу і найближче майбутнє. Це </a:t>
            </a:r>
            <a:r>
              <a:rPr lang="uk-UA" dirty="0" smtClean="0"/>
              <a:t>дає мотивацію </a:t>
            </a:r>
            <a:r>
              <a:rPr lang="uk-UA" dirty="0"/>
              <a:t>до роботи й розуміння, заради чого ви власне працюєте. </a:t>
            </a:r>
          </a:p>
        </p:txBody>
      </p:sp>
      <p:pic>
        <p:nvPicPr>
          <p:cNvPr id="3074" name="Picture 2" descr="Сімейний відпочинок в Карпатах"/>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0654" y="2472047"/>
            <a:ext cx="3723334" cy="403447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Відпочинок у Словаччині - що подивитись, що спробувати, цікаві факти"/>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26669" y="3122427"/>
            <a:ext cx="3845091" cy="2788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109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p:cNvSpPr>
            <a:spLocks noGrp="1"/>
          </p:cNvSpPr>
          <p:nvPr>
            <p:ph idx="1"/>
          </p:nvPr>
        </p:nvSpPr>
        <p:spPr>
          <a:xfrm>
            <a:off x="878897" y="646546"/>
            <a:ext cx="10959667" cy="5135367"/>
          </a:xfrm>
        </p:spPr>
        <p:txBody>
          <a:bodyPr/>
          <a:lstStyle/>
          <a:p>
            <a:r>
              <a:rPr lang="uk-UA" dirty="0"/>
              <a:t>Самовдосконалення та професійний розвиток — один з </a:t>
            </a:r>
            <a:r>
              <a:rPr lang="uk-UA" dirty="0" smtClean="0"/>
              <a:t>основних способів </a:t>
            </a:r>
            <a:r>
              <a:rPr lang="uk-UA" dirty="0"/>
              <a:t>профілактики професійного вигорання. Курси </a:t>
            </a:r>
            <a:r>
              <a:rPr lang="uk-UA" dirty="0" smtClean="0"/>
              <a:t>підвищення кваліфікації</a:t>
            </a:r>
            <a:r>
              <a:rPr lang="uk-UA" dirty="0"/>
              <a:t>, тренінги, конференції, зокрема, обмін досвідом з </a:t>
            </a:r>
            <a:r>
              <a:rPr lang="uk-UA" dirty="0" smtClean="0"/>
              <a:t>колегами розширюють </a:t>
            </a:r>
            <a:r>
              <a:rPr lang="uk-UA" dirty="0"/>
              <a:t>кругозір, генерують нові думки та ідеї, дають відчуття </a:t>
            </a:r>
            <a:r>
              <a:rPr lang="uk-UA" dirty="0" smtClean="0"/>
              <a:t>більшої причетності </a:t>
            </a:r>
            <a:r>
              <a:rPr lang="uk-UA" dirty="0"/>
              <a:t>й потрібності, підвищують самооцінку та </a:t>
            </a:r>
            <a:r>
              <a:rPr lang="uk-UA" dirty="0" smtClean="0"/>
              <a:t>професіоналізм, відкривають </a:t>
            </a:r>
            <a:r>
              <a:rPr lang="uk-UA" dirty="0"/>
              <a:t>нові горизонти й цілі. </a:t>
            </a:r>
            <a:r>
              <a:rPr lang="uk-UA" dirty="0" smtClean="0"/>
              <a:t>Живучі </a:t>
            </a:r>
            <a:r>
              <a:rPr lang="uk-UA" dirty="0"/>
              <a:t>в потоці постійного </a:t>
            </a:r>
            <a:r>
              <a:rPr lang="uk-UA" dirty="0" smtClean="0"/>
              <a:t>розвитку, людині </a:t>
            </a:r>
            <a:r>
              <a:rPr lang="uk-UA" dirty="0"/>
              <a:t>інколи буде фіксуватися на стресі, її світ стає набагато ширшим </a:t>
            </a:r>
            <a:r>
              <a:rPr lang="uk-UA" dirty="0" smtClean="0"/>
              <a:t>та цікавішим.</a:t>
            </a:r>
          </a:p>
          <a:p>
            <a:endParaRPr lang="uk-UA" dirty="0"/>
          </a:p>
          <a:p>
            <a:endParaRPr lang="uk-UA" dirty="0"/>
          </a:p>
        </p:txBody>
      </p:sp>
      <p:pic>
        <p:nvPicPr>
          <p:cNvPr id="2050" name="Picture 2" descr="ТрудоПорядок: 02/28/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5745" y="2876839"/>
            <a:ext cx="41910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540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КОРИСНІ ПОСИЛАННЯ</a:t>
            </a:r>
            <a:endParaRPr lang="uk-UA" dirty="0"/>
          </a:p>
        </p:txBody>
      </p:sp>
      <p:sp>
        <p:nvSpPr>
          <p:cNvPr id="3" name="Місце для вмісту 2"/>
          <p:cNvSpPr>
            <a:spLocks noGrp="1"/>
          </p:cNvSpPr>
          <p:nvPr>
            <p:ph idx="1"/>
          </p:nvPr>
        </p:nvSpPr>
        <p:spPr/>
        <p:txBody>
          <a:bodyPr/>
          <a:lstStyle/>
          <a:p>
            <a:r>
              <a:rPr lang="en-US" dirty="0">
                <a:hlinkClick r:id="rId2"/>
              </a:rPr>
              <a:t>https://www.mentalhelp.in.ua</a:t>
            </a:r>
            <a:r>
              <a:rPr lang="en-US" dirty="0" smtClean="0">
                <a:hlinkClick r:id="rId2"/>
              </a:rPr>
              <a:t>/</a:t>
            </a:r>
            <a:endParaRPr lang="uk-UA" dirty="0" smtClean="0"/>
          </a:p>
          <a:p>
            <a:r>
              <a:rPr lang="en-US" dirty="0">
                <a:hlinkClick r:id="rId3"/>
              </a:rPr>
              <a:t>https://</a:t>
            </a:r>
            <a:r>
              <a:rPr lang="en-US" dirty="0" smtClean="0">
                <a:hlinkClick r:id="rId3"/>
              </a:rPr>
              <a:t>hryoutest.in.ua/courses/programa-pidvishchennya-kvalifikaciji-psihologichnoji-pidtrimki-dlya-osvityan-ta-batkiv</a:t>
            </a:r>
            <a:r>
              <a:rPr lang="uk-UA" dirty="0" smtClean="0"/>
              <a:t> </a:t>
            </a:r>
          </a:p>
          <a:p>
            <a:r>
              <a:rPr lang="en-US" dirty="0">
                <a:hlinkClick r:id="rId4"/>
              </a:rPr>
              <a:t>https://</a:t>
            </a:r>
            <a:r>
              <a:rPr lang="en-US" dirty="0" smtClean="0">
                <a:hlinkClick r:id="rId4"/>
              </a:rPr>
              <a:t>hromada.academy/courses/praktichni-navichki-podolannya-stresu</a:t>
            </a:r>
            <a:r>
              <a:rPr lang="uk-UA" dirty="0" smtClean="0"/>
              <a:t> </a:t>
            </a:r>
            <a:endParaRPr lang="uk-UA" dirty="0"/>
          </a:p>
        </p:txBody>
      </p:sp>
      <p:pic>
        <p:nvPicPr>
          <p:cNvPr id="1026" name="Picture 2" descr="БЛОГ 4-Б класу Середньої загальноосвітньої школи І-ІІІ ст. № 6 м ..."/>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64364" y="4297597"/>
            <a:ext cx="4136448" cy="2326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7999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b="1" dirty="0"/>
              <a:t>Вправа </a:t>
            </a:r>
            <a:r>
              <a:rPr lang="uk-UA" b="1" dirty="0" smtClean="0"/>
              <a:t> </a:t>
            </a:r>
            <a:r>
              <a:rPr lang="uk-UA" b="1" dirty="0"/>
              <a:t>«П’ятірка»</a:t>
            </a:r>
            <a:r>
              <a:rPr lang="uk-UA" dirty="0"/>
              <a:t/>
            </a:r>
            <a:br>
              <a:rPr lang="uk-UA" dirty="0"/>
            </a:br>
            <a:endParaRPr lang="uk-UA" dirty="0"/>
          </a:p>
        </p:txBody>
      </p:sp>
      <p:sp>
        <p:nvSpPr>
          <p:cNvPr id="3" name="Місце для вмісту 2"/>
          <p:cNvSpPr>
            <a:spLocks noGrp="1"/>
          </p:cNvSpPr>
          <p:nvPr>
            <p:ph idx="1"/>
          </p:nvPr>
        </p:nvSpPr>
        <p:spPr/>
        <p:txBody>
          <a:bodyPr>
            <a:normAutofit lnSpcReduction="10000"/>
          </a:bodyPr>
          <a:lstStyle/>
          <a:p>
            <a:pPr marL="0" indent="0">
              <a:buNone/>
            </a:pPr>
            <a:r>
              <a:rPr lang="uk-UA" dirty="0"/>
              <a:t> Вправу можна виконувати частинами або всю, необхідний час – від 10 до 30 секунд.</a:t>
            </a:r>
          </a:p>
          <a:p>
            <a:r>
              <a:rPr lang="uk-UA" dirty="0"/>
              <a:t>Зробіть паузу.</a:t>
            </a:r>
          </a:p>
          <a:p>
            <a:r>
              <a:rPr lang="uk-UA" dirty="0"/>
              <a:t>Озирніться довкола і зверніть увагу на п'ять об'єктів різних кольорів, які ви бачите.</a:t>
            </a:r>
          </a:p>
          <a:p>
            <a:r>
              <a:rPr lang="uk-UA" dirty="0"/>
              <a:t>Зосередьтеся і прислухайтеся – які п'ять звуків доносяться до вас?</a:t>
            </a:r>
          </a:p>
          <a:p>
            <a:r>
              <a:rPr lang="uk-UA" dirty="0"/>
              <a:t>Відзначте п'ять тілесних </a:t>
            </a:r>
            <a:r>
              <a:rPr lang="uk-UA" dirty="0" err="1"/>
              <a:t>відчуттів</a:t>
            </a:r>
            <a:r>
              <a:rPr lang="uk-UA" dirty="0"/>
              <a:t>, які ви відчуваєте в цю хвилину (відчуття одягу на плечах, зіткнення спини з кріслом та ін.).</a:t>
            </a:r>
          </a:p>
          <a:p>
            <a:r>
              <a:rPr lang="uk-UA" dirty="0"/>
              <a:t> Якщо увага почне вислизати (напевно), просто зауважте це і поверніться до виконання завдання. Якщо в голову будуть приходити думки, скажіть про себе: «Дякую, я тебе почув (почула)» – і знову поверніться до завдання.</a:t>
            </a:r>
          </a:p>
        </p:txBody>
      </p:sp>
    </p:spTree>
    <p:extLst>
      <p:ext uri="{BB962C8B-B14F-4D97-AF65-F5344CB8AC3E}">
        <p14:creationId xmlns:p14="http://schemas.microsoft.com/office/powerpoint/2010/main" val="3726436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b="1" dirty="0"/>
              <a:t>Вправа </a:t>
            </a:r>
            <a:r>
              <a:rPr lang="uk-UA" b="1" dirty="0" smtClean="0"/>
              <a:t> </a:t>
            </a:r>
            <a:r>
              <a:rPr lang="uk-UA" b="1" dirty="0"/>
              <a:t>«Думки на папері»</a:t>
            </a:r>
            <a:r>
              <a:rPr lang="uk-UA" dirty="0"/>
              <a:t/>
            </a:r>
            <a:br>
              <a:rPr lang="uk-UA" dirty="0"/>
            </a:br>
            <a:endParaRPr lang="uk-UA" dirty="0"/>
          </a:p>
        </p:txBody>
      </p:sp>
      <p:sp>
        <p:nvSpPr>
          <p:cNvPr id="3" name="Місце для вмісту 2"/>
          <p:cNvSpPr>
            <a:spLocks noGrp="1"/>
          </p:cNvSpPr>
          <p:nvPr>
            <p:ph idx="1"/>
          </p:nvPr>
        </p:nvSpPr>
        <p:spPr>
          <a:xfrm>
            <a:off x="877455" y="1588655"/>
            <a:ext cx="10627157" cy="4322567"/>
          </a:xfrm>
        </p:spPr>
        <p:txBody>
          <a:bodyPr>
            <a:normAutofit/>
          </a:bodyPr>
          <a:lstStyle/>
          <a:p>
            <a:r>
              <a:rPr lang="uk-UA" sz="2400" dirty="0"/>
              <a:t> Корисно використовувати або на ніч, або якщо відчуваєте, що «голова пухне від справ».</a:t>
            </a:r>
          </a:p>
          <a:p>
            <a:r>
              <a:rPr lang="uk-UA" sz="2400" dirty="0"/>
              <a:t> Візьміть аркуш паперу (або створіть новий документ на пристрої) і виписуйте всі думки, які «крутяться» в голові, в хаотичному порядку, незалежно від їх важливості. І так до відчуття, що «все, в голові нічого не залишилося».</a:t>
            </a:r>
          </a:p>
          <a:p>
            <a:r>
              <a:rPr lang="uk-UA" sz="2400" dirty="0"/>
              <a:t> Після такого перенесення інформація залишається в зовнішньому світі та нема потреби утримувати її в оперативній пам'яті.</a:t>
            </a:r>
          </a:p>
        </p:txBody>
      </p:sp>
    </p:spTree>
    <p:extLst>
      <p:ext uri="{BB962C8B-B14F-4D97-AF65-F5344CB8AC3E}">
        <p14:creationId xmlns:p14="http://schemas.microsoft.com/office/powerpoint/2010/main" val="3039045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uk-UA" dirty="0" smtClean="0"/>
              <a:t>Вправа « </a:t>
            </a:r>
            <a:r>
              <a:rPr lang="uk-UA" b="1" i="1" dirty="0"/>
              <a:t>Яка на вигляд тривожність</a:t>
            </a:r>
            <a:r>
              <a:rPr lang="uk-UA" b="1" i="1" dirty="0" smtClean="0"/>
              <a:t>?»</a:t>
            </a:r>
            <a:r>
              <a:rPr lang="uk-UA" dirty="0"/>
              <a:t/>
            </a:r>
            <a:br>
              <a:rPr lang="uk-UA" dirty="0"/>
            </a:br>
            <a:endParaRPr lang="uk-UA" dirty="0"/>
          </a:p>
        </p:txBody>
      </p:sp>
      <p:sp>
        <p:nvSpPr>
          <p:cNvPr id="3" name="Місце для вмісту 2"/>
          <p:cNvSpPr>
            <a:spLocks noGrp="1"/>
          </p:cNvSpPr>
          <p:nvPr>
            <p:ph idx="1"/>
          </p:nvPr>
        </p:nvSpPr>
        <p:spPr>
          <a:xfrm>
            <a:off x="1016000" y="1699491"/>
            <a:ext cx="10488612" cy="4211731"/>
          </a:xfrm>
        </p:spPr>
        <p:txBody>
          <a:bodyPr/>
          <a:lstStyle/>
          <a:p>
            <a:r>
              <a:rPr lang="uk-UA" i="1" dirty="0"/>
              <a:t>Завдання: </a:t>
            </a:r>
            <a:endParaRPr lang="uk-UA" i="1" dirty="0" smtClean="0"/>
          </a:p>
          <a:p>
            <a:r>
              <a:rPr lang="uk-UA" sz="2400" dirty="0" smtClean="0"/>
              <a:t>Вам </a:t>
            </a:r>
            <a:r>
              <a:rPr lang="uk-UA" sz="2400" dirty="0"/>
              <a:t>потрібно уявити свою тривожність. У будь-якому вигляді: людини, тварини, невідомої істоти, місця, природного явища чи просто абстракції. Це потрібно, аби краще розпізнавати такі стани та контролювати їх. Тому поступово </a:t>
            </a:r>
            <a:r>
              <a:rPr lang="uk-UA" sz="2400" dirty="0" err="1"/>
              <a:t>візуалізуйте</a:t>
            </a:r>
            <a:r>
              <a:rPr lang="uk-UA" sz="2400" dirty="0"/>
              <a:t> своє відчуття тривоги, зосереджуючись на кожній деталі: якого вона розміру, кольору, яка на дотик, із яких частин складається. Після цього починайте створювати її з тих матеріалів, які у вас є</a:t>
            </a:r>
            <a:r>
              <a:rPr lang="uk-UA" dirty="0"/>
              <a:t>.</a:t>
            </a:r>
          </a:p>
        </p:txBody>
      </p:sp>
    </p:spTree>
    <p:extLst>
      <p:ext uri="{BB962C8B-B14F-4D97-AF65-F5344CB8AC3E}">
        <p14:creationId xmlns:p14="http://schemas.microsoft.com/office/powerpoint/2010/main" val="2172706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i="1" u="sng" dirty="0" err="1"/>
              <a:t>Психомалюнок</a:t>
            </a:r>
            <a:r>
              <a:rPr lang="ru-RU" b="1" i="1" u="sng" dirty="0"/>
              <a:t> «Я до </a:t>
            </a:r>
            <a:r>
              <a:rPr lang="ru-RU" b="1" i="1" u="sng" dirty="0" err="1"/>
              <a:t>стресу</a:t>
            </a:r>
            <a:r>
              <a:rPr lang="ru-RU" b="1" i="1" u="sng" dirty="0"/>
              <a:t>», «Я </a:t>
            </a:r>
            <a:r>
              <a:rPr lang="ru-RU" b="1" i="1" u="sng" dirty="0" err="1"/>
              <a:t>під</a:t>
            </a:r>
            <a:r>
              <a:rPr lang="ru-RU" b="1" i="1" u="sng" dirty="0"/>
              <a:t> час </a:t>
            </a:r>
            <a:r>
              <a:rPr lang="ru-RU" b="1" i="1" u="sng" dirty="0" err="1"/>
              <a:t>стресу</a:t>
            </a:r>
            <a:r>
              <a:rPr lang="ru-RU" b="1" i="1" u="sng" dirty="0"/>
              <a:t>», «Я </a:t>
            </a:r>
            <a:r>
              <a:rPr lang="ru-RU" b="1" i="1" u="sng" dirty="0" err="1"/>
              <a:t>після</a:t>
            </a:r>
            <a:r>
              <a:rPr lang="ru-RU" b="1" i="1" u="sng" dirty="0"/>
              <a:t> </a:t>
            </a:r>
            <a:r>
              <a:rPr lang="ru-RU" b="1" i="1" u="sng" dirty="0" err="1"/>
              <a:t>стресу</a:t>
            </a:r>
            <a:r>
              <a:rPr lang="ru-RU" b="1" i="1" u="sng" dirty="0"/>
              <a:t>».  (10 </a:t>
            </a:r>
            <a:r>
              <a:rPr lang="ru-RU" b="1" i="1" u="sng" dirty="0" err="1"/>
              <a:t>хв</a:t>
            </a:r>
            <a:r>
              <a:rPr lang="ru-RU" b="1" i="1" u="sng" dirty="0"/>
              <a:t>.)</a:t>
            </a:r>
            <a:r>
              <a:rPr lang="ru-RU" dirty="0"/>
              <a:t/>
            </a:r>
            <a:br>
              <a:rPr lang="ru-RU" dirty="0"/>
            </a:br>
            <a:endParaRPr lang="uk-UA" dirty="0"/>
          </a:p>
        </p:txBody>
      </p:sp>
      <p:sp>
        <p:nvSpPr>
          <p:cNvPr id="3" name="Місце для вмісту 2"/>
          <p:cNvSpPr>
            <a:spLocks noGrp="1"/>
          </p:cNvSpPr>
          <p:nvPr>
            <p:ph idx="1"/>
          </p:nvPr>
        </p:nvSpPr>
        <p:spPr/>
        <p:txBody>
          <a:bodyPr>
            <a:normAutofit/>
          </a:bodyPr>
          <a:lstStyle/>
          <a:p>
            <a:pPr marL="0" indent="0">
              <a:buNone/>
            </a:pPr>
            <a:r>
              <a:rPr lang="ru-RU" dirty="0" smtClean="0"/>
              <a:t>Мета</a:t>
            </a:r>
            <a:r>
              <a:rPr lang="ru-RU" dirty="0"/>
              <a:t>: </a:t>
            </a:r>
            <a:r>
              <a:rPr lang="ru-RU" dirty="0" err="1"/>
              <a:t>акцентувати</a:t>
            </a:r>
            <a:r>
              <a:rPr lang="ru-RU" dirty="0"/>
              <a:t> </a:t>
            </a:r>
            <a:r>
              <a:rPr lang="ru-RU" dirty="0" err="1"/>
              <a:t>увагу</a:t>
            </a:r>
            <a:r>
              <a:rPr lang="ru-RU" dirty="0"/>
              <a:t> </a:t>
            </a:r>
            <a:r>
              <a:rPr lang="ru-RU" dirty="0" err="1"/>
              <a:t>учасників</a:t>
            </a:r>
            <a:r>
              <a:rPr lang="ru-RU" dirty="0"/>
              <a:t> на </a:t>
            </a:r>
            <a:r>
              <a:rPr lang="ru-RU" dirty="0" err="1"/>
              <a:t>внутрішньому</a:t>
            </a:r>
            <a:r>
              <a:rPr lang="ru-RU" dirty="0"/>
              <a:t> </a:t>
            </a:r>
            <a:r>
              <a:rPr lang="ru-RU" dirty="0" err="1"/>
              <a:t>стані</a:t>
            </a:r>
            <a:r>
              <a:rPr lang="ru-RU" dirty="0"/>
              <a:t>, </a:t>
            </a:r>
            <a:r>
              <a:rPr lang="ru-RU" dirty="0" err="1"/>
              <a:t>з'ясувати</a:t>
            </a:r>
            <a:r>
              <a:rPr lang="ru-RU" dirty="0"/>
              <a:t> </a:t>
            </a:r>
            <a:r>
              <a:rPr lang="ru-RU" dirty="0" err="1"/>
              <a:t>ставлення</a:t>
            </a:r>
            <a:r>
              <a:rPr lang="ru-RU" dirty="0"/>
              <a:t> та </a:t>
            </a:r>
            <a:r>
              <a:rPr lang="ru-RU" dirty="0" err="1"/>
              <a:t>вплив</a:t>
            </a:r>
            <a:r>
              <a:rPr lang="ru-RU" dirty="0"/>
              <a:t> </a:t>
            </a:r>
            <a:r>
              <a:rPr lang="ru-RU" dirty="0" err="1"/>
              <a:t>стресів</a:t>
            </a:r>
            <a:r>
              <a:rPr lang="ru-RU" dirty="0"/>
              <a:t>.</a:t>
            </a:r>
          </a:p>
          <a:p>
            <a:r>
              <a:rPr lang="ru-RU" dirty="0" err="1"/>
              <a:t>Хід</a:t>
            </a:r>
            <a:r>
              <a:rPr lang="ru-RU" dirty="0"/>
              <a:t> </a:t>
            </a:r>
            <a:r>
              <a:rPr lang="ru-RU" dirty="0" err="1"/>
              <a:t>вправи</a:t>
            </a:r>
            <a:r>
              <a:rPr lang="ru-RU" dirty="0"/>
              <a:t>: </a:t>
            </a:r>
            <a:r>
              <a:rPr lang="ru-RU" dirty="0" err="1"/>
              <a:t>Розділіть</a:t>
            </a:r>
            <a:r>
              <a:rPr lang="ru-RU" dirty="0"/>
              <a:t> </a:t>
            </a:r>
            <a:r>
              <a:rPr lang="ru-RU" dirty="0" err="1"/>
              <a:t>аркуш</a:t>
            </a:r>
            <a:r>
              <a:rPr lang="ru-RU" dirty="0"/>
              <a:t> на 3 </a:t>
            </a:r>
            <a:r>
              <a:rPr lang="ru-RU" dirty="0" err="1"/>
              <a:t>частини</a:t>
            </a:r>
            <a:r>
              <a:rPr lang="ru-RU" dirty="0"/>
              <a:t>. У І </a:t>
            </a:r>
            <a:r>
              <a:rPr lang="ru-RU" dirty="0" err="1"/>
              <a:t>частині</a:t>
            </a:r>
            <a:r>
              <a:rPr lang="ru-RU" dirty="0"/>
              <a:t> намалюйте  </a:t>
            </a:r>
            <a:r>
              <a:rPr lang="ru-RU" dirty="0" err="1"/>
              <a:t>ситуацію</a:t>
            </a:r>
            <a:r>
              <a:rPr lang="ru-RU" dirty="0"/>
              <a:t> «Я до </a:t>
            </a:r>
            <a:r>
              <a:rPr lang="ru-RU" dirty="0" err="1"/>
              <a:t>стресу</a:t>
            </a:r>
            <a:r>
              <a:rPr lang="ru-RU" dirty="0"/>
              <a:t>», у ІІ - «Я </a:t>
            </a:r>
            <a:r>
              <a:rPr lang="ru-RU" dirty="0" err="1"/>
              <a:t>під</a:t>
            </a:r>
            <a:r>
              <a:rPr lang="ru-RU" dirty="0"/>
              <a:t> час </a:t>
            </a:r>
            <a:r>
              <a:rPr lang="ru-RU" dirty="0" err="1"/>
              <a:t>стресу</a:t>
            </a:r>
            <a:r>
              <a:rPr lang="ru-RU" dirty="0"/>
              <a:t>», у ІІІ - «Я </a:t>
            </a:r>
            <a:r>
              <a:rPr lang="ru-RU" dirty="0" err="1"/>
              <a:t>після</a:t>
            </a:r>
            <a:r>
              <a:rPr lang="ru-RU" dirty="0"/>
              <a:t> </a:t>
            </a:r>
            <a:r>
              <a:rPr lang="ru-RU" dirty="0" err="1"/>
              <a:t>стресу</a:t>
            </a:r>
            <a:r>
              <a:rPr lang="ru-RU" dirty="0"/>
              <a:t>». </a:t>
            </a:r>
            <a:r>
              <a:rPr lang="ru-RU" dirty="0" err="1"/>
              <a:t>Малюнок</a:t>
            </a:r>
            <a:r>
              <a:rPr lang="ru-RU" dirty="0"/>
              <a:t> </a:t>
            </a:r>
            <a:r>
              <a:rPr lang="ru-RU" dirty="0" err="1"/>
              <a:t>може</a:t>
            </a:r>
            <a:r>
              <a:rPr lang="ru-RU" dirty="0"/>
              <a:t> бути </a:t>
            </a:r>
            <a:r>
              <a:rPr lang="ru-RU" dirty="0" err="1"/>
              <a:t>схематичний</a:t>
            </a:r>
            <a:r>
              <a:rPr lang="ru-RU" dirty="0"/>
              <a:t> </a:t>
            </a:r>
            <a:r>
              <a:rPr lang="ru-RU" dirty="0" err="1"/>
              <a:t>або</a:t>
            </a:r>
            <a:r>
              <a:rPr lang="ru-RU" dirty="0"/>
              <a:t> </a:t>
            </a:r>
            <a:r>
              <a:rPr lang="ru-RU" dirty="0" err="1"/>
              <a:t>можна</a:t>
            </a:r>
            <a:r>
              <a:rPr lang="ru-RU" dirty="0"/>
              <a:t> </a:t>
            </a:r>
            <a:r>
              <a:rPr lang="ru-RU" dirty="0" err="1"/>
              <a:t>використати</a:t>
            </a:r>
            <a:r>
              <a:rPr lang="ru-RU" dirty="0"/>
              <a:t> образ.</a:t>
            </a:r>
          </a:p>
          <a:p>
            <a:r>
              <a:rPr lang="ru-RU" dirty="0" err="1"/>
              <a:t>Стреси</a:t>
            </a:r>
            <a:r>
              <a:rPr lang="ru-RU" dirty="0"/>
              <a:t> </a:t>
            </a:r>
            <a:r>
              <a:rPr lang="ru-RU" dirty="0" err="1"/>
              <a:t>дійсно</a:t>
            </a:r>
            <a:r>
              <a:rPr lang="ru-RU" dirty="0"/>
              <a:t> негативно </a:t>
            </a:r>
            <a:r>
              <a:rPr lang="ru-RU" dirty="0" err="1"/>
              <a:t>впливають</a:t>
            </a:r>
            <a:r>
              <a:rPr lang="ru-RU" dirty="0"/>
              <a:t> на </a:t>
            </a:r>
            <a:r>
              <a:rPr lang="ru-RU" dirty="0" err="1"/>
              <a:t>здоров’я</a:t>
            </a:r>
            <a:r>
              <a:rPr lang="ru-RU" dirty="0"/>
              <a:t>, </a:t>
            </a:r>
            <a:r>
              <a:rPr lang="ru-RU" dirty="0" err="1"/>
              <a:t>життя</a:t>
            </a:r>
            <a:r>
              <a:rPr lang="ru-RU" dirty="0"/>
              <a:t>, </a:t>
            </a:r>
            <a:r>
              <a:rPr lang="ru-RU" dirty="0" err="1"/>
              <a:t>зовнішній</a:t>
            </a:r>
            <a:r>
              <a:rPr lang="ru-RU" dirty="0"/>
              <a:t> </a:t>
            </a:r>
            <a:r>
              <a:rPr lang="ru-RU" dirty="0" err="1"/>
              <a:t>вигляд</a:t>
            </a:r>
            <a:r>
              <a:rPr lang="ru-RU" dirty="0"/>
              <a:t> </a:t>
            </a:r>
            <a:r>
              <a:rPr lang="ru-RU" dirty="0" err="1"/>
              <a:t>людини</a:t>
            </a:r>
            <a:r>
              <a:rPr lang="ru-RU" dirty="0"/>
              <a:t>. Будь </a:t>
            </a:r>
            <a:r>
              <a:rPr lang="ru-RU" dirty="0" err="1"/>
              <a:t>що</a:t>
            </a:r>
            <a:r>
              <a:rPr lang="ru-RU" dirty="0"/>
              <a:t> </a:t>
            </a:r>
            <a:r>
              <a:rPr lang="ru-RU" dirty="0" err="1"/>
              <a:t>може</a:t>
            </a:r>
            <a:r>
              <a:rPr lang="ru-RU" dirty="0"/>
              <a:t> </a:t>
            </a:r>
            <a:r>
              <a:rPr lang="ru-RU" dirty="0" err="1"/>
              <a:t>викликати</a:t>
            </a:r>
            <a:r>
              <a:rPr lang="ru-RU" dirty="0"/>
              <a:t> </a:t>
            </a:r>
            <a:r>
              <a:rPr lang="ru-RU" dirty="0" err="1"/>
              <a:t>стрес</a:t>
            </a:r>
            <a:r>
              <a:rPr lang="ru-RU" dirty="0"/>
              <a:t>. </a:t>
            </a:r>
            <a:r>
              <a:rPr lang="ru-RU" dirty="0" err="1"/>
              <a:t>Погляньте</a:t>
            </a:r>
            <a:r>
              <a:rPr lang="ru-RU" dirty="0"/>
              <a:t> на </a:t>
            </a:r>
            <a:r>
              <a:rPr lang="ru-RU" dirty="0" err="1"/>
              <a:t>свій</a:t>
            </a:r>
            <a:r>
              <a:rPr lang="ru-RU" dirty="0"/>
              <a:t> </a:t>
            </a:r>
            <a:r>
              <a:rPr lang="ru-RU" dirty="0" err="1"/>
              <a:t>малюнок</a:t>
            </a:r>
            <a:r>
              <a:rPr lang="ru-RU" dirty="0"/>
              <a:t> – </a:t>
            </a:r>
            <a:r>
              <a:rPr lang="ru-RU" dirty="0" err="1"/>
              <a:t>спочатку</a:t>
            </a:r>
            <a:r>
              <a:rPr lang="ru-RU" dirty="0"/>
              <a:t> на себе до </a:t>
            </a:r>
            <a:r>
              <a:rPr lang="ru-RU" dirty="0" err="1"/>
              <a:t>ситуації</a:t>
            </a:r>
            <a:r>
              <a:rPr lang="ru-RU" dirty="0"/>
              <a:t> </a:t>
            </a:r>
            <a:r>
              <a:rPr lang="ru-RU" dirty="0" err="1"/>
              <a:t>стресу</a:t>
            </a:r>
            <a:r>
              <a:rPr lang="ru-RU" dirty="0"/>
              <a:t>, </a:t>
            </a:r>
            <a:r>
              <a:rPr lang="ru-RU" dirty="0" err="1"/>
              <a:t>потім</a:t>
            </a:r>
            <a:r>
              <a:rPr lang="ru-RU" dirty="0"/>
              <a:t> -  коли ми в </a:t>
            </a:r>
            <a:r>
              <a:rPr lang="ru-RU" dirty="0" err="1"/>
              <a:t>стресі</a:t>
            </a:r>
            <a:r>
              <a:rPr lang="ru-RU" dirty="0"/>
              <a:t>, і </a:t>
            </a:r>
            <a:r>
              <a:rPr lang="ru-RU" dirty="0" err="1"/>
              <a:t>наприкінці</a:t>
            </a:r>
            <a:r>
              <a:rPr lang="ru-RU" dirty="0"/>
              <a:t> – ми </a:t>
            </a:r>
            <a:r>
              <a:rPr lang="ru-RU" dirty="0" err="1"/>
              <a:t>після</a:t>
            </a:r>
            <a:r>
              <a:rPr lang="ru-RU" dirty="0"/>
              <a:t> </a:t>
            </a:r>
            <a:r>
              <a:rPr lang="ru-RU" dirty="0" err="1"/>
              <a:t>стресу</a:t>
            </a:r>
            <a:r>
              <a:rPr lang="ru-RU" dirty="0"/>
              <a:t>. </a:t>
            </a:r>
            <a:r>
              <a:rPr lang="ru-RU" dirty="0" err="1"/>
              <a:t>Який</a:t>
            </a:r>
            <a:r>
              <a:rPr lang="ru-RU" dirty="0"/>
              <a:t> з </a:t>
            </a:r>
            <a:r>
              <a:rPr lang="ru-RU" dirty="0" err="1"/>
              <a:t>трьох</a:t>
            </a:r>
            <a:r>
              <a:rPr lang="ru-RU" dirty="0"/>
              <a:t> </a:t>
            </a:r>
            <a:r>
              <a:rPr lang="ru-RU" dirty="0" err="1"/>
              <a:t>малюнків</a:t>
            </a:r>
            <a:r>
              <a:rPr lang="ru-RU" dirty="0"/>
              <a:t> вам </a:t>
            </a:r>
            <a:r>
              <a:rPr lang="ru-RU" dirty="0" err="1"/>
              <a:t>імпонує</a:t>
            </a:r>
            <a:r>
              <a:rPr lang="ru-RU" dirty="0"/>
              <a:t>, </a:t>
            </a:r>
            <a:r>
              <a:rPr lang="ru-RU" dirty="0" err="1"/>
              <a:t>чим</a:t>
            </a:r>
            <a:r>
              <a:rPr lang="ru-RU" dirty="0"/>
              <a:t> </a:t>
            </a:r>
            <a:r>
              <a:rPr lang="ru-RU" dirty="0" err="1"/>
              <a:t>саме</a:t>
            </a:r>
            <a:r>
              <a:rPr lang="ru-RU" dirty="0"/>
              <a:t>.</a:t>
            </a:r>
          </a:p>
        </p:txBody>
      </p:sp>
    </p:spTree>
    <p:extLst>
      <p:ext uri="{BB962C8B-B14F-4D97-AF65-F5344CB8AC3E}">
        <p14:creationId xmlns:p14="http://schemas.microsoft.com/office/powerpoint/2010/main" val="26690392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Ион">
  <a:themeElements>
    <a:clrScheme name="Ион">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Ион">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Ион">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500</TotalTime>
  <Words>2552</Words>
  <Application>Microsoft Office PowerPoint</Application>
  <PresentationFormat>Широкоэкранный</PresentationFormat>
  <Paragraphs>89</Paragraphs>
  <Slides>27</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27</vt:i4>
      </vt:variant>
    </vt:vector>
  </HeadingPairs>
  <TitlesOfParts>
    <vt:vector size="31" baseType="lpstr">
      <vt:lpstr>Arial</vt:lpstr>
      <vt:lpstr>Century Gothic</vt:lpstr>
      <vt:lpstr>Wingdings 3</vt:lpstr>
      <vt:lpstr>Ион</vt:lpstr>
      <vt:lpstr>Презентация PowerPoint</vt:lpstr>
      <vt:lpstr>Одним із головних завдань закладу освіти є повсякденна психологічна допомога здобувачам освіти та їхня емоційна підтримка. Психосоціальну допомогу в закладі освіти можуть надавати як педагогічні, так і інші працівники (вчителі-предметники, класні керівники, шкільний лікар, практичний психолог, соціальний педагог тощо), які знають та вміють застосовувати алгоритм першої психологічної допомоги.</vt:lpstr>
      <vt:lpstr>Презентация PowerPoint</vt:lpstr>
      <vt:lpstr>Визначення основних понять – «надзвичайна ситуація», «стрес», «травма», «травматичний стрес»</vt:lpstr>
      <vt:lpstr>Термін «травма» використовується для опису емоційного стану дискомфорту та стресу. Психотравма може бути спричинена</vt:lpstr>
      <vt:lpstr>Презентация PowerPoint</vt:lpstr>
      <vt:lpstr>Термін «криза» стосується стресової ситуації, де попередній досвід людини та її звична стратегія виживання не є адекватними для розв’язання ситуації. Криза може бути раптовою та драматичною, але може розвиватися й поступово</vt:lpstr>
      <vt:lpstr>Класифікація травматичних подій</vt:lpstr>
      <vt:lpstr>Стрес (від англ. stress – напруга, тиск) – неспецифічна реакція організму у відповідь на дуже сильну зовнішню дію (подразник), яка перевищує норму, а також відповідна реакція нервової системи. </vt:lpstr>
      <vt:lpstr>ВАЖЛИВО!!! </vt:lpstr>
      <vt:lpstr>Особливості реагування дітей на травматичні умови</vt:lpstr>
      <vt:lpstr>Можливий перебіг травматичного досвіду</vt:lpstr>
      <vt:lpstr>Пропоную техніки та відеоматеріали, які вчитель може застосовувати під час проведення «психологічної хвилинки» для дітей шкільного віку.  Дихальні техніки для зняття стресу, панічних атак.</vt:lpstr>
      <vt:lpstr>Презентация PowerPoint</vt:lpstr>
      <vt:lpstr>Презентация PowerPoint</vt:lpstr>
      <vt:lpstr>ПРАКТИКИ, ЯКІ ДОПОМОЖУТЬ СТАБІЛІЗУВАТИСЯ: </vt:lpstr>
      <vt:lpstr>Презентация PowerPoint</vt:lpstr>
      <vt:lpstr>Методи саморегуляції для педагогів. </vt:lpstr>
      <vt:lpstr>Презентация PowerPoint</vt:lpstr>
      <vt:lpstr>Презентация PowerPoint</vt:lpstr>
      <vt:lpstr>Презентация PowerPoint</vt:lpstr>
      <vt:lpstr>Презентация PowerPoint</vt:lpstr>
      <vt:lpstr>КОРИСНІ ПОСИЛАННЯ</vt:lpstr>
      <vt:lpstr>Вправа  «П’ятірка» </vt:lpstr>
      <vt:lpstr>Вправа  «Думки на папері» </vt:lpstr>
      <vt:lpstr>Вправа « Яка на вигляд тривожність?» </vt:lpstr>
      <vt:lpstr>Психомалюнок «Я до стресу», «Я під час стресу», «Я після стресу».  (10 хв.) </vt:lpstr>
    </vt:vector>
  </TitlesOfParts>
  <Company>Інститут Модернізації та Змісту освіти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ПСИХОЛОГО-ПЕДАГОГІЧНИЙ СЕМІНАР</dc:title>
  <dc:creator>User</dc:creator>
  <cp:lastModifiedBy>User</cp:lastModifiedBy>
  <cp:revision>18</cp:revision>
  <dcterms:created xsi:type="dcterms:W3CDTF">2023-10-29T18:13:57Z</dcterms:created>
  <dcterms:modified xsi:type="dcterms:W3CDTF">2025-11-05T14:41:26Z</dcterms:modified>
</cp:coreProperties>
</file>