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8255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6809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8502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83528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59452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0653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48500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14060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28785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2878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71739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041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0447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02283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28784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16566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6278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7346B3F-150B-4B76-B960-6F46252E08E7}" type="datetimeFigureOut">
              <a:rPr lang="uk-UA" smtClean="0"/>
              <a:t>07.10.2026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7F0ED-37F9-4642-B0F3-22A53233F7E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627231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 smtClean="0"/>
              <a:t>МОТИВАЦІЯ У РОБОТІ ПЕДАГОГА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428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Що таке мотиваційне середовище?• 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 smtClean="0"/>
              <a:t>Основна думка: Це комплекс умов (психологічних, фізичних, організаційних), які спонукають здобувачів освіти до активної пізнавальної діяльності.</a:t>
            </a:r>
          </a:p>
          <a:p>
            <a:pPr marL="0" indent="0">
              <a:buNone/>
            </a:pPr>
            <a:r>
              <a:rPr lang="uk-UA" dirty="0" smtClean="0"/>
              <a:t> Тези:	</a:t>
            </a:r>
          </a:p>
          <a:p>
            <a:r>
              <a:rPr lang="uk-UA" dirty="0" smtClean="0"/>
              <a:t>• Внутрішня мотивація (інтерес, саморозвиток) проти зовнішньої (оцінки, страх покарання).	</a:t>
            </a:r>
          </a:p>
          <a:p>
            <a:r>
              <a:rPr lang="uk-UA" dirty="0" smtClean="0"/>
              <a:t>• Роль вчителя — не контролер, а ментор і </a:t>
            </a:r>
            <a:r>
              <a:rPr lang="uk-UA" dirty="0" err="1" smtClean="0"/>
              <a:t>фасилітатор</a:t>
            </a:r>
            <a:r>
              <a:rPr lang="uk-UA" dirty="0" smtClean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94637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Три кити мотиваційного простору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 smtClean="0"/>
              <a:t>1. Психологічний комфорт: Відсутність страху помилки, взаємоповага.</a:t>
            </a:r>
          </a:p>
          <a:p>
            <a:r>
              <a:rPr lang="uk-UA" dirty="0" smtClean="0"/>
              <a:t>2. Фізичний простір: Зонування, мобільні меблі, яскравий (але не перевантажений) дизайн.</a:t>
            </a:r>
          </a:p>
          <a:p>
            <a:r>
              <a:rPr lang="uk-UA" dirty="0" smtClean="0"/>
              <a:t>3. Зміст та методи: Інтерактивність, зв'язок навчання з реальним життям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16456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Психологічний аспект: «Культура помилки»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 </a:t>
            </a:r>
            <a:r>
              <a:rPr lang="ru-RU" dirty="0" err="1" smtClean="0"/>
              <a:t>Основна</a:t>
            </a:r>
            <a:r>
              <a:rPr lang="ru-RU" dirty="0" smtClean="0"/>
              <a:t> думка: </a:t>
            </a:r>
            <a:r>
              <a:rPr lang="ru-RU" dirty="0" err="1" smtClean="0"/>
              <a:t>Помилка</a:t>
            </a:r>
            <a:r>
              <a:rPr lang="ru-RU" dirty="0" smtClean="0"/>
              <a:t> — </a:t>
            </a:r>
            <a:r>
              <a:rPr lang="ru-RU" dirty="0" err="1" smtClean="0"/>
              <a:t>це</a:t>
            </a:r>
            <a:r>
              <a:rPr lang="ru-RU" dirty="0" smtClean="0"/>
              <a:t> не </a:t>
            </a:r>
            <a:r>
              <a:rPr lang="ru-RU" dirty="0" err="1" smtClean="0"/>
              <a:t>фінал</a:t>
            </a:r>
            <a:r>
              <a:rPr lang="ru-RU" dirty="0" smtClean="0"/>
              <a:t>, а </a:t>
            </a:r>
            <a:r>
              <a:rPr lang="ru-RU" dirty="0" err="1" smtClean="0"/>
              <a:t>частина</a:t>
            </a:r>
            <a:r>
              <a:rPr lang="ru-RU" dirty="0" smtClean="0"/>
              <a:t> </a:t>
            </a:r>
            <a:r>
              <a:rPr lang="ru-RU" dirty="0" err="1" smtClean="0"/>
              <a:t>процесу</a:t>
            </a:r>
            <a:r>
              <a:rPr lang="ru-RU" dirty="0" smtClean="0"/>
              <a:t> </a:t>
            </a:r>
            <a:r>
              <a:rPr lang="ru-RU" dirty="0" err="1" smtClean="0"/>
              <a:t>навчання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 Як </a:t>
            </a:r>
            <a:r>
              <a:rPr lang="ru-RU" dirty="0" err="1" smtClean="0"/>
              <a:t>реалізувати</a:t>
            </a:r>
            <a:r>
              <a:rPr lang="ru-RU" dirty="0" smtClean="0"/>
              <a:t>:	</a:t>
            </a:r>
          </a:p>
          <a:p>
            <a:r>
              <a:rPr lang="ru-RU" dirty="0" smtClean="0"/>
              <a:t> </a:t>
            </a:r>
            <a:r>
              <a:rPr lang="ru-RU" dirty="0" err="1" smtClean="0"/>
              <a:t>Замість</a:t>
            </a:r>
            <a:r>
              <a:rPr lang="ru-RU" dirty="0" smtClean="0"/>
              <a:t> критики — </a:t>
            </a:r>
            <a:r>
              <a:rPr lang="ru-RU" dirty="0" err="1" smtClean="0"/>
              <a:t>конструктивний</a:t>
            </a:r>
            <a:r>
              <a:rPr lang="ru-RU" dirty="0" smtClean="0"/>
              <a:t> </a:t>
            </a:r>
            <a:r>
              <a:rPr lang="ru-RU" dirty="0" err="1" smtClean="0"/>
              <a:t>зворотний</a:t>
            </a:r>
            <a:r>
              <a:rPr lang="ru-RU" dirty="0" smtClean="0"/>
              <a:t> </a:t>
            </a:r>
            <a:r>
              <a:rPr lang="ru-RU" dirty="0" err="1" smtClean="0"/>
              <a:t>зв'язок</a:t>
            </a:r>
            <a:r>
              <a:rPr lang="ru-RU" dirty="0" smtClean="0"/>
              <a:t> (</a:t>
            </a:r>
            <a:r>
              <a:rPr lang="ru-RU" dirty="0" err="1" smtClean="0"/>
              <a:t>фідбек</a:t>
            </a:r>
            <a:r>
              <a:rPr lang="ru-RU" dirty="0" smtClean="0"/>
              <a:t>).	</a:t>
            </a:r>
          </a:p>
          <a:p>
            <a:r>
              <a:rPr lang="ru-RU" dirty="0" smtClean="0"/>
              <a:t> </a:t>
            </a:r>
            <a:r>
              <a:rPr lang="ru-RU" dirty="0" err="1" smtClean="0"/>
              <a:t>Підтримка</a:t>
            </a:r>
            <a:r>
              <a:rPr lang="ru-RU" dirty="0" smtClean="0"/>
              <a:t> </a:t>
            </a:r>
            <a:r>
              <a:rPr lang="ru-RU" dirty="0" err="1" smtClean="0"/>
              <a:t>ініціативи</a:t>
            </a:r>
            <a:r>
              <a:rPr lang="ru-RU" dirty="0" smtClean="0"/>
              <a:t> та нестандартного </a:t>
            </a:r>
            <a:r>
              <a:rPr lang="ru-RU" dirty="0" err="1" smtClean="0"/>
              <a:t>мислення</a:t>
            </a:r>
            <a:r>
              <a:rPr lang="ru-RU" dirty="0" smtClean="0"/>
              <a:t>.	</a:t>
            </a:r>
          </a:p>
          <a:p>
            <a:r>
              <a:rPr lang="ru-RU" dirty="0" smtClean="0"/>
              <a:t> </a:t>
            </a:r>
            <a:r>
              <a:rPr lang="ru-RU" dirty="0" err="1" smtClean="0"/>
              <a:t>Формувальне</a:t>
            </a:r>
            <a:r>
              <a:rPr lang="ru-RU" dirty="0" smtClean="0"/>
              <a:t> </a:t>
            </a:r>
            <a:r>
              <a:rPr lang="ru-RU" dirty="0" err="1" smtClean="0"/>
              <a:t>оцінювання</a:t>
            </a:r>
            <a:r>
              <a:rPr lang="ru-RU" dirty="0" smtClean="0"/>
              <a:t> </a:t>
            </a:r>
            <a:r>
              <a:rPr lang="ru-RU" dirty="0" err="1" smtClean="0"/>
              <a:t>замість</a:t>
            </a:r>
            <a:r>
              <a:rPr lang="ru-RU" dirty="0" smtClean="0"/>
              <a:t> </a:t>
            </a:r>
            <a:r>
              <a:rPr lang="ru-RU" dirty="0" err="1" smtClean="0"/>
              <a:t>карального</a:t>
            </a:r>
            <a:r>
              <a:rPr lang="ru-RU" dirty="0" smtClean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26978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Методи, що запалюють інтерес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 smtClean="0"/>
              <a:t>Список інструментів:</a:t>
            </a:r>
          </a:p>
          <a:p>
            <a:r>
              <a:rPr lang="uk-UA" dirty="0" smtClean="0"/>
              <a:t> </a:t>
            </a:r>
            <a:r>
              <a:rPr lang="uk-UA" dirty="0" err="1" smtClean="0"/>
              <a:t>Гейміфікація</a:t>
            </a:r>
            <a:r>
              <a:rPr lang="uk-UA" dirty="0" smtClean="0"/>
              <a:t>: Використання елементів гри (бали, </a:t>
            </a:r>
            <a:r>
              <a:rPr lang="uk-UA" dirty="0" err="1" smtClean="0"/>
              <a:t>квести</a:t>
            </a:r>
            <a:r>
              <a:rPr lang="uk-UA" dirty="0" smtClean="0"/>
              <a:t>, рівні, лідери).</a:t>
            </a:r>
          </a:p>
          <a:p>
            <a:r>
              <a:rPr lang="uk-UA" dirty="0" smtClean="0"/>
              <a:t> </a:t>
            </a:r>
            <a:r>
              <a:rPr lang="uk-UA" dirty="0" err="1" smtClean="0"/>
              <a:t>Проєктне</a:t>
            </a:r>
            <a:r>
              <a:rPr lang="uk-UA" dirty="0" smtClean="0"/>
              <a:t> навчання (</a:t>
            </a:r>
            <a:r>
              <a:rPr lang="pl-PL" dirty="0" smtClean="0"/>
              <a:t>PBL): </a:t>
            </a:r>
            <a:r>
              <a:rPr lang="uk-UA" dirty="0" smtClean="0"/>
              <a:t>Вирішення реальних життєвих кейсів.</a:t>
            </a:r>
          </a:p>
          <a:p>
            <a:r>
              <a:rPr lang="uk-UA" dirty="0" smtClean="0"/>
              <a:t> </a:t>
            </a:r>
            <a:r>
              <a:rPr lang="uk-UA" dirty="0" err="1" smtClean="0"/>
              <a:t>Сторітелінг</a:t>
            </a:r>
            <a:r>
              <a:rPr lang="uk-UA" dirty="0" smtClean="0"/>
              <a:t>: Подача матеріалу через захопливі історії.</a:t>
            </a:r>
          </a:p>
          <a:p>
            <a:r>
              <a:rPr lang="uk-UA" dirty="0" smtClean="0"/>
              <a:t> Інтерактивні технології: </a:t>
            </a:r>
            <a:r>
              <a:rPr lang="pl-PL" dirty="0" smtClean="0"/>
              <a:t>Kahoot, Quizizz, Padlet, AR/VR.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45226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Фізичний простір має значення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 smtClean="0"/>
              <a:t>Тези</a:t>
            </a:r>
            <a:r>
              <a:rPr lang="ru-RU" dirty="0" smtClean="0"/>
              <a:t>:</a:t>
            </a:r>
          </a:p>
          <a:p>
            <a:pPr marL="0" indent="0">
              <a:buNone/>
            </a:pPr>
            <a:r>
              <a:rPr lang="ru-RU" dirty="0" smtClean="0"/>
              <a:t>• </a:t>
            </a:r>
            <a:r>
              <a:rPr lang="ru-RU" dirty="0" err="1" smtClean="0"/>
              <a:t>Мобільність</a:t>
            </a:r>
            <a:r>
              <a:rPr lang="ru-RU" dirty="0" smtClean="0"/>
              <a:t>: </a:t>
            </a:r>
            <a:r>
              <a:rPr lang="ru-RU" dirty="0" err="1" smtClean="0"/>
              <a:t>можливість</a:t>
            </a:r>
            <a:r>
              <a:rPr lang="ru-RU" dirty="0" smtClean="0"/>
              <a:t> </a:t>
            </a:r>
            <a:r>
              <a:rPr lang="ru-RU" dirty="0" err="1" smtClean="0"/>
              <a:t>швидко</a:t>
            </a:r>
            <a:r>
              <a:rPr lang="ru-RU" dirty="0" smtClean="0"/>
              <a:t> </a:t>
            </a:r>
            <a:r>
              <a:rPr lang="ru-RU" dirty="0" err="1" smtClean="0"/>
              <a:t>переставити</a:t>
            </a:r>
            <a:r>
              <a:rPr lang="ru-RU" dirty="0" smtClean="0"/>
              <a:t> </a:t>
            </a:r>
            <a:r>
              <a:rPr lang="ru-RU" dirty="0" err="1" smtClean="0"/>
              <a:t>столи</a:t>
            </a:r>
            <a:r>
              <a:rPr lang="ru-RU" dirty="0" smtClean="0"/>
              <a:t> для </a:t>
            </a:r>
            <a:r>
              <a:rPr lang="ru-RU" dirty="0" err="1" smtClean="0"/>
              <a:t>роботи</a:t>
            </a:r>
            <a:r>
              <a:rPr lang="ru-RU" dirty="0" smtClean="0"/>
              <a:t> в </a:t>
            </a:r>
            <a:r>
              <a:rPr lang="ru-RU" dirty="0" err="1" smtClean="0"/>
              <a:t>групах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• </a:t>
            </a:r>
            <a:r>
              <a:rPr lang="ru-RU" dirty="0" err="1" smtClean="0"/>
              <a:t>Зони</a:t>
            </a:r>
            <a:r>
              <a:rPr lang="ru-RU" dirty="0" smtClean="0"/>
              <a:t> </a:t>
            </a:r>
            <a:r>
              <a:rPr lang="ru-RU" dirty="0" err="1" smtClean="0"/>
              <a:t>усамітнення</a:t>
            </a:r>
            <a:r>
              <a:rPr lang="ru-RU" dirty="0" smtClean="0"/>
              <a:t> (</a:t>
            </a:r>
            <a:r>
              <a:rPr lang="ru-RU" dirty="0" err="1" smtClean="0"/>
              <a:t>коворкінг</a:t>
            </a:r>
            <a:r>
              <a:rPr lang="ru-RU" dirty="0" smtClean="0"/>
              <a:t>/</a:t>
            </a:r>
            <a:r>
              <a:rPr lang="ru-RU" dirty="0" err="1" smtClean="0"/>
              <a:t>релакс-зони</a:t>
            </a:r>
            <a:r>
              <a:rPr lang="ru-RU" dirty="0" smtClean="0"/>
              <a:t>).</a:t>
            </a:r>
          </a:p>
          <a:p>
            <a:pPr marL="0" indent="0">
              <a:buNone/>
            </a:pPr>
            <a:r>
              <a:rPr lang="ru-RU" dirty="0" smtClean="0"/>
              <a:t>• </a:t>
            </a:r>
            <a:r>
              <a:rPr lang="ru-RU" dirty="0" err="1" smtClean="0"/>
              <a:t>Наочність</a:t>
            </a:r>
            <a:r>
              <a:rPr lang="ru-RU" dirty="0" smtClean="0"/>
              <a:t>: </a:t>
            </a:r>
            <a:r>
              <a:rPr lang="ru-RU" dirty="0" err="1" smtClean="0"/>
              <a:t>стіни</a:t>
            </a:r>
            <a:r>
              <a:rPr lang="ru-RU" dirty="0" smtClean="0"/>
              <a:t>, </a:t>
            </a:r>
            <a:r>
              <a:rPr lang="ru-RU" dirty="0" err="1" smtClean="0"/>
              <a:t>які</a:t>
            </a:r>
            <a:r>
              <a:rPr lang="ru-RU" dirty="0" smtClean="0"/>
              <a:t> «</a:t>
            </a:r>
            <a:r>
              <a:rPr lang="ru-RU" dirty="0" err="1" smtClean="0"/>
              <a:t>говорять</a:t>
            </a:r>
            <a:r>
              <a:rPr lang="ru-RU" dirty="0" smtClean="0"/>
              <a:t>» (</a:t>
            </a:r>
            <a:r>
              <a:rPr lang="ru-RU" dirty="0" err="1" smtClean="0"/>
              <a:t>роботи</a:t>
            </a:r>
            <a:r>
              <a:rPr lang="ru-RU" dirty="0" smtClean="0"/>
              <a:t> </a:t>
            </a:r>
            <a:r>
              <a:rPr lang="ru-RU" dirty="0" err="1" smtClean="0"/>
              <a:t>учнів</a:t>
            </a:r>
            <a:r>
              <a:rPr lang="ru-RU" dirty="0" smtClean="0"/>
              <a:t>, </a:t>
            </a:r>
            <a:r>
              <a:rPr lang="ru-RU" dirty="0" err="1" smtClean="0"/>
              <a:t>інтерактивні</a:t>
            </a:r>
            <a:r>
              <a:rPr lang="ru-RU" dirty="0" smtClean="0"/>
              <a:t> </a:t>
            </a:r>
            <a:r>
              <a:rPr lang="ru-RU" dirty="0" err="1" smtClean="0"/>
              <a:t>дошки</a:t>
            </a:r>
            <a:r>
              <a:rPr lang="ru-RU" dirty="0" smtClean="0"/>
              <a:t>).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60750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Роль педагога у XXI </a:t>
            </a:r>
            <a:r>
              <a:rPr lang="ru-RU" dirty="0" err="1" smtClean="0"/>
              <a:t>столітті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 smtClean="0"/>
              <a:t>Ключові</a:t>
            </a:r>
            <a:r>
              <a:rPr lang="ru-RU" dirty="0" smtClean="0"/>
              <a:t> </a:t>
            </a:r>
            <a:r>
              <a:rPr lang="ru-RU" dirty="0" err="1" smtClean="0"/>
              <a:t>якості</a:t>
            </a:r>
            <a:r>
              <a:rPr lang="ru-RU" dirty="0" smtClean="0"/>
              <a:t> </a:t>
            </a:r>
            <a:r>
              <a:rPr lang="ru-RU" dirty="0" err="1" smtClean="0"/>
              <a:t>вчителя-мотиватора</a:t>
            </a:r>
            <a:r>
              <a:rPr lang="ru-RU" dirty="0" smtClean="0"/>
              <a:t>:</a:t>
            </a:r>
          </a:p>
          <a:p>
            <a:pPr marL="0" indent="0">
              <a:buNone/>
            </a:pPr>
            <a:r>
              <a:rPr lang="ru-RU" dirty="0" smtClean="0"/>
              <a:t>• </a:t>
            </a:r>
            <a:r>
              <a:rPr lang="ru-RU" dirty="0" err="1" smtClean="0"/>
              <a:t>Емпатія</a:t>
            </a:r>
            <a:r>
              <a:rPr lang="ru-RU" dirty="0" smtClean="0"/>
              <a:t> та </a:t>
            </a:r>
            <a:r>
              <a:rPr lang="ru-RU" dirty="0" err="1" smtClean="0"/>
              <a:t>вміння</a:t>
            </a:r>
            <a:r>
              <a:rPr lang="ru-RU" dirty="0" smtClean="0"/>
              <a:t> </a:t>
            </a:r>
            <a:r>
              <a:rPr lang="ru-RU" dirty="0" err="1" smtClean="0"/>
              <a:t>слухати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• </a:t>
            </a:r>
            <a:r>
              <a:rPr lang="ru-RU" dirty="0" err="1" smtClean="0"/>
              <a:t>Власний</a:t>
            </a:r>
            <a:r>
              <a:rPr lang="ru-RU" dirty="0" smtClean="0"/>
              <a:t> бренд та </a:t>
            </a:r>
            <a:r>
              <a:rPr lang="ru-RU" dirty="0" err="1" smtClean="0"/>
              <a:t>захопленість</a:t>
            </a:r>
            <a:r>
              <a:rPr lang="ru-RU" dirty="0" smtClean="0"/>
              <a:t> </a:t>
            </a:r>
            <a:r>
              <a:rPr lang="ru-RU" dirty="0" err="1" smtClean="0"/>
              <a:t>своїм</a:t>
            </a:r>
            <a:r>
              <a:rPr lang="ru-RU" dirty="0" smtClean="0"/>
              <a:t> предметом (</a:t>
            </a:r>
            <a:r>
              <a:rPr lang="ru-RU" dirty="0" err="1" smtClean="0"/>
              <a:t>емоційне</a:t>
            </a:r>
            <a:r>
              <a:rPr lang="ru-RU" dirty="0" smtClean="0"/>
              <a:t> </a:t>
            </a:r>
            <a:r>
              <a:rPr lang="ru-RU" dirty="0" err="1" smtClean="0"/>
              <a:t>зараження</a:t>
            </a:r>
            <a:r>
              <a:rPr lang="ru-RU" dirty="0" smtClean="0"/>
              <a:t>).</a:t>
            </a:r>
          </a:p>
          <a:p>
            <a:pPr marL="0" indent="0">
              <a:buNone/>
            </a:pPr>
            <a:r>
              <a:rPr lang="ru-RU" dirty="0" smtClean="0"/>
              <a:t>• </a:t>
            </a:r>
            <a:r>
              <a:rPr lang="ru-RU" dirty="0" err="1" smtClean="0"/>
              <a:t>Готовність</a:t>
            </a:r>
            <a:r>
              <a:rPr lang="ru-RU" dirty="0" smtClean="0"/>
              <a:t> </a:t>
            </a:r>
            <a:r>
              <a:rPr lang="ru-RU" dirty="0" err="1" smtClean="0"/>
              <a:t>навчатися</a:t>
            </a:r>
            <a:r>
              <a:rPr lang="ru-RU" dirty="0" smtClean="0"/>
              <a:t> разом з </a:t>
            </a:r>
            <a:r>
              <a:rPr lang="ru-RU" dirty="0" err="1" smtClean="0"/>
              <a:t>учнями</a:t>
            </a:r>
            <a:r>
              <a:rPr lang="ru-RU" dirty="0" smtClean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49310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 </a:t>
            </a:r>
            <a:r>
              <a:rPr lang="ru-RU" dirty="0" err="1" smtClean="0"/>
              <a:t>Мотиваційне</a:t>
            </a:r>
            <a:r>
              <a:rPr lang="ru-RU" dirty="0" smtClean="0"/>
              <a:t> </a:t>
            </a:r>
            <a:r>
              <a:rPr lang="ru-RU" dirty="0" err="1" smtClean="0"/>
              <a:t>середовище</a:t>
            </a:r>
            <a:r>
              <a:rPr lang="ru-RU" dirty="0" smtClean="0"/>
              <a:t> не </a:t>
            </a:r>
            <a:r>
              <a:rPr lang="ru-RU" dirty="0" err="1" smtClean="0"/>
              <a:t>створюється</a:t>
            </a:r>
            <a:r>
              <a:rPr lang="ru-RU" dirty="0" smtClean="0"/>
              <a:t> за один день. </a:t>
            </a:r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 smtClean="0"/>
              <a:t>щоденна</a:t>
            </a:r>
            <a:r>
              <a:rPr lang="ru-RU" dirty="0" smtClean="0"/>
              <a:t> </a:t>
            </a:r>
            <a:r>
              <a:rPr lang="ru-RU" dirty="0" err="1" smtClean="0"/>
              <a:t>зміна</a:t>
            </a:r>
            <a:r>
              <a:rPr lang="ru-RU" dirty="0" smtClean="0"/>
              <a:t> </a:t>
            </a:r>
            <a:r>
              <a:rPr lang="ru-RU" dirty="0" err="1" smtClean="0"/>
              <a:t>підходів</a:t>
            </a:r>
            <a:r>
              <a:rPr lang="ru-RU" dirty="0" smtClean="0"/>
              <a:t>, де в </a:t>
            </a:r>
            <a:r>
              <a:rPr lang="ru-RU" dirty="0" err="1" smtClean="0"/>
              <a:t>центрі</a:t>
            </a:r>
            <a:r>
              <a:rPr lang="ru-RU" dirty="0" smtClean="0"/>
              <a:t> </a:t>
            </a:r>
            <a:r>
              <a:rPr lang="ru-RU" dirty="0" err="1" smtClean="0"/>
              <a:t>уваги</a:t>
            </a:r>
            <a:r>
              <a:rPr lang="ru-RU" dirty="0" smtClean="0"/>
              <a:t> </a:t>
            </a:r>
            <a:r>
              <a:rPr lang="ru-RU" dirty="0" err="1" smtClean="0"/>
              <a:t>стоїть</a:t>
            </a:r>
            <a:r>
              <a:rPr lang="ru-RU" dirty="0" smtClean="0"/>
              <a:t> </a:t>
            </a:r>
            <a:r>
              <a:rPr lang="ru-RU" dirty="0" err="1" smtClean="0"/>
              <a:t>особистість</a:t>
            </a:r>
            <a:r>
              <a:rPr lang="ru-RU" dirty="0" smtClean="0"/>
              <a:t> </a:t>
            </a:r>
            <a:r>
              <a:rPr lang="ru-RU" dirty="0" err="1" smtClean="0"/>
              <a:t>учня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• </a:t>
            </a:r>
            <a:r>
              <a:rPr lang="ru-RU" dirty="0" err="1" smtClean="0"/>
              <a:t>Заклик</a:t>
            </a:r>
            <a:r>
              <a:rPr lang="ru-RU" dirty="0" smtClean="0"/>
              <a:t> до </a:t>
            </a:r>
            <a:r>
              <a:rPr lang="ru-RU" dirty="0" err="1" smtClean="0"/>
              <a:t>дії</a:t>
            </a:r>
            <a:r>
              <a:rPr lang="ru-RU" dirty="0" smtClean="0"/>
              <a:t>: «</a:t>
            </a:r>
            <a:r>
              <a:rPr lang="ru-RU" dirty="0" err="1" smtClean="0"/>
              <a:t>Надихайте</a:t>
            </a:r>
            <a:r>
              <a:rPr lang="ru-RU" dirty="0" smtClean="0"/>
              <a:t> </a:t>
            </a:r>
            <a:r>
              <a:rPr lang="ru-RU" dirty="0" err="1" smtClean="0"/>
              <a:t>своїм</a:t>
            </a:r>
            <a:r>
              <a:rPr lang="ru-RU" dirty="0" smtClean="0"/>
              <a:t> прикладом!»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986077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</TotalTime>
  <Words>322</Words>
  <Application>Microsoft Office PowerPoint</Application>
  <PresentationFormat>Широкоэкранный</PresentationFormat>
  <Paragraphs>34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Ион</vt:lpstr>
      <vt:lpstr>МОТИВАЦІЯ У РОБОТІ ПЕДАГОГА</vt:lpstr>
      <vt:lpstr>Що таке мотиваційне середовище?• </vt:lpstr>
      <vt:lpstr>Три кити мотиваційного простору</vt:lpstr>
      <vt:lpstr>Психологічний аспект: «Культура помилки»</vt:lpstr>
      <vt:lpstr>Методи, що запалюють інтерес</vt:lpstr>
      <vt:lpstr>Фізичний простір має значення</vt:lpstr>
      <vt:lpstr>Роль педагога у XXI столітті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МОТИВАЦІЯ У РОБОТІ ПЕДАГОГА</dc:title>
  <dc:creator>User</dc:creator>
  <cp:lastModifiedBy>User</cp:lastModifiedBy>
  <cp:revision>1</cp:revision>
  <dcterms:created xsi:type="dcterms:W3CDTF">2026-10-07T18:59:29Z</dcterms:created>
  <dcterms:modified xsi:type="dcterms:W3CDTF">2026-10-07T19:05:50Z</dcterms:modified>
</cp:coreProperties>
</file>