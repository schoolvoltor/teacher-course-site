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3" r:id="rId2"/>
    <p:sldId id="256" r:id="rId3"/>
    <p:sldId id="257" r:id="rId4"/>
    <p:sldId id="258" r:id="rId5"/>
    <p:sldId id="262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4F71B-ED58-4E41-BCAF-E2B9AAEEC882}" type="datetimeFigureOut">
              <a:rPr lang="uk-UA" smtClean="0"/>
              <a:t>14.10.2026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75FF5-0217-4259-9068-753807431B75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11391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4F71B-ED58-4E41-BCAF-E2B9AAEEC882}" type="datetimeFigureOut">
              <a:rPr lang="uk-UA" smtClean="0"/>
              <a:t>14.10.2026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75FF5-0217-4259-9068-753807431B75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4141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4F71B-ED58-4E41-BCAF-E2B9AAEEC882}" type="datetimeFigureOut">
              <a:rPr lang="uk-UA" smtClean="0"/>
              <a:t>14.10.2026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75FF5-0217-4259-9068-753807431B75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58362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4F71B-ED58-4E41-BCAF-E2B9AAEEC882}" type="datetimeFigureOut">
              <a:rPr lang="uk-UA" smtClean="0"/>
              <a:t>14.10.2026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75FF5-0217-4259-9068-753807431B75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83728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4F71B-ED58-4E41-BCAF-E2B9AAEEC882}" type="datetimeFigureOut">
              <a:rPr lang="uk-UA" smtClean="0"/>
              <a:t>14.10.2026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75FF5-0217-4259-9068-753807431B75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43771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4F71B-ED58-4E41-BCAF-E2B9AAEEC882}" type="datetimeFigureOut">
              <a:rPr lang="uk-UA" smtClean="0"/>
              <a:t>14.10.2026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75FF5-0217-4259-9068-753807431B75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62567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4F71B-ED58-4E41-BCAF-E2B9AAEEC882}" type="datetimeFigureOut">
              <a:rPr lang="uk-UA" smtClean="0"/>
              <a:t>14.10.2026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75FF5-0217-4259-9068-753807431B75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12642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4F71B-ED58-4E41-BCAF-E2B9AAEEC882}" type="datetimeFigureOut">
              <a:rPr lang="uk-UA" smtClean="0"/>
              <a:t>14.10.2026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75FF5-0217-4259-9068-753807431B75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85100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4F71B-ED58-4E41-BCAF-E2B9AAEEC882}" type="datetimeFigureOut">
              <a:rPr lang="uk-UA" smtClean="0"/>
              <a:t>14.10.2026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75FF5-0217-4259-9068-753807431B75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29563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4F71B-ED58-4E41-BCAF-E2B9AAEEC882}" type="datetimeFigureOut">
              <a:rPr lang="uk-UA" smtClean="0"/>
              <a:t>14.10.2026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75FF5-0217-4259-9068-753807431B75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04816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4F71B-ED58-4E41-BCAF-E2B9AAEEC882}" type="datetimeFigureOut">
              <a:rPr lang="uk-UA" smtClean="0"/>
              <a:t>14.10.2026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75FF5-0217-4259-9068-753807431B75}" type="slidenum">
              <a:rPr lang="uk-UA" smtClean="0"/>
              <a:t>‹#›</a:t>
            </a:fld>
            <a:endParaRPr lang="uk-UA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6854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4F71B-ED58-4E41-BCAF-E2B9AAEEC882}" type="datetimeFigureOut">
              <a:rPr lang="uk-UA" smtClean="0"/>
              <a:t>14.10.2026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75FF5-0217-4259-9068-753807431B75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206915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4F71B-ED58-4E41-BCAF-E2B9AAEEC882}" type="datetimeFigureOut">
              <a:rPr lang="uk-UA" smtClean="0"/>
              <a:t>14.10.2026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75FF5-0217-4259-9068-753807431B75}" type="slidenum">
              <a:rPr lang="uk-UA" smtClean="0"/>
              <a:t>‹#›</a:t>
            </a:fld>
            <a:endParaRPr lang="uk-UA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465428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4F71B-ED58-4E41-BCAF-E2B9AAEEC882}" type="datetimeFigureOut">
              <a:rPr lang="uk-UA" smtClean="0"/>
              <a:t>14.10.2026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75FF5-0217-4259-9068-753807431B75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269966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4F71B-ED58-4E41-BCAF-E2B9AAEEC882}" type="datetimeFigureOut">
              <a:rPr lang="uk-UA" smtClean="0"/>
              <a:t>14.10.2026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75FF5-0217-4259-9068-753807431B75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102664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4F71B-ED58-4E41-BCAF-E2B9AAEEC882}" type="datetimeFigureOut">
              <a:rPr lang="uk-UA" smtClean="0"/>
              <a:t>14.10.2026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75FF5-0217-4259-9068-753807431B75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22502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A4F71B-ED58-4E41-BCAF-E2B9AAEEC882}" type="datetimeFigureOut">
              <a:rPr lang="uk-UA" smtClean="0"/>
              <a:t>14.10.2026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2775FF5-0217-4259-9068-753807431B75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7909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/>
              <a:t>І</a:t>
            </a:r>
            <a:r>
              <a:rPr lang="uk-UA" smtClean="0"/>
              <a:t>нклюзивне </a:t>
            </a:r>
            <a:r>
              <a:rPr lang="uk-UA" dirty="0" smtClean="0"/>
              <a:t>освітнє середовище</a:t>
            </a:r>
            <a:endParaRPr lang="uk-UA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1809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123407" y="563087"/>
            <a:ext cx="10593976" cy="42637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lang="uk-UA" sz="20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Поняття інклюзії в освіті</a:t>
            </a:r>
            <a:endParaRPr lang="uk-UA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lang="uk-UA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Що таке інклюзія? Слово походить від латинського </a:t>
            </a:r>
            <a:r>
              <a:rPr lang="uk-UA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inclusio</a:t>
            </a:r>
            <a:r>
              <a:rPr lang="uk-UA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«включення». В освітньому контексті інклюзія — це процес збільшення ступеня участі всіх здобувачів освіти в навчальному процесі та шкільному житті.</a:t>
            </a:r>
            <a:endParaRPr lang="uk-UA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lang="uk-UA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Важливо розрізняти три поняття:</a:t>
            </a:r>
            <a:endParaRPr lang="uk-UA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6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uk-UA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Сегрегація:</a:t>
            </a:r>
            <a:r>
              <a:rPr lang="uk-UA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діти з особливими освітніми потребами (ООП) навчаються в ізольованих спеціальних закладах.</a:t>
            </a:r>
            <a:endParaRPr lang="uk-UA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6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uk-UA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Інтеграція:</a:t>
            </a:r>
            <a:r>
              <a:rPr lang="uk-UA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дитина з ООП приходить у звичайну школу, але мусить сама адаптуватися до існуючих умов без зміни шкільної системи.</a:t>
            </a:r>
            <a:endParaRPr lang="uk-UA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6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uk-UA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Інклюзія:</a:t>
            </a:r>
            <a:r>
              <a:rPr lang="uk-UA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система освіти змінюється та адаптується під потреби кожної дитини.</a:t>
            </a:r>
            <a:endParaRPr lang="uk-UA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lang="uk-UA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Законодавчу основу інклюзивної освіти в Україні закладено в Законі України «Про освіту», який гарантує право кожної особи на якісну та доступну освіту з урахуванням її індивідуальних потреб.</a:t>
            </a:r>
            <a:endParaRPr lang="uk-UA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7428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 smtClean="0"/>
              <a:t>Як інклюзія впливає на освітній простір?</a:t>
            </a:r>
            <a:br>
              <a:rPr lang="uk-UA" dirty="0" smtClean="0"/>
            </a:b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uk-UA" dirty="0" smtClean="0"/>
              <a:t>1.	Формування емпатії та толерантності: Дитячий колектив, у якому є діти з різними можливостями, зростає більш чуйним, відкритим та відповідальним.</a:t>
            </a:r>
          </a:p>
          <a:p>
            <a:r>
              <a:rPr lang="uk-UA" dirty="0" smtClean="0"/>
              <a:t>2.	</a:t>
            </a:r>
            <a:r>
              <a:rPr lang="uk-UA" dirty="0" err="1" smtClean="0"/>
              <a:t>Безбар'єрність</a:t>
            </a:r>
            <a:r>
              <a:rPr lang="uk-UA" dirty="0" smtClean="0"/>
              <a:t> для всіх: Універсальний дизайн та розумне пристосування (наприклад, пандуси, візуальні розклади, тихі зони) допомагають не лише дітям з ООП, а й усім учням та педагогам.</a:t>
            </a:r>
          </a:p>
          <a:p>
            <a:r>
              <a:rPr lang="uk-UA" dirty="0" smtClean="0"/>
              <a:t>3.	Принцип рівних можливостей: Інклюзія змінює фокус з «що дитина НЕ може робити» на «ЩО і ЯК дитина може робити за належної підтримки».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033853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Моделі інклюзивної освіти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uk-UA" dirty="0"/>
              <a:t>У світовій та українській практиці виділяють такі ключові моделі:</a:t>
            </a:r>
          </a:p>
          <a:p>
            <a:pPr lvl="0"/>
            <a:r>
              <a:rPr lang="uk-UA" b="1" dirty="0"/>
              <a:t>Медична модель (застаріла):</a:t>
            </a:r>
            <a:r>
              <a:rPr lang="uk-UA" dirty="0"/>
              <a:t> розглядає особливості дитини як «дефект» або хворобу, яку потрібно «виправити». Проблема лежить у самій дитині.</a:t>
            </a:r>
          </a:p>
          <a:p>
            <a:pPr lvl="0"/>
            <a:r>
              <a:rPr lang="uk-UA" b="1" dirty="0"/>
              <a:t>Соціальна модель (сучасна):</a:t>
            </a:r>
            <a:r>
              <a:rPr lang="uk-UA" dirty="0"/>
              <a:t> розглядає бар’єри як результат непідготовленості суспільства. Проблема — у середовищі, яке не створює умов для функціонування особистості.</a:t>
            </a:r>
          </a:p>
          <a:p>
            <a:pPr lvl="0"/>
            <a:r>
              <a:rPr lang="uk-UA" b="1" dirty="0"/>
              <a:t>Правозахисна модель:</a:t>
            </a:r>
            <a:r>
              <a:rPr lang="uk-UA" dirty="0"/>
              <a:t> спирається на те, що освіта є безумовним правом кожної людини, а не привілеєм.</a:t>
            </a:r>
          </a:p>
          <a:p>
            <a:r>
              <a:rPr lang="uk-UA" dirty="0"/>
              <a:t>На практиці це реалізується через </a:t>
            </a:r>
            <a:r>
              <a:rPr lang="uk-UA" b="1" dirty="0"/>
              <a:t>Повний інклюзивний клас</a:t>
            </a:r>
            <a:r>
              <a:rPr lang="uk-UA" dirty="0"/>
              <a:t> (дитина постійно з однолітками за підтримки асистента) або </a:t>
            </a:r>
            <a:r>
              <a:rPr lang="uk-UA" b="1" dirty="0"/>
              <a:t>Часткову інклюзію</a:t>
            </a:r>
            <a:r>
              <a:rPr lang="uk-UA" dirty="0"/>
              <a:t> (поєднання уроків у класі з індивідуальними заняттями в ресурсній кімнаті).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608217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Моделі</a:t>
            </a:r>
            <a:r>
              <a:rPr lang="ru-RU" dirty="0" smtClean="0"/>
              <a:t> </a:t>
            </a:r>
            <a:r>
              <a:rPr lang="ru-RU" dirty="0" err="1" smtClean="0"/>
              <a:t>інклюзивної</a:t>
            </a:r>
            <a:r>
              <a:rPr lang="ru-RU" dirty="0" smtClean="0"/>
              <a:t> </a:t>
            </a:r>
            <a:r>
              <a:rPr lang="ru-RU" dirty="0" err="1" smtClean="0"/>
              <a:t>освіти</a:t>
            </a:r>
            <a:r>
              <a:rPr lang="ru-RU" dirty="0" smtClean="0"/>
              <a:t/>
            </a:r>
            <a:br>
              <a:rPr lang="ru-RU" dirty="0" smtClean="0"/>
            </a:b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Модель		Фокус </a:t>
            </a:r>
            <a:r>
              <a:rPr lang="ru-RU" dirty="0" err="1" smtClean="0"/>
              <a:t>уваги</a:t>
            </a:r>
            <a:r>
              <a:rPr lang="ru-RU" dirty="0" smtClean="0"/>
              <a:t>	 		</a:t>
            </a:r>
            <a:r>
              <a:rPr lang="ru-RU" dirty="0" err="1" smtClean="0"/>
              <a:t>Погляд</a:t>
            </a:r>
            <a:r>
              <a:rPr lang="ru-RU" dirty="0" smtClean="0"/>
              <a:t> на проблему</a:t>
            </a:r>
          </a:p>
          <a:p>
            <a:r>
              <a:rPr lang="ru-RU" dirty="0" err="1" smtClean="0"/>
              <a:t>Медична</a:t>
            </a:r>
            <a:r>
              <a:rPr lang="ru-RU" dirty="0" smtClean="0"/>
              <a:t>	        Особ. </a:t>
            </a:r>
            <a:r>
              <a:rPr lang="ru-RU" dirty="0" err="1" smtClean="0"/>
              <a:t>дитини</a:t>
            </a:r>
            <a:r>
              <a:rPr lang="ru-RU" dirty="0" smtClean="0"/>
              <a:t>		Проблема в </a:t>
            </a:r>
            <a:r>
              <a:rPr lang="ru-RU" dirty="0" err="1" smtClean="0"/>
              <a:t>дитині</a:t>
            </a:r>
            <a:r>
              <a:rPr lang="ru-RU" dirty="0" smtClean="0"/>
              <a:t> (</a:t>
            </a:r>
            <a:r>
              <a:rPr lang="ru-RU" dirty="0" err="1" smtClean="0"/>
              <a:t>потрібно</a:t>
            </a:r>
            <a:r>
              <a:rPr lang="ru-RU" dirty="0" smtClean="0"/>
              <a:t> 							«</a:t>
            </a:r>
            <a:r>
              <a:rPr lang="ru-RU" dirty="0" err="1" smtClean="0"/>
              <a:t>лікувати</a:t>
            </a:r>
            <a:r>
              <a:rPr lang="ru-RU" dirty="0" smtClean="0"/>
              <a:t>»)</a:t>
            </a:r>
          </a:p>
          <a:p>
            <a:r>
              <a:rPr lang="ru-RU" dirty="0" err="1" smtClean="0"/>
              <a:t>Соціальна</a:t>
            </a:r>
            <a:r>
              <a:rPr lang="ru-RU" dirty="0" smtClean="0"/>
              <a:t>	  </a:t>
            </a:r>
            <a:r>
              <a:rPr lang="ru-RU" dirty="0" err="1" smtClean="0"/>
              <a:t>Бар’єри</a:t>
            </a:r>
            <a:r>
              <a:rPr lang="ru-RU" dirty="0" smtClean="0"/>
              <a:t> в </a:t>
            </a:r>
            <a:r>
              <a:rPr lang="ru-RU" dirty="0" err="1" smtClean="0"/>
              <a:t>суспільстві</a:t>
            </a:r>
            <a:r>
              <a:rPr lang="ru-RU" dirty="0" smtClean="0"/>
              <a:t>	Проблема в </a:t>
            </a:r>
            <a:r>
              <a:rPr lang="ru-RU" dirty="0" err="1" smtClean="0"/>
              <a:t>середовищі</a:t>
            </a:r>
            <a:r>
              <a:rPr lang="ru-RU" dirty="0" smtClean="0"/>
              <a:t> 							(</a:t>
            </a:r>
            <a:r>
              <a:rPr lang="ru-RU" dirty="0" err="1" smtClean="0"/>
              <a:t>потрібно</a:t>
            </a:r>
            <a:r>
              <a:rPr lang="ru-RU" dirty="0" smtClean="0"/>
              <a:t> «</a:t>
            </a:r>
            <a:r>
              <a:rPr lang="ru-RU" dirty="0" err="1" smtClean="0"/>
              <a:t>змінювати</a:t>
            </a:r>
            <a:r>
              <a:rPr lang="ru-RU" dirty="0" smtClean="0"/>
              <a:t> </a:t>
            </a:r>
            <a:r>
              <a:rPr lang="ru-RU" dirty="0" err="1" smtClean="0"/>
              <a:t>умови</a:t>
            </a:r>
            <a:r>
              <a:rPr lang="ru-RU" dirty="0" smtClean="0"/>
              <a:t>»)</a:t>
            </a:r>
          </a:p>
          <a:p>
            <a:r>
              <a:rPr lang="ru-RU" dirty="0" err="1" smtClean="0"/>
              <a:t>Правозахисна</a:t>
            </a:r>
            <a:r>
              <a:rPr lang="ru-RU" dirty="0" smtClean="0"/>
              <a:t>	Права </a:t>
            </a:r>
            <a:r>
              <a:rPr lang="ru-RU" dirty="0" err="1" smtClean="0"/>
              <a:t>людини</a:t>
            </a:r>
            <a:r>
              <a:rPr lang="ru-RU" dirty="0" smtClean="0"/>
              <a:t>	</a:t>
            </a:r>
            <a:r>
              <a:rPr lang="ru-RU" dirty="0" err="1" smtClean="0"/>
              <a:t>Освіта</a:t>
            </a:r>
            <a:r>
              <a:rPr lang="ru-RU" dirty="0" smtClean="0"/>
              <a:t> — </a:t>
            </a:r>
            <a:r>
              <a:rPr lang="ru-RU" dirty="0" err="1" smtClean="0"/>
              <a:t>безумовне</a:t>
            </a:r>
            <a:r>
              <a:rPr lang="ru-RU" dirty="0" smtClean="0"/>
              <a:t> право 							кожного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073271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Психолого-педагогічні аспекти інклюзії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uk-UA" dirty="0"/>
              <a:t>Успішна інклюзія тримається на трьох психолого-педагогічних «китах»:</a:t>
            </a:r>
          </a:p>
          <a:p>
            <a:pPr lvl="0"/>
            <a:r>
              <a:rPr lang="uk-UA" b="1" dirty="0"/>
              <a:t>Індивідуальна програма розвитку (ІПР):</a:t>
            </a:r>
            <a:r>
              <a:rPr lang="uk-UA" dirty="0"/>
              <a:t> Документ, що розробляється для кожної дитини з ООП. Він містить адаптації/модифікації навчальних програм, перелік корекційно-</a:t>
            </a:r>
            <a:r>
              <a:rPr lang="uk-UA" dirty="0" err="1"/>
              <a:t>розвиткових</a:t>
            </a:r>
            <a:r>
              <a:rPr lang="uk-UA" dirty="0"/>
              <a:t> послуг та динаміку досягнень.</a:t>
            </a:r>
          </a:p>
          <a:p>
            <a:pPr lvl="0"/>
            <a:r>
              <a:rPr lang="uk-UA" b="1" dirty="0"/>
              <a:t>Командна взаємодія (Команда психолого-педагогічного супроводу):</a:t>
            </a:r>
            <a:r>
              <a:rPr lang="uk-UA" dirty="0"/>
              <a:t> Вчитель, асистент вчителя, практичний психолог, соціальний педагог, </a:t>
            </a:r>
            <a:r>
              <a:rPr lang="uk-UA" dirty="0" err="1"/>
              <a:t>реабілітолог</a:t>
            </a:r>
            <a:r>
              <a:rPr lang="uk-UA" dirty="0"/>
              <a:t>, а головне — </a:t>
            </a:r>
            <a:r>
              <a:rPr lang="uk-UA" b="1" dirty="0"/>
              <a:t>батьки дитини</a:t>
            </a:r>
            <a:r>
              <a:rPr lang="uk-UA" dirty="0"/>
              <a:t>. Тільки синергія цих фахівців дає результат.</a:t>
            </a:r>
          </a:p>
          <a:p>
            <a:pPr lvl="0"/>
            <a:r>
              <a:rPr lang="uk-UA" b="1" dirty="0"/>
              <a:t>Ко-</a:t>
            </a:r>
            <a:r>
              <a:rPr lang="uk-UA" b="1" dirty="0" err="1"/>
              <a:t>течинг</a:t>
            </a:r>
            <a:r>
              <a:rPr lang="uk-UA" b="1" dirty="0"/>
              <a:t> (спільне викладання):</a:t>
            </a:r>
            <a:r>
              <a:rPr lang="uk-UA" dirty="0"/>
              <a:t> Партнерство вчителя та асистента вчителя під час уроку, де асистент допомагає не лише одній дитині, а сприяє інклюзії всієї групи.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777739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. Виклики та бар’єри інклюзії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 smtClean="0"/>
              <a:t>Шлях до інклюзії супроводжується низкою викликів:</a:t>
            </a:r>
          </a:p>
          <a:p>
            <a:r>
              <a:rPr lang="uk-UA" dirty="0" smtClean="0"/>
              <a:t>•	Психологічні та стереотипні бар’єри: Страх батьків типових дітей, упередження вчителів, страх не впоратися.</a:t>
            </a:r>
          </a:p>
          <a:p>
            <a:r>
              <a:rPr lang="uk-UA" dirty="0" smtClean="0"/>
              <a:t>•	Фізичні та архітектурні бар’єри: Відсутність ліфтів, вузькі дверні отвори, непристосовані санвузли.</a:t>
            </a:r>
          </a:p>
          <a:p>
            <a:r>
              <a:rPr lang="uk-UA" dirty="0" smtClean="0"/>
              <a:t>•	Методичні та матеріальні виклики: Брак спеціального обладнання, дидактичного матеріалу, а також потреба в постійному підвищенні кваліфікації педагогів.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861002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 smtClean="0"/>
              <a:t>Практичні</a:t>
            </a:r>
            <a:r>
              <a:rPr lang="ru-RU" dirty="0" smtClean="0"/>
              <a:t> кроки до </a:t>
            </a:r>
            <a:r>
              <a:rPr lang="ru-RU" dirty="0" err="1" smtClean="0"/>
              <a:t>створення</a:t>
            </a:r>
            <a:r>
              <a:rPr lang="ru-RU" dirty="0" smtClean="0"/>
              <a:t> </a:t>
            </a:r>
            <a:r>
              <a:rPr lang="ru-RU" dirty="0" err="1" smtClean="0"/>
              <a:t>інклюзивного</a:t>
            </a:r>
            <a:r>
              <a:rPr lang="ru-RU" dirty="0" smtClean="0"/>
              <a:t> </a:t>
            </a:r>
            <a:r>
              <a:rPr lang="ru-RU" dirty="0" err="1" smtClean="0"/>
              <a:t>середовища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uk-UA" dirty="0" smtClean="0"/>
              <a:t>Що заклад освіти та педагог можуть зробити вже сьогодні?</a:t>
            </a:r>
          </a:p>
          <a:p>
            <a:r>
              <a:rPr lang="uk-UA" dirty="0" smtClean="0"/>
              <a:t>1.	Застосовувати принципи Універсального дизайну в навчанні (</a:t>
            </a:r>
            <a:r>
              <a:rPr lang="pl-PL" dirty="0" smtClean="0"/>
              <a:t>UDL): </a:t>
            </a:r>
            <a:r>
              <a:rPr lang="uk-UA" dirty="0" smtClean="0"/>
              <a:t>Надавати інформацію в різних форматах (текст, аудіо, візуалізація) та дозволяти учням демонструвати знання у різний спосіб.</a:t>
            </a:r>
          </a:p>
          <a:p>
            <a:r>
              <a:rPr lang="uk-UA" dirty="0" smtClean="0"/>
              <a:t>2.	Організувати якісний простір: Облаштувати ресурсну кімнату та осередки розвантаження в класах.</a:t>
            </a:r>
          </a:p>
          <a:p>
            <a:r>
              <a:rPr lang="uk-UA" dirty="0" smtClean="0"/>
              <a:t>3.	Працювати з учнівським колективом: Проводити виховні години про різноманіття, протидіяти </a:t>
            </a:r>
            <a:r>
              <a:rPr lang="uk-UA" dirty="0" err="1" smtClean="0"/>
              <a:t>булінгу</a:t>
            </a:r>
            <a:r>
              <a:rPr lang="uk-UA" dirty="0" smtClean="0"/>
              <a:t>, формувати культуру взаємодопомоги.</a:t>
            </a:r>
          </a:p>
          <a:p>
            <a:r>
              <a:rPr lang="uk-UA" dirty="0" smtClean="0"/>
              <a:t>4.	Постійно навчатися: Опановувати методи </a:t>
            </a:r>
            <a:r>
              <a:rPr lang="uk-UA" dirty="0" err="1" smtClean="0"/>
              <a:t>асистентства</a:t>
            </a:r>
            <a:r>
              <a:rPr lang="uk-UA" dirty="0" smtClean="0"/>
              <a:t>, альтернативної комунікації та командної роботи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844810557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697</Words>
  <Application>Microsoft Office PowerPoint</Application>
  <PresentationFormat>Широкоэкранный</PresentationFormat>
  <Paragraphs>39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Arial</vt:lpstr>
      <vt:lpstr>Calibri</vt:lpstr>
      <vt:lpstr>Symbol</vt:lpstr>
      <vt:lpstr>Times New Roman</vt:lpstr>
      <vt:lpstr>Trebuchet MS</vt:lpstr>
      <vt:lpstr>Wingdings 3</vt:lpstr>
      <vt:lpstr>Аспект</vt:lpstr>
      <vt:lpstr>Інклюзивне освітнє середовище</vt:lpstr>
      <vt:lpstr>Презентация PowerPoint</vt:lpstr>
      <vt:lpstr>Як інклюзія впливає на освітній простір? </vt:lpstr>
      <vt:lpstr>Моделі інклюзивної освіти</vt:lpstr>
      <vt:lpstr>Моделі інклюзивної освіти </vt:lpstr>
      <vt:lpstr>Психолого-педагогічні аспекти інклюзії</vt:lpstr>
      <vt:lpstr>. Виклики та бар’єри інклюзії</vt:lpstr>
      <vt:lpstr>Практичні кроки до створення інклюзивного середовища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Інклюзивне освітнє середовище</dc:title>
  <dc:creator>User</dc:creator>
  <cp:lastModifiedBy>User</cp:lastModifiedBy>
  <cp:revision>1</cp:revision>
  <dcterms:created xsi:type="dcterms:W3CDTF">2026-10-14T12:29:58Z</dcterms:created>
  <dcterms:modified xsi:type="dcterms:W3CDTF">2026-10-14T12:30:41Z</dcterms:modified>
</cp:coreProperties>
</file>