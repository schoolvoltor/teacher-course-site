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PT Serif Bold" panose="020B0604020202020204" charset="-52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A Day Without Sun Text Bold" panose="020B0604020202020204" charset="0"/>
      <p:regular r:id="rId20"/>
    </p:embeddedFont>
    <p:embeddedFont>
      <p:font typeface="Arim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jpe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svg"/><Relationship Id="rId3" Type="http://schemas.openxmlformats.org/officeDocument/2006/relationships/image" Target="../media/image15.jpeg"/><Relationship Id="rId7" Type="http://schemas.openxmlformats.org/officeDocument/2006/relationships/image" Target="../media/image26.svg"/><Relationship Id="rId12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3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1.svg"/><Relationship Id="rId5" Type="http://schemas.openxmlformats.org/officeDocument/2006/relationships/image" Target="../media/image33.svg"/><Relationship Id="rId10" Type="http://schemas.openxmlformats.org/officeDocument/2006/relationships/image" Target="../media/image14.png"/><Relationship Id="rId4" Type="http://schemas.openxmlformats.org/officeDocument/2006/relationships/image" Target="../media/image21.png"/><Relationship Id="rId9" Type="http://schemas.openxmlformats.org/officeDocument/2006/relationships/image" Target="../media/image3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0.sv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40.sv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6.sv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1.sv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0.jpe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25.pn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1.jpeg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sv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34.png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 rot="5976154">
            <a:off x="3179887" y="-2087389"/>
            <a:ext cx="11386258" cy="14461778"/>
          </a:xfrm>
          <a:custGeom>
            <a:avLst/>
            <a:gdLst/>
            <a:ahLst/>
            <a:cxnLst/>
            <a:rect l="l" t="t" r="r" b="b"/>
            <a:pathLst>
              <a:path w="11386258" h="14461778">
                <a:moveTo>
                  <a:pt x="0" y="0"/>
                </a:moveTo>
                <a:lnTo>
                  <a:pt x="11386258" y="0"/>
                </a:lnTo>
                <a:lnTo>
                  <a:pt x="11386258" y="14461778"/>
                </a:lnTo>
                <a:lnTo>
                  <a:pt x="0" y="14461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63011" y="1296239"/>
            <a:ext cx="10587160" cy="6639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35"/>
              </a:lnSpc>
            </a:pPr>
            <a:r>
              <a:rPr lang="en-US" sz="19018" spc="-247">
                <a:solidFill>
                  <a:srgbClr val="000000"/>
                </a:solidFill>
                <a:latin typeface="A Day Without Sun Text Bold"/>
              </a:rPr>
              <a:t>ЩО ТАКЕ ІНКЛЮЗІЯ</a:t>
            </a:r>
          </a:p>
        </p:txBody>
      </p:sp>
      <p:sp>
        <p:nvSpPr>
          <p:cNvPr id="5" name="Freeform 5"/>
          <p:cNvSpPr/>
          <p:nvPr/>
        </p:nvSpPr>
        <p:spPr>
          <a:xfrm rot="1060722" flipH="1">
            <a:off x="304583" y="1362589"/>
            <a:ext cx="4562127" cy="4588963"/>
          </a:xfrm>
          <a:custGeom>
            <a:avLst/>
            <a:gdLst/>
            <a:ahLst/>
            <a:cxnLst/>
            <a:rect l="l" t="t" r="r" b="b"/>
            <a:pathLst>
              <a:path w="4562127" h="4588963">
                <a:moveTo>
                  <a:pt x="4562126" y="0"/>
                </a:moveTo>
                <a:lnTo>
                  <a:pt x="0" y="0"/>
                </a:lnTo>
                <a:lnTo>
                  <a:pt x="0" y="4588963"/>
                </a:lnTo>
                <a:lnTo>
                  <a:pt x="4562126" y="4588963"/>
                </a:lnTo>
                <a:lnTo>
                  <a:pt x="4562126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71662">
            <a:off x="1556484" y="2783598"/>
            <a:ext cx="2058324" cy="1968507"/>
          </a:xfrm>
          <a:custGeom>
            <a:avLst/>
            <a:gdLst/>
            <a:ahLst/>
            <a:cxnLst/>
            <a:rect l="l" t="t" r="r" b="b"/>
            <a:pathLst>
              <a:path w="2058324" h="1968507">
                <a:moveTo>
                  <a:pt x="0" y="0"/>
                </a:moveTo>
                <a:lnTo>
                  <a:pt x="2058324" y="0"/>
                </a:lnTo>
                <a:lnTo>
                  <a:pt x="2058324" y="1968507"/>
                </a:lnTo>
                <a:lnTo>
                  <a:pt x="0" y="1968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98986" flipH="1">
            <a:off x="12305390" y="-617461"/>
            <a:ext cx="4581499" cy="4608449"/>
          </a:xfrm>
          <a:custGeom>
            <a:avLst/>
            <a:gdLst/>
            <a:ahLst/>
            <a:cxnLst/>
            <a:rect l="l" t="t" r="r" b="b"/>
            <a:pathLst>
              <a:path w="4581499" h="4608449">
                <a:moveTo>
                  <a:pt x="4581498" y="0"/>
                </a:moveTo>
                <a:lnTo>
                  <a:pt x="0" y="0"/>
                </a:lnTo>
                <a:lnTo>
                  <a:pt x="0" y="4608449"/>
                </a:lnTo>
                <a:lnTo>
                  <a:pt x="4581498" y="4608449"/>
                </a:lnTo>
                <a:lnTo>
                  <a:pt x="4581498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583249" y="778236"/>
            <a:ext cx="2025780" cy="1966848"/>
          </a:xfrm>
          <a:custGeom>
            <a:avLst/>
            <a:gdLst/>
            <a:ahLst/>
            <a:cxnLst/>
            <a:rect l="l" t="t" r="r" b="b"/>
            <a:pathLst>
              <a:path w="2025780" h="1966848">
                <a:moveTo>
                  <a:pt x="0" y="0"/>
                </a:moveTo>
                <a:lnTo>
                  <a:pt x="2025780" y="0"/>
                </a:lnTo>
                <a:lnTo>
                  <a:pt x="2025780" y="1966848"/>
                </a:lnTo>
                <a:lnTo>
                  <a:pt x="0" y="19668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3459258" flipH="1">
            <a:off x="6522811" y="-924131"/>
            <a:ext cx="2506725" cy="3905663"/>
          </a:xfrm>
          <a:custGeom>
            <a:avLst/>
            <a:gdLst/>
            <a:ahLst/>
            <a:cxnLst/>
            <a:rect l="l" t="t" r="r" b="b"/>
            <a:pathLst>
              <a:path w="2506725" h="3905663">
                <a:moveTo>
                  <a:pt x="2506725" y="0"/>
                </a:moveTo>
                <a:lnTo>
                  <a:pt x="0" y="0"/>
                </a:lnTo>
                <a:lnTo>
                  <a:pt x="0" y="3905662"/>
                </a:lnTo>
                <a:lnTo>
                  <a:pt x="2506725" y="3905662"/>
                </a:lnTo>
                <a:lnTo>
                  <a:pt x="250672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4245636" flipH="1">
            <a:off x="2049927" y="7238523"/>
            <a:ext cx="1705687" cy="3374560"/>
          </a:xfrm>
          <a:custGeom>
            <a:avLst/>
            <a:gdLst/>
            <a:ahLst/>
            <a:cxnLst/>
            <a:rect l="l" t="t" r="r" b="b"/>
            <a:pathLst>
              <a:path w="1705687" h="3374560">
                <a:moveTo>
                  <a:pt x="1705687" y="0"/>
                </a:moveTo>
                <a:lnTo>
                  <a:pt x="0" y="0"/>
                </a:lnTo>
                <a:lnTo>
                  <a:pt x="0" y="3374559"/>
                </a:lnTo>
                <a:lnTo>
                  <a:pt x="1705687" y="3374559"/>
                </a:lnTo>
                <a:lnTo>
                  <a:pt x="1705687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488334">
            <a:off x="7249819" y="7566852"/>
            <a:ext cx="3788362" cy="737009"/>
          </a:xfrm>
          <a:custGeom>
            <a:avLst/>
            <a:gdLst/>
            <a:ahLst/>
            <a:cxnLst/>
            <a:rect l="l" t="t" r="r" b="b"/>
            <a:pathLst>
              <a:path w="3788362" h="737009">
                <a:moveTo>
                  <a:pt x="0" y="0"/>
                </a:moveTo>
                <a:lnTo>
                  <a:pt x="3788362" y="0"/>
                </a:lnTo>
                <a:lnTo>
                  <a:pt x="3788362" y="737009"/>
                </a:lnTo>
                <a:lnTo>
                  <a:pt x="0" y="73700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705693" y="4811060"/>
            <a:ext cx="5459181" cy="5220342"/>
          </a:xfrm>
          <a:custGeom>
            <a:avLst/>
            <a:gdLst/>
            <a:ahLst/>
            <a:cxnLst/>
            <a:rect l="l" t="t" r="r" b="b"/>
            <a:pathLst>
              <a:path w="5459181" h="5220342">
                <a:moveTo>
                  <a:pt x="0" y="0"/>
                </a:moveTo>
                <a:lnTo>
                  <a:pt x="5459181" y="0"/>
                </a:lnTo>
                <a:lnTo>
                  <a:pt x="5459181" y="5220342"/>
                </a:lnTo>
                <a:lnTo>
                  <a:pt x="0" y="522034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6211" y="1900696"/>
            <a:ext cx="7607014" cy="7357604"/>
          </a:xfrm>
          <a:custGeom>
            <a:avLst/>
            <a:gdLst/>
            <a:ahLst/>
            <a:cxnLst/>
            <a:rect l="l" t="t" r="r" b="b"/>
            <a:pathLst>
              <a:path w="7607014" h="7357604">
                <a:moveTo>
                  <a:pt x="0" y="0"/>
                </a:moveTo>
                <a:lnTo>
                  <a:pt x="7607013" y="0"/>
                </a:lnTo>
                <a:lnTo>
                  <a:pt x="7607013" y="7357604"/>
                </a:lnTo>
                <a:lnTo>
                  <a:pt x="0" y="7357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6211" y="9258300"/>
            <a:ext cx="773094" cy="716078"/>
          </a:xfrm>
          <a:custGeom>
            <a:avLst/>
            <a:gdLst/>
            <a:ahLst/>
            <a:cxnLst/>
            <a:rect l="l" t="t" r="r" b="b"/>
            <a:pathLst>
              <a:path w="773094" h="716078">
                <a:moveTo>
                  <a:pt x="0" y="0"/>
                </a:moveTo>
                <a:lnTo>
                  <a:pt x="773093" y="0"/>
                </a:lnTo>
                <a:lnTo>
                  <a:pt x="773093" y="716078"/>
                </a:lnTo>
                <a:lnTo>
                  <a:pt x="0" y="716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76018" y="5859578"/>
            <a:ext cx="2823781" cy="4114800"/>
          </a:xfrm>
          <a:custGeom>
            <a:avLst/>
            <a:gdLst/>
            <a:ahLst/>
            <a:cxnLst/>
            <a:rect l="l" t="t" r="r" b="b"/>
            <a:pathLst>
              <a:path w="2823781" h="4114800">
                <a:moveTo>
                  <a:pt x="0" y="0"/>
                </a:moveTo>
                <a:lnTo>
                  <a:pt x="2823782" y="0"/>
                </a:lnTo>
                <a:lnTo>
                  <a:pt x="28237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21307" y="5630874"/>
            <a:ext cx="2079688" cy="4114800"/>
          </a:xfrm>
          <a:custGeom>
            <a:avLst/>
            <a:gdLst/>
            <a:ahLst/>
            <a:cxnLst/>
            <a:rect l="l" t="t" r="r" b="b"/>
            <a:pathLst>
              <a:path w="2079688" h="4114800">
                <a:moveTo>
                  <a:pt x="0" y="0"/>
                </a:moveTo>
                <a:lnTo>
                  <a:pt x="2079689" y="0"/>
                </a:lnTo>
                <a:lnTo>
                  <a:pt x="2079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8766" y="92508"/>
            <a:ext cx="15728597" cy="1887432"/>
          </a:xfrm>
          <a:custGeom>
            <a:avLst/>
            <a:gdLst/>
            <a:ahLst/>
            <a:cxnLst/>
            <a:rect l="l" t="t" r="r" b="b"/>
            <a:pathLst>
              <a:path w="15728597" h="1887432">
                <a:moveTo>
                  <a:pt x="0" y="0"/>
                </a:moveTo>
                <a:lnTo>
                  <a:pt x="15728597" y="0"/>
                </a:lnTo>
                <a:lnTo>
                  <a:pt x="15728597" y="1887432"/>
                </a:lnTo>
                <a:lnTo>
                  <a:pt x="0" y="18874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8200" y="93497"/>
            <a:ext cx="17511600" cy="1756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3"/>
              </a:lnSpc>
            </a:pPr>
            <a:r>
              <a:rPr lang="en-US" sz="4995">
                <a:solidFill>
                  <a:srgbClr val="000000"/>
                </a:solidFill>
                <a:latin typeface="Arimo Bold"/>
              </a:rPr>
              <a:t>ЧОМУ ІНКЛЮЗІЯ Є СПОСОБОМ СПРИЙНЯТТЯ ЛЮДСЬКОЇ РІЗНОМАНІТНОСТІ?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6211" y="9201150"/>
            <a:ext cx="8588955" cy="103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sz="2954">
                <a:solidFill>
                  <a:srgbClr val="000000"/>
                </a:solidFill>
                <a:latin typeface="PT Serif Bold"/>
              </a:rPr>
              <a:t>Розглянь карикатуру. Чи є завдання максимально чесним?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03224" y="1792453"/>
            <a:ext cx="10484776" cy="368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3"/>
              </a:lnSpc>
            </a:pPr>
            <a:r>
              <a:rPr lang="en-US" sz="2981">
                <a:solidFill>
                  <a:srgbClr val="000000"/>
                </a:solidFill>
                <a:latin typeface="PT Serif Bold"/>
              </a:rPr>
              <a:t>Ти вже знаєш, що від природи люди різні. У них різний зріст, вага, колір шкіри, очей, волосся тощо. Люди мають різний темперамент, інтереси, уподобання. Тому вони не можуть бути однаково успішними в якійсь конкретній діяльності. Скажімо, щоб досягти успіху в піднятті ваги, потрібно мати міцний скелет і розвинуті м’язи.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61226" y="6037013"/>
            <a:ext cx="4514793" cy="376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6"/>
              </a:lnSpc>
            </a:pPr>
            <a:r>
              <a:rPr lang="en-US" sz="3040">
                <a:solidFill>
                  <a:srgbClr val="000000"/>
                </a:solidFill>
                <a:latin typeface="PT Serif Bold"/>
              </a:rPr>
              <a:t>Обмеженість у можливостях окремих осіб чи груп осіб часто безпосередньо впливає на їхнє самопочуття та здоров'я.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554065" y="2891008"/>
            <a:ext cx="12921470" cy="4620177"/>
          </a:xfrm>
          <a:custGeom>
            <a:avLst/>
            <a:gdLst/>
            <a:ahLst/>
            <a:cxnLst/>
            <a:rect l="l" t="t" r="r" b="b"/>
            <a:pathLst>
              <a:path w="12921470" h="4620177">
                <a:moveTo>
                  <a:pt x="0" y="0"/>
                </a:moveTo>
                <a:lnTo>
                  <a:pt x="12921470" y="0"/>
                </a:lnTo>
                <a:lnTo>
                  <a:pt x="12921470" y="4620177"/>
                </a:lnTo>
                <a:lnTo>
                  <a:pt x="0" y="46201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3427" y="4099711"/>
            <a:ext cx="2894101" cy="2960717"/>
          </a:xfrm>
          <a:custGeom>
            <a:avLst/>
            <a:gdLst/>
            <a:ahLst/>
            <a:cxnLst/>
            <a:rect l="l" t="t" r="r" b="b"/>
            <a:pathLst>
              <a:path w="2894101" h="2960717">
                <a:moveTo>
                  <a:pt x="0" y="0"/>
                </a:moveTo>
                <a:lnTo>
                  <a:pt x="2894101" y="0"/>
                </a:lnTo>
                <a:lnTo>
                  <a:pt x="2894101" y="2960718"/>
                </a:lnTo>
                <a:lnTo>
                  <a:pt x="0" y="2960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662072" y="7276159"/>
            <a:ext cx="1625928" cy="2606698"/>
          </a:xfrm>
          <a:custGeom>
            <a:avLst/>
            <a:gdLst/>
            <a:ahLst/>
            <a:cxnLst/>
            <a:rect l="l" t="t" r="r" b="b"/>
            <a:pathLst>
              <a:path w="1625928" h="2606698">
                <a:moveTo>
                  <a:pt x="0" y="0"/>
                </a:moveTo>
                <a:lnTo>
                  <a:pt x="1625928" y="0"/>
                </a:lnTo>
                <a:lnTo>
                  <a:pt x="1625928" y="2606698"/>
                </a:lnTo>
                <a:lnTo>
                  <a:pt x="0" y="26066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8012" y="8130835"/>
            <a:ext cx="1969516" cy="1969516"/>
          </a:xfrm>
          <a:custGeom>
            <a:avLst/>
            <a:gdLst/>
            <a:ahLst/>
            <a:cxnLst/>
            <a:rect l="l" t="t" r="r" b="b"/>
            <a:pathLst>
              <a:path w="1969516" h="1969516">
                <a:moveTo>
                  <a:pt x="0" y="0"/>
                </a:moveTo>
                <a:lnTo>
                  <a:pt x="1969516" y="0"/>
                </a:lnTo>
                <a:lnTo>
                  <a:pt x="1969516" y="1969516"/>
                </a:lnTo>
                <a:lnTo>
                  <a:pt x="0" y="19695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07300" y="3110083"/>
            <a:ext cx="1480700" cy="2710664"/>
          </a:xfrm>
          <a:custGeom>
            <a:avLst/>
            <a:gdLst/>
            <a:ahLst/>
            <a:cxnLst/>
            <a:rect l="l" t="t" r="r" b="b"/>
            <a:pathLst>
              <a:path w="1480700" h="2710664">
                <a:moveTo>
                  <a:pt x="0" y="0"/>
                </a:moveTo>
                <a:lnTo>
                  <a:pt x="1480700" y="0"/>
                </a:lnTo>
                <a:lnTo>
                  <a:pt x="1480700" y="2710664"/>
                </a:lnTo>
                <a:lnTo>
                  <a:pt x="0" y="27106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0"/>
            <a:ext cx="9562454" cy="1147495"/>
          </a:xfrm>
          <a:custGeom>
            <a:avLst/>
            <a:gdLst/>
            <a:ahLst/>
            <a:cxnLst/>
            <a:rect l="l" t="t" r="r" b="b"/>
            <a:pathLst>
              <a:path w="9562454" h="1147495">
                <a:moveTo>
                  <a:pt x="0" y="0"/>
                </a:moveTo>
                <a:lnTo>
                  <a:pt x="9562454" y="0"/>
                </a:lnTo>
                <a:lnTo>
                  <a:pt x="9562454" y="1147495"/>
                </a:lnTo>
                <a:lnTo>
                  <a:pt x="0" y="11474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3974573" y="-2184"/>
            <a:ext cx="17511600" cy="1075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7"/>
              </a:lnSpc>
            </a:pPr>
            <a:r>
              <a:rPr lang="en-US" sz="3040">
                <a:solidFill>
                  <a:srgbClr val="000000"/>
                </a:solidFill>
                <a:latin typeface="Arimo Bold"/>
              </a:rPr>
              <a:t>ЧОМУ ІНКЛЮЗІЯ Є СПОСОБОМ СПРИЙНЯТТЯ </a:t>
            </a:r>
          </a:p>
          <a:p>
            <a:pPr algn="ctr">
              <a:lnSpc>
                <a:spcPts val="4257"/>
              </a:lnSpc>
            </a:pPr>
            <a:r>
              <a:rPr lang="en-US" sz="3040">
                <a:solidFill>
                  <a:srgbClr val="000000"/>
                </a:solidFill>
                <a:latin typeface="Arimo Bold"/>
              </a:rPr>
              <a:t>ЛЮДСЬКОЇ РІЗНОМАНІТНОСТІ?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0831" y="1133275"/>
            <a:ext cx="17326338" cy="192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3659">
                <a:solidFill>
                  <a:srgbClr val="000000"/>
                </a:solidFill>
                <a:latin typeface="PT Serif Bold"/>
              </a:rPr>
              <a:t>Існує багато причин обмежених можливостей людей і спільнот. Вони можуть діяти окремо або разом.</a:t>
            </a:r>
          </a:p>
          <a:p>
            <a:pPr algn="ctr">
              <a:lnSpc>
                <a:spcPts val="5123"/>
              </a:lnSpc>
            </a:pPr>
            <a:endParaRPr lang="en-US" sz="3659">
              <a:solidFill>
                <a:srgbClr val="000000"/>
              </a:solidFill>
              <a:latin typeface="PT Serif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433147" y="7806460"/>
            <a:ext cx="11163305" cy="2338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5686" lvl="1" indent="-357843" algn="ctr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000000"/>
                </a:solidFill>
                <a:latin typeface="PT Serif Bold"/>
              </a:rPr>
              <a:t>1. Розглянь схему. Поясни, чому ці категорії людей мають обмежені можливості.</a:t>
            </a:r>
          </a:p>
          <a:p>
            <a:pPr marL="715686" lvl="1" indent="-357843" algn="ctr">
              <a:lnSpc>
                <a:spcPts val="4640"/>
              </a:lnSpc>
              <a:buFont typeface="Arial"/>
              <a:buChar char="•"/>
            </a:pPr>
            <a:r>
              <a:rPr lang="en-US" sz="3314">
                <a:solidFill>
                  <a:srgbClr val="000000"/>
                </a:solidFill>
                <a:latin typeface="PT Serif Bold"/>
              </a:rPr>
              <a:t>2. Як можна доповнити цю схему?</a:t>
            </a:r>
          </a:p>
          <a:p>
            <a:pPr algn="ctr">
              <a:lnSpc>
                <a:spcPts val="4640"/>
              </a:lnSpc>
            </a:pPr>
            <a:endParaRPr lang="en-US" sz="3314">
              <a:solidFill>
                <a:srgbClr val="000000"/>
              </a:solidFill>
              <a:latin typeface="PT Serif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4655" y="2108540"/>
            <a:ext cx="1016390" cy="1752397"/>
          </a:xfrm>
          <a:custGeom>
            <a:avLst/>
            <a:gdLst/>
            <a:ahLst/>
            <a:cxnLst/>
            <a:rect l="l" t="t" r="r" b="b"/>
            <a:pathLst>
              <a:path w="1016390" h="1752397">
                <a:moveTo>
                  <a:pt x="0" y="0"/>
                </a:moveTo>
                <a:lnTo>
                  <a:pt x="1016390" y="0"/>
                </a:lnTo>
                <a:lnTo>
                  <a:pt x="1016390" y="1752397"/>
                </a:lnTo>
                <a:lnTo>
                  <a:pt x="0" y="1752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378068" y="3807823"/>
            <a:ext cx="6521732" cy="6157602"/>
          </a:xfrm>
          <a:custGeom>
            <a:avLst/>
            <a:gdLst/>
            <a:ahLst/>
            <a:cxnLst/>
            <a:rect l="l" t="t" r="r" b="b"/>
            <a:pathLst>
              <a:path w="6521732" h="6157602">
                <a:moveTo>
                  <a:pt x="0" y="0"/>
                </a:moveTo>
                <a:lnTo>
                  <a:pt x="6521732" y="0"/>
                </a:lnTo>
                <a:lnTo>
                  <a:pt x="6521732" y="6157602"/>
                </a:lnTo>
                <a:lnTo>
                  <a:pt x="0" y="61576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83827" y="7998326"/>
            <a:ext cx="3396919" cy="2288674"/>
          </a:xfrm>
          <a:custGeom>
            <a:avLst/>
            <a:gdLst/>
            <a:ahLst/>
            <a:cxnLst/>
            <a:rect l="l" t="t" r="r" b="b"/>
            <a:pathLst>
              <a:path w="3396919" h="2288674">
                <a:moveTo>
                  <a:pt x="0" y="0"/>
                </a:moveTo>
                <a:lnTo>
                  <a:pt x="3396919" y="0"/>
                </a:lnTo>
                <a:lnTo>
                  <a:pt x="3396919" y="2288674"/>
                </a:lnTo>
                <a:lnTo>
                  <a:pt x="0" y="22886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794579" y="4746347"/>
            <a:ext cx="3351652" cy="2957833"/>
          </a:xfrm>
          <a:custGeom>
            <a:avLst/>
            <a:gdLst/>
            <a:ahLst/>
            <a:cxnLst/>
            <a:rect l="l" t="t" r="r" b="b"/>
            <a:pathLst>
              <a:path w="3351652" h="2957833">
                <a:moveTo>
                  <a:pt x="0" y="0"/>
                </a:moveTo>
                <a:lnTo>
                  <a:pt x="3351652" y="0"/>
                </a:lnTo>
                <a:lnTo>
                  <a:pt x="3351652" y="2957832"/>
                </a:lnTo>
                <a:lnTo>
                  <a:pt x="0" y="29578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5127" y="44501"/>
            <a:ext cx="9562454" cy="1147495"/>
          </a:xfrm>
          <a:custGeom>
            <a:avLst/>
            <a:gdLst/>
            <a:ahLst/>
            <a:cxnLst/>
            <a:rect l="l" t="t" r="r" b="b"/>
            <a:pathLst>
              <a:path w="9562454" h="1147495">
                <a:moveTo>
                  <a:pt x="0" y="0"/>
                </a:moveTo>
                <a:lnTo>
                  <a:pt x="9562454" y="0"/>
                </a:lnTo>
                <a:lnTo>
                  <a:pt x="9562454" y="1147495"/>
                </a:lnTo>
                <a:lnTo>
                  <a:pt x="0" y="11474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-65573" y="119850"/>
            <a:ext cx="9209573" cy="930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7"/>
              </a:lnSpc>
            </a:pPr>
            <a:r>
              <a:rPr lang="en-US" sz="2627">
                <a:solidFill>
                  <a:srgbClr val="000000"/>
                </a:solidFill>
                <a:latin typeface="Arimo Bold"/>
              </a:rPr>
              <a:t>ЧОМУ ІНКЛЮЗІЯ Є СПОСОБОМ СПРИЙНЯТТЯ ЛЮДСЬКОЇ РІЗНОМАНІТНОСТІ?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118" y="2816074"/>
            <a:ext cx="17326338" cy="191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sz="3659" u="sng">
                <a:solidFill>
                  <a:srgbClr val="000000"/>
                </a:solidFill>
                <a:latin typeface="PT Serif Bold"/>
              </a:rPr>
              <a:t>Інклюзія</a:t>
            </a:r>
            <a:r>
              <a:rPr lang="en-US" sz="3659">
                <a:solidFill>
                  <a:srgbClr val="000000"/>
                </a:solidFill>
                <a:latin typeface="PT Serif Bold"/>
              </a:rPr>
              <a:t> — процес збільшення ступеня участі всіх громадян у суспільному житті.</a:t>
            </a:r>
          </a:p>
          <a:p>
            <a:pPr algn="ctr">
              <a:lnSpc>
                <a:spcPts val="5123"/>
              </a:lnSpc>
            </a:pPr>
            <a:endParaRPr lang="en-US" sz="3659">
              <a:solidFill>
                <a:srgbClr val="000000"/>
              </a:solidFill>
              <a:latin typeface="PT Serif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26470" y="4035032"/>
            <a:ext cx="7606148" cy="616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5"/>
              </a:lnSpc>
            </a:pPr>
            <a:r>
              <a:rPr lang="en-US" sz="3168">
                <a:solidFill>
                  <a:srgbClr val="000000"/>
                </a:solidFill>
                <a:latin typeface="PT Serif Bold"/>
              </a:rPr>
              <a:t> Інклюзія розглядається як універсальне право людини. Метою інклюзії є охоплення всіх людей, незалежно від раси, статі, інвалідності, медичних чи інших потреб. Ідеться про забезпечення рівного доступу й можливостей і позбавлення від дискримінації та нетерпимості (усунення бар’єрів). Це впливає на всі сфери суспільного життя.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8200" y="1480394"/>
            <a:ext cx="17899800" cy="118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4"/>
              </a:lnSpc>
            </a:pPr>
            <a:r>
              <a:rPr lang="en-US" sz="3403">
                <a:solidFill>
                  <a:srgbClr val="000000"/>
                </a:solidFill>
                <a:latin typeface="PT Serif Bold"/>
              </a:rPr>
              <a:t>Щоб рівноправ’ям можна було скористатися, суспільство використовує інклюзію.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46182" y="4892827"/>
            <a:ext cx="10941818" cy="4861271"/>
          </a:xfrm>
          <a:custGeom>
            <a:avLst/>
            <a:gdLst/>
            <a:ahLst/>
            <a:cxnLst/>
            <a:rect l="l" t="t" r="r" b="b"/>
            <a:pathLst>
              <a:path w="10941818" h="4861271">
                <a:moveTo>
                  <a:pt x="0" y="0"/>
                </a:moveTo>
                <a:lnTo>
                  <a:pt x="10941818" y="0"/>
                </a:lnTo>
                <a:lnTo>
                  <a:pt x="10941818" y="4861271"/>
                </a:lnTo>
                <a:lnTo>
                  <a:pt x="0" y="4861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924784" y="4893981"/>
            <a:ext cx="1072586" cy="1653312"/>
          </a:xfrm>
          <a:custGeom>
            <a:avLst/>
            <a:gdLst/>
            <a:ahLst/>
            <a:cxnLst/>
            <a:rect l="l" t="t" r="r" b="b"/>
            <a:pathLst>
              <a:path w="1072586" h="1653312">
                <a:moveTo>
                  <a:pt x="0" y="0"/>
                </a:moveTo>
                <a:lnTo>
                  <a:pt x="1072586" y="0"/>
                </a:lnTo>
                <a:lnTo>
                  <a:pt x="1072586" y="1653313"/>
                </a:lnTo>
                <a:lnTo>
                  <a:pt x="0" y="16533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913" y="85687"/>
            <a:ext cx="9562454" cy="1147495"/>
          </a:xfrm>
          <a:custGeom>
            <a:avLst/>
            <a:gdLst/>
            <a:ahLst/>
            <a:cxnLst/>
            <a:rect l="l" t="t" r="r" b="b"/>
            <a:pathLst>
              <a:path w="9562454" h="1147495">
                <a:moveTo>
                  <a:pt x="0" y="0"/>
                </a:moveTo>
                <a:lnTo>
                  <a:pt x="9562454" y="0"/>
                </a:lnTo>
                <a:lnTo>
                  <a:pt x="9562454" y="1147494"/>
                </a:lnTo>
                <a:lnTo>
                  <a:pt x="0" y="11474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643910"/>
            <a:ext cx="18288000" cy="2791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1"/>
              </a:lnSpc>
            </a:pPr>
            <a:r>
              <a:rPr lang="en-US" sz="3179">
                <a:solidFill>
                  <a:srgbClr val="000000"/>
                </a:solidFill>
                <a:latin typeface="PT Serif Bold"/>
              </a:rPr>
              <a:t>Оскільки інклюзія є метою демократичного суспільства, це означає, що інклюзивне суспільство більш різноманітне, у ньому переважають справедливе ставлення до кожного і кожної, рівність можливостей і результатів. Факти доводять, що інклюзивні спільноти мають більшу різноманітність талантів. Адже люди думають по-іншому й діляться своїм досвідом. Це є ключовим рушієм для інновацій, розвитку й залучення.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31597"/>
            <a:ext cx="9634367" cy="979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7"/>
              </a:lnSpc>
            </a:pPr>
            <a:r>
              <a:rPr lang="en-US" sz="2748">
                <a:solidFill>
                  <a:srgbClr val="000000"/>
                </a:solidFill>
                <a:latin typeface="Arimo Bold"/>
              </a:rPr>
              <a:t>ЧОМУ ІНКЛЮЗІЯ Є СПОСОБОМ СПРИЙНЯТТЯ ЛЮДСЬКОЇ РІЗНОМАНІТНОСТІ?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913" y="6139070"/>
            <a:ext cx="7346182" cy="311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9"/>
              </a:lnSpc>
            </a:pPr>
            <a:endParaRPr/>
          </a:p>
          <a:p>
            <a:pPr marL="544311" lvl="1" indent="-272156" algn="ctr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000000"/>
                </a:solidFill>
                <a:latin typeface="PT Serif Bold"/>
              </a:rPr>
              <a:t>1. Як інклюзія сприяє різноманітності талантів?</a:t>
            </a:r>
          </a:p>
          <a:p>
            <a:pPr marL="544311" lvl="1" indent="-272156" algn="ctr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000000"/>
                </a:solidFill>
                <a:latin typeface="PT Serif Bold"/>
              </a:rPr>
              <a:t>2. Розглянь малюнок на попередній сторінці. Поясни інклюзію на прикладі олівців.</a:t>
            </a:r>
          </a:p>
          <a:p>
            <a:pPr algn="ctr">
              <a:lnSpc>
                <a:spcPts val="3529"/>
              </a:lnSpc>
            </a:pPr>
            <a:endParaRPr lang="en-US" sz="2521">
              <a:solidFill>
                <a:srgbClr val="000000"/>
              </a:solidFill>
              <a:latin typeface="PT Serif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40491" y="4068631"/>
            <a:ext cx="14190089" cy="3155706"/>
          </a:xfrm>
          <a:custGeom>
            <a:avLst/>
            <a:gdLst/>
            <a:ahLst/>
            <a:cxnLst/>
            <a:rect l="l" t="t" r="r" b="b"/>
            <a:pathLst>
              <a:path w="14190089" h="3155706">
                <a:moveTo>
                  <a:pt x="0" y="0"/>
                </a:moveTo>
                <a:lnTo>
                  <a:pt x="14190089" y="0"/>
                </a:lnTo>
                <a:lnTo>
                  <a:pt x="14190089" y="3155707"/>
                </a:lnTo>
                <a:lnTo>
                  <a:pt x="0" y="3155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25784" y="7459595"/>
            <a:ext cx="536293" cy="826656"/>
          </a:xfrm>
          <a:custGeom>
            <a:avLst/>
            <a:gdLst/>
            <a:ahLst/>
            <a:cxnLst/>
            <a:rect l="l" t="t" r="r" b="b"/>
            <a:pathLst>
              <a:path w="536293" h="826656">
                <a:moveTo>
                  <a:pt x="0" y="0"/>
                </a:moveTo>
                <a:lnTo>
                  <a:pt x="536293" y="0"/>
                </a:lnTo>
                <a:lnTo>
                  <a:pt x="536293" y="826656"/>
                </a:lnTo>
                <a:lnTo>
                  <a:pt x="0" y="82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088151" y="-260172"/>
            <a:ext cx="14111697" cy="1693404"/>
          </a:xfrm>
          <a:custGeom>
            <a:avLst/>
            <a:gdLst/>
            <a:ahLst/>
            <a:cxnLst/>
            <a:rect l="l" t="t" r="r" b="b"/>
            <a:pathLst>
              <a:path w="14111697" h="1693404">
                <a:moveTo>
                  <a:pt x="0" y="0"/>
                </a:moveTo>
                <a:lnTo>
                  <a:pt x="14111698" y="0"/>
                </a:lnTo>
                <a:lnTo>
                  <a:pt x="14111698" y="1693403"/>
                </a:lnTo>
                <a:lnTo>
                  <a:pt x="0" y="1693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8200" y="93497"/>
            <a:ext cx="17511600" cy="871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3"/>
              </a:lnSpc>
            </a:pPr>
            <a:r>
              <a:rPr lang="en-US" sz="4995">
                <a:solidFill>
                  <a:srgbClr val="000000"/>
                </a:solidFill>
                <a:latin typeface="Arimo Bold"/>
              </a:rPr>
              <a:t> ЯК ДОЛАТИ БАР’ЄРИ Й ЗАЛУЧАТИ ВСІХ?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504" y="1307369"/>
            <a:ext cx="18079496" cy="3215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9"/>
              </a:lnSpc>
            </a:pPr>
            <a:r>
              <a:rPr lang="en-US" sz="3035">
                <a:solidFill>
                  <a:srgbClr val="000000"/>
                </a:solidFill>
                <a:latin typeface="PT Serif Bold"/>
              </a:rPr>
              <a:t>Прикладом реалізації інклюзії є інклюзивний дизайн — створення місць, якими зможе користуватися будь-хто. Спосіб організації місць перебування людей впливає на нашу здатність рухатися, бачити, чути й ефективно спілкуватися. Інклюзивний дизайн спрямований на усунення бар’єрів, дає змогу рівноправно, впевнено й незалежно брати участь у повсякденному житті.</a:t>
            </a:r>
          </a:p>
          <a:p>
            <a:pPr algn="ctr">
              <a:lnSpc>
                <a:spcPts val="4249"/>
              </a:lnSpc>
            </a:pPr>
            <a:endParaRPr lang="en-US" sz="3035">
              <a:solidFill>
                <a:srgbClr val="000000"/>
              </a:solidFill>
              <a:latin typeface="PT Serif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662077" y="7421495"/>
            <a:ext cx="11698326" cy="1220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052" lvl="1" indent="-251526" algn="ctr">
              <a:lnSpc>
                <a:spcPts val="3262"/>
              </a:lnSpc>
              <a:buFont typeface="Arial"/>
              <a:buChar char="•"/>
            </a:pPr>
            <a:r>
              <a:rPr lang="en-US" sz="2330">
                <a:solidFill>
                  <a:srgbClr val="000000"/>
                </a:solidFill>
                <a:latin typeface="PT Serif Bold"/>
              </a:rPr>
              <a:t>1. Розглянь світлини. Для яких категорій людей зроблені ці застосунки?</a:t>
            </a:r>
          </a:p>
          <a:p>
            <a:pPr marL="503052" lvl="1" indent="-251526" algn="ctr">
              <a:lnSpc>
                <a:spcPts val="3262"/>
              </a:lnSpc>
              <a:buFont typeface="Arial"/>
              <a:buChar char="•"/>
            </a:pPr>
            <a:r>
              <a:rPr lang="en-US" sz="2330">
                <a:solidFill>
                  <a:srgbClr val="000000"/>
                </a:solidFill>
                <a:latin typeface="PT Serif Bold"/>
              </a:rPr>
              <a:t>2. Як інклюзія проявляється у твоєму населеному пункті?</a:t>
            </a:r>
          </a:p>
          <a:p>
            <a:pPr algn="ctr">
              <a:lnSpc>
                <a:spcPts val="3262"/>
              </a:lnSpc>
            </a:pPr>
            <a:endParaRPr lang="en-US" sz="2330">
              <a:solidFill>
                <a:srgbClr val="000000"/>
              </a:solidFill>
              <a:latin typeface="PT Serif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6835" y="8219576"/>
            <a:ext cx="16414331" cy="1882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7"/>
              </a:lnSpc>
            </a:pPr>
            <a:r>
              <a:rPr lang="en-US" sz="3576">
                <a:solidFill>
                  <a:srgbClr val="000000"/>
                </a:solidFill>
                <a:latin typeface="PT Serif Bold"/>
              </a:rPr>
              <a:t>Важливо мати інклюзивне середовище в школі. Саме тут діти проводять більшу частину свого часу. Тому дуже важливо, щоб всі відчували повагу й безпеку.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61783"/>
            <a:ext cx="8169012" cy="980281"/>
          </a:xfrm>
          <a:custGeom>
            <a:avLst/>
            <a:gdLst/>
            <a:ahLst/>
            <a:cxnLst/>
            <a:rect l="l" t="t" r="r" b="b"/>
            <a:pathLst>
              <a:path w="8169012" h="980281">
                <a:moveTo>
                  <a:pt x="0" y="0"/>
                </a:moveTo>
                <a:lnTo>
                  <a:pt x="8169012" y="0"/>
                </a:lnTo>
                <a:lnTo>
                  <a:pt x="8169012" y="980282"/>
                </a:lnTo>
                <a:lnTo>
                  <a:pt x="0" y="980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669157" y="1046815"/>
            <a:ext cx="8004896" cy="866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4"/>
              </a:lnSpc>
            </a:pPr>
            <a:r>
              <a:rPr lang="en-US" sz="5067">
                <a:solidFill>
                  <a:srgbClr val="000000"/>
                </a:solidFill>
                <a:latin typeface="PT Serif Bold"/>
              </a:rPr>
              <a:t>Школа має забезпечити: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1398" y="1847065"/>
            <a:ext cx="17409625" cy="6247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1899" lvl="1" indent="-380949" algn="ctr">
              <a:lnSpc>
                <a:spcPts val="4940"/>
              </a:lnSpc>
              <a:buFont typeface="Arial"/>
              <a:buChar char="•"/>
            </a:pPr>
            <a:r>
              <a:rPr lang="en-US" sz="3528">
                <a:solidFill>
                  <a:srgbClr val="000000"/>
                </a:solidFill>
                <a:latin typeface="PT Serif Bold"/>
              </a:rPr>
              <a:t>фізичну інклюзію — усі учасники освітнього процесу мають справедливий доступ до всіх зручностей, послуг і заходів (наприклад, пандуси або ліфт у будівлях);</a:t>
            </a:r>
          </a:p>
          <a:p>
            <a:pPr marL="761899" lvl="1" indent="-380949" algn="ctr">
              <a:lnSpc>
                <a:spcPts val="4940"/>
              </a:lnSpc>
              <a:buFont typeface="Arial"/>
              <a:buChar char="•"/>
            </a:pPr>
            <a:r>
              <a:rPr lang="en-US" sz="3528">
                <a:solidFill>
                  <a:srgbClr val="000000"/>
                </a:solidFill>
                <a:latin typeface="PT Serif Bold"/>
              </a:rPr>
              <a:t>академічну інклюзію — усі учні та учениці одного віку навчаються разом в одному класі;</a:t>
            </a:r>
          </a:p>
          <a:p>
            <a:pPr marL="761899" lvl="1" indent="-380949" algn="ctr">
              <a:lnSpc>
                <a:spcPts val="4940"/>
              </a:lnSpc>
              <a:buFont typeface="Arial"/>
              <a:buChar char="•"/>
            </a:pPr>
            <a:r>
              <a:rPr lang="en-US" sz="3528">
                <a:solidFill>
                  <a:srgbClr val="000000"/>
                </a:solidFill>
                <a:latin typeface="PT Serif Bold"/>
              </a:rPr>
              <a:t>соціальну інклюзію — усі учні й учениці мають можливість розвивати справжню дружбу й стосунки з широким колом своїх однолітків та одноліток у класі й поза ним (наприклад, учні їдять за одним столом, грають в одній команді або ходять в один гурток).</a:t>
            </a:r>
          </a:p>
          <a:p>
            <a:pPr algn="ctr">
              <a:lnSpc>
                <a:spcPts val="4940"/>
              </a:lnSpc>
            </a:pPr>
            <a:endParaRPr lang="en-US" sz="3528">
              <a:solidFill>
                <a:srgbClr val="000000"/>
              </a:solidFill>
              <a:latin typeface="PT Serif Bold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739918" y="7680929"/>
            <a:ext cx="536293" cy="826656"/>
          </a:xfrm>
          <a:custGeom>
            <a:avLst/>
            <a:gdLst/>
            <a:ahLst/>
            <a:cxnLst/>
            <a:rect l="l" t="t" r="r" b="b"/>
            <a:pathLst>
              <a:path w="536293" h="826656">
                <a:moveTo>
                  <a:pt x="0" y="0"/>
                </a:moveTo>
                <a:lnTo>
                  <a:pt x="536293" y="0"/>
                </a:lnTo>
                <a:lnTo>
                  <a:pt x="536293" y="826657"/>
                </a:lnTo>
                <a:lnTo>
                  <a:pt x="0" y="8266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941566" y="7317040"/>
            <a:ext cx="3346434" cy="2969960"/>
          </a:xfrm>
          <a:custGeom>
            <a:avLst/>
            <a:gdLst/>
            <a:ahLst/>
            <a:cxnLst/>
            <a:rect l="l" t="t" r="r" b="b"/>
            <a:pathLst>
              <a:path w="3346434" h="2969960">
                <a:moveTo>
                  <a:pt x="0" y="0"/>
                </a:moveTo>
                <a:lnTo>
                  <a:pt x="3346434" y="0"/>
                </a:lnTo>
                <a:lnTo>
                  <a:pt x="3346434" y="2969960"/>
                </a:lnTo>
                <a:lnTo>
                  <a:pt x="0" y="29699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20454" y="269838"/>
            <a:ext cx="5367546" cy="1744453"/>
          </a:xfrm>
          <a:custGeom>
            <a:avLst/>
            <a:gdLst/>
            <a:ahLst/>
            <a:cxnLst/>
            <a:rect l="l" t="t" r="r" b="b"/>
            <a:pathLst>
              <a:path w="5367546" h="1744453">
                <a:moveTo>
                  <a:pt x="0" y="0"/>
                </a:moveTo>
                <a:lnTo>
                  <a:pt x="5367546" y="0"/>
                </a:lnTo>
                <a:lnTo>
                  <a:pt x="5367546" y="1744453"/>
                </a:lnTo>
                <a:lnTo>
                  <a:pt x="0" y="17444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7568311"/>
            <a:ext cx="3513108" cy="2309868"/>
          </a:xfrm>
          <a:custGeom>
            <a:avLst/>
            <a:gdLst/>
            <a:ahLst/>
            <a:cxnLst/>
            <a:rect l="l" t="t" r="r" b="b"/>
            <a:pathLst>
              <a:path w="3513108" h="2309868">
                <a:moveTo>
                  <a:pt x="0" y="0"/>
                </a:moveTo>
                <a:lnTo>
                  <a:pt x="3513108" y="0"/>
                </a:lnTo>
                <a:lnTo>
                  <a:pt x="3513108" y="2309868"/>
                </a:lnTo>
                <a:lnTo>
                  <a:pt x="0" y="23098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334805" y="345993"/>
            <a:ext cx="8838621" cy="53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sz="3029">
                <a:solidFill>
                  <a:srgbClr val="000000"/>
                </a:solidFill>
                <a:latin typeface="Arimo Bold"/>
              </a:rPr>
              <a:t> ЯК ДОЛАТИ БАР’ЄРИ Й ЗАЛУЧАТИ ВСІХ?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20597" y="8581271"/>
            <a:ext cx="12446805" cy="1296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442">
                <a:solidFill>
                  <a:srgbClr val="000000"/>
                </a:solidFill>
                <a:latin typeface="PT Serif Bold"/>
              </a:rPr>
              <a:t>1. Чи є у твоїй школі люди, які потребують інклюзивної підтримки?</a:t>
            </a:r>
          </a:p>
          <a:p>
            <a:pPr algn="ctr">
              <a:lnSpc>
                <a:spcPts val="3419"/>
              </a:lnSpc>
            </a:pPr>
            <a:r>
              <a:rPr lang="en-US" sz="2442">
                <a:solidFill>
                  <a:srgbClr val="000000"/>
                </a:solidFill>
                <a:latin typeface="PT Serif Bold"/>
              </a:rPr>
              <a:t>2. Пригадай поняття «булінг». Чому булінг руйнує інклюзію?</a:t>
            </a:r>
          </a:p>
          <a:p>
            <a:pPr algn="ctr">
              <a:lnSpc>
                <a:spcPts val="3419"/>
              </a:lnSpc>
            </a:pPr>
            <a:endParaRPr lang="en-US" sz="2442">
              <a:solidFill>
                <a:srgbClr val="000000"/>
              </a:solidFill>
              <a:latin typeface="PT Serif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61783"/>
            <a:ext cx="8169012" cy="980281"/>
          </a:xfrm>
          <a:custGeom>
            <a:avLst/>
            <a:gdLst/>
            <a:ahLst/>
            <a:cxnLst/>
            <a:rect l="l" t="t" r="r" b="b"/>
            <a:pathLst>
              <a:path w="8169012" h="980281">
                <a:moveTo>
                  <a:pt x="0" y="0"/>
                </a:moveTo>
                <a:lnTo>
                  <a:pt x="8169012" y="0"/>
                </a:lnTo>
                <a:lnTo>
                  <a:pt x="8169012" y="980282"/>
                </a:lnTo>
                <a:lnTo>
                  <a:pt x="0" y="980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8996" y="4086098"/>
            <a:ext cx="5466584" cy="6200902"/>
          </a:xfrm>
          <a:custGeom>
            <a:avLst/>
            <a:gdLst/>
            <a:ahLst/>
            <a:cxnLst/>
            <a:rect l="l" t="t" r="r" b="b"/>
            <a:pathLst>
              <a:path w="5466584" h="6200902">
                <a:moveTo>
                  <a:pt x="0" y="0"/>
                </a:moveTo>
                <a:lnTo>
                  <a:pt x="5466584" y="0"/>
                </a:lnTo>
                <a:lnTo>
                  <a:pt x="5466584" y="6200902"/>
                </a:lnTo>
                <a:lnTo>
                  <a:pt x="0" y="6200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780161" y="4323745"/>
            <a:ext cx="745634" cy="1149340"/>
          </a:xfrm>
          <a:custGeom>
            <a:avLst/>
            <a:gdLst/>
            <a:ahLst/>
            <a:cxnLst/>
            <a:rect l="l" t="t" r="r" b="b"/>
            <a:pathLst>
              <a:path w="745634" h="1149340">
                <a:moveTo>
                  <a:pt x="0" y="0"/>
                </a:moveTo>
                <a:lnTo>
                  <a:pt x="745635" y="0"/>
                </a:lnTo>
                <a:lnTo>
                  <a:pt x="745635" y="1149340"/>
                </a:lnTo>
                <a:lnTo>
                  <a:pt x="0" y="11493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334805" y="345993"/>
            <a:ext cx="8838621" cy="53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1"/>
              </a:lnSpc>
            </a:pPr>
            <a:r>
              <a:rPr lang="en-US" sz="3029">
                <a:solidFill>
                  <a:srgbClr val="000000"/>
                </a:solidFill>
                <a:latin typeface="Arimo Bold"/>
              </a:rPr>
              <a:t> ЯК ДОЛАТИ БАР’ЄРИ Й ЗАЛУЧАТИ ВСІХ?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6388" y="1420135"/>
            <a:ext cx="16230600" cy="2665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000000"/>
                </a:solidFill>
                <a:latin typeface="Arimo Bold"/>
              </a:rPr>
              <a:t>Із соціального погляду інклюзивні школи — це місця, де всіх заохочують і підтримують у тому, щоб бути творчими, мати можливість бути лідерами, брати участь у шкільних заходах і спільній діяльності. Усі учні й учениці заслуговують на можливість брати активну участь у житті шкільного та громадського середовищ, які визнають і приймають їхні обдарування.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54929" y="5663107"/>
            <a:ext cx="8396100" cy="397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400" lvl="1" indent="-269200" algn="ctr">
              <a:lnSpc>
                <a:spcPts val="3491"/>
              </a:lnSpc>
              <a:buFont typeface="Arial"/>
              <a:buChar char="•"/>
            </a:pPr>
            <a:r>
              <a:rPr lang="en-US" sz="2493">
                <a:solidFill>
                  <a:srgbClr val="000000"/>
                </a:solidFill>
                <a:latin typeface="PT Serif Bold"/>
              </a:rPr>
              <a:t>1. Розглянь малюнок. Що відчувають діти?</a:t>
            </a:r>
          </a:p>
          <a:p>
            <a:pPr marL="538400" lvl="1" indent="-269200" algn="ctr">
              <a:lnSpc>
                <a:spcPts val="3491"/>
              </a:lnSpc>
              <a:buFont typeface="Arial"/>
              <a:buChar char="•"/>
            </a:pPr>
            <a:r>
              <a:rPr lang="en-US" sz="2493">
                <a:solidFill>
                  <a:srgbClr val="000000"/>
                </a:solidFill>
                <a:latin typeface="PT Serif Bold"/>
              </a:rPr>
              <a:t>2. Наскільки, на твою думку, всі учні твоєї школи відчувають фізичну, академічну й соціальну інклюзію?</a:t>
            </a:r>
          </a:p>
          <a:p>
            <a:pPr marL="538400" lvl="1" indent="-269200" algn="ctr">
              <a:lnSpc>
                <a:spcPts val="3491"/>
              </a:lnSpc>
              <a:buFont typeface="Arial"/>
              <a:buChar char="•"/>
            </a:pPr>
            <a:r>
              <a:rPr lang="en-US" sz="2493">
                <a:solidFill>
                  <a:srgbClr val="000000"/>
                </a:solidFill>
                <a:latin typeface="PT Serif Bold"/>
              </a:rPr>
              <a:t>3. Чи всі учасники освітнього процесу мають підтримку?</a:t>
            </a:r>
          </a:p>
          <a:p>
            <a:pPr marL="538400" lvl="1" indent="-269200" algn="ctr">
              <a:lnSpc>
                <a:spcPts val="3491"/>
              </a:lnSpc>
              <a:buFont typeface="Arial"/>
              <a:buChar char="•"/>
            </a:pPr>
            <a:r>
              <a:rPr lang="en-US" sz="2493">
                <a:solidFill>
                  <a:srgbClr val="000000"/>
                </a:solidFill>
                <a:latin typeface="PT Serif Bold"/>
              </a:rPr>
              <a:t>4. Як активність дітей може допомогти усунути недоліки інклюзії?</a:t>
            </a:r>
          </a:p>
          <a:p>
            <a:pPr algn="ctr">
              <a:lnSpc>
                <a:spcPts val="3491"/>
              </a:lnSpc>
            </a:pPr>
            <a:endParaRPr lang="en-US" sz="2493">
              <a:solidFill>
                <a:srgbClr val="000000"/>
              </a:solidFill>
              <a:latin typeface="PT Serif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94527" y="0"/>
            <a:ext cx="12198027" cy="1463763"/>
          </a:xfrm>
          <a:custGeom>
            <a:avLst/>
            <a:gdLst/>
            <a:ahLst/>
            <a:cxnLst/>
            <a:rect l="l" t="t" r="r" b="b"/>
            <a:pathLst>
              <a:path w="12198027" h="1463763">
                <a:moveTo>
                  <a:pt x="0" y="0"/>
                </a:moveTo>
                <a:lnTo>
                  <a:pt x="12198027" y="0"/>
                </a:lnTo>
                <a:lnTo>
                  <a:pt x="12198027" y="1463763"/>
                </a:lnTo>
                <a:lnTo>
                  <a:pt x="0" y="14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1445" y="1480863"/>
            <a:ext cx="17847212" cy="6216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000000"/>
                </a:solidFill>
                <a:latin typeface="Arimo Bold"/>
              </a:rPr>
              <a:t>Спілкування з людьми, які мають інвалідність, нічим не відрізняється від спілкування звичайних людей. До всіх потрібно ставитися з повагою, говорити безпосередньо, уникати ярликів, медичних діагнозів, збірних образів. Описуючи життя людини з інвалідністю, не вдавайся до драматизації, жалю чи героїзації. Звертаючись до людей з інвалідністю, став на перше місце людину, а не інвалідність:</a:t>
            </a:r>
          </a:p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000000"/>
                </a:solidFill>
                <a:latin typeface="Arimo Bold"/>
              </a:rPr>
              <a:t> дівчина з вадами зору, а не сліпа; </a:t>
            </a:r>
          </a:p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000000"/>
                </a:solidFill>
                <a:latin typeface="Arimo Bold"/>
              </a:rPr>
              <a:t>учень з аутизмом, а не аутист; </a:t>
            </a:r>
          </a:p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000000"/>
                </a:solidFill>
                <a:latin typeface="Arimo Bold"/>
              </a:rPr>
              <a:t>знайома з інвалідністю, а не «децепешниця».</a:t>
            </a:r>
          </a:p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>
                <a:solidFill>
                  <a:srgbClr val="000000"/>
                </a:solidFill>
                <a:latin typeface="Arimo Bold"/>
              </a:rPr>
              <a:t> Пам’ятай, що інвалідність не основна, а одна з багатьох характеристик людини. Тому згадки про інвалідність чи певні порушення варто робити лише тоді, коли це вкрай потрібно.</a:t>
            </a:r>
          </a:p>
        </p:txBody>
      </p:sp>
      <p:sp>
        <p:nvSpPr>
          <p:cNvPr id="5" name="Freeform 5"/>
          <p:cNvSpPr/>
          <p:nvPr/>
        </p:nvSpPr>
        <p:spPr>
          <a:xfrm>
            <a:off x="1761613" y="7830817"/>
            <a:ext cx="1465827" cy="2259463"/>
          </a:xfrm>
          <a:custGeom>
            <a:avLst/>
            <a:gdLst/>
            <a:ahLst/>
            <a:cxnLst/>
            <a:rect l="l" t="t" r="r" b="b"/>
            <a:pathLst>
              <a:path w="1465827" h="2259463">
                <a:moveTo>
                  <a:pt x="0" y="0"/>
                </a:moveTo>
                <a:lnTo>
                  <a:pt x="1465827" y="0"/>
                </a:lnTo>
                <a:lnTo>
                  <a:pt x="1465827" y="2259463"/>
                </a:lnTo>
                <a:lnTo>
                  <a:pt x="0" y="22594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16573" y="-25552"/>
            <a:ext cx="11753935" cy="1419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Arimo Bold"/>
              </a:rPr>
              <a:t> ЯК ЕТИКА ДОПОМАГАЄ У СПІЛКУВАННІ З ЛЮДЬМИ, ЯКІ МАЮТЬ ІНВАЛІДНІСТЬ?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3297" y="8043778"/>
            <a:ext cx="14205360" cy="1776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000000"/>
                </a:solidFill>
                <a:latin typeface="Arimo Bold"/>
              </a:rPr>
              <a:t>1. Як «золоте правило» етики допоможе під час спілкування з людьми, що мають інвалідність?</a:t>
            </a:r>
          </a:p>
          <a:p>
            <a:pPr algn="ctr">
              <a:lnSpc>
                <a:spcPts val="3559"/>
              </a:lnSpc>
              <a:spcBef>
                <a:spcPct val="0"/>
              </a:spcBef>
            </a:pPr>
            <a:r>
              <a:rPr lang="en-US" sz="2542">
                <a:solidFill>
                  <a:srgbClr val="000000"/>
                </a:solidFill>
                <a:latin typeface="Arimo Bold"/>
              </a:rPr>
              <a:t>2. Чому інвалідність — не основна характеристика людини? Які характеристики людини, на твою думку, є основними?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94527" y="0"/>
            <a:ext cx="12198027" cy="1463763"/>
          </a:xfrm>
          <a:custGeom>
            <a:avLst/>
            <a:gdLst/>
            <a:ahLst/>
            <a:cxnLst/>
            <a:rect l="l" t="t" r="r" b="b"/>
            <a:pathLst>
              <a:path w="12198027" h="1463763">
                <a:moveTo>
                  <a:pt x="0" y="0"/>
                </a:moveTo>
                <a:lnTo>
                  <a:pt x="12198027" y="0"/>
                </a:lnTo>
                <a:lnTo>
                  <a:pt x="12198027" y="1463763"/>
                </a:lnTo>
                <a:lnTo>
                  <a:pt x="0" y="14637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93606" y="2168881"/>
            <a:ext cx="6973009" cy="4959676"/>
          </a:xfrm>
          <a:custGeom>
            <a:avLst/>
            <a:gdLst/>
            <a:ahLst/>
            <a:cxnLst/>
            <a:rect l="l" t="t" r="r" b="b"/>
            <a:pathLst>
              <a:path w="6973009" h="4959676">
                <a:moveTo>
                  <a:pt x="0" y="0"/>
                </a:moveTo>
                <a:lnTo>
                  <a:pt x="6973009" y="0"/>
                </a:lnTo>
                <a:lnTo>
                  <a:pt x="6973009" y="4959675"/>
                </a:lnTo>
                <a:lnTo>
                  <a:pt x="0" y="49596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753627" y="1800336"/>
            <a:ext cx="10304089" cy="7857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4"/>
              </a:lnSpc>
              <a:spcBef>
                <a:spcPct val="0"/>
              </a:spcBef>
            </a:pPr>
            <a:r>
              <a:rPr lang="en-US" sz="3446">
                <a:solidFill>
                  <a:srgbClr val="000000"/>
                </a:solidFill>
                <a:latin typeface="Arimo Bold"/>
              </a:rPr>
              <a:t>Завжди дотримуйся хороших манер. Під час привітання, якщо це доречно, використовуй рукостискання чи обійми, встанови зоровий контакт. Люди з інвалідністю часто вловлюють мову тіла, яка виражає дискомфорт, тому важливо бути розслабленим і впевненим. Під час спілкування з людиною, яка має інвалідність, важливо говорити чітко й уважно слухати. Почекайте, поки людина закінчить говорити, перш ніж почати говорити самому/самій. Якщо ти не зрозумів чи не розчув сказане, попроси повторити і будь терплячим/терплячою.</a:t>
            </a:r>
          </a:p>
        </p:txBody>
      </p:sp>
      <p:sp>
        <p:nvSpPr>
          <p:cNvPr id="6" name="Freeform 6"/>
          <p:cNvSpPr/>
          <p:nvPr/>
        </p:nvSpPr>
        <p:spPr>
          <a:xfrm>
            <a:off x="3543817" y="7313847"/>
            <a:ext cx="536293" cy="826656"/>
          </a:xfrm>
          <a:custGeom>
            <a:avLst/>
            <a:gdLst/>
            <a:ahLst/>
            <a:cxnLst/>
            <a:rect l="l" t="t" r="r" b="b"/>
            <a:pathLst>
              <a:path w="536293" h="826656">
                <a:moveTo>
                  <a:pt x="0" y="0"/>
                </a:moveTo>
                <a:lnTo>
                  <a:pt x="536293" y="0"/>
                </a:lnTo>
                <a:lnTo>
                  <a:pt x="536293" y="826656"/>
                </a:lnTo>
                <a:lnTo>
                  <a:pt x="0" y="826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16573" y="-25552"/>
            <a:ext cx="11753935" cy="1419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Arimo Bold"/>
              </a:rPr>
              <a:t> ЯК ЕТИКА ДОПОМАГАЄ У СПІЛКУВАННІ З ЛЮДЬМИ, ЯКІ МАЮТЬ ІНВАЛІДНІСТЬ?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4883" y="8268644"/>
            <a:ext cx="7221733" cy="158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sz="2257">
                <a:solidFill>
                  <a:srgbClr val="000000"/>
                </a:solidFill>
                <a:latin typeface="Arimo Bold"/>
              </a:rPr>
              <a:t>1. Розглянь світлину. Чи правильно, на твою думку, вітаються люди?</a:t>
            </a:r>
          </a:p>
          <a:p>
            <a:pPr algn="ctr">
              <a:lnSpc>
                <a:spcPts val="3160"/>
              </a:lnSpc>
              <a:spcBef>
                <a:spcPct val="0"/>
              </a:spcBef>
            </a:pPr>
            <a:r>
              <a:rPr lang="en-US" sz="2257">
                <a:solidFill>
                  <a:srgbClr val="000000"/>
                </a:solidFill>
                <a:latin typeface="Arimo Bold"/>
              </a:rPr>
              <a:t>2. Чому будь-якій людині важливо, щоб її вислухали?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494527" y="0"/>
            <a:ext cx="12648537" cy="1517824"/>
          </a:xfrm>
          <a:custGeom>
            <a:avLst/>
            <a:gdLst/>
            <a:ahLst/>
            <a:cxnLst/>
            <a:rect l="l" t="t" r="r" b="b"/>
            <a:pathLst>
              <a:path w="12648537" h="1517824">
                <a:moveTo>
                  <a:pt x="0" y="0"/>
                </a:moveTo>
                <a:lnTo>
                  <a:pt x="12648537" y="0"/>
                </a:lnTo>
                <a:lnTo>
                  <a:pt x="12648537" y="1517824"/>
                </a:lnTo>
                <a:lnTo>
                  <a:pt x="0" y="1517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43232" y="1479"/>
            <a:ext cx="12499831" cy="1419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1"/>
              </a:lnSpc>
            </a:pPr>
            <a:r>
              <a:rPr lang="en-US" sz="4029">
                <a:solidFill>
                  <a:srgbClr val="000000"/>
                </a:solidFill>
                <a:latin typeface="Arimo Bold"/>
              </a:rPr>
              <a:t>Ось деякі загальні поради для успішного спілкування з людьми, які мають інвалідність: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5076" y="1675365"/>
            <a:ext cx="17552348" cy="793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поважай особистий простір — частиною цього простору є протез, інвалідний візок, тростина, собака-поводир;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розмовляй безпосередньо з людиною, а не з опікуном чи опікункою;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використовуй звичайний тон — не підвищуй голос, доки не попросять;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запитай людину, що допоможе у спілкуванні, — є різні способи спілкування (скажімо, людина з вадами слуху може читати по губах);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не вдавай, що розумієш, — повідом, що в тебе є труднощі з розумінням;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будь гнучким/гнучкою — переформулюй, а не повторюй щось незрозуміле;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запропонуй допомогу, якщо вона здається необхідною, але поважай бажання людини, якщо вона не прийме твою пропозицію;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якщо виникла небезпечна ситуація, допоможи так само, як людині без інвалідності;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уникай натяків на те, що людина з інвалідністю є героєм/героїнею, мужньою чи особливою;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якщо ти не впевнений/не впевнена, як слід взаємодіяти з людиною, яка має інвалідність, просто запитай її;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розслабся — всі роблять помилки;</a:t>
            </a:r>
          </a:p>
          <a:p>
            <a:pPr marL="610433" lvl="1" indent="-305216">
              <a:lnSpc>
                <a:spcPts val="3958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Arimo Bold"/>
              </a:rPr>
              <a:t>перепроси, якщо вважаєш, що вчинив/вчинила некоректно.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29839" y="342885"/>
            <a:ext cx="17428321" cy="4800615"/>
          </a:xfrm>
          <a:custGeom>
            <a:avLst/>
            <a:gdLst/>
            <a:ahLst/>
            <a:cxnLst/>
            <a:rect l="l" t="t" r="r" b="b"/>
            <a:pathLst>
              <a:path w="17428321" h="4800615">
                <a:moveTo>
                  <a:pt x="0" y="0"/>
                </a:moveTo>
                <a:lnTo>
                  <a:pt x="17428322" y="0"/>
                </a:lnTo>
                <a:lnTo>
                  <a:pt x="17428322" y="4800615"/>
                </a:lnTo>
                <a:lnTo>
                  <a:pt x="0" y="4800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22627" y="5393688"/>
            <a:ext cx="536293" cy="826656"/>
          </a:xfrm>
          <a:custGeom>
            <a:avLst/>
            <a:gdLst/>
            <a:ahLst/>
            <a:cxnLst/>
            <a:rect l="l" t="t" r="r" b="b"/>
            <a:pathLst>
              <a:path w="536293" h="826656">
                <a:moveTo>
                  <a:pt x="0" y="0"/>
                </a:moveTo>
                <a:lnTo>
                  <a:pt x="536293" y="0"/>
                </a:lnTo>
                <a:lnTo>
                  <a:pt x="536293" y="826656"/>
                </a:lnTo>
                <a:lnTo>
                  <a:pt x="0" y="826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29839" y="6394332"/>
            <a:ext cx="17858161" cy="3512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sz="3345">
                <a:solidFill>
                  <a:srgbClr val="000000"/>
                </a:solidFill>
                <a:latin typeface="Arimo Bold"/>
              </a:rPr>
              <a:t>1. Чому для людини з інвалідністю не тільки протез, а й інвалідний візок, тростина, окуляри є наче «частиною» її тіла?</a:t>
            </a:r>
          </a:p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sz="3345">
                <a:solidFill>
                  <a:srgbClr val="000000"/>
                </a:solidFill>
                <a:latin typeface="Arimo Bold"/>
              </a:rPr>
              <a:t>2. Обери три найголовніші поради спілкування з людьми, які мають інвалідність. Порівняй їх з вибором сусіда чи сусідки по парті.</a:t>
            </a:r>
          </a:p>
          <a:p>
            <a:pPr algn="ctr">
              <a:lnSpc>
                <a:spcPts val="4684"/>
              </a:lnSpc>
              <a:spcBef>
                <a:spcPct val="0"/>
              </a:spcBef>
            </a:pPr>
            <a:r>
              <a:rPr lang="en-US" sz="3345">
                <a:solidFill>
                  <a:srgbClr val="000000"/>
                </a:solidFill>
                <a:latin typeface="Arimo Bold"/>
              </a:rPr>
              <a:t>3. Розглянь світлину ляльки в окулярах. Поміркуй, чи сприяють «ляльки з інвалідністю» розвитку вміння спілкуватися з людьми з інвалідністю.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9091" y="5067300"/>
            <a:ext cx="3789045" cy="532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7"/>
              </a:lnSpc>
              <a:spcBef>
                <a:spcPct val="0"/>
              </a:spcBef>
            </a:pPr>
            <a:r>
              <a:rPr lang="en-US" sz="3040">
                <a:solidFill>
                  <a:srgbClr val="000000"/>
                </a:solidFill>
                <a:latin typeface="Arimo Bold"/>
              </a:rPr>
              <a:t>Розглянь світлину.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38" t="-8061" r="-4128" b="-1887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0375" y="-612108"/>
            <a:ext cx="14767249" cy="10712968"/>
          </a:xfrm>
          <a:custGeom>
            <a:avLst/>
            <a:gdLst/>
            <a:ahLst/>
            <a:cxnLst/>
            <a:rect l="l" t="t" r="r" b="b"/>
            <a:pathLst>
              <a:path w="14767249" h="10712968">
                <a:moveTo>
                  <a:pt x="0" y="0"/>
                </a:moveTo>
                <a:lnTo>
                  <a:pt x="14767250" y="0"/>
                </a:lnTo>
                <a:lnTo>
                  <a:pt x="14767250" y="10712968"/>
                </a:lnTo>
                <a:lnTo>
                  <a:pt x="0" y="107129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168891"/>
            <a:ext cx="11850673" cy="4118109"/>
          </a:xfrm>
          <a:custGeom>
            <a:avLst/>
            <a:gdLst/>
            <a:ahLst/>
            <a:cxnLst/>
            <a:rect l="l" t="t" r="r" b="b"/>
            <a:pathLst>
              <a:path w="11850673" h="4118109">
                <a:moveTo>
                  <a:pt x="0" y="0"/>
                </a:moveTo>
                <a:lnTo>
                  <a:pt x="11850673" y="0"/>
                </a:lnTo>
                <a:lnTo>
                  <a:pt x="11850673" y="4118109"/>
                </a:lnTo>
                <a:lnTo>
                  <a:pt x="0" y="4118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17147" y="6168891"/>
            <a:ext cx="2570820" cy="2570820"/>
          </a:xfrm>
          <a:custGeom>
            <a:avLst/>
            <a:gdLst/>
            <a:ahLst/>
            <a:cxnLst/>
            <a:rect l="l" t="t" r="r" b="b"/>
            <a:pathLst>
              <a:path w="2570820" h="2570820">
                <a:moveTo>
                  <a:pt x="0" y="0"/>
                </a:moveTo>
                <a:lnTo>
                  <a:pt x="2570820" y="0"/>
                </a:lnTo>
                <a:lnTo>
                  <a:pt x="2570820" y="2570820"/>
                </a:lnTo>
                <a:lnTo>
                  <a:pt x="0" y="25708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148461" y="529834"/>
            <a:ext cx="5991077" cy="87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25"/>
              </a:lnSpc>
            </a:pPr>
            <a:r>
              <a:rPr lang="en-US" sz="4946">
                <a:solidFill>
                  <a:srgbClr val="000000"/>
                </a:solidFill>
                <a:latin typeface="Arimo Bold"/>
              </a:rPr>
              <a:t>Домашнє завдання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31248" y="1794227"/>
            <a:ext cx="11905371" cy="407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39"/>
              </a:lnSpc>
            </a:pPr>
            <a:r>
              <a:rPr lang="en-US" sz="3314">
                <a:solidFill>
                  <a:srgbClr val="000000"/>
                </a:solidFill>
                <a:latin typeface="Arimo Bold"/>
                <a:ea typeface="Arimo Bold"/>
              </a:rPr>
              <a:t>Опрацюй § 20</a:t>
            </a:r>
          </a:p>
          <a:p>
            <a:pPr algn="ctr">
              <a:lnSpc>
                <a:spcPts val="4639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Arimo Bold"/>
              </a:rPr>
              <a:t>1. Підготуй мінідоповідь про українського паралімпійця чи паралімпійку.</a:t>
            </a:r>
          </a:p>
          <a:p>
            <a:pPr algn="ctr">
              <a:lnSpc>
                <a:spcPts val="4639"/>
              </a:lnSpc>
              <a:spcBef>
                <a:spcPct val="0"/>
              </a:spcBef>
            </a:pPr>
            <a:endParaRPr lang="en-US" sz="3314">
              <a:solidFill>
                <a:srgbClr val="000000"/>
              </a:solidFill>
              <a:latin typeface="Arimo Bold"/>
            </a:endParaRPr>
          </a:p>
          <a:p>
            <a:pPr algn="ctr">
              <a:lnSpc>
                <a:spcPts val="4639"/>
              </a:lnSpc>
              <a:spcBef>
                <a:spcPct val="0"/>
              </a:spcBef>
            </a:pPr>
            <a:r>
              <a:rPr lang="en-US" sz="3314">
                <a:solidFill>
                  <a:srgbClr val="000000"/>
                </a:solidFill>
                <a:latin typeface="Arimo Bold"/>
              </a:rPr>
              <a:t>2. Перейди за QR-кодом чи посиланням і подивися відео. На основі нього склади правила поведінки з людьми, що мають інвалідність.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Microsoft Office PowerPoint</Application>
  <PresentationFormat>Произвольный</PresentationFormat>
  <Paragraphs>71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PT Serif Bold</vt:lpstr>
      <vt:lpstr>Calibri</vt:lpstr>
      <vt:lpstr>A Day Without Sun Text Bold</vt:lpstr>
      <vt:lpstr>Arimo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Scrapbook Brainstorm Presentation</dc:title>
  <dc:creator>User</dc:creator>
  <cp:lastModifiedBy>User</cp:lastModifiedBy>
  <cp:revision>2</cp:revision>
  <dcterms:created xsi:type="dcterms:W3CDTF">2006-08-16T00:00:00Z</dcterms:created>
  <dcterms:modified xsi:type="dcterms:W3CDTF">2025-10-15T12:22:07Z</dcterms:modified>
  <dc:identifier>DAF82BEiXrg</dc:identifier>
</cp:coreProperties>
</file>