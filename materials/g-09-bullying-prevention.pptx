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61" r:id="rId2"/>
    <p:sldId id="257" r:id="rId3"/>
    <p:sldId id="262" r:id="rId4"/>
    <p:sldId id="263" r:id="rId5"/>
    <p:sldId id="264" r:id="rId6"/>
    <p:sldId id="265" r:id="rId7"/>
    <p:sldId id="266" r:id="rId8"/>
    <p:sldId id="268" r:id="rId9"/>
    <p:sldId id="269" r:id="rId10"/>
    <p:sldId id="270" r:id="rId11"/>
    <p:sldId id="267" r:id="rId12"/>
    <p:sldId id="271" r:id="rId13"/>
    <p:sldId id="272" r:id="rId14"/>
    <p:sldId id="273" r:id="rId15"/>
    <p:sldId id="274" r:id="rId16"/>
    <p:sldId id="275" r:id="rId17"/>
    <p:sldId id="276" r:id="rId18"/>
    <p:sldId id="260" r:id="rId19"/>
    <p:sldId id="277" r:id="rId20"/>
    <p:sldId id="278" r:id="rId21"/>
    <p:sldId id="279" r:id="rId22"/>
    <p:sldId id="283" r:id="rId23"/>
    <p:sldId id="280" r:id="rId24"/>
    <p:sldId id="281" r:id="rId25"/>
    <p:sldId id="282" r:id="rId26"/>
    <p:sldId id="259" r:id="rId27"/>
    <p:sldId id="258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vitlana" initials="S" lastIdx="1" clrIdx="0">
    <p:extLst>
      <p:ext uri="{19B8F6BF-5375-455C-9EA6-DF929625EA0E}">
        <p15:presenceInfo xmlns:p15="http://schemas.microsoft.com/office/powerpoint/2012/main" userId="Svitla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0355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429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09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4486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776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83887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8240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86394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88743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195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3025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1207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719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9098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14427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564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DC56E-505B-491B-AB28-7C0DEC9FE70D}" type="datetimeFigureOut">
              <a:rPr lang="uk-UA" smtClean="0"/>
              <a:t>22.10.2025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6223DB9-1403-4033-BE1D-B637AF2BB26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115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FE1C90-619F-4E12-8A99-A21413734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224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C3A07E-1137-4E65-9A74-AB6075DDC249}"/>
              </a:ext>
            </a:extLst>
          </p:cNvPr>
          <p:cNvSpPr txBox="1"/>
          <p:nvPr/>
        </p:nvSpPr>
        <p:spPr>
          <a:xfrm>
            <a:off x="2078483" y="1366803"/>
            <a:ext cx="852644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Профілактика булінгу як однієї із поширених форм насильства в учнівському середовищі з метою збереження та зміцнення емоційного здоров’я  учасників освітнього процесу</a:t>
            </a:r>
          </a:p>
          <a:p>
            <a:pPr algn="r"/>
            <a:endParaRPr lang="uk-UA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uk-UA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uk-UA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455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BAFBCEE-D00C-4E62-87BB-187D63B7D45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3526" y="173852"/>
            <a:ext cx="4794636" cy="228997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FFD7A97-72C1-42D5-9C14-2A9154AC2DF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480" y="619505"/>
            <a:ext cx="5686505" cy="14164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E677FDC-9B44-45C8-B74C-782BB146B346}"/>
              </a:ext>
            </a:extLst>
          </p:cNvPr>
          <p:cNvSpPr txBox="1"/>
          <p:nvPr/>
        </p:nvSpPr>
        <p:spPr>
          <a:xfrm>
            <a:off x="6451158" y="812155"/>
            <a:ext cx="5336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Закон України «Про охорону дитинства»;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Закон України «Про захист суспільної моралі»;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Закон України «Про попередження насильства в сім’ї»</a:t>
            </a:r>
            <a:endParaRPr lang="uk-UA" sz="16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EA1874F-B056-4BE9-97BF-7685FEB8E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927" y="2638334"/>
            <a:ext cx="5688061" cy="141439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E30E16-8BB9-4A9B-9D9A-D866DE152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158" y="4510151"/>
            <a:ext cx="5688061" cy="141439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0070459-3562-4CE8-A20E-95B1D7A78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034" y="2646903"/>
            <a:ext cx="5057247" cy="128340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A1CA79D-20DB-4CD7-9924-4D79FA279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034" y="4524160"/>
            <a:ext cx="5114128" cy="14062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F1C95F-5CA2-43FA-B245-0A154E8F4AFE}"/>
              </a:ext>
            </a:extLst>
          </p:cNvPr>
          <p:cNvSpPr txBox="1"/>
          <p:nvPr/>
        </p:nvSpPr>
        <p:spPr>
          <a:xfrm>
            <a:off x="6668491" y="2683810"/>
            <a:ext cx="5072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Закон України «Про засади запобігання та протидії дискримінації в Україні;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Закон України «Про забезпечення рівних прав та можливостей жінок і чоловіків»;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Закон України «Про національні меншини»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AC693A-9299-4B80-A1F7-082F048E2033}"/>
              </a:ext>
            </a:extLst>
          </p:cNvPr>
          <p:cNvSpPr txBox="1"/>
          <p:nvPr/>
        </p:nvSpPr>
        <p:spPr>
          <a:xfrm>
            <a:off x="1064034" y="4555630"/>
            <a:ext cx="49313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Закон України «Про національні меншини»;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Закон України «Про свободу совісті та релігійні організації»;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Закон України «Про основи соціальної захищеності інвалідів в Україні»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AD16DA-3CC3-43BF-9812-4BBFE685E80F}"/>
              </a:ext>
            </a:extLst>
          </p:cNvPr>
          <p:cNvSpPr txBox="1"/>
          <p:nvPr/>
        </p:nvSpPr>
        <p:spPr>
          <a:xfrm>
            <a:off x="6874677" y="4619036"/>
            <a:ext cx="48410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uk-UA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Лист Міністерства освіти і науки України від 18.10.2018 №1/9-635 </a:t>
            </a:r>
            <a:r>
              <a:rPr lang="uk-UA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Щодо реалізації Закону України «Про запобігання та протидію домашньому насильству» від 7 грудня 2017 року №2229</a:t>
            </a:r>
            <a:endParaRPr kumimoji="0" lang="uk-UA" sz="16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BE705D-D583-4CA0-9A9E-A6BFC7BDE204}"/>
              </a:ext>
            </a:extLst>
          </p:cNvPr>
          <p:cNvSpPr txBox="1"/>
          <p:nvPr/>
        </p:nvSpPr>
        <p:spPr>
          <a:xfrm>
            <a:off x="1064034" y="2760755"/>
            <a:ext cx="49893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uk-UA" sz="14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Наказ Міністерства освіти і науки України від 02.10.2018 №1047 </a:t>
            </a:r>
            <a:r>
              <a:rPr lang="uk-UA" sz="1400" dirty="0">
                <a:solidFill>
                  <a:prstClr val="black"/>
                </a:solidFill>
                <a:latin typeface="Times New Roman" panose="02020603050405020304" pitchFamily="18" charset="0"/>
              </a:rPr>
              <a:t> «Про затвердження Методичних рекомендацій щодо виявлення, реагування на випадки домашнього насильства і взаємодії педагогічних працівників із іншими органами та службами»</a:t>
            </a:r>
            <a:endParaRPr kumimoji="0" lang="uk-UA" sz="14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55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1DBECB-7DA5-4AC0-ADDA-A999196D2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39" y="1065341"/>
            <a:ext cx="6534932" cy="47273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A1CAD4-B249-4B2F-9E24-E55DCA0D9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805" y="3429000"/>
            <a:ext cx="3999323" cy="29684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8E9699-43B0-45E5-8670-79EBAFF6071A}"/>
              </a:ext>
            </a:extLst>
          </p:cNvPr>
          <p:cNvSpPr txBox="1"/>
          <p:nvPr/>
        </p:nvSpPr>
        <p:spPr>
          <a:xfrm>
            <a:off x="3616271" y="1149067"/>
            <a:ext cx="1878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uk-UA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Булінг</a:t>
            </a:r>
            <a:endParaRPr lang="uk-UA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26D9E-1732-4DAA-A047-4115705ED2E0}"/>
              </a:ext>
            </a:extLst>
          </p:cNvPr>
          <p:cNvSpPr txBox="1"/>
          <p:nvPr/>
        </p:nvSpPr>
        <p:spPr>
          <a:xfrm>
            <a:off x="1229080" y="2156407"/>
            <a:ext cx="639284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B83D68"/>
              </a:buClr>
              <a:buSzPct val="80000"/>
              <a:tabLst/>
              <a:defRPr/>
            </a:pP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Булінг</a:t>
            </a: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це навмисне, повторюване, тривале фізичне або психологічне насильство, яке чинить одна особа або група осіб, які мають певні переваги (фізичні, психологічні, адміністративні) стосовно до особи, котра нездатна захистити себе в даній ситуації, з усвідомленим бажанням завдати болю, залякати або спричинити стрес іншій особі.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64DD503-0642-4EE3-BC8A-C597FA30F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804" y="628283"/>
            <a:ext cx="3999323" cy="25544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08090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9ADB53-9727-4ED9-A0D6-6A6B9A8BE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75" y="1888244"/>
            <a:ext cx="3036538" cy="30815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D3F526-CBF3-4B28-9EA3-82D48864F1D2}"/>
              </a:ext>
            </a:extLst>
          </p:cNvPr>
          <p:cNvSpPr txBox="1"/>
          <p:nvPr/>
        </p:nvSpPr>
        <p:spPr>
          <a:xfrm>
            <a:off x="851372" y="2761735"/>
            <a:ext cx="27312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Види </a:t>
            </a:r>
          </a:p>
          <a:p>
            <a:pPr algn="ctr"/>
            <a:r>
              <a:rPr lang="uk-U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(різновиди) булінгу</a:t>
            </a:r>
          </a:p>
        </p:txBody>
      </p:sp>
      <p:pic>
        <p:nvPicPr>
          <p:cNvPr id="7" name="Рисунок 6"/>
          <p:cNvPicPr/>
          <p:nvPr/>
        </p:nvPicPr>
        <p:blipFill rotWithShape="1">
          <a:blip r:embed="rId4"/>
          <a:srcRect l="38219" t="34422" r="38229" b="23131"/>
          <a:stretch/>
        </p:blipFill>
        <p:spPr bwMode="auto">
          <a:xfrm>
            <a:off x="3887910" y="-1"/>
            <a:ext cx="7803346" cy="67273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1203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F6F5AE4-5859-4C75-A3FF-AACBACD75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573" y="389520"/>
            <a:ext cx="3529385" cy="1708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8A622A-350A-496F-8E12-98A45CC8C542}"/>
              </a:ext>
            </a:extLst>
          </p:cNvPr>
          <p:cNvSpPr txBox="1"/>
          <p:nvPr/>
        </p:nvSpPr>
        <p:spPr>
          <a:xfrm>
            <a:off x="5510253" y="161694"/>
            <a:ext cx="6168225" cy="16158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kumimoji="0" lang="uk-UA" sz="27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Про які </a:t>
            </a:r>
            <a:r>
              <a:rPr kumimoji="0" lang="uk-UA" sz="27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особливості </a:t>
            </a:r>
            <a:r>
              <a:rPr kumimoji="0" lang="uk-UA" sz="2700" b="1" i="0" u="none" strike="noStrike" kern="1200" cap="all" spc="20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булінгу</a:t>
            </a:r>
            <a:r>
              <a:rPr kumimoji="0" lang="uk-UA" sz="2700" b="1" i="0" u="none" strike="noStrike" kern="1200" cap="all" spc="20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uk-UA" sz="27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необхідно пам'ятати педагогу?</a:t>
            </a:r>
            <a:r>
              <a:rPr kumimoji="0" lang="ru-RU" sz="2700" b="1" i="0" u="none" strike="noStrike" kern="1200" cap="all" spc="2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Impact" panose="020B0806030902050204"/>
                <a:ea typeface="+mj-ea"/>
                <a:cs typeface="+mj-cs"/>
              </a:rPr>
              <a:t/>
            </a:r>
            <a:br>
              <a:rPr kumimoji="0" lang="ru-RU" sz="2700" b="1" i="0" u="none" strike="noStrike" kern="1200" cap="all" spc="2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Impact" panose="020B0806030902050204"/>
                <a:ea typeface="+mj-ea"/>
                <a:cs typeface="+mj-cs"/>
              </a:rPr>
            </a:b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9DA1F-34C0-4889-A54B-EBF81042971B}"/>
              </a:ext>
            </a:extLst>
          </p:cNvPr>
          <p:cNvSpPr txBox="1"/>
          <p:nvPr/>
        </p:nvSpPr>
        <p:spPr>
          <a:xfrm>
            <a:off x="1702573" y="2317914"/>
            <a:ext cx="8505908" cy="422987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228600" lvl="0" indent="-228600">
              <a:lnSpc>
                <a:spcPct val="110000"/>
              </a:lnSpc>
              <a:spcBef>
                <a:spcPts val="700"/>
              </a:spcBef>
              <a:buClr>
                <a:srgbClr val="2A1A00"/>
              </a:buClr>
              <a:buFont typeface="Arial" panose="020B0604020202020204" pitchFamily="34" charset="0"/>
              <a:buChar char="•"/>
              <a:defRPr/>
            </a:pP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булінг </a:t>
            </a: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асиметричний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uk-UA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Times New Roman" panose="02020603050405020304" pitchFamily="18" charset="0"/>
              </a:rPr>
              <a:t>(</a:t>
            </a:r>
            <a:r>
              <a:rPr lang="uk-UA" dirty="0"/>
              <a:t>розподіл влади, шкільний контекст. </a:t>
            </a:r>
            <a:r>
              <a:rPr kumimoji="0" lang="uk-UA" b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Times New Roman" panose="02020603050405020304" pitchFamily="18" charset="0"/>
              </a:rPr>
              <a:t>);</a:t>
            </a:r>
            <a:endParaRPr kumimoji="0" lang="ru-RU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булінг здійснюється </a:t>
            </a: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навмисно і постійно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endParaRPr kumimoji="0" lang="ru-RU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булінг </a:t>
            </a: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підриває 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 потерпілого </a:t>
            </a: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впевненість у собі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руйнує здоров’я, самоповагу та людську гідність; </a:t>
            </a:r>
            <a:endParaRPr kumimoji="0" lang="ru-RU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залякування 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(використання агресивної мови, інтонацій);</a:t>
            </a:r>
            <a:endParaRPr kumimoji="0" lang="ru-RU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ізоляція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endParaRPr kumimoji="0" lang="ru-RU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вимагання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endParaRPr kumimoji="0" lang="ru-RU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пошкодження та інші дії з майном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0" lang="ru-RU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кібербулінг 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(агресивні дії в інтернеті);</a:t>
            </a:r>
            <a:endParaRPr kumimoji="0" lang="ru-RU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мобінг 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(агресія натовпу):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босинг</a:t>
            </a:r>
            <a:r>
              <a:rPr kumimoji="0" lang="uk-UA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(емоційне насильство з боку вчителів, тренерів та ін.)</a:t>
            </a:r>
            <a:endParaRPr kumimoji="0" lang="ru-RU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1A7C6E-7E64-4B68-A342-0A46158921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450" y="4131249"/>
            <a:ext cx="2429506" cy="254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9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F1A135-E464-4A3A-BD30-08BFB745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389" y="315492"/>
            <a:ext cx="9132600" cy="9632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9EDBC3-9B7E-48B8-8485-0E158F687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440" y="1278743"/>
            <a:ext cx="2808143" cy="3721211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D8E781-C45C-4B14-B701-C54CE89446CC}"/>
              </a:ext>
            </a:extLst>
          </p:cNvPr>
          <p:cNvSpPr txBox="1"/>
          <p:nvPr/>
        </p:nvSpPr>
        <p:spPr>
          <a:xfrm>
            <a:off x="1391080" y="1704821"/>
            <a:ext cx="44984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kumimoji="0" lang="uk-UA" sz="2800" b="1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гресивна</a:t>
            </a: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і негативна поведінка</a:t>
            </a:r>
            <a:endParaRPr lang="uk-UA" sz="2800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ACE37-08FE-4785-A1C7-25F1EFAFA767}"/>
              </a:ext>
            </a:extLst>
          </p:cNvPr>
          <p:cNvSpPr txBox="1"/>
          <p:nvPr/>
        </p:nvSpPr>
        <p:spPr>
          <a:xfrm>
            <a:off x="1422422" y="4000288"/>
            <a:ext cx="41247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</a:t>
            </a:r>
            <a:r>
              <a:rPr kumimoji="0" lang="uk-UA" sz="2800" b="1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дійснюється</a:t>
            </a: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регулярно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6BA853-176F-4CE4-A9BB-0E6366283F7B}"/>
              </a:ext>
            </a:extLst>
          </p:cNvPr>
          <p:cNvSpPr txBox="1"/>
          <p:nvPr/>
        </p:nvSpPr>
        <p:spPr>
          <a:xfrm>
            <a:off x="5967719" y="5157513"/>
            <a:ext cx="60946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kumimoji="0" lang="uk-UA" sz="2800" b="1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ідбувається</a:t>
            </a: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у відносинах, учасники яких мають неоднакову владу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CA72C7-FDED-409C-AD93-8174057AFEA0}"/>
              </a:ext>
            </a:extLst>
          </p:cNvPr>
          <p:cNvSpPr txBox="1"/>
          <p:nvPr/>
        </p:nvSpPr>
        <p:spPr>
          <a:xfrm>
            <a:off x="8665921" y="2662294"/>
            <a:ext cx="31524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kumimoji="0" lang="uk-UA" sz="2800" b="1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ака</a:t>
            </a: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поведінка </a:t>
            </a:r>
          </a:p>
          <a:p>
            <a:pPr algn="ctr"/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є навмисною</a:t>
            </a:r>
            <a:endParaRPr lang="uk-UA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294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72E7AC-31AE-4E3B-9356-60EFD10741CB}"/>
              </a:ext>
            </a:extLst>
          </p:cNvPr>
          <p:cNvSpPr txBox="1"/>
          <p:nvPr/>
        </p:nvSpPr>
        <p:spPr>
          <a:xfrm>
            <a:off x="2427136" y="620764"/>
            <a:ext cx="82594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40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Соціальна структура булінгу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808E3-B5D2-452A-875C-F657841D1080}"/>
              </a:ext>
            </a:extLst>
          </p:cNvPr>
          <p:cNvSpPr txBox="1"/>
          <p:nvPr/>
        </p:nvSpPr>
        <p:spPr>
          <a:xfrm>
            <a:off x="1321717" y="2103327"/>
            <a:ext cx="6094674" cy="270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457200" algn="l"/>
              </a:tabLst>
              <a:defRPr/>
            </a:pPr>
            <a:r>
              <a:rPr kumimoji="0" lang="uk-UA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переслідувач </a:t>
            </a: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457200" algn="l"/>
              </a:tabLst>
              <a:defRPr/>
            </a:pPr>
            <a:r>
              <a:rPr kumimoji="0" lang="uk-UA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(кривдник, агресор);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457200" algn="l"/>
              </a:tabLst>
              <a:defRPr/>
            </a:pPr>
            <a:r>
              <a:rPr kumimoji="0" lang="uk-UA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постраждала дитина (жертва);</a:t>
            </a: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457200" algn="l"/>
              </a:tabLst>
              <a:defRPr/>
            </a:pPr>
            <a:r>
              <a:rPr kumimoji="0" lang="uk-UA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спостерігач.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Стрелка: шеврон 7">
            <a:extLst>
              <a:ext uri="{FF2B5EF4-FFF2-40B4-BE49-F238E27FC236}">
                <a16:creationId xmlns:a16="http://schemas.microsoft.com/office/drawing/2014/main" id="{5DC4298D-9562-4EC0-B663-F77177065B19}"/>
              </a:ext>
            </a:extLst>
          </p:cNvPr>
          <p:cNvSpPr/>
          <p:nvPr/>
        </p:nvSpPr>
        <p:spPr>
          <a:xfrm>
            <a:off x="979202" y="2266122"/>
            <a:ext cx="263189" cy="32600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01B2F2-1578-4B3F-AC93-55D0E59A5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02" y="3539641"/>
            <a:ext cx="292633" cy="33530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BA8DAD-B002-4C9D-A970-83A15C200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01" y="4191789"/>
            <a:ext cx="292633" cy="33530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3ACD38E-501D-4AAF-A697-03ADED9D2B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299"/>
          <a:stretch/>
        </p:blipFill>
        <p:spPr>
          <a:xfrm>
            <a:off x="7495717" y="1944203"/>
            <a:ext cx="4294339" cy="3833791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111798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AE3813-2699-41FE-BFF8-D915BF18D9F3}"/>
              </a:ext>
            </a:extLst>
          </p:cNvPr>
          <p:cNvSpPr txBox="1"/>
          <p:nvPr/>
        </p:nvSpPr>
        <p:spPr>
          <a:xfrm>
            <a:off x="2433098" y="259874"/>
            <a:ext cx="87285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36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Вирізняють такі ролі в процесі цькування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2A3BE8-F871-472B-B446-52EAB8793AAB}"/>
              </a:ext>
            </a:extLst>
          </p:cNvPr>
          <p:cNvSpPr txBox="1"/>
          <p:nvPr/>
        </p:nvSpPr>
        <p:spPr>
          <a:xfrm>
            <a:off x="1304014" y="1856165"/>
            <a:ext cx="10304889" cy="4375429"/>
          </a:xfrm>
          <a:prstGeom prst="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Провідний </a:t>
            </a:r>
            <a:r>
              <a:rPr kumimoji="0" lang="uk-UA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нападник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 </a:t>
            </a: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(дитина-агресор).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tabLst/>
              <a:defRPr/>
            </a:pPr>
            <a:r>
              <a:rPr kumimoji="0" lang="uk-UA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Діти, які беруть участь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 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в цькуванні (</a:t>
            </a: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приєднуються до лідера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).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tabLst/>
              <a:defRPr/>
            </a:pPr>
            <a:r>
              <a:rPr kumimoji="0" lang="uk-UA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Свідки,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 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які підкріплюють цькування (діти, які стають на бік нападників, 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сміються, висловлюють підтримку нападникам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, підбадьорюють їх, </a:t>
            </a: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просто збираються навколо й дивляться).</a:t>
            </a:r>
            <a:endParaRPr lang="ru-RU" sz="2400" b="1" dirty="0">
              <a:solidFill>
                <a:prstClr val="black"/>
              </a:solidFill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tabLst/>
              <a:defRPr/>
            </a:pPr>
            <a:r>
              <a:rPr kumimoji="0" lang="uk-UA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Свідки-аутсайдери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 </a:t>
            </a: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(діти, які уникають ситуацій цькування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, не стаючи ні на чий бік).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tabLst/>
              <a:defRPr/>
            </a:pPr>
            <a:r>
              <a:rPr kumimoji="0" lang="uk-UA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Захисники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 (</a:t>
            </a: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діти, які дотримуються 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очевидної </a:t>
            </a: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позиції проти цькування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, або активно протидіють нападникам та роблять щось для припинення знущань, або заспокоюють, підтримують жертву).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840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1A4FAD-2D01-4541-8004-F24A938A443F}"/>
              </a:ext>
            </a:extLst>
          </p:cNvPr>
          <p:cNvSpPr txBox="1"/>
          <p:nvPr/>
        </p:nvSpPr>
        <p:spPr>
          <a:xfrm>
            <a:off x="1391478" y="145742"/>
            <a:ext cx="102492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Які діти можуть стати жертвами шкільного насильства?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FBF48-9B2D-4C43-B22F-37040A4D9323}"/>
              </a:ext>
            </a:extLst>
          </p:cNvPr>
          <p:cNvSpPr txBox="1"/>
          <p:nvPr/>
        </p:nvSpPr>
        <p:spPr>
          <a:xfrm>
            <a:off x="1204623" y="1447675"/>
            <a:ext cx="10622942" cy="50502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фізичні недоліки </a:t>
            </a: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носять окуляри, зі зниженим слухом або з руховими порушеннями (наприклад, при ДЦП);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особливості поведінки </a:t>
            </a: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замкнуті діти або діти з імпульсивною поведінкою;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особливості зовнішності </a:t>
            </a: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руде волосся, веснянки, відстовбур­чені вуха, криві ноги, особлива форма голови, вага тіла (повнота або худоба) тощо;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нерозвинуті соціальні навички</a:t>
            </a: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страх перед школою</a:t>
            </a: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відсутність досвіду життя в колективі </a:t>
            </a: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(домашні діти);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хвороби</a:t>
            </a: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епілепсію, заїкання, енурез, енкопрез (нетримання калу), порушення мо­ви — дислалія , дисграфія (порушення писем­ного мовлення), дислексія (порушення читання), дискалькулія (порушення здатності до рахунку) та ін.;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низький інтелект та труднощі в навчанні</a:t>
            </a:r>
            <a:r>
              <a:rPr kumimoji="0" lang="uk-U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533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6CF490-ED3A-4D6A-80BF-8C099839E9E5}"/>
              </a:ext>
            </a:extLst>
          </p:cNvPr>
          <p:cNvSpPr txBox="1"/>
          <p:nvPr/>
        </p:nvSpPr>
        <p:spPr>
          <a:xfrm>
            <a:off x="1187323" y="618891"/>
            <a:ext cx="10797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36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Що сприяє шкільному насильству?</a:t>
            </a:r>
            <a:r>
              <a:rPr kumimoji="0" lang="ru-RU" sz="4800" b="0" i="0" u="none" strike="noStrike" kern="1200" cap="all" spc="2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ru-RU" sz="4800" b="0" i="0" u="none" strike="noStrike" kern="1200" cap="all" spc="2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AA2E5-CA9B-4E7F-93C1-673E8405CF79}"/>
              </a:ext>
            </a:extLst>
          </p:cNvPr>
          <p:cNvSpPr txBox="1"/>
          <p:nvPr/>
        </p:nvSpPr>
        <p:spPr>
          <a:xfrm>
            <a:off x="5890520" y="1760847"/>
            <a:ext cx="6094674" cy="2906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/>
              <a:defRPr/>
            </a:pPr>
            <a:r>
              <a:rPr kumimoji="0" lang="uk-UA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поганий </a:t>
            </a:r>
            <a:r>
              <a:rPr kumimoji="0" lang="uk-UA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мікроклімат в учнівському </a:t>
            </a:r>
            <a:r>
              <a:rPr kumimoji="0" lang="uk-UA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колективі;</a:t>
            </a: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/>
              <a:defRPr/>
            </a:pPr>
            <a:r>
              <a:rPr kumimoji="0" lang="uk-UA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байдуже і відчужене ставлення вчителів.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E0ECD5-47C4-43D2-8CCE-984D5D25A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03" y="2078829"/>
            <a:ext cx="4721679" cy="351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51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528AC0-166C-423B-AECA-3F07BBBA1587}"/>
              </a:ext>
            </a:extLst>
          </p:cNvPr>
          <p:cNvSpPr txBox="1"/>
          <p:nvPr/>
        </p:nvSpPr>
        <p:spPr>
          <a:xfrm>
            <a:off x="1226867" y="2182538"/>
            <a:ext cx="5716610" cy="3619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/>
              <a:defRPr/>
            </a:pPr>
            <a:r>
              <a:rPr kumimoji="0" lang="uk-UA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 нападки й цькування, які виходять від групи щодо однієї жертви і зустрічаються практично в будь-якому віці, зокрема поміж дітей.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367AB76-0723-4498-9140-C00C76E5BC8F}"/>
              </a:ext>
            </a:extLst>
          </p:cNvPr>
          <p:cNvSpPr txBox="1">
            <a:spLocks/>
          </p:cNvSpPr>
          <p:nvPr/>
        </p:nvSpPr>
        <p:spPr>
          <a:xfrm>
            <a:off x="1816221" y="907170"/>
            <a:ext cx="9198608" cy="7823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МОБІНГ (</a:t>
            </a:r>
            <a:r>
              <a:rPr lang="en-US" sz="3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mob-</a:t>
            </a:r>
            <a:r>
              <a:rPr lang="uk-UA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натовп)</a:t>
            </a:r>
            <a:endParaRPr lang="ru-RU" sz="28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F16355-38E3-445B-9B60-5781929AD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48" y="2256143"/>
            <a:ext cx="4280558" cy="369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78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732923-9F4E-43B9-94DE-F5EDE0D8477E}"/>
              </a:ext>
            </a:extLst>
          </p:cNvPr>
          <p:cNvSpPr txBox="1"/>
          <p:nvPr/>
        </p:nvSpPr>
        <p:spPr>
          <a:xfrm>
            <a:off x="2212449" y="369186"/>
            <a:ext cx="844229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Шведський психолог та медик </a:t>
            </a:r>
            <a:b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Ханц Лемайн охарактеризував це явище як </a:t>
            </a:r>
          </a:p>
          <a:p>
            <a:pPr algn="ctr"/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«психологічний терор» 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1AFF60-38E9-439D-8855-B3C896723110}"/>
              </a:ext>
            </a:extLst>
          </p:cNvPr>
          <p:cNvSpPr txBox="1"/>
          <p:nvPr/>
        </p:nvSpPr>
        <p:spPr>
          <a:xfrm>
            <a:off x="1384519" y="2689762"/>
            <a:ext cx="9986837" cy="347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Різновиди цькування- 45.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Серед них: </a:t>
            </a: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окрики, спілкування на підвищених тонах; висміювання; соціальна ізоляція; ігноруван­ня; поширення різноманітних чуток і пліток; наклеп; приниження; знецінення вчинків та досягнень; несправедливі звинувачення; кри­тика, що виражається як вербально, так і невербально; приховуван­ня необхідної інформації тощо.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09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9AAF7D-E444-4B5B-ADFD-B31BA3CA01E9}"/>
              </a:ext>
            </a:extLst>
          </p:cNvPr>
          <p:cNvSpPr txBox="1"/>
          <p:nvPr/>
        </p:nvSpPr>
        <p:spPr>
          <a:xfrm>
            <a:off x="4597842" y="575332"/>
            <a:ext cx="3639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uk-UA" sz="36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Кібербулінг</a:t>
            </a: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F4C7B9-0D4E-424D-A19A-214891440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715" y="1382894"/>
            <a:ext cx="4988227" cy="332964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F1B330-5446-4E3A-B1C3-4773E54AF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70107">
            <a:off x="2550747" y="4585858"/>
            <a:ext cx="2097087" cy="18489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B53A1A-A0E5-473E-AA49-42DEB8BA0086}"/>
              </a:ext>
            </a:extLst>
          </p:cNvPr>
          <p:cNvSpPr txBox="1"/>
          <p:nvPr/>
        </p:nvSpPr>
        <p:spPr>
          <a:xfrm>
            <a:off x="6549223" y="1933079"/>
            <a:ext cx="5468038" cy="1953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умисне цькування щодо визначеної особи у кіб</a:t>
            </a: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е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рпросторі, тобто в інтернеті, в соцмережах, соцгрупах тощо.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EDFB4A0-CE5B-4D7D-BEEA-0C31BC2E70D9}"/>
              </a:ext>
            </a:extLst>
          </p:cNvPr>
          <p:cNvSpPr/>
          <p:nvPr/>
        </p:nvSpPr>
        <p:spPr>
          <a:xfrm>
            <a:off x="6741380" y="4588365"/>
            <a:ext cx="5083723" cy="1649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700"/>
              </a:spcBef>
              <a:buClr>
                <a:srgbClr val="2A1A00"/>
              </a:buClr>
            </a:pPr>
            <a:r>
              <a:rPr lang="uk-UA" sz="23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Відомі всім групи смерті, такі, як «Синій кит», «Червона сова», «Момо», через булінг, шантаж та маніпуляції згубили вже не одне дитяче життя.</a:t>
            </a:r>
            <a:endParaRPr lang="ru-RU" sz="23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071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ADCD60-6049-4B24-B056-7C4F88F9353A}"/>
              </a:ext>
            </a:extLst>
          </p:cNvPr>
          <p:cNvSpPr txBox="1"/>
          <p:nvPr/>
        </p:nvSpPr>
        <p:spPr>
          <a:xfrm>
            <a:off x="3452855" y="256521"/>
            <a:ext cx="6094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відповідальність </a:t>
            </a:r>
            <a:b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</a:br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передбачена за булінг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94EC9-5A79-4118-A7D1-7565DEA7EA2B}"/>
              </a:ext>
            </a:extLst>
          </p:cNvPr>
          <p:cNvSpPr txBox="1"/>
          <p:nvPr/>
        </p:nvSpPr>
        <p:spPr>
          <a:xfrm>
            <a:off x="2417196" y="1333739"/>
            <a:ext cx="8134185" cy="5135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Залежно від частоти/складу/способу вчинення правопорушення: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 вчинення булінгу вперше — штраф від 50 до 100 неоподатко­вуваних мінімумів або суспільні роботи від 20 до 40 годин;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 повторення вчинення булінгу протягом року після накладен­ня адміністративного стягнення, вчинення з особливою жорсто­кістю — штраф від 100 до 200 неоподатковуваних мінімумів або суспільні роботи від 40 до 60 годин.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Залежно від суб’єкта: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 вчинення малолітніми або неповнолітніми особами віком від 14 до 16 років-штраф від 50 до 100 неоподатковуваних міні­мумів накладається на їхніх батьків або осіб, які їх замінюють;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 приховування випадків булінгу педагогічним, науково-педагогічним, науковим працівником, керівником/засновником закладу освіти — штраф від 50 до 100 неоподатковуваних міні­мумів.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3B6AFE-3532-446E-8F54-6B5D8558F9B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053" y="1486895"/>
            <a:ext cx="5470497" cy="547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95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E95A4C-D822-4FE1-803F-8E4B9635F723}"/>
              </a:ext>
            </a:extLst>
          </p:cNvPr>
          <p:cNvSpPr txBox="1"/>
          <p:nvPr/>
        </p:nvSpPr>
        <p:spPr>
          <a:xfrm>
            <a:off x="789830" y="184508"/>
            <a:ext cx="1140217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31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Заклади освіти зобов’язані розмістити на своїх веб-сайтах та інформаційних дошках таку інформацію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13A618-1CC7-4709-864A-FE6942F3B093}"/>
              </a:ext>
            </a:extLst>
          </p:cNvPr>
          <p:cNvSpPr txBox="1"/>
          <p:nvPr/>
        </p:nvSpPr>
        <p:spPr>
          <a:xfrm>
            <a:off x="3403159" y="1892510"/>
            <a:ext cx="7892994" cy="488986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Куди можна звернутися, номери телефонів;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правила поведінки здобувача освіти в закладі освіти;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план заходів, спрямованих на запобігання та протидію булінгу в закладі освіти;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порядок подання та розгляду заяв про випадки булінгу в закладі освіти від здобувачів освіти, їхніх батьків, законних пред­ставників, інших осіб;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порядок реагування на доведені випадки булінгу в закладі освіти та відповідальність осіб, причетних до булінгу.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поради батькам з профілактики  булінгу, до яких кроків можна  вдатися, як говорити з дитиною про це;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поради дітям, як себе поводити в ситуації булінгу, як самостійно протидіяти булінгу.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A62D73-C3DB-45E8-B1D4-21F91EA09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5" y="2195582"/>
            <a:ext cx="3674828" cy="466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22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8308E4-AD6B-43A2-8537-08691BEFDE7E}"/>
              </a:ext>
            </a:extLst>
          </p:cNvPr>
          <p:cNvSpPr txBox="1"/>
          <p:nvPr/>
        </p:nvSpPr>
        <p:spPr>
          <a:xfrm>
            <a:off x="1973911" y="265012"/>
            <a:ext cx="90147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ЗАПИТАННЯ: </a:t>
            </a:r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Як можна визначити, що дитина зазнає цькування?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4BC74-36E6-4264-A9E5-2FC9DDA9ADC6}"/>
              </a:ext>
            </a:extLst>
          </p:cNvPr>
          <p:cNvSpPr txBox="1"/>
          <p:nvPr/>
        </p:nvSpPr>
        <p:spPr>
          <a:xfrm>
            <a:off x="1038847" y="1220623"/>
            <a:ext cx="8267369" cy="5637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Ø"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синці та подряпини, які дитина не може пояснити;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Ø"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брехня у відповідь на запитання, звідки взялися ушкодження: дитина не може вигадати пояснення, каже, що не пам’ятає, як з’явилися синці;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Ø"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часто «губляться» речі, зламано техніку, зникли прикраси або одяг;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Ø"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дитина шукає привід не ходити до школи, прикидається хво­рою, у неї часто раптово починає боліти голова або живіт;</a:t>
            </a: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Schoolbook" panose="02040604050505020304" pitchFamily="18" charset="0"/>
                <a:ea typeface="Times New Roman" panose="02020603050405020304" pitchFamily="18" charset="0"/>
                <a:cs typeface="Century Schoolbook" panose="02040604050505020304" pitchFamily="18" charset="0"/>
              </a:rPr>
              <a:t> </a:t>
            </a: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зміна харчової поведінки. Особливо потрібно звернути увагу на випадки, коли дитина не їсть у школі;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Ø"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нічні кошмари, безсоння;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Ø"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зіпсована успішність, втрата інтересу до занять;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Ø"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сварки зі старими друзями або самотність, низька самооцінка, постійна пригніченість;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Ø"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втечі з дому, самоушкодження та інші види деструктивної по­ведінки.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BC1D7A1-ED63-4D61-8006-8641FA088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216" y="3429000"/>
            <a:ext cx="2885784" cy="288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71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0C1D04-1B22-4332-A7FF-3778F65414E6}"/>
              </a:ext>
            </a:extLst>
          </p:cNvPr>
          <p:cNvSpPr txBox="1"/>
          <p:nvPr/>
        </p:nvSpPr>
        <p:spPr>
          <a:xfrm>
            <a:off x="2323769" y="184470"/>
            <a:ext cx="839458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31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Практичне опрацювання історій </a:t>
            </a:r>
            <a:br>
              <a:rPr kumimoji="0" lang="uk-UA" sz="31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uk-UA" sz="31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«Булінг в дитячому середовищі»</a:t>
            </a: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F2F08-E1ED-45FE-8DDE-568932C5BD2B}"/>
              </a:ext>
            </a:extLst>
          </p:cNvPr>
          <p:cNvSpPr txBox="1"/>
          <p:nvPr/>
        </p:nvSpPr>
        <p:spPr>
          <a:xfrm>
            <a:off x="1338470" y="2117996"/>
            <a:ext cx="7981122" cy="416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Мета: </a:t>
            </a: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розібратися в понятті «булінг» та його видах.</a:t>
            </a:r>
            <a:endParaRPr lang="ru-RU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Завдання 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Опрацюйте запропоновану історію та визначте: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Вид булінгу      _______________________________­­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Хто вчиняє булінг_____________________________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Хто потерпає від булінгу________________________________________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Наслідки булінгу для дитини_________________________________________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61F946-BF87-4AAD-8486-40879785E62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926" y="2524539"/>
            <a:ext cx="3688079" cy="368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04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6CDA9D-9B15-48EE-846D-6DD8CE0C3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05023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C7E466-63BC-432A-9EEC-E8643E23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647" y="739471"/>
            <a:ext cx="8437304" cy="518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870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D3F2CE-723E-47B8-B45C-7911770BD2B4}"/>
              </a:ext>
            </a:extLst>
          </p:cNvPr>
          <p:cNvSpPr txBox="1"/>
          <p:nvPr/>
        </p:nvSpPr>
        <p:spPr>
          <a:xfrm>
            <a:off x="2506649" y="444817"/>
            <a:ext cx="859337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Які рекомендації із самостійної протидії булінгу можна дати дітям?</a:t>
            </a:r>
            <a:r>
              <a:rPr kumimoji="0" lang="ru-RU" sz="3200" b="0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ru-RU" sz="3200" b="0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4D46F-7E66-4652-BD73-5899F3AAFB0E}"/>
              </a:ext>
            </a:extLst>
          </p:cNvPr>
          <p:cNvSpPr txBox="1"/>
          <p:nvPr/>
        </p:nvSpPr>
        <p:spPr>
          <a:xfrm>
            <a:off x="1203296" y="1955565"/>
            <a:ext cx="8417781" cy="477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Намагайтеся ігнорувати кривдника.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Якщо ви не можете піти геть, спробуйте використати гумор. Цим ви можете відвернути кривдника від наміру дошкулити вам.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Намагайтеся зберігати спокій. Адже вивести вас з рівноваги — саме те, чого хоче кривдник.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вступайте в бійку. Зазвичай булери чекають на це як на при­від </a:t>
            </a:r>
            <a:r>
              <a:rPr kumimoji="0" lang="uk-UA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завдати </a:t>
            </a: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шкоди.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Поговоріть з людьми, яким довіряєте. Можливо, вони зможуть порадити вам, як поводити себе в ситуації булінгу.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2B9FC1-6E53-4944-A00C-877DEAA2F2D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41564" y="1515239"/>
            <a:ext cx="2438611" cy="412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50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1851CD-45B4-4D55-885F-2C63C8ADA875}"/>
              </a:ext>
            </a:extLst>
          </p:cNvPr>
          <p:cNvSpPr txBox="1"/>
          <p:nvPr/>
        </p:nvSpPr>
        <p:spPr>
          <a:xfrm>
            <a:off x="1749288" y="260437"/>
            <a:ext cx="99788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36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Що повинні обов'язково зробити вчителі та адміністрація школи у випадку булінгу?</a:t>
            </a:r>
            <a:r>
              <a:rPr kumimoji="0" lang="ru-RU" sz="3600" b="0" i="0" u="none" strike="noStrike" kern="1200" cap="all" spc="2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ru-RU" sz="3600" b="0" i="0" u="none" strike="noStrike" kern="1200" cap="all" spc="2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1614F-B143-4862-A2A0-19ADE40A879E}"/>
              </a:ext>
            </a:extLst>
          </p:cNvPr>
          <p:cNvSpPr txBox="1"/>
          <p:nvPr/>
        </p:nvSpPr>
        <p:spPr>
          <a:xfrm>
            <a:off x="1900362" y="2126398"/>
            <a:ext cx="9271221" cy="4383701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Негайно реагувати на булінг (зупинити бійку, припинити зну­щання, пересадити учнів, запропонувати вибачитися, зателе­фонувати батькам або викликати їх до школи).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Роз’яснити учням, що вони повинні захистити жертву або пові­домити керівництво, а не просто спостерігати.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Розробити правила поведінки у школі та поза школою.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Застосувати виховні заходи (вони повинні мати виховний, а не каральний характер та спрямовуватися на вчинок учня і його можливі наслідки, а не на особистість).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uk-U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Залучати психолога для бесіди з кривдником та жертвою.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179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03D7DA-1518-4864-BE02-4C67B9C635FC}"/>
              </a:ext>
            </a:extLst>
          </p:cNvPr>
          <p:cNvSpPr txBox="1"/>
          <p:nvPr/>
        </p:nvSpPr>
        <p:spPr>
          <a:xfrm>
            <a:off x="2460556" y="83648"/>
            <a:ext cx="70210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27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Як допомогти дитині, яка зазнала булінгу?</a:t>
            </a:r>
            <a:r>
              <a:rPr kumimoji="0" lang="ru-RU" sz="2700" b="0" i="0" u="none" strike="noStrike" kern="1200" cap="all" spc="2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ru-RU" sz="2700" b="0" i="0" u="none" strike="noStrike" kern="1200" cap="all" spc="2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63A505-8065-4822-BE23-EA10190F58F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19144" y="-119271"/>
            <a:ext cx="2472856" cy="14032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80CA2F-E27A-4E57-BF0F-73841EBD0FC4}"/>
              </a:ext>
            </a:extLst>
          </p:cNvPr>
          <p:cNvSpPr txBox="1"/>
          <p:nvPr/>
        </p:nvSpPr>
        <p:spPr>
          <a:xfrm>
            <a:off x="1183793" y="1109853"/>
            <a:ext cx="10734633" cy="5664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Дайте зрозуміти, що ви поруч, готові підтримати та допомогти, вислухати і захистити.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Запевніть дитину, що ви не звинувачуєте її в тому, що відбувається, і вона може говорити відверто.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Пам’ятайте, що дитині може бути неприємно говорити на цю тему, в цей момент вона вразлива.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Будьте терплячими і делікатними. Спробуйте з’ясувати все, проте не допитуйтесь, не повторюйте одні і ті ж запитання по кілька разів.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Запропонуйте подумати, які дії допоможуть дитині почуватися у більшій безпеці зараз (наприклад, бути певний час поряд з дорослими, не залишатися після уроків тощо).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Розкажіть дитині, що немає нічого поганого у тому, щоби повідомити про агресивну поведінку щодо когось вчителю або друзям.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Поясніть різницю між «пліткуванням» та «піклуванням» про своє життя чи життя друга/однокласника.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Розпитайте, яка саме ваша допомога буде корисна дитині. Запропонуйте свій варіант.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Пам’ятайте, що ситуації фізичного насилля потребують негайного втручання з боку батьків.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Спільно з дитиною шукайте способи реагування на булінг.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Обговоріть, до кого дитина може звертатися по допомогу в школі: психолога, вчителів, адміністрації, дорослих учнів, охорони, батьків інших дітей.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Поясніть дитині, що зміни відбуватимуться поступово, проте весь цей час вона може розраховувати на вашу підтримку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08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E967C0-BDF9-4743-982D-0205E74085FF}"/>
              </a:ext>
            </a:extLst>
          </p:cNvPr>
          <p:cNvSpPr txBox="1"/>
          <p:nvPr/>
        </p:nvSpPr>
        <p:spPr>
          <a:xfrm>
            <a:off x="3662074" y="357809"/>
            <a:ext cx="80288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що спрямувати роботу з булером?</a:t>
            </a:r>
            <a:r>
              <a:rPr kumimoji="0" lang="ru-RU" sz="3200" b="0" i="0" u="none" strike="noStrike" kern="1200" cap="all" spc="2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ru-RU" sz="3200" b="0" i="0" u="none" strike="noStrike" kern="1200" cap="all" spc="200" normalizeH="0" baseline="0" noProof="0" dirty="0">
                <a:ln>
                  <a:noFill/>
                </a:ln>
                <a:solidFill>
                  <a:srgbClr val="2A1A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uk-UA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0FF46-0DE9-4567-93FD-98FB0B3A0F12}"/>
              </a:ext>
            </a:extLst>
          </p:cNvPr>
          <p:cNvSpPr txBox="1"/>
          <p:nvPr/>
        </p:nvSpPr>
        <p:spPr>
          <a:xfrm>
            <a:off x="1478944" y="1824102"/>
            <a:ext cx="10336695" cy="483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 pitchFamily="34" charset="0"/>
              <a:buNone/>
              <a:tabLst/>
              <a:defRPr/>
            </a:pPr>
            <a:r>
              <a:rPr kumimoji="0" lang="uk-UA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1. </a:t>
            </a: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Навчання прийомам саморегуляції та вмінням володіти собою, відпрацювання навичок спілкування в можливих конфліктних ситуаціях.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 panose="020B0604020202020204" pitchFamily="34" charset="0"/>
              <a:buNone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2. Формування таких особистісних якостей, як толерантність, емпатія й довіра до людей (ефективним способом реалізації цього напряму є метод індукції несумісних реакцій, до яких належать гумор і сміх, а також орієнтація на стан інших людей).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Calibri" panose="020F0502020204030204" pitchFamily="34" charset="0"/>
              <a:cs typeface="Century Schoolbook" panose="020406040505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Century Schoolbook" panose="02040604050505020304" pitchFamily="18" charset="0"/>
              </a:rPr>
              <a:t>3.Ослаблення дитячої агресії за допомогою:</a:t>
            </a:r>
            <a:endParaRPr kumimoji="0" lang="uk-UA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"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профілактичних бесід, спрямованих на усвідомлення дітьми необхідності мирного вирішення конфліктів, підкріплених по­силанням на закон і права інших людей;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рольових ігор про соціально прийнятну поведінку в різних обста­винах;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доручень, які допомагають привчити дітей до чуйного й уваж­ного ставлення один до одного та оточення;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вправ на виконання дій за зразком, дотримання правил, обра­зотворчої і фізичної діяльності;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тренінгу на самоконтроль (глибоко вдихнути, порахувати до 10, уявити собі наслідки свого вчинку);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тренування волі (обіцянка не вступати в конфлікти і не обража­ти інших, стежити щодня за виконанням цієї обіцянки);</a:t>
            </a: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Times New Roman" panose="02020603050405020304" pitchFamily="18" charset="0"/>
                <a:cs typeface="Century Schoolbook" panose="02040604050505020304" pitchFamily="18" charset="0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Wingdings" panose="05000000000000000000" pitchFamily="2" charset="2"/>
              <a:buChar char=""/>
              <a:tabLst/>
              <a:defRPr/>
            </a:pPr>
            <a:r>
              <a:rPr kumimoji="0" lang="uk-UA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самозвіту (підбиття підсумків минулого дня, аналіз поведінки, вчинків).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C07797-8EFB-4313-97A6-1D5BCE4CC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924" y="82766"/>
            <a:ext cx="2321781" cy="174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940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05958FC-F4DA-458A-AF1E-ABF80E102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285" y="5095949"/>
            <a:ext cx="4022649" cy="15922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B20FF1-82A2-47B7-985E-74CB339127B5}"/>
              </a:ext>
            </a:extLst>
          </p:cNvPr>
          <p:cNvSpPr txBox="1"/>
          <p:nvPr/>
        </p:nvSpPr>
        <p:spPr>
          <a:xfrm>
            <a:off x="1467349" y="484151"/>
            <a:ext cx="481120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uk-UA" sz="2000" b="1" i="0" u="none" strike="noStrike" kern="1200" cap="all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Вправа «Казка»</a:t>
            </a:r>
            <a:endParaRPr lang="uk-UA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0C778-AEA7-4B3C-A19D-4068508EEDCC}"/>
              </a:ext>
            </a:extLst>
          </p:cNvPr>
          <p:cNvSpPr txBox="1"/>
          <p:nvPr/>
        </p:nvSpPr>
        <p:spPr>
          <a:xfrm>
            <a:off x="1188224" y="333317"/>
            <a:ext cx="5588772" cy="476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endParaRPr kumimoji="0" lang="uk-UA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uk-UA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Хід вправи: </a:t>
            </a: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0" algn="l"/>
              </a:tabLst>
              <a:defRPr/>
            </a:pPr>
            <a:r>
              <a:rPr lang="uk-UA" sz="20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</a:t>
            </a:r>
            <a:r>
              <a:rPr kumimoji="0" lang="uk-U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итаю</a:t>
            </a: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казку. Пропоную дітям закінчити речення.</a:t>
            </a:r>
            <a:endParaRPr lang="ru-RU" sz="20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0" algn="l"/>
              </a:tabLst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Казка: </a:t>
            </a: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Цькування ображало хлопчика, чарівниця дала дітям підказ­ку... </a:t>
            </a:r>
            <a:endParaRPr kumimoji="0" lang="uk-UA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0" algn="l"/>
              </a:tabLst>
              <a:defRPr/>
            </a:pPr>
            <a:r>
              <a:rPr kumimoji="0" lang="uk-UA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Цькування </a:t>
            </a: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ще більше почало привертати увагу, діти почали йому говорити, що... </a:t>
            </a:r>
            <a:endParaRPr kumimoji="0" lang="uk-UA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0" algn="l"/>
              </a:tabLst>
              <a:defRPr/>
            </a:pPr>
            <a:r>
              <a:rPr kumimoji="0" lang="uk-UA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Хлопці </a:t>
            </a: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стали підтримувати вигнанця і дру­жити з ним, і в результаті цькування</a:t>
            </a:r>
            <a:r>
              <a:rPr kumimoji="0" lang="uk-UA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...,</a:t>
            </a: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0" algn="l"/>
              </a:tabLst>
              <a:defRPr/>
            </a:pPr>
            <a:r>
              <a:rPr kumimoji="0" lang="uk-UA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 на його місці з’явився хлопчик, який</a:t>
            </a:r>
            <a:r>
              <a:rPr kumimoji="0" lang="uk-UA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...,</a:t>
            </a: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0" algn="l"/>
              </a:tabLst>
              <a:defRPr/>
            </a:pPr>
            <a:r>
              <a:rPr kumimoji="0" lang="uk-UA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 сказав, що </a:t>
            </a:r>
            <a:r>
              <a:rPr kumimoji="0" lang="uk-UA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...,</a:t>
            </a:r>
          </a:p>
          <a:p>
            <a:pPr marR="0" lvl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tabLst>
                <a:tab pos="0" algn="l"/>
              </a:tabLst>
              <a:defRPr/>
            </a:pPr>
            <a:r>
              <a:rPr kumimoji="0" lang="uk-UA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 все...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4734C-7C4A-4E80-91E8-C82A061DBE76}"/>
              </a:ext>
            </a:extLst>
          </p:cNvPr>
          <p:cNvSpPr txBox="1"/>
          <p:nvPr/>
        </p:nvSpPr>
        <p:spPr>
          <a:xfrm>
            <a:off x="7275443" y="184252"/>
            <a:ext cx="4333461" cy="98488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endParaRPr kumimoji="0" lang="uk-UA" sz="2000" b="1" i="0" u="none" strike="noStrike" kern="1200" cap="all" spc="2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kumimoji="0" lang="uk-UA" sz="2000" b="1" i="0" u="none" strike="noStrike" kern="1200" cap="all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Вправа «</a:t>
            </a:r>
            <a:r>
              <a:rPr kumimoji="0" lang="uk-UA" sz="2000" b="1" i="0" u="none" strike="noStrike" kern="1200" cap="all" spc="20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Булер</a:t>
            </a:r>
            <a:r>
              <a:rPr kumimoji="0" lang="uk-UA" sz="2000" b="1" i="0" u="none" strike="noStrike" kern="1200" cap="all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і жертва»</a:t>
            </a:r>
            <a:r>
              <a:rPr kumimoji="0" lang="ru-RU" sz="2000" b="0" i="0" u="none" strike="noStrike" kern="1200" cap="all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ru-RU" sz="2000" b="0" i="0" u="none" strike="noStrike" kern="1200" cap="all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821966-874C-4940-AB86-C35C8D8AA84C}"/>
              </a:ext>
            </a:extLst>
          </p:cNvPr>
          <p:cNvSpPr txBox="1"/>
          <p:nvPr/>
        </p:nvSpPr>
        <p:spPr>
          <a:xfrm>
            <a:off x="7275443" y="1296357"/>
            <a:ext cx="4570012" cy="5480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338" marR="0" lvl="0" indent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Хід вправи: </a:t>
            </a:r>
          </a:p>
          <a:p>
            <a:pPr marL="87313" marR="0" lvl="0" indent="-53975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Діти об’єднуються в пари: </a:t>
            </a:r>
            <a:r>
              <a:rPr kumimoji="0" lang="uk-UA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булер</a:t>
            </a:r>
            <a:r>
              <a:rPr kumimoji="0" lang="uk-UA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і </a:t>
            </a: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жертва.</a:t>
            </a:r>
            <a:r>
              <a:rPr kumimoji="0" lang="uk-UA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7313" marR="0" lvl="0" indent="-53975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kumimoji="0" lang="uk-UA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Булерам</a:t>
            </a: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</a:t>
            </a:r>
            <a:r>
              <a:rPr kumimoji="0" lang="uk-UA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пропонують замислитися над тим, що можна відчути людині, коли вона цькує іншу людину.</a:t>
            </a:r>
            <a:endParaRPr kumimoji="0" lang="ru-RU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«Жертвам» </a:t>
            </a:r>
            <a:r>
              <a:rPr kumimoji="0" lang="uk-UA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пропонують випробувати те, що відчувають люди, яких постійно кривдять і які постійно в напруженні від того, яке знущання на них ще чекає.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Пари обмінюються інформацією та міняються ролями. </a:t>
            </a:r>
            <a:endParaRPr kumimoji="0" lang="uk-UA" sz="200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0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Після закінчення</a:t>
            </a:r>
            <a:r>
              <a:rPr kumimoji="0" lang="uk-UA" sz="200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вправи –</a:t>
            </a:r>
            <a:r>
              <a:rPr kumimoji="0" lang="uk-UA" sz="20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підбиваються </a:t>
            </a:r>
            <a:r>
              <a:rPr kumimoji="0" lang="uk-UA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підсумки.</a:t>
            </a:r>
            <a:endParaRPr kumimoji="0" lang="ru-RU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325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EC6C2E-D972-47C8-ABFE-4525A7D46E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4134" b="54091"/>
          <a:stretch/>
        </p:blipFill>
        <p:spPr>
          <a:xfrm>
            <a:off x="677849" y="0"/>
            <a:ext cx="3832528" cy="292607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04140A-150E-4F7A-B50C-0DE180A775E0}"/>
              </a:ext>
            </a:extLst>
          </p:cNvPr>
          <p:cNvSpPr txBox="1"/>
          <p:nvPr/>
        </p:nvSpPr>
        <p:spPr>
          <a:xfrm>
            <a:off x="4025347" y="192776"/>
            <a:ext cx="7861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Вправа «Малюємо агресію»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BF0A3-9349-4ABF-804B-313556D0B7D2}"/>
              </a:ext>
            </a:extLst>
          </p:cNvPr>
          <p:cNvSpPr txBox="1"/>
          <p:nvPr/>
        </p:nvSpPr>
        <p:spPr>
          <a:xfrm>
            <a:off x="3721211" y="692299"/>
            <a:ext cx="8332966" cy="573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Мета</a:t>
            </a:r>
            <a:r>
              <a:rPr kumimoji="0" lang="uk-U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робота з агресивними емоціями, усвідомлення мотивів поведінки.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Слова педагога: </a:t>
            </a: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«У кожної людини іноді буває поганий настрій. Він може проявлятися у ворожості, підвищеній агресивності, злості. Закрийте очі і постарайтеся відчути, подумки пережити цей стан. Намалюйте символічний образ агресії на аркуші паперу. Роботу можна нікому не показувати. Поступите з малюнком так, як вам хочеться. При бажанні </a:t>
            </a:r>
            <a:r>
              <a:rPr kumimoji="0" lang="uk-U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виправте</a:t>
            </a: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домалюйте зображення або знищіть роботу будь-яким способом (</a:t>
            </a:r>
            <a:r>
              <a:rPr kumimoji="0" lang="uk-U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зімніть</a:t>
            </a: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uk-U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порвіть</a:t>
            </a: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спаліть і т. п.). Так ви отримуєте владу над своїми почуттями »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Можливі  такі інструкції:</a:t>
            </a: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 1. Намалюй себе у хвилини гніву (злості, люті).</a:t>
            </a:r>
            <a:b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 2. Намалюй портрет дуже агресивного (злого) людини.</a:t>
            </a:r>
            <a:b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 3. Намалюй </a:t>
            </a:r>
            <a:r>
              <a:rPr kumimoji="0" lang="uk-UA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забіяку.</a:t>
            </a: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 4. Намалюй, які почуття ти відчуваєш, коли твоєму недругу боляче і прикро.</a:t>
            </a:r>
            <a:b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 5. Намалюй, які почуття ти відчуваєш, коли ти сам заподіяв недругу біль.</a:t>
            </a:r>
            <a:b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 6. Уяви, що незнайомі тобі люди б'ються один з одним. Намалюй, що ти робиш і де знаходишся в цій ситуації.</a:t>
            </a:r>
            <a:b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 * Результати цієї роботи графічно відображають ступінь агресивності, яка залишається на папері.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FD50124-A16E-4B26-A25E-CCA84EE60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06" y="4267911"/>
            <a:ext cx="3450867" cy="21587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42428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EF72B8-0AF9-4486-8635-3BA045C2D3E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21288" y="3743698"/>
            <a:ext cx="4457700" cy="2860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8B154D-FC6C-42FB-9DFF-F4C561CAC5EF}"/>
              </a:ext>
            </a:extLst>
          </p:cNvPr>
          <p:cNvSpPr txBox="1"/>
          <p:nvPr/>
        </p:nvSpPr>
        <p:spPr>
          <a:xfrm>
            <a:off x="3174559" y="471207"/>
            <a:ext cx="8084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uk-UA" sz="32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Вправа «З класу вибуває...»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477FC-6095-4911-9FD0-06EA37F87D03}"/>
              </a:ext>
            </a:extLst>
          </p:cNvPr>
          <p:cNvSpPr txBox="1"/>
          <p:nvPr/>
        </p:nvSpPr>
        <p:spPr>
          <a:xfrm>
            <a:off x="1239150" y="1437681"/>
            <a:ext cx="6094674" cy="49718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28600" marR="0" lvl="0" indent="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Хід вправи: </a:t>
            </a:r>
          </a:p>
          <a:p>
            <a:pPr marL="0" marR="0" lvl="0" indent="87313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uk-UA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Пропоную </a:t>
            </a: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дітям описати, що вони відчуватимуть, якщо з класу піде один з учнів (переїде, перейде до іншої школи тощо). </a:t>
            </a:r>
          </a:p>
          <a:p>
            <a:pPr marL="0" marR="0" lvl="0" indent="87313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uk-UA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</a:t>
            </a: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черзі </a:t>
            </a:r>
            <a:r>
              <a:rPr kumimoji="0" lang="uk-UA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називаю </a:t>
            </a: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імена присутніх і </a:t>
            </a:r>
            <a:r>
              <a:rPr kumimoji="0" lang="uk-UA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прошу </a:t>
            </a: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інших прокоменту­вати його відхід.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Після </a:t>
            </a:r>
            <a:r>
              <a:rPr kumimoji="0" lang="uk-UA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закінчення підбиваємо </a:t>
            </a:r>
            <a:r>
              <a:rPr kumimoji="0" lang="uk-U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підсумки.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444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C37E8AE-F07A-4309-9B5F-023C3B711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911" y="0"/>
            <a:ext cx="1226091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388DAC-5015-4BAF-9BA4-4A9B06B3973E}"/>
              </a:ext>
            </a:extLst>
          </p:cNvPr>
          <p:cNvSpPr txBox="1"/>
          <p:nvPr/>
        </p:nvSpPr>
        <p:spPr>
          <a:xfrm>
            <a:off x="3089082" y="936750"/>
            <a:ext cx="6194066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uk-UA" sz="27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Перегляд фільму.</a:t>
            </a:r>
            <a:r>
              <a:rPr kumimoji="0" lang="ru-RU" sz="27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ru-RU" sz="27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uk-UA" sz="2700" b="1" i="0" u="none" strike="noStrike" kern="1200" cap="all" spc="2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Можна рекомендувати фільм 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B6B27-616D-4426-B92D-882B7780A49C}"/>
              </a:ext>
            </a:extLst>
          </p:cNvPr>
          <p:cNvSpPr txBox="1"/>
          <p:nvPr/>
        </p:nvSpPr>
        <p:spPr>
          <a:xfrm>
            <a:off x="2964511" y="2275578"/>
            <a:ext cx="6194066" cy="3668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Обговорення: 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Які загальні враження від фільму?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Що страшного, правдивого, брехливого можна в ньому поба­чити?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Які герої найбільше вразили?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 </a:t>
            </a: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Що позитивного, а що негативного в цих </a:t>
            </a:r>
            <a:r>
              <a:rPr kumimoji="0" lang="uk-U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героях</a:t>
            </a: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Як вчиняли інші діти?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Tx/>
              <a:buChar char="-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Чи була їхня поведінка позитивною/негативною?</a:t>
            </a:r>
          </a:p>
          <a:p>
            <a:pPr marL="228600" marR="0" lvl="0" indent="-228600" algn="l" defTabSz="914400" rtl="0" eaLnBrk="1" fontAlgn="auto" latinLnBrk="0" hangingPunct="1">
              <a:lnSpc>
                <a:spcPct val="107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Tx/>
              <a:buChar char="-"/>
              <a:tabLst/>
              <a:defRPr/>
            </a:pPr>
            <a:r>
              <a:rPr kumimoji="0" lang="uk-U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Який можна зробити висновок?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116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076B56-E295-4C02-9CD0-B9FAEF113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026" y="-55659"/>
            <a:ext cx="666319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D90DAC-1E70-4567-959A-43B4EC8683BD}"/>
              </a:ext>
            </a:extLst>
          </p:cNvPr>
          <p:cNvSpPr txBox="1"/>
          <p:nvPr/>
        </p:nvSpPr>
        <p:spPr>
          <a:xfrm>
            <a:off x="1624053" y="320457"/>
            <a:ext cx="6126480" cy="3108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Усвідомлення права розвиває усвідомлення обов'язку. Загальний закон — це свобода, яка закінчується там, де починається свобода іншого.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Віктор Гюго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019305-72A8-431E-B3C4-81951B306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342" y="1598212"/>
            <a:ext cx="3531580" cy="499143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695E7F-5219-42B0-AD61-54D5CD5940F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75006" y="3561399"/>
            <a:ext cx="3379304" cy="310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066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8B8C-CAE7-455E-8563-6702E434A9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96" r="4886" b="4811"/>
          <a:stretch/>
        </p:blipFill>
        <p:spPr>
          <a:xfrm rot="10800000">
            <a:off x="0" y="0"/>
            <a:ext cx="946205" cy="6858000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4C59F0E5-CE57-41E1-B10B-B0DAE45F803B}"/>
              </a:ext>
            </a:extLst>
          </p:cNvPr>
          <p:cNvSpPr txBox="1">
            <a:spLocks/>
          </p:cNvSpPr>
          <p:nvPr/>
        </p:nvSpPr>
        <p:spPr>
          <a:xfrm>
            <a:off x="2078060" y="1531028"/>
            <a:ext cx="9239770" cy="3299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uk-UA" sz="4800" b="1">
                <a:solidFill>
                  <a:srgbClr val="0033CC"/>
                </a:solidFill>
                <a:latin typeface="Bookman Old Style" panose="02050604050505020204" pitchFamily="18" charset="0"/>
              </a:rPr>
              <a:t>БАЖАЮ  ДУШЕВНОГО КОМФОРТУ, УСПІХІВ, ВДЯЧНИХ  УЧНІВ  І БАТЬКІВ!</a:t>
            </a:r>
            <a:endParaRPr lang="ru-RU" sz="4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68997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711</TotalTime>
  <Words>2326</Words>
  <Application>Microsoft Office PowerPoint</Application>
  <PresentationFormat>Широкоэкранный</PresentationFormat>
  <Paragraphs>174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42" baseType="lpstr">
      <vt:lpstr>Arial</vt:lpstr>
      <vt:lpstr>Bookman Old Style</vt:lpstr>
      <vt:lpstr>Calibri</vt:lpstr>
      <vt:lpstr>Century Schoolbook</vt:lpstr>
      <vt:lpstr>Corbel</vt:lpstr>
      <vt:lpstr>Courier New</vt:lpstr>
      <vt:lpstr>Impact</vt:lpstr>
      <vt:lpstr>Roboto Condensed</vt:lpstr>
      <vt:lpstr>Symbol</vt:lpstr>
      <vt:lpstr>Times New Roman</vt:lpstr>
      <vt:lpstr>Trebuchet MS</vt:lpstr>
      <vt:lpstr>Wingdings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Svitlana</dc:creator>
  <cp:lastModifiedBy>User</cp:lastModifiedBy>
  <cp:revision>13</cp:revision>
  <dcterms:created xsi:type="dcterms:W3CDTF">2025-01-07T18:19:08Z</dcterms:created>
  <dcterms:modified xsi:type="dcterms:W3CDTF">2025-10-22T12:39:54Z</dcterms:modified>
</cp:coreProperties>
</file>