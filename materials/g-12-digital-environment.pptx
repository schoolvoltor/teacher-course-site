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  <p:sldMasterId id="2147483700" r:id="rId4"/>
    <p:sldMasterId id="2147483713" r:id="rId5"/>
    <p:sldMasterId id="214748372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</p:sldIdLst>
  <p:sldSz cx="10080625" cy="5670550"/>
  <p:notesSz cx="7559675" cy="10691813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8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subTitle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ubTitle"/>
          </p:nvPr>
        </p:nvSpPr>
        <p:spPr>
          <a:xfrm>
            <a:off x="466200" y="2928960"/>
            <a:ext cx="9001440" cy="737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272520" y="5977440"/>
            <a:ext cx="880164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4782960" y="424656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27252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/>
          </p:nvPr>
        </p:nvSpPr>
        <p:spPr>
          <a:xfrm>
            <a:off x="4782960" y="5977440"/>
            <a:ext cx="429516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uk-UA" sz="4400" b="0" strike="noStrike" spc="-1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27252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324864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/>
          </p:nvPr>
        </p:nvSpPr>
        <p:spPr>
          <a:xfrm>
            <a:off x="6224400" y="424656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5" name="PlaceHolder 5"/>
          <p:cNvSpPr>
            <a:spLocks noGrp="1"/>
          </p:cNvSpPr>
          <p:nvPr>
            <p:ph/>
          </p:nvPr>
        </p:nvSpPr>
        <p:spPr>
          <a:xfrm>
            <a:off x="27252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6" name="PlaceHolder 6"/>
          <p:cNvSpPr>
            <a:spLocks noGrp="1"/>
          </p:cNvSpPr>
          <p:nvPr>
            <p:ph/>
          </p:nvPr>
        </p:nvSpPr>
        <p:spPr>
          <a:xfrm>
            <a:off x="324864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  <p:sp>
        <p:nvSpPr>
          <p:cNvPr id="287" name="PlaceHolder 7"/>
          <p:cNvSpPr>
            <a:spLocks noGrp="1"/>
          </p:cNvSpPr>
          <p:nvPr>
            <p:ph/>
          </p:nvPr>
        </p:nvSpPr>
        <p:spPr>
          <a:xfrm>
            <a:off x="6224400" y="5977440"/>
            <a:ext cx="2833920" cy="158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uk-U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/>
          <p:cNvSpPr/>
          <p:nvPr/>
        </p:nvSpPr>
        <p:spPr>
          <a:xfrm>
            <a:off x="0" y="0"/>
            <a:ext cx="10079640" cy="4251600"/>
          </a:xfrm>
          <a:custGeom>
            <a:avLst/>
            <a:gdLst/>
            <a:ahLst/>
            <a:cxnLst/>
            <a:rect l="l" t="t" r="r" b="b"/>
            <a:pathLst>
              <a:path w="28001" h="11812">
                <a:moveTo>
                  <a:pt x="0" y="11811"/>
                </a:moveTo>
                <a:lnTo>
                  <a:pt x="0" y="0"/>
                </a:lnTo>
                <a:lnTo>
                  <a:pt x="28000" y="0"/>
                </a:lnTo>
                <a:lnTo>
                  <a:pt x="28000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4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олилиния 38"/>
          <p:cNvSpPr/>
          <p:nvPr/>
        </p:nvSpPr>
        <p:spPr>
          <a:xfrm>
            <a:off x="0" y="0"/>
            <a:ext cx="10079640" cy="4251600"/>
          </a:xfrm>
          <a:custGeom>
            <a:avLst/>
            <a:gdLst/>
            <a:ahLst/>
            <a:cxnLst/>
            <a:rect l="l" t="t" r="r" b="b"/>
            <a:pathLst>
              <a:path w="28001" h="11812">
                <a:moveTo>
                  <a:pt x="0" y="11811"/>
                </a:moveTo>
                <a:lnTo>
                  <a:pt x="0" y="0"/>
                </a:lnTo>
                <a:lnTo>
                  <a:pt x="28000" y="0"/>
                </a:lnTo>
                <a:lnTo>
                  <a:pt x="28000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4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Полилиния 117"/>
          <p:cNvSpPr/>
          <p:nvPr/>
        </p:nvSpPr>
        <p:spPr>
          <a:xfrm>
            <a:off x="1096920" y="4388760"/>
            <a:ext cx="8982360" cy="1280520"/>
          </a:xfrm>
          <a:custGeom>
            <a:avLst/>
            <a:gdLst/>
            <a:ahLst/>
            <a:cxnLst/>
            <a:rect l="l" t="t" r="r" b="b"/>
            <a:pathLst>
              <a:path w="24953" h="3559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Полилиния 118"/>
          <p:cNvSpPr/>
          <p:nvPr/>
        </p:nvSpPr>
        <p:spPr>
          <a:xfrm>
            <a:off x="0" y="411120"/>
            <a:ext cx="10079640" cy="5258160"/>
          </a:xfrm>
          <a:custGeom>
            <a:avLst/>
            <a:gdLst/>
            <a:ahLst/>
            <a:cxnLst/>
            <a:rect l="l" t="t" r="r" b="b"/>
            <a:pathLst>
              <a:path w="28001" h="14608">
                <a:moveTo>
                  <a:pt x="0" y="14607"/>
                </a:moveTo>
                <a:lnTo>
                  <a:pt x="508" y="14607"/>
                </a:lnTo>
                <a:lnTo>
                  <a:pt x="28000" y="10668"/>
                </a:lnTo>
                <a:lnTo>
                  <a:pt x="28000" y="0"/>
                </a:lnTo>
                <a:lnTo>
                  <a:pt x="0" y="4001"/>
                </a:lnTo>
                <a:lnTo>
                  <a:pt x="0" y="14607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Полилиния 119"/>
          <p:cNvSpPr/>
          <p:nvPr/>
        </p:nvSpPr>
        <p:spPr>
          <a:xfrm>
            <a:off x="0" y="0"/>
            <a:ext cx="10080000" cy="1714320"/>
          </a:xfrm>
          <a:custGeom>
            <a:avLst/>
            <a:gdLst/>
            <a:ahLst/>
            <a:cxnLst/>
            <a:rect l="l" t="t" r="r" b="b"/>
            <a:pathLst>
              <a:path w="28002" h="4764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1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18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олилиния 158"/>
          <p:cNvSpPr/>
          <p:nvPr/>
        </p:nvSpPr>
        <p:spPr>
          <a:xfrm>
            <a:off x="1403640" y="4388760"/>
            <a:ext cx="8676000" cy="1280160"/>
          </a:xfrm>
          <a:custGeom>
            <a:avLst/>
            <a:gdLst/>
            <a:ahLst/>
            <a:cxnLst/>
            <a:rect l="l" t="t" r="r" b="b"/>
            <a:pathLst>
              <a:path w="24102" h="3558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Полилиния 159"/>
          <p:cNvSpPr/>
          <p:nvPr/>
        </p:nvSpPr>
        <p:spPr>
          <a:xfrm>
            <a:off x="0" y="0"/>
            <a:ext cx="10079640" cy="2400120"/>
          </a:xfrm>
          <a:custGeom>
            <a:avLst/>
            <a:gdLst/>
            <a:ahLst/>
            <a:cxnLst/>
            <a:rect l="l" t="t" r="r" b="b"/>
            <a:pathLst>
              <a:path w="28001" h="6669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Полилиния 160"/>
          <p:cNvSpPr/>
          <p:nvPr/>
        </p:nvSpPr>
        <p:spPr>
          <a:xfrm>
            <a:off x="0" y="0"/>
            <a:ext cx="10079640" cy="2400120"/>
          </a:xfrm>
          <a:custGeom>
            <a:avLst/>
            <a:gdLst/>
            <a:ahLst/>
            <a:cxnLst/>
            <a:rect l="l" t="t" r="r" b="b"/>
            <a:pathLst>
              <a:path w="28001" h="6669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Полилиния 161"/>
          <p:cNvSpPr/>
          <p:nvPr/>
        </p:nvSpPr>
        <p:spPr>
          <a:xfrm>
            <a:off x="1403640" y="4388760"/>
            <a:ext cx="8676000" cy="1280160"/>
          </a:xfrm>
          <a:custGeom>
            <a:avLst/>
            <a:gdLst/>
            <a:ahLst/>
            <a:cxnLst/>
            <a:rect l="l" t="t" r="r" b="b"/>
            <a:pathLst>
              <a:path w="24102" h="3558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Полилиния 162"/>
          <p:cNvSpPr/>
          <p:nvPr/>
        </p:nvSpPr>
        <p:spPr>
          <a:xfrm>
            <a:off x="6480" y="-9720"/>
            <a:ext cx="10079640" cy="2468520"/>
          </a:xfrm>
          <a:custGeom>
            <a:avLst/>
            <a:gdLst/>
            <a:ahLst/>
            <a:cxnLst/>
            <a:rect l="l" t="t" r="r" b="b"/>
            <a:pathLst>
              <a:path w="28001" h="6859">
                <a:moveTo>
                  <a:pt x="0" y="6858"/>
                </a:moveTo>
                <a:lnTo>
                  <a:pt x="0" y="0"/>
                </a:lnTo>
                <a:lnTo>
                  <a:pt x="28000" y="0"/>
                </a:lnTo>
                <a:lnTo>
                  <a:pt x="28000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Полилиния 163"/>
          <p:cNvSpPr/>
          <p:nvPr/>
        </p:nvSpPr>
        <p:spPr>
          <a:xfrm>
            <a:off x="1403280" y="4388760"/>
            <a:ext cx="8676000" cy="1280160"/>
          </a:xfrm>
          <a:custGeom>
            <a:avLst/>
            <a:gdLst/>
            <a:ahLst/>
            <a:cxnLst/>
            <a:rect l="l" t="t" r="r" b="b"/>
            <a:pathLst>
              <a:path w="24102" h="3558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Полилиния 164"/>
          <p:cNvSpPr/>
          <p:nvPr/>
        </p:nvSpPr>
        <p:spPr>
          <a:xfrm rot="20952000">
            <a:off x="223920" y="1917000"/>
            <a:ext cx="9401760" cy="2593800"/>
          </a:xfrm>
          <a:custGeom>
            <a:avLst/>
            <a:gdLst/>
            <a:ahLst/>
            <a:cxnLst/>
            <a:rect l="l" t="t" r="r" b="b"/>
            <a:pathLst>
              <a:path w="26120" h="7208">
                <a:moveTo>
                  <a:pt x="454" y="0"/>
                </a:moveTo>
                <a:lnTo>
                  <a:pt x="455" y="0"/>
                </a:lnTo>
                <a:cubicBezTo>
                  <a:pt x="375" y="0"/>
                  <a:pt x="297" y="21"/>
                  <a:pt x="227" y="60"/>
                </a:cubicBezTo>
                <a:cubicBezTo>
                  <a:pt x="158" y="100"/>
                  <a:pt x="102" y="158"/>
                  <a:pt x="61" y="226"/>
                </a:cubicBezTo>
                <a:cubicBezTo>
                  <a:pt x="21" y="296"/>
                  <a:pt x="1" y="373"/>
                  <a:pt x="0" y="454"/>
                </a:cubicBezTo>
                <a:lnTo>
                  <a:pt x="1" y="6752"/>
                </a:lnTo>
                <a:lnTo>
                  <a:pt x="1" y="6752"/>
                </a:lnTo>
                <a:cubicBezTo>
                  <a:pt x="1" y="6833"/>
                  <a:pt x="22" y="6911"/>
                  <a:pt x="62" y="6980"/>
                </a:cubicBezTo>
                <a:cubicBezTo>
                  <a:pt x="101" y="7049"/>
                  <a:pt x="159" y="7106"/>
                  <a:pt x="227" y="7146"/>
                </a:cubicBezTo>
                <a:cubicBezTo>
                  <a:pt x="296" y="7185"/>
                  <a:pt x="375" y="7207"/>
                  <a:pt x="454" y="7206"/>
                </a:cubicBezTo>
                <a:lnTo>
                  <a:pt x="25665" y="7206"/>
                </a:lnTo>
                <a:lnTo>
                  <a:pt x="25665" y="7206"/>
                </a:lnTo>
                <a:cubicBezTo>
                  <a:pt x="25744" y="7206"/>
                  <a:pt x="25822" y="7186"/>
                  <a:pt x="25892" y="7146"/>
                </a:cubicBezTo>
                <a:cubicBezTo>
                  <a:pt x="25961" y="7106"/>
                  <a:pt x="26018" y="7049"/>
                  <a:pt x="26058" y="6980"/>
                </a:cubicBezTo>
                <a:cubicBezTo>
                  <a:pt x="26098" y="6910"/>
                  <a:pt x="26119" y="6833"/>
                  <a:pt x="26119" y="6752"/>
                </a:cubicBezTo>
                <a:lnTo>
                  <a:pt x="26118" y="453"/>
                </a:lnTo>
                <a:lnTo>
                  <a:pt x="26119" y="454"/>
                </a:lnTo>
                <a:lnTo>
                  <a:pt x="26119" y="454"/>
                </a:lnTo>
                <a:cubicBezTo>
                  <a:pt x="26119" y="374"/>
                  <a:pt x="26097" y="295"/>
                  <a:pt x="26058" y="226"/>
                </a:cubicBezTo>
                <a:cubicBezTo>
                  <a:pt x="26018" y="158"/>
                  <a:pt x="25961" y="100"/>
                  <a:pt x="25892" y="60"/>
                </a:cubicBezTo>
                <a:cubicBezTo>
                  <a:pt x="25823" y="21"/>
                  <a:pt x="25745" y="0"/>
                  <a:pt x="25665" y="0"/>
                </a:cubicBezTo>
                <a:lnTo>
                  <a:pt x="454" y="0"/>
                </a:lnTo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Прямоугольник 165"/>
          <p:cNvSpPr/>
          <p:nvPr/>
        </p:nvSpPr>
        <p:spPr>
          <a:xfrm>
            <a:off x="273960" y="2759400"/>
            <a:ext cx="639720" cy="122544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8000" b="0" strike="noStrike" spc="-1">
                <a:latin typeface="Arial"/>
              </a:rPr>
              <a:t>“</a:t>
            </a:r>
          </a:p>
        </p:txBody>
      </p:sp>
      <p:sp>
        <p:nvSpPr>
          <p:cNvPr id="167" name="Прямоугольник 166"/>
          <p:cNvSpPr/>
          <p:nvPr/>
        </p:nvSpPr>
        <p:spPr>
          <a:xfrm>
            <a:off x="9215640" y="3517560"/>
            <a:ext cx="639720" cy="122544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8000" b="0" strike="noStrike" spc="-1">
                <a:latin typeface="Arial"/>
              </a:rPr>
              <a:t>”</a:t>
            </a: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272520" y="4246560"/>
            <a:ext cx="880164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1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18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18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Полилиния 205"/>
          <p:cNvSpPr/>
          <p:nvPr/>
        </p:nvSpPr>
        <p:spPr>
          <a:xfrm>
            <a:off x="1096920" y="4388760"/>
            <a:ext cx="8982360" cy="1280520"/>
          </a:xfrm>
          <a:custGeom>
            <a:avLst/>
            <a:gdLst/>
            <a:ahLst/>
            <a:cxnLst/>
            <a:rect l="l" t="t" r="r" b="b"/>
            <a:pathLst>
              <a:path w="24953" h="3559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Полилиния 206"/>
          <p:cNvSpPr/>
          <p:nvPr/>
        </p:nvSpPr>
        <p:spPr>
          <a:xfrm>
            <a:off x="0" y="411120"/>
            <a:ext cx="10079640" cy="5258160"/>
          </a:xfrm>
          <a:custGeom>
            <a:avLst/>
            <a:gdLst/>
            <a:ahLst/>
            <a:cxnLst/>
            <a:rect l="l" t="t" r="r" b="b"/>
            <a:pathLst>
              <a:path w="28001" h="14608">
                <a:moveTo>
                  <a:pt x="0" y="14607"/>
                </a:moveTo>
                <a:lnTo>
                  <a:pt x="508" y="14607"/>
                </a:lnTo>
                <a:lnTo>
                  <a:pt x="28000" y="10668"/>
                </a:lnTo>
                <a:lnTo>
                  <a:pt x="28000" y="0"/>
                </a:lnTo>
                <a:lnTo>
                  <a:pt x="0" y="4001"/>
                </a:lnTo>
                <a:lnTo>
                  <a:pt x="0" y="14607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Полилиния 207"/>
          <p:cNvSpPr/>
          <p:nvPr/>
        </p:nvSpPr>
        <p:spPr>
          <a:xfrm>
            <a:off x="0" y="0"/>
            <a:ext cx="10080000" cy="1714320"/>
          </a:xfrm>
          <a:custGeom>
            <a:avLst/>
            <a:gdLst/>
            <a:ahLst/>
            <a:cxnLst/>
            <a:rect l="l" t="t" r="r" b="b"/>
            <a:pathLst>
              <a:path w="28002" h="4764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4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Полилиния 246"/>
          <p:cNvSpPr/>
          <p:nvPr/>
        </p:nvSpPr>
        <p:spPr>
          <a:xfrm>
            <a:off x="1096920" y="4388760"/>
            <a:ext cx="8982360" cy="1280520"/>
          </a:xfrm>
          <a:custGeom>
            <a:avLst/>
            <a:gdLst/>
            <a:ahLst/>
            <a:cxnLst/>
            <a:rect l="l" t="t" r="r" b="b"/>
            <a:pathLst>
              <a:path w="24953" h="3559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Полилиния 247"/>
          <p:cNvSpPr/>
          <p:nvPr/>
        </p:nvSpPr>
        <p:spPr>
          <a:xfrm>
            <a:off x="0" y="411120"/>
            <a:ext cx="10079640" cy="5258160"/>
          </a:xfrm>
          <a:custGeom>
            <a:avLst/>
            <a:gdLst/>
            <a:ahLst/>
            <a:cxnLst/>
            <a:rect l="l" t="t" r="r" b="b"/>
            <a:pathLst>
              <a:path w="28001" h="14608">
                <a:moveTo>
                  <a:pt x="0" y="14607"/>
                </a:moveTo>
                <a:lnTo>
                  <a:pt x="508" y="14607"/>
                </a:lnTo>
                <a:lnTo>
                  <a:pt x="28000" y="10668"/>
                </a:lnTo>
                <a:lnTo>
                  <a:pt x="28000" y="0"/>
                </a:lnTo>
                <a:lnTo>
                  <a:pt x="0" y="4001"/>
                </a:lnTo>
                <a:lnTo>
                  <a:pt x="0" y="14607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Полилиния 248"/>
          <p:cNvSpPr/>
          <p:nvPr/>
        </p:nvSpPr>
        <p:spPr>
          <a:xfrm>
            <a:off x="0" y="0"/>
            <a:ext cx="10080000" cy="1714320"/>
          </a:xfrm>
          <a:custGeom>
            <a:avLst/>
            <a:gdLst/>
            <a:ahLst/>
            <a:cxnLst/>
            <a:rect l="l" t="t" r="r" b="b"/>
            <a:pathLst>
              <a:path w="28002" h="4764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66200" y="2928960"/>
            <a:ext cx="9001440" cy="15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uk-UA" sz="1800" b="0" strike="noStrike" spc="-1">
                <a:latin typeface="Arial"/>
              </a:rPr>
              <a:t>Для правки тексту заголовка клацніть мишею</a:t>
            </a: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strike="noStrike" spc="-1">
                <a:latin typeface="Arial"/>
              </a:rPr>
              <a:t>Для редагування структури клацніть мишею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800" b="0" strike="noStrike" spc="-1">
                <a:latin typeface="Arial"/>
              </a:rPr>
              <a:t>Другий рівень структури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400" b="0" strike="noStrike" spc="-1">
                <a:latin typeface="Arial"/>
              </a:rPr>
              <a:t>Третій рівень структури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strike="noStrike" spc="-1">
                <a:latin typeface="Arial"/>
              </a:rPr>
              <a:t>Четвертий рівень структури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П'ятий рівень структури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Шостий рівень структури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strike="noStrike" spc="-1">
                <a:latin typeface="Arial"/>
              </a:rPr>
              <a:t>Сьомий рівень структури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 rot="21114000">
            <a:off x="-41040" y="75600"/>
            <a:ext cx="9002160" cy="374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lang="uk-UA" dirty="0" smtClean="0"/>
              <a:t>цифрове </a:t>
            </a:r>
            <a:r>
              <a:rPr lang="uk-UA" smtClean="0"/>
              <a:t>освітнє середовище</a:t>
            </a:r>
            <a:endParaRPr lang="uk-UA" sz="2200" b="0" strike="noStrike" spc="-1" dirty="0">
              <a:latin typeface="Arial"/>
            </a:endParaRPr>
          </a:p>
        </p:txBody>
      </p:sp>
      <p:sp>
        <p:nvSpPr>
          <p:cNvPr id="328" name="Прямоугольник 327"/>
          <p:cNvSpPr/>
          <p:nvPr/>
        </p:nvSpPr>
        <p:spPr>
          <a:xfrm rot="21117000">
            <a:off x="155520" y="3696480"/>
            <a:ext cx="8803080" cy="61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fld id="{BB16E7CC-6AEB-43D6-826D-08B2B7EF5813}" type="author">
              <a:rPr lang="uk-UA" sz="3200" b="0" strike="noStrike" spc="-1">
                <a:latin typeface="Arial"/>
              </a:rPr>
              <a:t> </a:t>
            </a:fld>
            <a:endParaRPr lang="uk-UA" sz="3200" b="0" strike="noStrike" spc="-1">
              <a:latin typeface="Arial"/>
            </a:endParaRPr>
          </a:p>
        </p:txBody>
      </p:sp>
      <p:pic>
        <p:nvPicPr>
          <p:cNvPr id="329" name="Рисунок 328"/>
          <p:cNvPicPr/>
          <p:nvPr/>
        </p:nvPicPr>
        <p:blipFill>
          <a:blip r:embed="rId2"/>
          <a:stretch/>
        </p:blipFill>
        <p:spPr>
          <a:xfrm>
            <a:off x="5760000" y="0"/>
            <a:ext cx="2159640" cy="1548360"/>
          </a:xfrm>
          <a:prstGeom prst="rect">
            <a:avLst/>
          </a:prstGeom>
          <a:ln w="10800">
            <a:noFill/>
          </a:ln>
        </p:spPr>
      </p:pic>
      <p:pic>
        <p:nvPicPr>
          <p:cNvPr id="330" name="Рисунок 329"/>
          <p:cNvPicPr/>
          <p:nvPr/>
        </p:nvPicPr>
        <p:blipFill>
          <a:blip r:embed="rId3"/>
          <a:stretch/>
        </p:blipFill>
        <p:spPr>
          <a:xfrm>
            <a:off x="7920000" y="47160"/>
            <a:ext cx="2159640" cy="1451520"/>
          </a:xfrm>
          <a:prstGeom prst="rect">
            <a:avLst/>
          </a:prstGeom>
          <a:ln w="10800">
            <a:noFill/>
          </a:ln>
        </p:spPr>
      </p:pic>
      <p:pic>
        <p:nvPicPr>
          <p:cNvPr id="331" name="Рисунок 330"/>
          <p:cNvPicPr/>
          <p:nvPr/>
        </p:nvPicPr>
        <p:blipFill>
          <a:blip r:embed="rId4"/>
          <a:stretch/>
        </p:blipFill>
        <p:spPr>
          <a:xfrm>
            <a:off x="6455880" y="3731760"/>
            <a:ext cx="3623760" cy="2028240"/>
          </a:xfrm>
          <a:prstGeom prst="rect">
            <a:avLst/>
          </a:prstGeom>
          <a:ln w="10800">
            <a:noFill/>
          </a:ln>
        </p:spPr>
      </p:pic>
      <p:pic>
        <p:nvPicPr>
          <p:cNvPr id="332" name="Рисунок 331"/>
          <p:cNvPicPr/>
          <p:nvPr/>
        </p:nvPicPr>
        <p:blipFill>
          <a:blip r:embed="rId5"/>
          <a:stretch/>
        </p:blipFill>
        <p:spPr>
          <a:xfrm>
            <a:off x="360000" y="4140000"/>
            <a:ext cx="3239640" cy="1529640"/>
          </a:xfrm>
          <a:prstGeom prst="rect">
            <a:avLst/>
          </a:prstGeom>
          <a:ln w="10800">
            <a:noFill/>
          </a:ln>
        </p:spPr>
      </p:pic>
      <p:pic>
        <p:nvPicPr>
          <p:cNvPr id="333" name="Рисунок 332"/>
          <p:cNvPicPr/>
          <p:nvPr/>
        </p:nvPicPr>
        <p:blipFill>
          <a:blip r:embed="rId6"/>
          <a:stretch/>
        </p:blipFill>
        <p:spPr>
          <a:xfrm>
            <a:off x="25200" y="284760"/>
            <a:ext cx="2854440" cy="187488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 rot="20803800">
            <a:off x="36360" y="778680"/>
            <a:ext cx="696600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4400" b="1" strike="noStrike" spc="-1">
                <a:solidFill>
                  <a:srgbClr val="9E2AA9"/>
                </a:solidFill>
                <a:latin typeface="Arial"/>
              </a:rPr>
              <a:t>Кіберзлочини</a:t>
            </a:r>
            <a:endParaRPr lang="uk-UA" sz="4400" b="0" strike="noStrike" spc="-1">
              <a:latin typeface="Arial"/>
            </a:endParaRPr>
          </a:p>
        </p:txBody>
      </p:sp>
      <p:sp>
        <p:nvSpPr>
          <p:cNvPr id="335" name="Прямоугольник 334"/>
          <p:cNvSpPr/>
          <p:nvPr/>
        </p:nvSpPr>
        <p:spPr>
          <a:xfrm>
            <a:off x="360000" y="2160000"/>
            <a:ext cx="7856640" cy="34560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Щорічно кіберзлочинність приносить зловмисникам трильйони доларів. </a:t>
            </a:r>
          </a:p>
        </p:txBody>
      </p:sp>
      <p:sp>
        <p:nvSpPr>
          <p:cNvPr id="336" name="Прямоугольник 335"/>
          <p:cNvSpPr/>
          <p:nvPr/>
        </p:nvSpPr>
        <p:spPr>
          <a:xfrm>
            <a:off x="360000" y="2505960"/>
            <a:ext cx="8999640" cy="162540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Одним із найпопулярніших серед кіберзлочинців є крадіжка даних банківської картки. 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Найчастіше хакер маскується під банк, постачальника чи іншу організацію, щоб обманом змусити вас поділитися особистими даними або завантажити шкідливе програмне забезпечення.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 Зловмисники заманюють жертву перейти за посиланням або відкрити вкладений файл. Інколи кіберзлочинці спрямовують користувача на </a:t>
            </a:r>
            <a:r>
              <a:rPr lang="uk-UA" sz="1800" b="1" strike="noStrike" spc="-1">
                <a:latin typeface="Arial"/>
              </a:rPr>
              <a:t>фішингову</a:t>
            </a:r>
            <a:r>
              <a:rPr lang="uk-UA" sz="1800" b="0" strike="noStrike" spc="-1">
                <a:latin typeface="Arial"/>
              </a:rPr>
              <a:t> сторінку, де просять ввести особисту або фінансову інформацію.</a:t>
            </a:r>
          </a:p>
        </p:txBody>
      </p:sp>
      <p:pic>
        <p:nvPicPr>
          <p:cNvPr id="337" name="Рисунок 336"/>
          <p:cNvPicPr/>
          <p:nvPr/>
        </p:nvPicPr>
        <p:blipFill>
          <a:blip r:embed="rId2"/>
          <a:stretch/>
        </p:blipFill>
        <p:spPr>
          <a:xfrm>
            <a:off x="6578640" y="360000"/>
            <a:ext cx="2241000" cy="1571760"/>
          </a:xfrm>
          <a:prstGeom prst="rect">
            <a:avLst/>
          </a:prstGeom>
          <a:ln w="10800">
            <a:noFill/>
          </a:ln>
        </p:spPr>
      </p:pic>
      <p:pic>
        <p:nvPicPr>
          <p:cNvPr id="338" name="Рисунок 337"/>
          <p:cNvPicPr/>
          <p:nvPr/>
        </p:nvPicPr>
        <p:blipFill>
          <a:blip r:embed="rId3"/>
          <a:stretch/>
        </p:blipFill>
        <p:spPr>
          <a:xfrm>
            <a:off x="6716160" y="4680000"/>
            <a:ext cx="3183480" cy="989640"/>
          </a:xfrm>
          <a:prstGeom prst="rect">
            <a:avLst/>
          </a:prstGeom>
          <a:ln w="108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 idx="4294967295"/>
          </p:nvPr>
        </p:nvSpPr>
        <p:spPr>
          <a:xfrm rot="21111000">
            <a:off x="0" y="-133350"/>
            <a:ext cx="9002713" cy="9540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337AB7"/>
                </a:solidFill>
                <a:latin typeface="Arial"/>
              </a:rPr>
              <a:t>Фішинг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40" name="Прямоугольник 339"/>
          <p:cNvSpPr/>
          <p:nvPr/>
        </p:nvSpPr>
        <p:spPr>
          <a:xfrm>
            <a:off x="0" y="1260000"/>
            <a:ext cx="9915840" cy="60156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Фі́шинг[1] (англ. phishing МФА: ['fiʃiŋ] від fishing — риболовля) — вид шахрайства, метою якого є виманювання в довірливих або неуважних користувачів мережі персональних даних клієнтів.Шахраї намагаються змусити користувачів самостійно розкрити конфіденційні дані — наприклад, надсилаючи електронні листи з пропозиціями підтвердити реєстрацію облікового запису, що містять посилання на сайт, зовнішній вигляд якого повністю копіює дизайн відомих ресурсів.</a:t>
            </a:r>
          </a:p>
        </p:txBody>
      </p:sp>
      <p:sp>
        <p:nvSpPr>
          <p:cNvPr id="342" name="Прямоугольник 341"/>
          <p:cNvSpPr/>
          <p:nvPr/>
        </p:nvSpPr>
        <p:spPr>
          <a:xfrm>
            <a:off x="104040" y="3060000"/>
            <a:ext cx="5655600" cy="85752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Фішинг — один з різновидів соціальної інженерії, заснований на незнанні користувачами основ інформаційної безпеки. </a:t>
            </a:r>
            <a:r>
              <a:rPr lang="uk-UA" sz="1800" b="1" strike="noStrike" spc="-1">
                <a:latin typeface="Arial"/>
              </a:rPr>
              <a:t>Зокрема, багато хто не знає простого факту: сервіси не розсилають листів з проханнями повідомити свої облікові дані, пароль та інше.</a:t>
            </a:r>
            <a:endParaRPr lang="uk-UA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 rot="21111000">
            <a:off x="91800" y="6732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800000"/>
                </a:solidFill>
                <a:latin typeface="Arial"/>
              </a:rPr>
              <a:t>Злом акаунта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44" name="Прямоугольник 343"/>
          <p:cNvSpPr/>
          <p:nvPr/>
        </p:nvSpPr>
        <p:spPr>
          <a:xfrm>
            <a:off x="159480" y="1738080"/>
            <a:ext cx="10100160" cy="60156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Першою з ознак злому акаунту є блокування входу і необхідність повторно ввійти в обліковий запис на всіх пристроях. Як правило, шахраї надсилають електронний лист з посиланням, що перенаправляє користувача на веб-сайт, який має такий же вигляд, що й офіційний сайт, з вікном для входу в соціальну мережу.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 Навіть не підозрюючи, що це фальшива сторінка, користувач намагається увійти в обліковий запис, однак насправді відбувається викрадення даних для входу зловмисниками.</a:t>
            </a:r>
          </a:p>
        </p:txBody>
      </p:sp>
      <p:sp>
        <p:nvSpPr>
          <p:cNvPr id="345" name="Прямоугольник 344"/>
          <p:cNvSpPr/>
          <p:nvPr/>
        </p:nvSpPr>
        <p:spPr>
          <a:xfrm>
            <a:off x="360000" y="3746160"/>
            <a:ext cx="8999640" cy="111348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Ще одним з популярних способів злому є підміна SIM-карти. Для цього шахраї, видаючи себе за власника карти, просять у мобільного оператора перенести номер на іншу SIM-картку. Після отримання доступу до SIM-карті жертви зловмисники можуть викрадати всі облікові записи, пов'язані з цим номером.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 rot="21111000">
            <a:off x="124560" y="76680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800000"/>
                </a:solidFill>
                <a:latin typeface="Arial"/>
              </a:rPr>
              <a:t>Злом акаунта. Що робити?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47" name="Прямоугольник 346"/>
          <p:cNvSpPr/>
          <p:nvPr/>
        </p:nvSpPr>
        <p:spPr>
          <a:xfrm>
            <a:off x="900000" y="2272680"/>
            <a:ext cx="8459640" cy="188136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Для захисту облікового запису IT-експерти рекомендують створити надійний </a:t>
            </a:r>
            <a:r>
              <a:rPr lang="uk-UA" sz="1800" b="1" strike="noStrike" spc="-1">
                <a:latin typeface="Arial"/>
              </a:rPr>
              <a:t>пароль</a:t>
            </a:r>
            <a:r>
              <a:rPr lang="uk-UA" sz="1800" b="0" strike="noStrike" spc="-1">
                <a:latin typeface="Arial"/>
              </a:rPr>
              <a:t>, який буде складатися з більш ніж </a:t>
            </a:r>
            <a:r>
              <a:rPr lang="uk-UA" sz="1800" b="1" strike="noStrike" spc="-1">
                <a:latin typeface="Arial"/>
              </a:rPr>
              <a:t>семи символів</a:t>
            </a:r>
            <a:r>
              <a:rPr lang="uk-UA" sz="1800" b="0" strike="noStrike" spc="-1">
                <a:latin typeface="Arial"/>
              </a:rPr>
              <a:t>, включаючи цифри, знаки, великі та малі літери. Важливо використовувати різні паролі для різних облікових записів: таким чином, у разі злому акаунта до одного сервісу, інші залишаться у безпеці. 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Також фахівці радять регулярно перевіряти безпеку облікового запису електронної пошти, яка використовується для більшості соцмереж та інших онлайн-сервісів, і використовувати </a:t>
            </a:r>
            <a:r>
              <a:rPr lang="uk-UA" sz="1800" b="1" strike="noStrike" spc="-1">
                <a:latin typeface="Arial"/>
              </a:rPr>
              <a:t>менеджер паролів</a:t>
            </a:r>
            <a:r>
              <a:rPr lang="uk-UA" sz="1800" b="0" strike="noStrike" spc="-1">
                <a:latin typeface="Arial"/>
              </a:rPr>
              <a:t>, який може зберігати велику кількість складних комбінацій.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 rot="21060600">
            <a:off x="82080" y="708840"/>
            <a:ext cx="6978600" cy="7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4400" b="1" strike="noStrike" spc="-1" baseline="33000">
                <a:solidFill>
                  <a:srgbClr val="1F16FF"/>
                </a:solidFill>
                <a:latin typeface="Arial"/>
              </a:rPr>
              <a:t>ШАХРАЙСЬКІ ІНТЕРНЕТ-МАГАЗИНИ</a:t>
            </a:r>
            <a:endParaRPr lang="uk-UA" sz="4400" b="0" strike="noStrike" spc="-1">
              <a:latin typeface="Arial"/>
            </a:endParaRPr>
          </a:p>
        </p:txBody>
      </p:sp>
      <p:sp>
        <p:nvSpPr>
          <p:cNvPr id="349" name="Прямоугольник 348"/>
          <p:cNvSpPr/>
          <p:nvPr/>
        </p:nvSpPr>
        <p:spPr>
          <a:xfrm>
            <a:off x="20520" y="2072880"/>
            <a:ext cx="10057320" cy="85752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Шахраї створюють обманні сайти та сторінки інтернет-магазинів у соцмережах, наприклад, в Інстаграмі! Щоб отримати гроші від покупців, пропонують товар за низькими цінами, який потім не відправляють.</a:t>
            </a:r>
          </a:p>
        </p:txBody>
      </p:sp>
      <p:sp>
        <p:nvSpPr>
          <p:cNvPr id="350" name="Прямоугольник 349"/>
          <p:cNvSpPr/>
          <p:nvPr/>
        </p:nvSpPr>
        <p:spPr>
          <a:xfrm>
            <a:off x="120960" y="3240000"/>
            <a:ext cx="9598680" cy="111348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Як перевірити чи не шахрайський сайт?</a:t>
            </a:r>
          </a:p>
          <a:p>
            <a:pPr algn="ctr"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Для цього можна скористатися наявними базами шахрайських сайтів та перевірити вебресурс. Використовуйте сервіс “STOP FRAUD” на вебсайті департаменту кіберполіції Національної поліції України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 rot="21088800">
            <a:off x="-158400" y="30168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latin typeface="Arial"/>
              </a:rPr>
              <a:t> </a:t>
            </a:r>
            <a:r>
              <a:rPr lang="uk-UA" sz="3600" b="1" strike="noStrike" spc="-1">
                <a:solidFill>
                  <a:srgbClr val="9E2AA9"/>
                </a:solidFill>
                <a:latin typeface="Arial"/>
              </a:rPr>
              <a:t>Телефонне шахрайство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53" name="Прямоугольник 352"/>
          <p:cNvSpPr/>
          <p:nvPr/>
        </p:nvSpPr>
        <p:spPr>
          <a:xfrm>
            <a:off x="0" y="2050200"/>
            <a:ext cx="8639640" cy="136944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“Ваш родич у біді” – дзвінки з повідомленням, що близьку людину затримала поліція або вона потрапила в лікарню, і потрібно терміново переказати гроші.</a:t>
            </a:r>
          </a:p>
          <a:p>
            <a:pPr>
              <a:lnSpc>
                <a:spcPct val="100000"/>
              </a:lnSpc>
            </a:pPr>
            <a:endParaRPr lang="uk-U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• Фальшиві працівники банку – телефонні дзвінки від нібито представників банку, які випитують дані картки.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 rot="21081000">
            <a:off x="-21960" y="35388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800000"/>
                </a:solidFill>
                <a:latin typeface="Arial"/>
              </a:rPr>
              <a:t>Викрадення даних банківської картки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58" name="Прямоугольник 357"/>
          <p:cNvSpPr/>
          <p:nvPr/>
        </p:nvSpPr>
        <p:spPr>
          <a:xfrm rot="21098400">
            <a:off x="529200" y="493200"/>
            <a:ext cx="3599640" cy="34560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2200" b="1" strike="noStrike" spc="-1">
                <a:solidFill>
                  <a:srgbClr val="800000"/>
                </a:solidFill>
                <a:latin typeface="Arial"/>
              </a:rPr>
              <a:t>Цифровий скімінг</a:t>
            </a:r>
            <a:endParaRPr lang="uk-UA" sz="2200" b="0" strike="noStrike" spc="-1">
              <a:latin typeface="Arial"/>
            </a:endParaRPr>
          </a:p>
        </p:txBody>
      </p:sp>
      <p:sp>
        <p:nvSpPr>
          <p:cNvPr id="359" name="Прямоугольник 358"/>
          <p:cNvSpPr/>
          <p:nvPr/>
        </p:nvSpPr>
        <p:spPr>
          <a:xfrm>
            <a:off x="79920" y="2281320"/>
            <a:ext cx="6039720" cy="111348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Хакери  встановлюють </a:t>
            </a:r>
            <a:r>
              <a:rPr lang="uk-UA" sz="1800" b="1" strike="noStrike" spc="-1">
                <a:latin typeface="Arial"/>
              </a:rPr>
              <a:t>шкідливі програми </a:t>
            </a:r>
            <a:r>
              <a:rPr lang="uk-UA" sz="1800" b="0" strike="noStrike" spc="-1">
                <a:latin typeface="Arial"/>
              </a:rPr>
              <a:t>на платіжні сторінки </a:t>
            </a:r>
            <a:r>
              <a:rPr lang="uk-UA" sz="1800" b="1" strike="noStrike" spc="-1">
                <a:latin typeface="Arial"/>
              </a:rPr>
              <a:t>сайтів магазинів.</a:t>
            </a:r>
            <a:r>
              <a:rPr lang="uk-UA" sz="1800" b="0" strike="noStrike" spc="-1">
                <a:latin typeface="Arial"/>
              </a:rPr>
              <a:t> Таким чином дані вашої картки будуть перехоплені під час їх введення на такому сайті. 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Щоб захиститися від крадіжки даних банківської картки таким способом, необхідно здійснювати покупку лише через </a:t>
            </a:r>
            <a:r>
              <a:rPr lang="uk-UA" sz="1800" b="1" strike="noStrike" spc="-1">
                <a:latin typeface="Arial"/>
              </a:rPr>
              <a:t>перевірені онлайн-магазини,</a:t>
            </a:r>
            <a:r>
              <a:rPr lang="uk-UA" sz="1800" b="0" strike="noStrike" spc="-1">
                <a:latin typeface="Arial"/>
              </a:rPr>
              <a:t> які зазвичай більш захищені.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 rot="21273600">
            <a:off x="-19800" y="423720"/>
            <a:ext cx="8994960" cy="95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2800" b="1" strike="noStrike" spc="-1">
                <a:solidFill>
                  <a:srgbClr val="19BB1B"/>
                </a:solidFill>
                <a:latin typeface="Arial"/>
              </a:rPr>
              <a:t>Як захиститися від викрадення даних банківської картки?</a:t>
            </a:r>
            <a:endParaRPr lang="uk-UA" sz="2800" b="0" strike="noStrike" spc="-1">
              <a:latin typeface="Arial"/>
            </a:endParaRPr>
          </a:p>
        </p:txBody>
      </p:sp>
      <p:sp>
        <p:nvSpPr>
          <p:cNvPr id="361" name="Прямоугольник 360"/>
          <p:cNvSpPr/>
          <p:nvPr/>
        </p:nvSpPr>
        <p:spPr>
          <a:xfrm>
            <a:off x="22320" y="1800000"/>
            <a:ext cx="9517320" cy="239328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Зменшити ризик потрапляння даних вашої картки в руки кіберзлочинців допоможе дотримання таких рекомендацій:</a:t>
            </a:r>
          </a:p>
          <a:p>
            <a:pPr>
              <a:lnSpc>
                <a:spcPct val="100000"/>
              </a:lnSpc>
            </a:pPr>
            <a:endParaRPr lang="uk-U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1.Ніколи не відповідайте, не переходьте за посиланням та не відкривайте вкладення у листах від невідомих відправників. Оскільки такі повідомлення можуть містити шкідливі програми або перенаправляти вас на фішингові сторінки.</a:t>
            </a:r>
          </a:p>
          <a:p>
            <a:pPr>
              <a:lnSpc>
                <a:spcPct val="100000"/>
              </a:lnSpc>
            </a:pPr>
            <a:endParaRPr lang="uk-UA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2.Не надавайте будь-яку особисту інформацію під час телефонної розмови. Запитайте, звідки вам телефонують, а потім передзвоніть до цієї організації, використовуючи контактні дані з офіційного сайту.</a:t>
            </a:r>
          </a:p>
        </p:txBody>
      </p:sp>
      <p:sp>
        <p:nvSpPr>
          <p:cNvPr id="362" name="Прямоугольник 361"/>
          <p:cNvSpPr/>
          <p:nvPr/>
        </p:nvSpPr>
        <p:spPr>
          <a:xfrm>
            <a:off x="30600" y="4500000"/>
            <a:ext cx="9509040" cy="85752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3.Мінімізуйте випадки підключення до загальнодоступних мереж Wi-Fi без використання VPN. У разі нагальної потреби в цьому утримайтеся від дій, які передбачають введення даних картки (наприклад, покупок в Інтернеті).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 rot="21202800">
            <a:off x="-26280" y="32976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2800" b="1" strike="noStrike" spc="-1">
                <a:solidFill>
                  <a:srgbClr val="19BB1B"/>
                </a:solidFill>
                <a:latin typeface="Arial"/>
              </a:rPr>
              <a:t>Як захиститися від викрадення даних банківської картки?</a:t>
            </a:r>
            <a:endParaRPr lang="uk-UA" sz="2800" b="0" strike="noStrike" spc="-1">
              <a:latin typeface="Arial"/>
            </a:endParaRPr>
          </a:p>
        </p:txBody>
      </p:sp>
      <p:sp>
        <p:nvSpPr>
          <p:cNvPr id="364" name="Прямоугольник 363"/>
          <p:cNvSpPr/>
          <p:nvPr/>
        </p:nvSpPr>
        <p:spPr>
          <a:xfrm>
            <a:off x="127440" y="1800000"/>
            <a:ext cx="8332200" cy="290520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4.Уникайте зберігання даних картки на сайтах Інтернет-магазинів та інших ресурсах, навіть якщо це допомагає заощадити час. Це зменшить ймовірність того, що інформація про вашу картку буде викрадена у разі витоку даних компанії або зламу вашого облікового запису.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5.Завантажте на ноутбуки, телефони та планшети програми для захисту від шкідливих програм та фішингу з функцією безпеки онлайн-платежів.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6.Завантажуйте програми лише з офіційних магазинів (Apple App Store, Google Play).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7.Якщо ви робите будь-які покупки в Інтернеті, робіть це лише на сайтах із HTTPS (в адресному рядку браузера поруч із URL-адресою має відображатися знак «замка»). Це мінімізує шанси перехоплення даних.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 rot="21166800">
            <a:off x="-25560" y="30096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3600" b="1" strike="noStrike" spc="-1">
                <a:solidFill>
                  <a:srgbClr val="9E2AA9"/>
                </a:solidFill>
                <a:latin typeface="Arial"/>
              </a:rPr>
              <a:t>Як перевірити чи сайт надійний?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66" name="Прямоугольник 365"/>
          <p:cNvSpPr/>
          <p:nvPr/>
        </p:nvSpPr>
        <p:spPr>
          <a:xfrm>
            <a:off x="91440" y="1816920"/>
            <a:ext cx="9915840" cy="136944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2000" b="0" strike="noStrike" spc="-1">
                <a:latin typeface="Arial"/>
              </a:rPr>
              <a:t>Як перевірити чи сайт надійний?</a:t>
            </a:r>
          </a:p>
          <a:p>
            <a:pPr algn="ctr">
              <a:lnSpc>
                <a:spcPct val="100000"/>
              </a:lnSpc>
            </a:pPr>
            <a:r>
              <a:rPr lang="uk-UA" sz="2000" b="0" strike="noStrike" spc="-1">
                <a:latin typeface="Arial"/>
              </a:rPr>
              <a:t>Зазвичай ліворуч від вебадреси за допомогою спеціальних позначок зазначається статус безпеки сайту: </a:t>
            </a:r>
            <a:r>
              <a:rPr lang="uk-UA" sz="2000" b="1" strike="noStrike" spc="-1">
                <a:latin typeface="Arial"/>
              </a:rPr>
              <a:t>Значок у вигляді закритого замочка</a:t>
            </a:r>
            <a:r>
              <a:rPr lang="uk-UA" sz="2000" b="0" strike="noStrike" spc="-1">
                <a:latin typeface="Arial"/>
              </a:rPr>
              <a:t> в адресному рядку браузера у більшості випадків свідчить про безпечність з'єднання і вказує на те, що використовується SSL-сертифікат безпеки.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 rot="20976000">
            <a:off x="165240" y="22140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F41515"/>
                </a:solidFill>
                <a:latin typeface="Arial"/>
              </a:rPr>
              <a:t>Фейкові лотореї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70" name="Прямоугольник 369"/>
          <p:cNvSpPr/>
          <p:nvPr/>
        </p:nvSpPr>
        <p:spPr>
          <a:xfrm>
            <a:off x="-48600" y="2200680"/>
            <a:ext cx="5808240" cy="60156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2200" b="0" strike="noStrike" spc="-1">
                <a:latin typeface="Arial"/>
              </a:rPr>
              <a:t>Лотереї та розіграші – повідомлення про “виграш”, де для отримання призу потрібно сплатити комісію.</a:t>
            </a:r>
          </a:p>
          <a:p>
            <a:pPr algn="ctr">
              <a:lnSpc>
                <a:spcPct val="100000"/>
              </a:lnSpc>
            </a:pPr>
            <a:r>
              <a:rPr lang="uk-UA" sz="2200" b="0" strike="noStrike" spc="-1">
                <a:latin typeface="Arial"/>
              </a:rPr>
              <a:t>Ніколи не платіть за те,що ви не отримали!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 rot="21039000">
            <a:off x="160560" y="30096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latin typeface="Arial"/>
              </a:rPr>
              <a:t>Шахрайство в соцмережах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76" name="Прямоугольник 375"/>
          <p:cNvSpPr/>
          <p:nvPr/>
        </p:nvSpPr>
        <p:spPr>
          <a:xfrm>
            <a:off x="24480" y="2629080"/>
            <a:ext cx="6635160" cy="60156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uk-UA" sz="2200" b="0" strike="noStrike" spc="-1">
                <a:latin typeface="Arial"/>
              </a:rPr>
              <a:t>Шахрайство в соцмережах – фейкові акаунти, прохання про гроші від імені друзів, фальшиві збори на благодійність.</a:t>
            </a:r>
          </a:p>
          <a:p>
            <a:pPr algn="ctr">
              <a:lnSpc>
                <a:spcPct val="100000"/>
              </a:lnSpc>
            </a:pPr>
            <a:r>
              <a:rPr lang="uk-UA" sz="2200" b="0" strike="noStrike" spc="-1">
                <a:latin typeface="Arial"/>
              </a:rPr>
              <a:t>Завжди перевіряйте інформацію. Обов’язково подзвоніть тій людині, що просить про допомогу.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 rot="21069000">
            <a:off x="-21240" y="32616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9E2AA9"/>
                </a:solidFill>
                <a:latin typeface="Arial"/>
              </a:rPr>
              <a:t>Як захиститися від шахраїв?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79" name="Прямоугольник 378"/>
          <p:cNvSpPr/>
          <p:nvPr/>
        </p:nvSpPr>
        <p:spPr>
          <a:xfrm>
            <a:off x="720000" y="1704960"/>
            <a:ext cx="7706880" cy="297468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1. Перевіряйте інформацію – не довіряйте незнайомцям, навіть якщо вони представляються співробітниками банку чи державних установ.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2. </a:t>
            </a:r>
            <a:r>
              <a:rPr lang="uk-UA" sz="1800" b="1" strike="noStrike" spc="-1">
                <a:latin typeface="Arial"/>
              </a:rPr>
              <a:t>Не розголошуйте особисті дан</a:t>
            </a:r>
            <a:r>
              <a:rPr lang="uk-UA" sz="1800" b="0" strike="noStrike" spc="-1">
                <a:latin typeface="Arial"/>
              </a:rPr>
              <a:t>і – PIN-коди, паролі, CVV-коди карток повинні бути відомі лише вам.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3. Будьте обережні в інтернеті – </a:t>
            </a:r>
            <a:r>
              <a:rPr lang="uk-UA" sz="1800" b="1" strike="noStrike" spc="-1">
                <a:latin typeface="Arial"/>
              </a:rPr>
              <a:t>перевіряйте сайти</a:t>
            </a:r>
            <a:r>
              <a:rPr lang="uk-UA" sz="1800" b="0" strike="noStrike" spc="-1">
                <a:latin typeface="Arial"/>
              </a:rPr>
              <a:t>, з яких здійснюєте покупки, читайте відгуки.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4. Не поспішайте приймати рішення – шахраї часто тиснуть на жертву, змушуючи </a:t>
            </a:r>
            <a:r>
              <a:rPr lang="uk-UA" sz="1800" b="1" strike="noStrike" spc="-1">
                <a:latin typeface="Arial"/>
              </a:rPr>
              <a:t>діяти негайно</a:t>
            </a:r>
            <a:r>
              <a:rPr lang="uk-UA" sz="1800" b="0" strike="noStrike" spc="-1">
                <a:latin typeface="Arial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5. Перевіряйте телефонні дзвінки – якщо вам телефонують з “банку”, покладіть слухавку та </a:t>
            </a:r>
            <a:r>
              <a:rPr lang="uk-UA" sz="1800" b="1" strike="noStrike" spc="-1">
                <a:latin typeface="Arial"/>
              </a:rPr>
              <a:t>передзвоніть за офіційним номером</a:t>
            </a:r>
            <a:r>
              <a:rPr lang="uk-UA" sz="1800" b="0" strike="noStrike" spc="-1">
                <a:latin typeface="Arial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6. Не передавайте </a:t>
            </a:r>
            <a:r>
              <a:rPr lang="uk-UA" sz="1800" b="1" strike="noStrike" spc="-1">
                <a:latin typeface="Arial"/>
              </a:rPr>
              <a:t>гроші наперед</a:t>
            </a:r>
            <a:r>
              <a:rPr lang="uk-UA" sz="1800" b="0" strike="noStrike" spc="-1">
                <a:latin typeface="Arial"/>
              </a:rPr>
              <a:t> – особливо при купівлі товарів чи оренді житла.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7. Навчайте рідних і близьких – пояснюйте правила безпеки, особливо літнім людям, які найчастіше стають жертвами шахраїв.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 rot="20950800">
            <a:off x="909360" y="9360"/>
            <a:ext cx="9001440" cy="95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uk-UA" sz="3600" b="1" strike="noStrike" spc="-1">
                <a:solidFill>
                  <a:srgbClr val="F41515"/>
                </a:solidFill>
                <a:latin typeface="Arial"/>
              </a:rPr>
              <a:t>Висновок</a:t>
            </a:r>
            <a:endParaRPr lang="uk-UA" sz="3600" b="0" strike="noStrike" spc="-1">
              <a:latin typeface="Arial"/>
            </a:endParaRPr>
          </a:p>
        </p:txBody>
      </p:sp>
      <p:sp>
        <p:nvSpPr>
          <p:cNvPr id="381" name="Прямоугольник 380"/>
          <p:cNvSpPr/>
          <p:nvPr/>
        </p:nvSpPr>
        <p:spPr>
          <a:xfrm>
            <a:off x="3240000" y="4320000"/>
            <a:ext cx="4679640" cy="34560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uk-UA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uk-UA" sz="1800" b="0" strike="noStrike" spc="-1">
              <a:latin typeface="Arial"/>
            </a:endParaRPr>
          </a:p>
        </p:txBody>
      </p:sp>
      <p:sp>
        <p:nvSpPr>
          <p:cNvPr id="382" name="Прямоугольник 381"/>
          <p:cNvSpPr/>
          <p:nvPr/>
        </p:nvSpPr>
        <p:spPr>
          <a:xfrm>
            <a:off x="181800" y="2547360"/>
            <a:ext cx="8327520" cy="857520"/>
          </a:xfrm>
          <a:prstGeom prst="rect">
            <a:avLst/>
          </a:prstGeom>
          <a:noFill/>
          <a:ln w="108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Шахраї постійно вдосконалюють свої методи, але уважність, критичне мислення та базові правила безпеки допоможуть уникнути пастки. 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Завжди перевіряйте інформацію, не піддавайтеся емоціям і не довіряйте незнайомцям, особливо якщо справа стосується грошей.</a:t>
            </a:r>
          </a:p>
          <a:p>
            <a:pPr>
              <a:lnSpc>
                <a:spcPct val="100000"/>
              </a:lnSpc>
            </a:pPr>
            <a:r>
              <a:rPr lang="uk-UA" sz="1800" b="0" strike="noStrike" spc="-1">
                <a:latin typeface="Arial"/>
              </a:rPr>
              <a:t>Дотримуйтесь простих правил нетікету , кібергігієни.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1108</Words>
  <Application>Microsoft Office PowerPoint</Application>
  <PresentationFormat>Произвольный</PresentationFormat>
  <Paragraphs>62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15</vt:i4>
      </vt:variant>
    </vt:vector>
  </HeadingPairs>
  <TitlesOfParts>
    <vt:vector size="25" baseType="lpstr">
      <vt:lpstr>Arial</vt:lpstr>
      <vt:lpstr>DejaVu Sans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   цифрове освітнє середовище</vt:lpstr>
      <vt:lpstr>Кіберзлочини</vt:lpstr>
      <vt:lpstr>Фішинг</vt:lpstr>
      <vt:lpstr>Злом акаунта</vt:lpstr>
      <vt:lpstr>Злом акаунта. Що робити?</vt:lpstr>
      <vt:lpstr>ШАХРАЙСЬКІ ІНТЕРНЕТ-МАГАЗИНИ</vt:lpstr>
      <vt:lpstr> Телефонне шахрайство</vt:lpstr>
      <vt:lpstr>Викрадення даних банківської картки</vt:lpstr>
      <vt:lpstr>Як захиститися від викрадення даних банківської картки?</vt:lpstr>
      <vt:lpstr>Як захиститися від викрадення даних банківської картки?</vt:lpstr>
      <vt:lpstr>Як перевірити чи сайт надійний?</vt:lpstr>
      <vt:lpstr>Фейкові лотореї</vt:lpstr>
      <vt:lpstr>Шахрайство в соцмережах</vt:lpstr>
      <vt:lpstr>Як захиститися від шахраїв?</vt:lpstr>
      <vt:lpstr>Висновок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</dc:title>
  <dc:subject/>
  <dc:creator>User</dc:creator>
  <dc:description/>
  <cp:lastModifiedBy>User</cp:lastModifiedBy>
  <cp:revision>8</cp:revision>
  <dcterms:created xsi:type="dcterms:W3CDTF">2025-04-03T11:29:16Z</dcterms:created>
  <dcterms:modified xsi:type="dcterms:W3CDTF">2025-11-10T15:24:49Z</dcterms:modified>
  <dc:language>uk-UA</dc:language>
</cp:coreProperties>
</file>