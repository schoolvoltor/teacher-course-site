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7" r:id="rId1"/>
  </p:sldMasterIdLst>
  <p:sldIdLst>
    <p:sldId id="256" r:id="rId2"/>
    <p:sldId id="257" r:id="rId3"/>
    <p:sldId id="261" r:id="rId4"/>
    <p:sldId id="262" r:id="rId5"/>
    <p:sldId id="264" r:id="rId6"/>
    <p:sldId id="265" r:id="rId7"/>
    <p:sldId id="269" r:id="rId8"/>
    <p:sldId id="268" r:id="rId9"/>
    <p:sldId id="270" r:id="rId10"/>
    <p:sldId id="273" r:id="rId11"/>
    <p:sldId id="274" r:id="rId12"/>
    <p:sldId id="275" r:id="rId13"/>
    <p:sldId id="277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83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8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1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1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13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62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1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6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3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10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9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998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8841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757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910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230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89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176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4212" y="205947"/>
            <a:ext cx="10412156" cy="2726723"/>
          </a:xfrm>
        </p:spPr>
        <p:txBody>
          <a:bodyPr>
            <a:normAutofit fontScale="90000"/>
          </a:bodyPr>
          <a:lstStyle/>
          <a:p>
            <a:pPr algn="ctr"/>
            <a:r>
              <a:rPr lang="uk-UA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Психологічна готовність вчителя як умова успішної професійної діяльності</a:t>
            </a:r>
            <a:endParaRPr lang="uk-UA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27" y="3470671"/>
            <a:ext cx="4456670" cy="2883243"/>
          </a:xfrm>
          <a:prstGeom prst="rect">
            <a:avLst/>
          </a:prstGeom>
        </p:spPr>
      </p:pic>
      <p:sp>
        <p:nvSpPr>
          <p:cNvPr id="4" name="Прямокутник 3"/>
          <p:cNvSpPr/>
          <p:nvPr/>
        </p:nvSpPr>
        <p:spPr>
          <a:xfrm>
            <a:off x="5151423" y="3244334"/>
            <a:ext cx="695306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uk-UA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uk-UA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Спочатку ти пізнай учня, тоді він зрозуміє тебе</a:t>
            </a:r>
            <a:r>
              <a:rPr lang="uk-UA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В. Сухомлинський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02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685800"/>
            <a:ext cx="6293237" cy="5308600"/>
          </a:xfrm>
        </p:spPr>
        <p:txBody>
          <a:bodyPr>
            <a:normAutofit fontScale="92500"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Педагогічна діяльність вчителя є одним із тих видів фахової діяльності, який передбачає тісний взаємозв’язок з усіма суб’єктами освітнього процесу. Вимоги до особистості вчителя в сучасному освітньому просторі є надзвичайно широкими, відтак педагог має володіти не лише знаннями, а й рядом вмінь та навичок, задля успішного виконання своєї фахової діяльності. Це чітко відображено у професійному стандарті вчителя (документі, що чітко пояснює, яким має бути вчитель, якими загальними та професійними </a:t>
            </a:r>
            <a:r>
              <a:rPr lang="uk-UA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компетентностями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він має володіти, а також які етапи формування цих </a:t>
            </a:r>
            <a:r>
              <a:rPr lang="uk-UA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компетентностей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він пройде).</a:t>
            </a:r>
          </a:p>
          <a:p>
            <a:endParaRPr lang="uk-UA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2" y="1507525"/>
            <a:ext cx="3821885" cy="30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1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212" y="3545413"/>
            <a:ext cx="6467707" cy="2670965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84211" y="685800"/>
            <a:ext cx="4937655" cy="3079705"/>
          </a:xfrm>
        </p:spPr>
        <p:txBody>
          <a:bodyPr/>
          <a:lstStyle/>
          <a:p>
            <a:r>
              <a:rPr lang="uk-UA" sz="2400" cap="all" dirty="0">
                <a:ln w="3175" cmpd="sng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Партнерська взаємодія учасників освітнього процесу – це взаємодія на засадах рівності, взаєморозуміння та поваги.</a:t>
            </a:r>
            <a:endParaRPr lang="uk-UA" dirty="0">
              <a:solidFill>
                <a:schemeClr val="bg1"/>
              </a:solidFill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806545" y="535459"/>
            <a:ext cx="5220043" cy="2673905"/>
          </a:xfrm>
        </p:spPr>
        <p:txBody>
          <a:bodyPr>
            <a:normAutofit fontScale="92500" lnSpcReduction="20000"/>
          </a:bodyPr>
          <a:lstStyle/>
          <a:p>
            <a:r>
              <a:rPr lang="uk-UA" sz="2400" cap="all" dirty="0">
                <a:ln w="3175" cmpd="sng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Відповідно до Професійного стандарту вчителя для забезпечення такої взаємодії вчитель має сформувати у себе такі професійні компетентності: психологічну, </a:t>
            </a:r>
            <a:r>
              <a:rPr lang="uk-UA" sz="2400" cap="all" dirty="0" err="1">
                <a:ln w="3175" cmpd="sng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емоційно</a:t>
            </a:r>
            <a:r>
              <a:rPr lang="uk-UA" sz="2400" cap="all" dirty="0">
                <a:ln w="3175" cmpd="sng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-етичну, педагогічного партнерства</a:t>
            </a:r>
            <a:endParaRPr lang="uk-U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00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1" y="420129"/>
            <a:ext cx="4349579" cy="594772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123" y="420129"/>
            <a:ext cx="4357817" cy="590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4725" y="2025563"/>
            <a:ext cx="5195888" cy="3416474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29729" y="685800"/>
            <a:ext cx="5947720" cy="4784124"/>
          </a:xfrm>
        </p:spPr>
        <p:txBody>
          <a:bodyPr>
            <a:noAutofit/>
          </a:bodyPr>
          <a:lstStyle/>
          <a:p>
            <a:r>
              <a: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Психологічна готовність 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це виявлення суті властивостей і стану особистості. Готовність – це не лише властивість чи ознака окремої особистості, це концентрований показник діяльності особистості, міра її професійної здібності. Психологічна готовність включає в себе з однієї сторони запас професійних знань, умінь і навичок; з іншої – риси особистості: переконання, здібності, інтереси, професійна пам'ять, мислення, увагу, спрямованість думки, працездатність, емоційність, моральний потенціал особистості, що забезпечать успішне виконання професійних функцій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321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Компоненти психологічної </a:t>
            </a:r>
            <a:r>
              <a:rPr lang="uk-UA" sz="3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готовновсті</a:t>
            </a:r>
            <a:r>
              <a:rPr lang="uk-UA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вчителя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272729"/>
          </a:xfrm>
        </p:spPr>
        <p:txBody>
          <a:bodyPr>
            <a:normAutofit fontScale="77500" lnSpcReduction="20000"/>
          </a:bodyPr>
          <a:lstStyle/>
          <a:p>
            <a:r>
              <a:rPr lang="uk-UA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Мотиваційний компонент</a:t>
            </a:r>
            <a:r>
              <a:rPr lang="uk-UA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психологічної готовності педагогів до взаємодії з дітьми </a:t>
            </a:r>
            <a:r>
              <a:rPr lang="uk-UA" sz="29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це сукупність стійких мотивів до роботи в умовах </a:t>
            </a:r>
            <a:r>
              <a:rPr lang="uk-UA" sz="29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освіти</a:t>
            </a:r>
            <a:r>
              <a:rPr lang="uk-UA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спрямованість на здійснення ефективного процесу навчання і виховання, визнання кожної дитини суб’єктом навчально-вихованої діяльності, формування внутрішньої готовності до позитивного сприймання </a:t>
            </a:r>
            <a:r>
              <a:rPr lang="uk-UA" sz="29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дітей.</a:t>
            </a:r>
            <a:endParaRPr lang="uk-UA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10" y="1447268"/>
            <a:ext cx="2922804" cy="390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6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51221" y="1166843"/>
            <a:ext cx="76282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Мотиваційний компонент 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готовності особистості вчителя тісно пов'язаний з його вольовими якостями. Серед тих вольових якостей, котрі сприяють підвищенню мотивації ми можемо назвати такі як : цілеспрямованість (тобто здатність викладача в ході роботи керувати якоюсь відповідною метою); рішучість (кожен вчитель в процесі виконання фахової діяльності повинен вміти приймати швидкі та вірні рішення); самостійність (тобто здатність вчителя самостійно шукати шляхи рішення в інноваційній діяльності, незалежно від впливу зовнішніх обставин); самокритичність (тобто здатність вчителя визнавати помилковість обраної стратегії і вміння скоригувати свої дії); ініціативність (здатність вчителя проявляти творчий підхід у роботі з усіма учасниками освітнього процесу); самоконтроль (вміння вчителем контролювати себе навіть у найбільш стресових ситуаціях). </a:t>
            </a:r>
            <a:endParaRPr lang="uk-U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86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54443" y="3237470"/>
            <a:ext cx="9934833" cy="2174789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Емоційний компонент 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готовності вчителя забезпечує його вміння володіти внутрішньою рівновагою та здатністю до лабільної варіативної поведінки. Професія вчителя </a:t>
            </a:r>
            <a:r>
              <a:rPr lang="uk-UA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емоційно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навантажена, так як професія передбачає «суб’єкт – суб’єктну» взаємодію, яка як відомо є найбільш </a:t>
            </a:r>
            <a:r>
              <a:rPr lang="uk-UA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емоційно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забарвленою. Саме тому емоційний компонент готовності та його високий рівень сформованості є надзвичайно важливим для професії вчителя.</a:t>
            </a:r>
          </a:p>
          <a:p>
            <a:endParaRPr lang="uk-U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11" y="683682"/>
            <a:ext cx="4517983" cy="245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2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5865341"/>
            <a:ext cx="8534400" cy="129058"/>
          </a:xfrm>
        </p:spPr>
        <p:txBody>
          <a:bodyPr>
            <a:normAutofit fontScale="90000"/>
          </a:bodyPr>
          <a:lstStyle/>
          <a:p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1" y="685800"/>
            <a:ext cx="10428631" cy="488297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uk-UA" dirty="0" smtClean="0"/>
              <a:t> </a:t>
            </a:r>
            <a:r>
              <a:rPr lang="uk-UA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k-UA" sz="35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ритерії</a:t>
            </a:r>
            <a:r>
              <a:rPr lang="uk-UA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що сприяють успішному формуванню емоційного компонента готовності вчителя до </a:t>
            </a:r>
            <a:r>
              <a:rPr lang="uk-UA" sz="35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професійної діяльності </a:t>
            </a:r>
            <a:r>
              <a:rPr lang="uk-UA" dirty="0" smtClean="0"/>
              <a:t>:</a:t>
            </a:r>
          </a:p>
          <a:p>
            <a:r>
              <a:rPr lang="uk-UA" sz="2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високий рівень розвитку емпатії та значна емоційна </a:t>
            </a:r>
            <a:r>
              <a:rPr lang="uk-UA" sz="21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стійкість </a:t>
            </a:r>
            <a:r>
              <a:rPr lang="uk-UA" sz="2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uk-UA" sz="2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Сучасний учитель має мати здатність до співпереживання, співчуття та розуміння іншої </a:t>
            </a:r>
            <a:r>
              <a:rPr lang="uk-UA" sz="2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людини, </a:t>
            </a:r>
            <a:r>
              <a:rPr lang="uk-UA" sz="2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повинен вміти </a:t>
            </a:r>
            <a:r>
              <a:rPr lang="uk-UA" sz="21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емпатично</a:t>
            </a:r>
            <a:r>
              <a:rPr lang="uk-UA" sz="2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слухати, що є ще одним показником сформованості на високому рівні емоційного компоненту готовності вчителя. </a:t>
            </a:r>
            <a:endParaRPr lang="uk-UA" sz="2100" dirty="0" smtClean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uk-UA" sz="2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високий рівень щирості та відкритості у спілкуванні з учасниками освітнього процесу. </a:t>
            </a:r>
            <a:r>
              <a:rPr lang="uk-UA" sz="2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Даний критерій реалізується через вміння вчителем створювати у процесі роботи доброзичливу та комфортну атмосферу, шляхом довірливого та відкритого </a:t>
            </a:r>
            <a:r>
              <a:rPr lang="uk-UA" sz="2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сприйняття;</a:t>
            </a:r>
          </a:p>
          <a:p>
            <a:r>
              <a:rPr lang="uk-UA" sz="2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стійкість до негативних переживань та емоцій</a:t>
            </a:r>
            <a:r>
              <a:rPr lang="uk-UA" sz="2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Вчитель має володіти високим рівнем емоційної саморегуляції щодо подолання деструктивних психоемоційних станів. Педагог не повинен мати комунікативних та психологічних бар’єрів спілкування, а навпаки проявляти емоційну культура та здатність до фахової рефлексії</a:t>
            </a:r>
            <a:endParaRPr lang="uk-UA" sz="2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49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92195" y="1456473"/>
            <a:ext cx="9852453" cy="3487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uk-UA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Рівні психологічної готовності вчителя у професійній діяльності: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 високий </a:t>
            </a:r>
            <a:r>
              <a:rPr lang="uk-UA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рівень</a:t>
            </a:r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особи з високим рівнем психологічної готовності відрізняються вираженою мотивацією до педагогічної роботи, люблять дітей, добре володіють своєю професією і перетворюють процес навчання на процес гармонійного розвитку особистості учня. Також ці особи вміють творчо розв’язувати складні завдання, проявляти креативність, цілеспрямованість, винахідливість, почуття гумору. Вони </a:t>
            </a:r>
            <a:r>
              <a:rPr lang="uk-UA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емоційно</a:t>
            </a:r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врівноважені, вміють ефективно керувати групою, бути </a:t>
            </a:r>
            <a:r>
              <a:rPr lang="uk-UA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фасилітаторами</a:t>
            </a:r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й модераторами у групових обговореннях. У своїх ставленнях до учнів вони проявляють щирість, чесність, відповідальність, позитив, терпіння, що дозволяє їм здійснювати конструктивний психолого-педагогічний вплив на </a:t>
            </a:r>
            <a:r>
              <a:rPr lang="uk-UA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учнів;</a:t>
            </a:r>
            <a:endParaRPr lang="uk-UA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28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78011" y="1416908"/>
            <a:ext cx="9333469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20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педагоги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що мають </a:t>
            </a:r>
            <a:r>
              <a: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середній рівень психологічної готовності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хоча в цілому й справляються з педагогічною роботою, але не захоплюються нею (не відчувають особливого прагнення до навчання й виховання дітей). Вроджена інтуїція, емпатія, спостережливість, вольові якості, набуті педагогічні знання, уміння, навички та організаторські здібності дозволяють їм більш-менш вдало організовувати педагогічний процес. Але їм не вистачає креативності, «творчого вогнику» в роботі, щирості й любові до учнів. Педагогічний процес їх не надихає, вони кваліфіковано передають дітям знання, але не насичують міжособистісні стосунки з ними емоційним позитивом, відчуттям спільної подорожі у світ знань та нових </a:t>
            </a:r>
            <a:r>
              <a:rPr lang="uk-UA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відкриттів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uk-UA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08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43914" y="1128584"/>
            <a:ext cx="9399372" cy="404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Особи з </a:t>
            </a:r>
            <a:r>
              <a: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низьким рівнем психологічної готовності 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відкрито тяготяться педагогічною діяльністю. У них відсутня мотивація до спілкування з учнями. Вони не вміють виховувати дітей, піклуватися про них. Вольові якості не розвинені. Такі особи не здатні до самовладання, нерідко дратуються, кричать на дітей, не можуть налагодити дисципліну і конструктивний діалог в учнівському колективі. Як правило, такі вчителі не мають авторитету серед учнів. В результаті вони дуже втомлюються фізично і психічно від педагогічної роботи, </a:t>
            </a:r>
            <a:r>
              <a:rPr lang="uk-UA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емоційно</a:t>
            </a:r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вигорають й набувають невротичних рис.</a:t>
            </a:r>
            <a:endParaRPr lang="uk-UA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07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9932" y="4688540"/>
            <a:ext cx="10871295" cy="129689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Діти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запам'ятовують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те, як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намагаєтеся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навчити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Вони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запам'ятовують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якими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є.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/>
              <a:t>                                                                        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Джим </a:t>
            </a:r>
            <a:r>
              <a:rPr lang="ru-RU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Хенсон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 dirty="0" smtClean="0"/>
          </a:p>
          <a:p>
            <a:endParaRPr lang="uk-UA" dirty="0"/>
          </a:p>
          <a:p>
            <a:endParaRPr lang="uk-UA" dirty="0" smtClean="0"/>
          </a:p>
          <a:p>
            <a:endParaRPr lang="uk-U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5" y="731853"/>
            <a:ext cx="4975412" cy="284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56" y="1215948"/>
            <a:ext cx="3909508" cy="284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190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449" y="1138070"/>
            <a:ext cx="6667500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715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88" y="1601788"/>
            <a:ext cx="48768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3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307</TotalTime>
  <Words>929</Words>
  <Application>Microsoft Office PowerPoint</Application>
  <PresentationFormat>Широкоэкранный</PresentationFormat>
  <Paragraphs>23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Ион</vt:lpstr>
      <vt:lpstr>Психологічна готовність вчителя як умова успішної професійної діяльності</vt:lpstr>
      <vt:lpstr>Презентация PowerPoint</vt:lpstr>
      <vt:lpstr>Презентация PowerPoint</vt:lpstr>
      <vt:lpstr>Презентация PowerPoint</vt:lpstr>
      <vt:lpstr>Презентация PowerPoint</vt:lpstr>
      <vt:lpstr>Компоненти психологічної готовновсті вчителя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Діти не запам'ятовують те, як ви намагаєтеся їх навчити.  Вони запам'ятовують якими ви є.                                                                          Джим Хенсон 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Психологічна готовність вчителя як умова успішної професійної діяльності</dc:title>
  <dc:creator>Сергій Миронюк</dc:creator>
  <cp:lastModifiedBy>User</cp:lastModifiedBy>
  <cp:revision>18</cp:revision>
  <dcterms:created xsi:type="dcterms:W3CDTF">2024-03-25T12:13:10Z</dcterms:created>
  <dcterms:modified xsi:type="dcterms:W3CDTF">2025-11-18T13:10:33Z</dcterms:modified>
</cp:coreProperties>
</file>