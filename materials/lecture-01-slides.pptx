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sldIdLst>
    <p:sldId id="270" r:id="rId2"/>
    <p:sldId id="295" r:id="rId3"/>
    <p:sldId id="298" r:id="rId4"/>
    <p:sldId id="300" r:id="rId5"/>
    <p:sldId id="301" r:id="rId6"/>
    <p:sldId id="302" r:id="rId7"/>
    <p:sldId id="303" r:id="rId8"/>
    <p:sldId id="304" r:id="rId9"/>
    <p:sldId id="305" r:id="rId10"/>
    <p:sldId id="308" r:id="rId11"/>
    <p:sldId id="307" r:id="rId12"/>
    <p:sldId id="306" r:id="rId13"/>
    <p:sldId id="309" r:id="rId14"/>
    <p:sldId id="310" r:id="rId15"/>
    <p:sldId id="311" r:id="rId16"/>
    <p:sldId id="314" r:id="rId17"/>
    <p:sldId id="312" r:id="rId18"/>
    <p:sldId id="313" r:id="rId19"/>
    <p:sldId id="315" r:id="rId20"/>
    <p:sldId id="316" r:id="rId21"/>
    <p:sldId id="29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7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507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27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736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3279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614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553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0334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56974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0906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710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2DDE80D-BD3A-48CE-A962-B17DB585B85E}" type="datetimeFigureOut">
              <a:rPr lang="uk-UA" smtClean="0"/>
              <a:t>01.02.2023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97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psr-chnu.com.ua/uk/" TargetMode="External"/><Relationship Id="rId2" Type="http://schemas.openxmlformats.org/officeDocument/2006/relationships/hyperlink" Target="mailto:t.ravliuk@chnu.edu.u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1515" y="304800"/>
            <a:ext cx="11342914" cy="3896139"/>
          </a:xfrm>
        </p:spPr>
        <p:txBody>
          <a:bodyPr>
            <a:normAutofit fontScale="90000"/>
          </a:bodyPr>
          <a:lstStyle/>
          <a:p>
            <a:pPr algn="ctr"/>
            <a:r>
              <a:rPr lang="uk-UA" b="1" i="1" dirty="0" smtClean="0">
                <a:solidFill>
                  <a:schemeClr val="accent2"/>
                </a:solidFill>
              </a:rPr>
              <a:t/>
            </a:r>
            <a:br>
              <a:rPr lang="uk-UA" b="1" i="1" dirty="0" smtClean="0">
                <a:solidFill>
                  <a:schemeClr val="accent2"/>
                </a:solidFill>
              </a:rPr>
            </a:br>
            <a:r>
              <a:rPr lang="uk-UA" b="1" i="1" dirty="0">
                <a:solidFill>
                  <a:schemeClr val="accent2"/>
                </a:solidFill>
              </a:rPr>
              <a:t/>
            </a:r>
            <a:br>
              <a:rPr lang="uk-UA" b="1" i="1" dirty="0">
                <a:solidFill>
                  <a:schemeClr val="accent2"/>
                </a:solidFill>
              </a:rPr>
            </a:br>
            <a:r>
              <a:rPr lang="uk-UA" b="1" i="1" dirty="0" smtClean="0">
                <a:solidFill>
                  <a:schemeClr val="accent2"/>
                </a:solidFill>
              </a:rPr>
              <a:t/>
            </a:r>
            <a:br>
              <a:rPr lang="uk-UA" b="1" i="1" dirty="0" smtClean="0">
                <a:solidFill>
                  <a:schemeClr val="accent2"/>
                </a:solidFill>
              </a:rPr>
            </a:br>
            <a:r>
              <a:rPr lang="uk-UA" b="1" i="1" dirty="0">
                <a:solidFill>
                  <a:schemeClr val="accent2"/>
                </a:solidFill>
              </a:rPr>
              <a:t/>
            </a:r>
            <a:br>
              <a:rPr lang="uk-UA" b="1" i="1" dirty="0">
                <a:solidFill>
                  <a:schemeClr val="accent2"/>
                </a:solidFill>
              </a:rPr>
            </a:br>
            <a:r>
              <a:rPr lang="uk-UA" b="1" i="1" dirty="0" smtClean="0">
                <a:solidFill>
                  <a:schemeClr val="accent2"/>
                </a:solidFill>
              </a:rPr>
              <a:t>Лекція 1.</a:t>
            </a:r>
            <a:br>
              <a:rPr lang="uk-UA" b="1" i="1" dirty="0" smtClean="0">
                <a:solidFill>
                  <a:schemeClr val="accent2"/>
                </a:solidFill>
              </a:rPr>
            </a:br>
            <a:r>
              <a:rPr lang="uk-UA" b="1" i="1" dirty="0" smtClean="0">
                <a:solidFill>
                  <a:schemeClr val="accent2"/>
                </a:solidFill>
              </a:rPr>
              <a:t>Історичні </a:t>
            </a:r>
            <a:r>
              <a:rPr lang="uk-UA" b="1" i="1" dirty="0">
                <a:solidFill>
                  <a:schemeClr val="accent2"/>
                </a:solidFill>
              </a:rPr>
              <a:t>тенденції розвитку міжособистісного </a:t>
            </a:r>
            <a:r>
              <a:rPr lang="uk-UA" b="1" i="1" dirty="0" smtClean="0">
                <a:solidFill>
                  <a:schemeClr val="accent2"/>
                </a:solidFill>
              </a:rPr>
              <a:t>спілкування</a:t>
            </a:r>
            <a:endParaRPr lang="uk-UA" sz="6700" i="1" dirty="0">
              <a:solidFill>
                <a:schemeClr val="accent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50AB3E-D9C0-4ADC-A313-06684E668B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9428922" y="3959800"/>
            <a:ext cx="2478156" cy="22620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2AAD52-F213-4A1E-BFED-2970FCB04BC4}"/>
              </a:ext>
            </a:extLst>
          </p:cNvPr>
          <p:cNvSpPr txBox="1"/>
          <p:nvPr/>
        </p:nvSpPr>
        <p:spPr>
          <a:xfrm>
            <a:off x="3472071" y="4565085"/>
            <a:ext cx="595685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uk-UA" b="1" i="1" dirty="0" smtClean="0">
                <a:solidFill>
                  <a:schemeClr val="accent2"/>
                </a:solidFill>
              </a:rPr>
              <a:t>Викладач: </a:t>
            </a:r>
            <a:r>
              <a:rPr lang="uk-UA" b="1" i="1" dirty="0" err="1" smtClean="0">
                <a:solidFill>
                  <a:schemeClr val="accent2"/>
                </a:solidFill>
              </a:rPr>
              <a:t>канд</a:t>
            </a:r>
            <a:r>
              <a:rPr lang="uk-UA" b="1" i="1" dirty="0" smtClean="0">
                <a:solidFill>
                  <a:schemeClr val="accent2"/>
                </a:solidFill>
              </a:rPr>
              <a:t>. пед. наук, </a:t>
            </a:r>
            <a:r>
              <a:rPr lang="uk-UA" b="1" i="1" dirty="0" smtClean="0">
                <a:solidFill>
                  <a:schemeClr val="accent2"/>
                </a:solidFill>
              </a:rPr>
              <a:t>доцент Тетяна </a:t>
            </a:r>
            <a:r>
              <a:rPr lang="uk-UA" b="1" i="1" dirty="0" err="1" smtClean="0">
                <a:solidFill>
                  <a:schemeClr val="accent2"/>
                </a:solidFill>
              </a:rPr>
              <a:t>Равлюк</a:t>
            </a:r>
            <a:r>
              <a:rPr lang="uk-UA" b="1" i="1" dirty="0" smtClean="0">
                <a:solidFill>
                  <a:schemeClr val="accent2"/>
                </a:solidFill>
              </a:rPr>
              <a:t> Кафедра </a:t>
            </a:r>
            <a:r>
              <a:rPr lang="uk-UA" b="1" i="1" dirty="0">
                <a:solidFill>
                  <a:schemeClr val="accent2"/>
                </a:solidFill>
              </a:rPr>
              <a:t>педагогіки та соціальної роботи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uk-UA" b="1" i="1" dirty="0">
                <a:solidFill>
                  <a:schemeClr val="accent2"/>
                </a:solidFill>
              </a:rPr>
              <a:t>Факультет педагогіки, психології та соціальної роботи</a:t>
            </a:r>
          </a:p>
          <a:p>
            <a:pPr algn="just"/>
            <a:r>
              <a:rPr lang="uk-UA" b="1" i="1" dirty="0">
                <a:solidFill>
                  <a:schemeClr val="accent2"/>
                </a:solidFill>
              </a:rPr>
              <a:t>Чернівецький національний університет</a:t>
            </a:r>
          </a:p>
          <a:p>
            <a:pPr algn="just"/>
            <a:r>
              <a:rPr lang="uk-UA" b="1" i="1" dirty="0">
                <a:solidFill>
                  <a:schemeClr val="accent2"/>
                </a:solidFill>
              </a:rPr>
              <a:t>імені Юрія </a:t>
            </a:r>
            <a:r>
              <a:rPr lang="uk-UA" b="1" i="1" dirty="0" err="1">
                <a:solidFill>
                  <a:schemeClr val="accent2"/>
                </a:solidFill>
              </a:rPr>
              <a:t>Федьковича</a:t>
            </a:r>
            <a:endParaRPr lang="uk-UA" b="1" i="1" dirty="0">
              <a:solidFill>
                <a:schemeClr val="accent2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74" y="4327505"/>
            <a:ext cx="2328516" cy="19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720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80" y="1962229"/>
            <a:ext cx="10407783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uk-UA" sz="3200" dirty="0" smtClean="0"/>
              <a:t>Спілкування </a:t>
            </a:r>
            <a:r>
              <a:rPr lang="uk-UA" sz="3200" dirty="0"/>
              <a:t>як реалізація соціальних статусних відносин.</a:t>
            </a:r>
          </a:p>
          <a:p>
            <a:pPr marL="514350" lvl="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uk-UA" sz="3200" dirty="0" err="1" smtClean="0"/>
              <a:t>Негативістичний</a:t>
            </a:r>
            <a:r>
              <a:rPr lang="uk-UA" sz="3200" dirty="0" smtClean="0"/>
              <a:t> </a:t>
            </a:r>
            <a:r>
              <a:rPr lang="uk-UA" sz="3200" dirty="0"/>
              <a:t>тип спілкування, його детермінація історичними умовами.</a:t>
            </a:r>
          </a:p>
          <a:p>
            <a:pPr marL="514350" lvl="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uk-UA" sz="3200" dirty="0" smtClean="0"/>
              <a:t>Демократичний </a:t>
            </a:r>
            <a:r>
              <a:rPr lang="uk-UA" sz="3200" dirty="0"/>
              <a:t>тип спілкування, його особистісна спрямованість.</a:t>
            </a:r>
          </a:p>
          <a:p>
            <a:pPr marL="514350" lvl="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uk-UA" sz="3200" dirty="0" smtClean="0"/>
              <a:t>Представленість </a:t>
            </a:r>
            <a:r>
              <a:rPr lang="uk-UA" sz="3200" dirty="0"/>
              <a:t>історичних типів у сучасному спілкуванні.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4543"/>
            <a:ext cx="10058400" cy="881743"/>
          </a:xfrm>
        </p:spPr>
        <p:txBody>
          <a:bodyPr>
            <a:normAutofit/>
          </a:bodyPr>
          <a:lstStyle/>
          <a:p>
            <a:pPr algn="ctr"/>
            <a:r>
              <a:rPr lang="uk-UA" sz="5200" b="1" i="1" dirty="0" smtClean="0">
                <a:solidFill>
                  <a:schemeClr val="accent2"/>
                </a:solidFill>
              </a:rPr>
              <a:t>План</a:t>
            </a:r>
            <a:endParaRPr lang="uk-UA" sz="5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5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80" y="1962229"/>
            <a:ext cx="10407783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uk-UA" sz="4000" dirty="0"/>
              <a:t>явище глибоко </a:t>
            </a:r>
            <a:r>
              <a:rPr lang="uk-UA" sz="4000" dirty="0" smtClean="0"/>
              <a:t>соціальне </a:t>
            </a:r>
          </a:p>
          <a:p>
            <a:pPr lvl="0" algn="just">
              <a:spcAft>
                <a:spcPts val="600"/>
              </a:spcAft>
            </a:pPr>
            <a:endParaRPr lang="uk-UA" sz="4000" dirty="0"/>
          </a:p>
          <a:p>
            <a:pPr lvl="0" algn="just">
              <a:spcAft>
                <a:spcPts val="600"/>
              </a:spcAft>
            </a:pPr>
            <a:r>
              <a:rPr lang="uk-UA" sz="4000" b="1" dirty="0" smtClean="0"/>
              <a:t>Соціальна </a:t>
            </a:r>
            <a:r>
              <a:rPr lang="uk-UA" sz="4000" b="1" dirty="0"/>
              <a:t>природа спілкування </a:t>
            </a:r>
            <a:r>
              <a:rPr lang="uk-UA" sz="4000" dirty="0" smtClean="0"/>
              <a:t>полягає </a:t>
            </a:r>
            <a:r>
              <a:rPr lang="uk-UA" sz="4000" dirty="0"/>
              <a:t>в тому, що воно завжди відбувається в середовищі людей, де суб’єкти спілкування завжди постають як носії соціального </a:t>
            </a:r>
            <a:r>
              <a:rPr lang="uk-UA" sz="4000" dirty="0" smtClean="0"/>
              <a:t>досвіду</a:t>
            </a:r>
            <a:endParaRPr lang="uk-UA" sz="32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4543"/>
            <a:ext cx="10058400" cy="881743"/>
          </a:xfrm>
        </p:spPr>
        <p:txBody>
          <a:bodyPr>
            <a:normAutofit/>
          </a:bodyPr>
          <a:lstStyle/>
          <a:p>
            <a:pPr algn="ctr"/>
            <a:r>
              <a:rPr lang="uk-UA" sz="6000" b="1" i="1">
                <a:solidFill>
                  <a:schemeClr val="accent2"/>
                </a:solidFill>
              </a:rPr>
              <a:t>Спілкування </a:t>
            </a:r>
            <a:r>
              <a:rPr lang="uk-UA" sz="6000" b="1" i="1" smtClean="0">
                <a:solidFill>
                  <a:schemeClr val="accent2"/>
                </a:solidFill>
              </a:rPr>
              <a:t>– </a:t>
            </a:r>
            <a:endParaRPr lang="uk-UA" sz="6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	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 як </a:t>
            </a:r>
            <a:r>
              <a:rPr lang="ru-RU" b="1" dirty="0" err="1">
                <a:solidFill>
                  <a:schemeClr val="bg1"/>
                </a:solidFill>
              </a:rPr>
              <a:t>реалізація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соціальних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статусних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відносин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49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80" y="1962229"/>
            <a:ext cx="10407783" cy="4355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3400" dirty="0"/>
              <a:t>Традиції та манери спілкування зумовлюються загальною та моральною культурою суспільства, а тому у кожний історичний період мають стійкі особливості, які в сукупності утворюють певний тип </a:t>
            </a:r>
            <a:r>
              <a:rPr lang="uk-UA" sz="3400" dirty="0" smtClean="0"/>
              <a:t>спілкування</a:t>
            </a:r>
            <a:endParaRPr lang="uk-UA" sz="3400" dirty="0"/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3400" dirty="0"/>
              <a:t>Кожен тип пов’язаний з особливостями епохи, а тому переживає разом з нею зародження, розквіт та </a:t>
            </a:r>
            <a:r>
              <a:rPr lang="uk-UA" sz="3400" dirty="0" smtClean="0"/>
              <a:t>згасання</a:t>
            </a:r>
            <a:endParaRPr lang="uk-UA" sz="34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4543"/>
            <a:ext cx="10058400" cy="881743"/>
          </a:xfrm>
        </p:spPr>
        <p:txBody>
          <a:bodyPr>
            <a:normAutofit/>
          </a:bodyPr>
          <a:lstStyle/>
          <a:p>
            <a:pPr algn="ctr"/>
            <a:r>
              <a:rPr lang="uk-UA" sz="6000" b="1" i="1" dirty="0">
                <a:solidFill>
                  <a:schemeClr val="accent2"/>
                </a:solidFill>
              </a:rPr>
              <a:t>А ТЕПЕР – З ІСТОРІЇ…</a:t>
            </a:r>
            <a:endParaRPr lang="uk-UA" sz="6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	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 як </a:t>
            </a:r>
            <a:r>
              <a:rPr lang="ru-RU" b="1" dirty="0" err="1">
                <a:solidFill>
                  <a:schemeClr val="bg1"/>
                </a:solidFill>
              </a:rPr>
              <a:t>реалізація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соціальних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статусних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відносин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45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80" y="1962229"/>
            <a:ext cx="1040778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4800" dirty="0" err="1"/>
              <a:t>Найбільш</a:t>
            </a:r>
            <a:r>
              <a:rPr lang="ru-RU" sz="4800" dirty="0"/>
              <a:t> </a:t>
            </a:r>
            <a:r>
              <a:rPr lang="ru-RU" sz="4800" dirty="0" err="1" smtClean="0"/>
              <a:t>тривалий</a:t>
            </a:r>
            <a:r>
              <a:rPr lang="ru-RU" sz="4800" dirty="0" smtClean="0"/>
              <a:t>, </a:t>
            </a:r>
            <a:r>
              <a:rPr lang="ru-RU" sz="4800" dirty="0" err="1" smtClean="0"/>
              <a:t>помітний</a:t>
            </a:r>
            <a:r>
              <a:rPr lang="ru-RU" sz="4800" dirty="0" smtClean="0"/>
              <a:t> </a:t>
            </a:r>
            <a:r>
              <a:rPr lang="ru-RU" sz="4800" dirty="0"/>
              <a:t>і </a:t>
            </a:r>
            <a:r>
              <a:rPr lang="ru-RU" sz="4800" dirty="0" err="1" smtClean="0"/>
              <a:t>чіткий</a:t>
            </a:r>
            <a:r>
              <a:rPr lang="ru-RU" sz="4800" dirty="0" smtClean="0"/>
              <a:t> </a:t>
            </a:r>
            <a:r>
              <a:rPr lang="ru-RU" sz="4800" dirty="0"/>
              <a:t>за </a:t>
            </a:r>
            <a:r>
              <a:rPr lang="ru-RU" sz="4800" dirty="0" err="1"/>
              <a:t>ознаками</a:t>
            </a:r>
            <a:r>
              <a:rPr lang="ru-RU" sz="4800" dirty="0"/>
              <a:t> </a:t>
            </a:r>
            <a:r>
              <a:rPr lang="ru-RU" sz="4800" dirty="0" err="1" smtClean="0"/>
              <a:t>історичний</a:t>
            </a:r>
            <a:r>
              <a:rPr lang="ru-RU" sz="4800" dirty="0" smtClean="0"/>
              <a:t> тип </a:t>
            </a:r>
            <a:r>
              <a:rPr lang="ru-RU" sz="4800" dirty="0" err="1"/>
              <a:t>спілкування</a:t>
            </a:r>
            <a:r>
              <a:rPr lang="ru-RU" sz="4800" dirty="0"/>
              <a:t>, </a:t>
            </a:r>
            <a:r>
              <a:rPr lang="ru-RU" sz="4800" dirty="0" err="1"/>
              <a:t>сліди</a:t>
            </a:r>
            <a:r>
              <a:rPr lang="ru-RU" sz="4800" dirty="0"/>
              <a:t> </a:t>
            </a:r>
            <a:r>
              <a:rPr lang="ru-RU" sz="4800" dirty="0" err="1"/>
              <a:t>якого</a:t>
            </a:r>
            <a:r>
              <a:rPr lang="ru-RU" sz="4800" dirty="0"/>
              <a:t> ми </a:t>
            </a:r>
            <a:r>
              <a:rPr lang="ru-RU" sz="4800" dirty="0" err="1"/>
              <a:t>ще</a:t>
            </a:r>
            <a:r>
              <a:rPr lang="ru-RU" sz="4800" dirty="0"/>
              <a:t> </a:t>
            </a:r>
            <a:r>
              <a:rPr lang="ru-RU" sz="4800" dirty="0" err="1"/>
              <a:t>постійно</a:t>
            </a:r>
            <a:r>
              <a:rPr lang="ru-RU" sz="4800" dirty="0"/>
              <a:t> </a:t>
            </a:r>
            <a:r>
              <a:rPr lang="ru-RU" sz="4800" dirty="0" err="1"/>
              <a:t>відчуваємо</a:t>
            </a:r>
            <a:r>
              <a:rPr lang="ru-RU" sz="4800" dirty="0"/>
              <a:t> у </a:t>
            </a:r>
            <a:r>
              <a:rPr lang="ru-RU" sz="4800" dirty="0" err="1"/>
              <a:t>нашому</a:t>
            </a:r>
            <a:r>
              <a:rPr lang="ru-RU" sz="4800" dirty="0"/>
              <a:t> </a:t>
            </a:r>
            <a:r>
              <a:rPr lang="ru-RU" sz="4800" dirty="0" err="1"/>
              <a:t>житті</a:t>
            </a:r>
            <a:endParaRPr lang="uk-UA" sz="48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7200" b="1" i="1" dirty="0" smtClean="0">
                <a:solidFill>
                  <a:schemeClr val="accent2"/>
                </a:solidFill>
              </a:rPr>
              <a:t>Статусний </a:t>
            </a:r>
            <a:r>
              <a:rPr lang="uk-UA" sz="7200" b="1" i="1" dirty="0">
                <a:solidFill>
                  <a:schemeClr val="accent2"/>
                </a:solidFill>
              </a:rPr>
              <a:t>тип</a:t>
            </a:r>
            <a:endParaRPr lang="uk-UA" sz="7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	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 як </a:t>
            </a:r>
            <a:r>
              <a:rPr lang="ru-RU" b="1" dirty="0" err="1">
                <a:solidFill>
                  <a:schemeClr val="bg1"/>
                </a:solidFill>
              </a:rPr>
              <a:t>реалізація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соціальних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статусних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відносин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94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80" y="1962229"/>
            <a:ext cx="1040778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dirty="0" err="1" smtClean="0"/>
              <a:t>Оцінка</a:t>
            </a:r>
            <a:r>
              <a:rPr lang="ru-RU" sz="3200" dirty="0" smtClean="0"/>
              <a:t> </a:t>
            </a:r>
            <a:r>
              <a:rPr lang="ru-RU" sz="3200" dirty="0"/>
              <a:t>партнера у </a:t>
            </a:r>
            <a:r>
              <a:rPr lang="ru-RU" sz="3200" dirty="0" err="1"/>
              <a:t>спілкуванні</a:t>
            </a:r>
            <a:r>
              <a:rPr lang="ru-RU" sz="3200" dirty="0"/>
              <a:t> за </a:t>
            </a:r>
            <a:r>
              <a:rPr lang="ru-RU" sz="3200" dirty="0" err="1"/>
              <a:t>його</a:t>
            </a:r>
            <a:r>
              <a:rPr lang="ru-RU" sz="3200" dirty="0"/>
              <a:t> </a:t>
            </a:r>
            <a:r>
              <a:rPr lang="ru-RU" sz="3200" dirty="0" err="1"/>
              <a:t>соціальним</a:t>
            </a:r>
            <a:r>
              <a:rPr lang="ru-RU" sz="3200" dirty="0"/>
              <a:t> </a:t>
            </a:r>
            <a:r>
              <a:rPr lang="ru-RU" sz="3200" dirty="0" smtClean="0"/>
              <a:t>статусом</a:t>
            </a:r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dirty="0" err="1" smtClean="0"/>
              <a:t>Позиція</a:t>
            </a:r>
            <a:r>
              <a:rPr lang="ru-RU" sz="3200" dirty="0" smtClean="0"/>
              <a:t> </a:t>
            </a:r>
            <a:r>
              <a:rPr lang="ru-RU" sz="3200" dirty="0"/>
              <a:t>«</a:t>
            </a:r>
            <a:r>
              <a:rPr lang="ru-RU" sz="3200" dirty="0" err="1"/>
              <a:t>знизу</a:t>
            </a:r>
            <a:r>
              <a:rPr lang="ru-RU" sz="3200" dirty="0"/>
              <a:t> вверх» </a:t>
            </a:r>
            <a:r>
              <a:rPr lang="ru-RU" sz="3200" dirty="0" err="1"/>
              <a:t>або</a:t>
            </a:r>
            <a:r>
              <a:rPr lang="ru-RU" sz="3200" dirty="0"/>
              <a:t> «</a:t>
            </a:r>
            <a:r>
              <a:rPr lang="ru-RU" sz="3200" dirty="0" err="1"/>
              <a:t>зверху</a:t>
            </a:r>
            <a:r>
              <a:rPr lang="ru-RU" sz="3200" dirty="0"/>
              <a:t> вниз</a:t>
            </a:r>
            <a:r>
              <a:rPr lang="ru-RU" sz="3200" dirty="0" smtClean="0"/>
              <a:t>»</a:t>
            </a:r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dirty="0" err="1" smtClean="0"/>
              <a:t>Сприйняття</a:t>
            </a:r>
            <a:r>
              <a:rPr lang="ru-RU" sz="3200" dirty="0" smtClean="0"/>
              <a:t> </a:t>
            </a:r>
            <a:r>
              <a:rPr lang="ru-RU" sz="3200" dirty="0" err="1"/>
              <a:t>людиною</a:t>
            </a:r>
            <a:r>
              <a:rPr lang="ru-RU" sz="3200" dirty="0"/>
              <a:t> себе як </a:t>
            </a:r>
            <a:r>
              <a:rPr lang="ru-RU" sz="3200" dirty="0" err="1"/>
              <a:t>представника</a:t>
            </a:r>
            <a:r>
              <a:rPr lang="ru-RU" sz="3200" dirty="0"/>
              <a:t>, в першу </a:t>
            </a:r>
            <a:r>
              <a:rPr lang="ru-RU" sz="3200" dirty="0" err="1"/>
              <a:t>чергу</a:t>
            </a:r>
            <a:r>
              <a:rPr lang="ru-RU" sz="3200" dirty="0"/>
              <a:t>, </a:t>
            </a:r>
            <a:r>
              <a:rPr lang="ru-RU" sz="3200" dirty="0" err="1"/>
              <a:t>певної</a:t>
            </a:r>
            <a:r>
              <a:rPr lang="ru-RU" sz="3200" dirty="0"/>
              <a:t> </a:t>
            </a:r>
            <a:r>
              <a:rPr lang="ru-RU" sz="3200" dirty="0" err="1"/>
              <a:t>соціальної</a:t>
            </a:r>
            <a:r>
              <a:rPr lang="ru-RU" sz="3200" dirty="0"/>
              <a:t> </a:t>
            </a:r>
            <a:r>
              <a:rPr lang="ru-RU" sz="3200" dirty="0" err="1" smtClean="0"/>
              <a:t>групи</a:t>
            </a:r>
            <a:endParaRPr lang="ru-RU" sz="3200" dirty="0" smtClean="0"/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dirty="0" err="1" smtClean="0"/>
              <a:t>Грубість</a:t>
            </a:r>
            <a:r>
              <a:rPr lang="ru-RU" sz="3200" dirty="0" smtClean="0"/>
              <a:t> </a:t>
            </a:r>
            <a:r>
              <a:rPr lang="ru-RU" sz="3200" dirty="0" err="1"/>
              <a:t>спілкування</a:t>
            </a:r>
            <a:r>
              <a:rPr lang="ru-RU" sz="3200" dirty="0"/>
              <a:t> в </a:t>
            </a:r>
            <a:r>
              <a:rPr lang="ru-RU" sz="3200" dirty="0" err="1"/>
              <a:t>ситуаціях</a:t>
            </a:r>
            <a:r>
              <a:rPr lang="ru-RU" sz="3200" dirty="0"/>
              <a:t>, не </a:t>
            </a:r>
            <a:r>
              <a:rPr lang="ru-RU" sz="3200" dirty="0" err="1"/>
              <a:t>регламентованих</a:t>
            </a:r>
            <a:r>
              <a:rPr lang="ru-RU" sz="3200" dirty="0"/>
              <a:t> </a:t>
            </a:r>
            <a:r>
              <a:rPr lang="ru-RU" sz="3200" dirty="0" err="1"/>
              <a:t>вимогами</a:t>
            </a:r>
            <a:r>
              <a:rPr lang="ru-RU" sz="3200" dirty="0"/>
              <a:t> </a:t>
            </a:r>
            <a:r>
              <a:rPr lang="ru-RU" sz="3200" dirty="0" err="1"/>
              <a:t>поваги</a:t>
            </a:r>
            <a:r>
              <a:rPr lang="ru-RU" sz="3200" dirty="0"/>
              <a:t> до </a:t>
            </a:r>
            <a:r>
              <a:rPr lang="ru-RU" sz="3200" dirty="0" err="1"/>
              <a:t>вищого</a:t>
            </a:r>
            <a:r>
              <a:rPr lang="ru-RU" sz="3200" dirty="0"/>
              <a:t> </a:t>
            </a:r>
            <a:r>
              <a:rPr lang="ru-RU" sz="3200" dirty="0" smtClean="0"/>
              <a:t>статусу</a:t>
            </a:r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uk-UA" sz="32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Ознаки статусного типу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	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 як </a:t>
            </a:r>
            <a:r>
              <a:rPr lang="ru-RU" b="1" dirty="0" err="1">
                <a:solidFill>
                  <a:schemeClr val="bg1"/>
                </a:solidFill>
              </a:rPr>
              <a:t>реалізація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соціальних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статусних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відносин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128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80" y="1962229"/>
            <a:ext cx="1040778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4000" dirty="0" smtClean="0"/>
              <a:t>Культура </a:t>
            </a:r>
            <a:r>
              <a:rPr lang="ru-RU" sz="4000" dirty="0" err="1"/>
              <a:t>найбільш</a:t>
            </a:r>
            <a:r>
              <a:rPr lang="ru-RU" sz="4000" dirty="0"/>
              <a:t> </a:t>
            </a:r>
            <a:r>
              <a:rPr lang="ru-RU" sz="4000" dirty="0" err="1"/>
              <a:t>освічених</a:t>
            </a:r>
            <a:r>
              <a:rPr lang="ru-RU" sz="4000" dirty="0"/>
              <a:t> і </a:t>
            </a:r>
            <a:r>
              <a:rPr lang="ru-RU" sz="4000" dirty="0" err="1"/>
              <a:t>вихованих</a:t>
            </a:r>
            <a:r>
              <a:rPr lang="ru-RU" sz="4000" dirty="0"/>
              <a:t> людей, </a:t>
            </a:r>
            <a:r>
              <a:rPr lang="ru-RU" sz="4000" dirty="0" err="1"/>
              <a:t>здебільшого</a:t>
            </a:r>
            <a:r>
              <a:rPr lang="ru-RU" sz="4000" dirty="0"/>
              <a:t> з аристократичного </a:t>
            </a:r>
            <a:r>
              <a:rPr lang="ru-RU" sz="4000" dirty="0" err="1"/>
              <a:t>середовища</a:t>
            </a:r>
            <a:r>
              <a:rPr lang="ru-RU" sz="4000" dirty="0"/>
              <a:t>, далеко </a:t>
            </a:r>
            <a:r>
              <a:rPr lang="ru-RU" sz="4000" dirty="0" err="1"/>
              <a:t>відійшла</a:t>
            </a:r>
            <a:r>
              <a:rPr lang="ru-RU" sz="4000" dirty="0"/>
              <a:t> </a:t>
            </a:r>
            <a:r>
              <a:rPr lang="ru-RU" sz="4000" dirty="0" err="1"/>
              <a:t>від</a:t>
            </a:r>
            <a:r>
              <a:rPr lang="ru-RU" sz="4000" dirty="0"/>
              <a:t> </a:t>
            </a:r>
            <a:r>
              <a:rPr lang="ru-RU" sz="4000" dirty="0" err="1"/>
              <a:t>звичайного</a:t>
            </a:r>
            <a:r>
              <a:rPr lang="ru-RU" sz="4000" dirty="0"/>
              <a:t> статусного типу і дала </a:t>
            </a:r>
            <a:r>
              <a:rPr lang="ru-RU" sz="4000" dirty="0" err="1"/>
              <a:t>людству</a:t>
            </a:r>
            <a:r>
              <a:rPr lang="ru-RU" sz="4000" dirty="0"/>
              <a:t> </a:t>
            </a:r>
            <a:r>
              <a:rPr lang="ru-RU" sz="4000" dirty="0" err="1"/>
              <a:t>універсальний</a:t>
            </a:r>
            <a:r>
              <a:rPr lang="ru-RU" sz="4000" dirty="0"/>
              <a:t> </a:t>
            </a:r>
            <a:r>
              <a:rPr lang="ru-RU" sz="4000" dirty="0" err="1"/>
              <a:t>зразок</a:t>
            </a:r>
            <a:r>
              <a:rPr lang="ru-RU" sz="4000" dirty="0"/>
              <a:t> </a:t>
            </a:r>
            <a:r>
              <a:rPr lang="ru-RU" sz="4000" dirty="0" err="1"/>
              <a:t>гуманної</a:t>
            </a:r>
            <a:r>
              <a:rPr lang="ru-RU" sz="4000" dirty="0"/>
              <a:t> </a:t>
            </a:r>
            <a:r>
              <a:rPr lang="ru-RU" sz="4000" dirty="0" err="1"/>
              <a:t>комунікації</a:t>
            </a:r>
            <a:r>
              <a:rPr lang="ru-RU" sz="4000" dirty="0"/>
              <a:t>, </a:t>
            </a:r>
            <a:r>
              <a:rPr lang="ru-RU" sz="4000" dirty="0" err="1"/>
              <a:t>який</a:t>
            </a:r>
            <a:r>
              <a:rPr lang="ru-RU" sz="4000" dirty="0"/>
              <a:t> </a:t>
            </a:r>
            <a:r>
              <a:rPr lang="ru-RU" sz="4000" dirty="0" err="1"/>
              <a:t>залишається</a:t>
            </a:r>
            <a:r>
              <a:rPr lang="ru-RU" sz="4000" dirty="0"/>
              <a:t> </a:t>
            </a:r>
            <a:r>
              <a:rPr lang="ru-RU" sz="4000" dirty="0" err="1"/>
              <a:t>еталоном</a:t>
            </a:r>
            <a:r>
              <a:rPr lang="ru-RU" sz="4000" dirty="0"/>
              <a:t> і в наш </a:t>
            </a:r>
            <a:r>
              <a:rPr lang="ru-RU" sz="4000" dirty="0" smtClean="0"/>
              <a:t>час</a:t>
            </a:r>
            <a:endParaRPr lang="uk-UA" sz="40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ru-RU" b="1" i="1" dirty="0" err="1" smtClean="0">
                <a:solidFill>
                  <a:schemeClr val="accent2"/>
                </a:solidFill>
              </a:rPr>
              <a:t>Елітарна</a:t>
            </a:r>
            <a:r>
              <a:rPr lang="ru-RU" b="1" i="1" dirty="0" smtClean="0">
                <a:solidFill>
                  <a:schemeClr val="accent2"/>
                </a:solidFill>
              </a:rPr>
              <a:t> культура</a:t>
            </a:r>
            <a:br>
              <a:rPr lang="ru-RU" b="1" i="1" dirty="0" smtClean="0">
                <a:solidFill>
                  <a:schemeClr val="accent2"/>
                </a:solidFill>
              </a:rPr>
            </a:br>
            <a:r>
              <a:rPr lang="ru-RU" b="1" i="1" dirty="0" err="1" smtClean="0">
                <a:solidFill>
                  <a:schemeClr val="accent2"/>
                </a:solidFill>
              </a:rPr>
              <a:t>часів</a:t>
            </a:r>
            <a:r>
              <a:rPr lang="ru-RU" b="1" i="1" dirty="0" smtClean="0">
                <a:solidFill>
                  <a:schemeClr val="accent2"/>
                </a:solidFill>
              </a:rPr>
              <a:t> </a:t>
            </a:r>
            <a:r>
              <a:rPr lang="ru-RU" b="1" i="1" dirty="0">
                <a:solidFill>
                  <a:schemeClr val="accent2"/>
                </a:solidFill>
              </a:rPr>
              <a:t>статусного </a:t>
            </a:r>
            <a:r>
              <a:rPr lang="ru-RU" b="1" i="1" dirty="0" err="1">
                <a:solidFill>
                  <a:schemeClr val="accent2"/>
                </a:solidFill>
              </a:rPr>
              <a:t>спілкування</a:t>
            </a:r>
            <a:r>
              <a:rPr lang="ru-RU" b="1" i="1" dirty="0">
                <a:solidFill>
                  <a:schemeClr val="accent2"/>
                </a:solidFill>
              </a:rPr>
              <a:t> 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	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 як </a:t>
            </a:r>
            <a:r>
              <a:rPr lang="ru-RU" b="1" dirty="0" err="1">
                <a:solidFill>
                  <a:schemeClr val="bg1"/>
                </a:solidFill>
              </a:rPr>
              <a:t>реалізація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соціальних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статусних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відносин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842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80" y="1962229"/>
            <a:ext cx="10407783" cy="340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4000" dirty="0" smtClean="0"/>
              <a:t>«</a:t>
            </a:r>
            <a:r>
              <a:rPr lang="ru-RU" sz="4000" dirty="0" err="1" smtClean="0"/>
              <a:t>Презумпція</a:t>
            </a:r>
            <a:r>
              <a:rPr lang="ru-RU" sz="4000" dirty="0" smtClean="0"/>
              <a:t> </a:t>
            </a:r>
            <a:r>
              <a:rPr lang="ru-RU" sz="4000" dirty="0" err="1"/>
              <a:t>невинуватості</a:t>
            </a:r>
            <a:r>
              <a:rPr lang="ru-RU" sz="4000" dirty="0" smtClean="0"/>
              <a:t>»</a:t>
            </a:r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4000" dirty="0" err="1" smtClean="0"/>
              <a:t>Забезпечення</a:t>
            </a:r>
            <a:r>
              <a:rPr lang="ru-RU" sz="4000" dirty="0" smtClean="0"/>
              <a:t> </a:t>
            </a:r>
            <a:r>
              <a:rPr lang="ru-RU" sz="4000" dirty="0" err="1"/>
              <a:t>сильної</a:t>
            </a:r>
            <a:r>
              <a:rPr lang="ru-RU" sz="4000" dirty="0"/>
              <a:t> </a:t>
            </a:r>
            <a:r>
              <a:rPr lang="ru-RU" sz="4000" dirty="0" err="1"/>
              <a:t>позиції</a:t>
            </a:r>
            <a:r>
              <a:rPr lang="ru-RU" sz="4000" dirty="0"/>
              <a:t> </a:t>
            </a:r>
            <a:r>
              <a:rPr lang="ru-RU" sz="4000" dirty="0" smtClean="0"/>
              <a:t>партнера</a:t>
            </a:r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4000" dirty="0" err="1" smtClean="0"/>
              <a:t>Переважання</a:t>
            </a:r>
            <a:r>
              <a:rPr lang="ru-RU" sz="4000" dirty="0" smtClean="0"/>
              <a:t> </a:t>
            </a:r>
            <a:r>
              <a:rPr lang="ru-RU" sz="4000" dirty="0"/>
              <a:t>позитивного </a:t>
            </a:r>
            <a:r>
              <a:rPr lang="ru-RU" sz="4000" dirty="0" err="1"/>
              <a:t>стимулювання</a:t>
            </a:r>
            <a:r>
              <a:rPr lang="ru-RU" sz="4000" dirty="0"/>
              <a:t> над </a:t>
            </a:r>
            <a:r>
              <a:rPr lang="ru-RU" sz="4000" dirty="0" err="1" smtClean="0"/>
              <a:t>негативним</a:t>
            </a:r>
            <a:endParaRPr lang="ru-RU" sz="4000" dirty="0" smtClean="0"/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4000" dirty="0" smtClean="0"/>
              <a:t>Принцип </a:t>
            </a:r>
            <a:r>
              <a:rPr lang="ru-RU" sz="4000" dirty="0" err="1"/>
              <a:t>естетичності</a:t>
            </a:r>
            <a:endParaRPr lang="uk-UA" sz="40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Принципи елітарного 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	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 як </a:t>
            </a:r>
            <a:r>
              <a:rPr lang="ru-RU" b="1" dirty="0" err="1">
                <a:solidFill>
                  <a:schemeClr val="bg1"/>
                </a:solidFill>
              </a:rPr>
              <a:t>реалізація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соціальних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статусних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відносин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81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20623" y="1941446"/>
            <a:ext cx="1040778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800" dirty="0" err="1" smtClean="0"/>
              <a:t>Ставлення</a:t>
            </a:r>
            <a:r>
              <a:rPr lang="ru-RU" sz="3800" dirty="0" smtClean="0"/>
              <a:t> </a:t>
            </a:r>
            <a:r>
              <a:rPr lang="ru-RU" sz="3800" dirty="0"/>
              <a:t>до партнера </a:t>
            </a:r>
            <a:r>
              <a:rPr lang="ru-RU" sz="3800" dirty="0" err="1"/>
              <a:t>найбільшою</a:t>
            </a:r>
            <a:r>
              <a:rPr lang="ru-RU" sz="3800" dirty="0"/>
              <a:t> </a:t>
            </a:r>
            <a:r>
              <a:rPr lang="ru-RU" sz="3800" dirty="0" err="1"/>
              <a:t>мірою</a:t>
            </a:r>
            <a:r>
              <a:rPr lang="ru-RU" sz="3800" dirty="0"/>
              <a:t> </a:t>
            </a:r>
            <a:r>
              <a:rPr lang="ru-RU" sz="3800" dirty="0" err="1"/>
              <a:t>визначається</a:t>
            </a:r>
            <a:r>
              <a:rPr lang="ru-RU" sz="3800" dirty="0"/>
              <a:t> </a:t>
            </a:r>
            <a:r>
              <a:rPr lang="ru-RU" sz="3800" dirty="0" err="1"/>
              <a:t>індивідуальними</a:t>
            </a:r>
            <a:r>
              <a:rPr lang="ru-RU" sz="3800" dirty="0"/>
              <a:t>, </a:t>
            </a:r>
            <a:r>
              <a:rPr lang="ru-RU" sz="3800" dirty="0" err="1"/>
              <a:t>особистісними</a:t>
            </a:r>
            <a:r>
              <a:rPr lang="ru-RU" sz="3800" dirty="0"/>
              <a:t> рисами, а не </a:t>
            </a:r>
            <a:r>
              <a:rPr lang="ru-RU" sz="3800" dirty="0" err="1"/>
              <a:t>соціальним</a:t>
            </a:r>
            <a:r>
              <a:rPr lang="ru-RU" sz="3800" dirty="0"/>
              <a:t> статусом </a:t>
            </a:r>
            <a:r>
              <a:rPr lang="ru-RU" sz="3800" dirty="0" err="1"/>
              <a:t>останнього</a:t>
            </a:r>
            <a:r>
              <a:rPr lang="ru-RU" sz="3800" dirty="0"/>
              <a:t>, але у </a:t>
            </a:r>
            <a:r>
              <a:rPr lang="ru-RU" sz="3800" dirty="0" err="1"/>
              <a:t>цьому</a:t>
            </a:r>
            <a:r>
              <a:rPr lang="ru-RU" sz="3800" dirty="0"/>
              <a:t> </a:t>
            </a:r>
            <a:r>
              <a:rPr lang="ru-RU" sz="3800" dirty="0" err="1"/>
              <a:t>ставленні</a:t>
            </a:r>
            <a:r>
              <a:rPr lang="ru-RU" sz="3800" dirty="0"/>
              <a:t> </a:t>
            </a:r>
            <a:r>
              <a:rPr lang="ru-RU" sz="3800" dirty="0" err="1"/>
              <a:t>помітно</a:t>
            </a:r>
            <a:r>
              <a:rPr lang="ru-RU" sz="3800" dirty="0"/>
              <a:t> </a:t>
            </a:r>
            <a:r>
              <a:rPr lang="ru-RU" sz="3800" dirty="0" err="1"/>
              <a:t>постає</a:t>
            </a:r>
            <a:r>
              <a:rPr lang="ru-RU" sz="3800" dirty="0"/>
              <a:t> </a:t>
            </a:r>
            <a:r>
              <a:rPr lang="ru-RU" sz="3800" dirty="0" err="1"/>
              <a:t>недовіра</a:t>
            </a:r>
            <a:r>
              <a:rPr lang="ru-RU" sz="3800" dirty="0"/>
              <a:t>, </a:t>
            </a:r>
            <a:r>
              <a:rPr lang="ru-RU" sz="3800" dirty="0" err="1"/>
              <a:t>недоброзичливість</a:t>
            </a:r>
            <a:r>
              <a:rPr lang="ru-RU" sz="3800" dirty="0"/>
              <a:t> </a:t>
            </a:r>
            <a:r>
              <a:rPr lang="ru-RU" sz="3800" dirty="0" smtClean="0"/>
              <a:t>й </a:t>
            </a:r>
            <a:r>
              <a:rPr lang="ru-RU" sz="3800" dirty="0" err="1" smtClean="0"/>
              <a:t>очікування</a:t>
            </a:r>
            <a:r>
              <a:rPr lang="ru-RU" sz="3800" dirty="0" smtClean="0"/>
              <a:t> </a:t>
            </a:r>
            <a:r>
              <a:rPr lang="ru-RU" sz="3800" dirty="0" err="1"/>
              <a:t>негативних</a:t>
            </a:r>
            <a:r>
              <a:rPr lang="ru-RU" sz="3800" dirty="0"/>
              <a:t> </a:t>
            </a:r>
            <a:r>
              <a:rPr lang="ru-RU" sz="3800" dirty="0" err="1"/>
              <a:t>особистісних</a:t>
            </a:r>
            <a:r>
              <a:rPr lang="ru-RU" sz="3800" dirty="0"/>
              <a:t> </a:t>
            </a:r>
            <a:r>
              <a:rPr lang="ru-RU" sz="3800" dirty="0" err="1" smtClean="0"/>
              <a:t>якостей</a:t>
            </a:r>
            <a:endParaRPr lang="ru-RU" sz="38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err="1" smtClean="0">
                <a:solidFill>
                  <a:schemeClr val="accent2"/>
                </a:solidFill>
              </a:rPr>
              <a:t>Негативістичний</a:t>
            </a:r>
            <a:r>
              <a:rPr lang="uk-UA" sz="5400" b="1" i="1" dirty="0" smtClean="0">
                <a:solidFill>
                  <a:schemeClr val="accent2"/>
                </a:solidFill>
              </a:rPr>
              <a:t> </a:t>
            </a:r>
            <a:r>
              <a:rPr lang="uk-UA" sz="5400" b="1" i="1" dirty="0">
                <a:solidFill>
                  <a:schemeClr val="accent2"/>
                </a:solidFill>
              </a:rPr>
              <a:t>тип 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	</a:t>
            </a:r>
            <a:r>
              <a:rPr lang="ru-RU" b="1" dirty="0" err="1">
                <a:solidFill>
                  <a:schemeClr val="bg1"/>
                </a:solidFill>
              </a:rPr>
              <a:t>Негативістичний</a:t>
            </a:r>
            <a:r>
              <a:rPr lang="ru-RU" b="1" dirty="0">
                <a:solidFill>
                  <a:schemeClr val="bg1"/>
                </a:solidFill>
              </a:rPr>
              <a:t> тип 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його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детермінація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історичними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умовами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990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/>
              <a:t>Готовність</a:t>
            </a:r>
            <a:r>
              <a:rPr lang="ru-RU" sz="4400" dirty="0"/>
              <a:t> до </a:t>
            </a:r>
            <a:r>
              <a:rPr lang="ru-RU" sz="4400" dirty="0" err="1"/>
              <a:t>заперечення</a:t>
            </a:r>
            <a:r>
              <a:rPr lang="ru-RU" sz="4400" dirty="0"/>
              <a:t> </a:t>
            </a:r>
            <a:r>
              <a:rPr lang="ru-RU" sz="4400" dirty="0" err="1"/>
              <a:t>позитивних</a:t>
            </a:r>
            <a:r>
              <a:rPr lang="ru-RU" sz="4400" dirty="0"/>
              <a:t> </a:t>
            </a:r>
            <a:r>
              <a:rPr lang="ru-RU" sz="4400" dirty="0" err="1"/>
              <a:t>психологічних</a:t>
            </a:r>
            <a:r>
              <a:rPr lang="ru-RU" sz="4400" dirty="0"/>
              <a:t> </a:t>
            </a:r>
            <a:r>
              <a:rPr lang="ru-RU" sz="4400" dirty="0" err="1"/>
              <a:t>властивостей</a:t>
            </a:r>
            <a:r>
              <a:rPr lang="ru-RU" sz="4400" dirty="0"/>
              <a:t> </a:t>
            </a:r>
            <a:r>
              <a:rPr lang="ru-RU" sz="4400" dirty="0" smtClean="0"/>
              <a:t>партнера</a:t>
            </a:r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 smtClean="0"/>
              <a:t>Прагнення</a:t>
            </a:r>
            <a:r>
              <a:rPr lang="ru-RU" sz="4400" dirty="0" smtClean="0"/>
              <a:t> </a:t>
            </a:r>
            <a:r>
              <a:rPr lang="ru-RU" sz="4400" dirty="0" err="1"/>
              <a:t>людини</a:t>
            </a:r>
            <a:r>
              <a:rPr lang="ru-RU" sz="4400" dirty="0"/>
              <a:t> до </a:t>
            </a:r>
            <a:r>
              <a:rPr lang="ru-RU" sz="4400" dirty="0" err="1" smtClean="0"/>
              <a:t>самоствердження</a:t>
            </a:r>
            <a:endParaRPr lang="ru-RU" sz="4400" dirty="0" smtClean="0"/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 smtClean="0"/>
              <a:t>Позиція</a:t>
            </a:r>
            <a:r>
              <a:rPr lang="ru-RU" sz="4400" dirty="0" smtClean="0"/>
              <a:t> </a:t>
            </a:r>
            <a:r>
              <a:rPr lang="ru-RU" sz="4400" dirty="0" err="1" smtClean="0"/>
              <a:t>сили</a:t>
            </a:r>
            <a:endParaRPr lang="ru-RU" sz="44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err="1" smtClean="0">
                <a:solidFill>
                  <a:schemeClr val="accent2"/>
                </a:solidFill>
              </a:rPr>
              <a:t>Негативістичний</a:t>
            </a:r>
            <a:r>
              <a:rPr lang="uk-UA" sz="5400" b="1" i="1" dirty="0" smtClean="0">
                <a:solidFill>
                  <a:schemeClr val="accent2"/>
                </a:solidFill>
              </a:rPr>
              <a:t> </a:t>
            </a:r>
            <a:r>
              <a:rPr lang="uk-UA" sz="5400" b="1" i="1" dirty="0">
                <a:solidFill>
                  <a:schemeClr val="accent2"/>
                </a:solidFill>
              </a:rPr>
              <a:t>тип 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	</a:t>
            </a:r>
            <a:r>
              <a:rPr lang="ru-RU" b="1" dirty="0" err="1">
                <a:solidFill>
                  <a:schemeClr val="bg1"/>
                </a:solidFill>
              </a:rPr>
              <a:t>Негативістичний</a:t>
            </a:r>
            <a:r>
              <a:rPr lang="ru-RU" b="1" dirty="0">
                <a:solidFill>
                  <a:schemeClr val="bg1"/>
                </a:solidFill>
              </a:rPr>
              <a:t> тип 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його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детермінація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історичними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умовами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162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165912" y="2708237"/>
            <a:ext cx="10407783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1200"/>
              </a:spcAft>
            </a:pPr>
            <a:r>
              <a:rPr lang="ru-RU" sz="5800" dirty="0" err="1" smtClean="0"/>
              <a:t>це</a:t>
            </a:r>
            <a:r>
              <a:rPr lang="ru-RU" sz="5800" dirty="0" smtClean="0"/>
              <a:t> </a:t>
            </a:r>
            <a:r>
              <a:rPr lang="ru-RU" sz="5800" dirty="0" err="1"/>
              <a:t>заперечення</a:t>
            </a:r>
            <a:r>
              <a:rPr lang="ru-RU" sz="5800" dirty="0"/>
              <a:t> не </a:t>
            </a:r>
            <a:r>
              <a:rPr lang="ru-RU" sz="5800" dirty="0" err="1"/>
              <a:t>заради</a:t>
            </a:r>
            <a:r>
              <a:rPr lang="ru-RU" sz="5800" dirty="0"/>
              <a:t> </a:t>
            </a:r>
            <a:r>
              <a:rPr lang="ru-RU" sz="5800" dirty="0" err="1"/>
              <a:t>істини</a:t>
            </a:r>
            <a:r>
              <a:rPr lang="ru-RU" sz="5800" dirty="0"/>
              <a:t>, а для </a:t>
            </a:r>
            <a:r>
              <a:rPr lang="ru-RU" sz="5800" b="1" dirty="0" err="1">
                <a:solidFill>
                  <a:schemeClr val="accent2"/>
                </a:solidFill>
              </a:rPr>
              <a:t>самоствердження</a:t>
            </a:r>
            <a:endParaRPr lang="ru-RU" sz="5800" b="1" dirty="0" smtClean="0">
              <a:solidFill>
                <a:schemeClr val="accent2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885" y="812644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7200" b="1" i="1" dirty="0" smtClean="0">
                <a:solidFill>
                  <a:schemeClr val="accent2"/>
                </a:solidFill>
              </a:rPr>
              <a:t>Негативізм – </a:t>
            </a:r>
            <a:endParaRPr lang="uk-UA" sz="7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	</a:t>
            </a:r>
            <a:r>
              <a:rPr lang="ru-RU" b="1" dirty="0" err="1">
                <a:solidFill>
                  <a:schemeClr val="bg1"/>
                </a:solidFill>
              </a:rPr>
              <a:t>Негативістичний</a:t>
            </a:r>
            <a:r>
              <a:rPr lang="ru-RU" b="1" dirty="0">
                <a:solidFill>
                  <a:schemeClr val="bg1"/>
                </a:solidFill>
              </a:rPr>
              <a:t> тип 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його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детермінація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історичними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умовами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219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/>
              <a:t>Ліквідація</a:t>
            </a:r>
            <a:r>
              <a:rPr lang="ru-RU" sz="2800" dirty="0"/>
              <a:t> станового </a:t>
            </a:r>
            <a:r>
              <a:rPr lang="ru-RU" sz="2800" dirty="0" err="1"/>
              <a:t>поділу</a:t>
            </a:r>
            <a:r>
              <a:rPr lang="ru-RU" sz="2800" dirty="0"/>
              <a:t> </a:t>
            </a:r>
            <a:r>
              <a:rPr lang="ru-RU" sz="2800" dirty="0" err="1"/>
              <a:t>суспільства</a:t>
            </a:r>
            <a:r>
              <a:rPr lang="ru-RU" sz="2800" dirty="0"/>
              <a:t> </a:t>
            </a:r>
            <a:r>
              <a:rPr lang="ru-RU" sz="2800" dirty="0" err="1"/>
              <a:t>європейського</a:t>
            </a:r>
            <a:r>
              <a:rPr lang="ru-RU" sz="2800" dirty="0"/>
              <a:t> типу, </a:t>
            </a:r>
            <a:r>
              <a:rPr lang="ru-RU" sz="2800" dirty="0" err="1"/>
              <a:t>що</a:t>
            </a:r>
            <a:r>
              <a:rPr lang="ru-RU" sz="2800" dirty="0"/>
              <a:t> </a:t>
            </a:r>
            <a:r>
              <a:rPr lang="ru-RU" sz="2800" dirty="0" err="1"/>
              <a:t>відбулася</a:t>
            </a:r>
            <a:r>
              <a:rPr lang="ru-RU" sz="2800" dirty="0"/>
              <a:t> у Х</a:t>
            </a:r>
            <a:r>
              <a:rPr lang="de-DE" sz="2800" dirty="0"/>
              <a:t>V</a:t>
            </a:r>
            <a:r>
              <a:rPr lang="ru-RU" sz="2800" dirty="0"/>
              <a:t>ІІІ-ХХ </a:t>
            </a:r>
            <a:r>
              <a:rPr lang="ru-RU" sz="2800" dirty="0" err="1"/>
              <a:t>століттях</a:t>
            </a:r>
            <a:r>
              <a:rPr lang="ru-RU" sz="2800" dirty="0"/>
              <a:t>, </a:t>
            </a:r>
            <a:r>
              <a:rPr lang="ru-RU" sz="2800" dirty="0" err="1"/>
              <a:t>призвела</a:t>
            </a:r>
            <a:r>
              <a:rPr lang="ru-RU" sz="2800" dirty="0"/>
              <a:t> до </a:t>
            </a:r>
            <a:r>
              <a:rPr lang="ru-RU" sz="2800" dirty="0" err="1"/>
              <a:t>значної</a:t>
            </a:r>
            <a:r>
              <a:rPr lang="ru-RU" sz="2800" dirty="0"/>
              <a:t> </a:t>
            </a:r>
            <a:r>
              <a:rPr lang="ru-RU" sz="2800" dirty="0" err="1"/>
              <a:t>демократизації</a:t>
            </a:r>
            <a:r>
              <a:rPr lang="ru-RU" sz="2800" dirty="0"/>
              <a:t> у </a:t>
            </a:r>
            <a:r>
              <a:rPr lang="ru-RU" sz="2800" dirty="0" err="1"/>
              <a:t>всіх</a:t>
            </a:r>
            <a:r>
              <a:rPr lang="ru-RU" sz="2800" dirty="0"/>
              <a:t> сферах </a:t>
            </a:r>
            <a:r>
              <a:rPr lang="ru-RU" sz="2800" dirty="0" err="1"/>
              <a:t>міжособистісних</a:t>
            </a:r>
            <a:r>
              <a:rPr lang="ru-RU" sz="2800" dirty="0"/>
              <a:t> </a:t>
            </a:r>
            <a:r>
              <a:rPr lang="ru-RU" sz="2800" dirty="0" err="1" smtClean="0"/>
              <a:t>стосунків</a:t>
            </a:r>
            <a:endParaRPr lang="ru-RU" sz="2800" dirty="0" smtClean="0"/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 </a:t>
            </a:r>
            <a:r>
              <a:rPr lang="ru-RU" sz="2800" dirty="0" err="1"/>
              <a:t>Елітарне</a:t>
            </a:r>
            <a:r>
              <a:rPr lang="ru-RU" sz="2800" dirty="0"/>
              <a:t> </a:t>
            </a:r>
            <a:r>
              <a:rPr lang="ru-RU" sz="2800" dirty="0" err="1"/>
              <a:t>спілкування</a:t>
            </a:r>
            <a:r>
              <a:rPr lang="ru-RU" sz="2800" dirty="0"/>
              <a:t> все </a:t>
            </a:r>
            <a:r>
              <a:rPr lang="ru-RU" sz="2800" dirty="0" err="1"/>
              <a:t>більшою</a:t>
            </a:r>
            <a:r>
              <a:rPr lang="ru-RU" sz="2800" dirty="0"/>
              <a:t> </a:t>
            </a:r>
            <a:r>
              <a:rPr lang="ru-RU" sz="2800" dirty="0" err="1"/>
              <a:t>мірою</a:t>
            </a:r>
            <a:r>
              <a:rPr lang="ru-RU" sz="2800" dirty="0"/>
              <a:t> ставало </a:t>
            </a:r>
            <a:r>
              <a:rPr lang="ru-RU" sz="2800" dirty="0" err="1"/>
              <a:t>загальною</a:t>
            </a:r>
            <a:r>
              <a:rPr lang="ru-RU" sz="2800" dirty="0"/>
              <a:t> нормою демократичного </a:t>
            </a:r>
            <a:r>
              <a:rPr lang="ru-RU" sz="2800" dirty="0" err="1"/>
              <a:t>суспільства</a:t>
            </a:r>
            <a:r>
              <a:rPr lang="ru-RU" sz="2800" dirty="0"/>
              <a:t>. І </a:t>
            </a:r>
            <a:r>
              <a:rPr lang="ru-RU" sz="2800" dirty="0" err="1"/>
              <a:t>хоча</a:t>
            </a:r>
            <a:r>
              <a:rPr lang="ru-RU" sz="2800" dirty="0"/>
              <a:t> на </a:t>
            </a:r>
            <a:r>
              <a:rPr lang="ru-RU" sz="2800" dirty="0" err="1"/>
              <a:t>його</a:t>
            </a:r>
            <a:r>
              <a:rPr lang="ru-RU" sz="2800" dirty="0"/>
              <a:t> шляху </a:t>
            </a:r>
            <a:r>
              <a:rPr lang="ru-RU" sz="2800" dirty="0" err="1"/>
              <a:t>опинився</a:t>
            </a:r>
            <a:r>
              <a:rPr lang="ru-RU" sz="2800" dirty="0"/>
              <a:t> </a:t>
            </a:r>
            <a:r>
              <a:rPr lang="ru-RU" sz="2800" dirty="0" err="1"/>
              <a:t>дуже</a:t>
            </a:r>
            <a:r>
              <a:rPr lang="ru-RU" sz="2800" dirty="0"/>
              <a:t> </a:t>
            </a:r>
            <a:r>
              <a:rPr lang="ru-RU" sz="2800" dirty="0" err="1"/>
              <a:t>поширений</a:t>
            </a:r>
            <a:r>
              <a:rPr lang="ru-RU" sz="2800" dirty="0"/>
              <a:t> </a:t>
            </a:r>
            <a:r>
              <a:rPr lang="ru-RU" sz="2800" dirty="0" err="1"/>
              <a:t>негативістичний</a:t>
            </a:r>
            <a:r>
              <a:rPr lang="ru-RU" sz="2800" dirty="0"/>
              <a:t> тип, </a:t>
            </a:r>
            <a:r>
              <a:rPr lang="ru-RU" sz="2800" b="1" dirty="0" err="1"/>
              <a:t>демократичний</a:t>
            </a:r>
            <a:r>
              <a:rPr lang="ru-RU" sz="2800" b="1" dirty="0"/>
              <a:t> тип </a:t>
            </a:r>
            <a:r>
              <a:rPr lang="ru-RU" sz="2800" b="1" dirty="0" err="1"/>
              <a:t>спілкування</a:t>
            </a:r>
            <a:r>
              <a:rPr lang="ru-RU" sz="2800" b="1" dirty="0"/>
              <a:t> </a:t>
            </a:r>
            <a:r>
              <a:rPr lang="ru-RU" sz="2800" dirty="0" err="1"/>
              <a:t>поступово</a:t>
            </a:r>
            <a:r>
              <a:rPr lang="ru-RU" sz="2800" dirty="0"/>
              <a:t> </a:t>
            </a:r>
            <a:r>
              <a:rPr lang="ru-RU" sz="2800" dirty="0" err="1"/>
              <a:t>розповсюджується</a:t>
            </a:r>
            <a:r>
              <a:rPr lang="ru-RU" sz="2800" dirty="0"/>
              <a:t> і </a:t>
            </a:r>
            <a:r>
              <a:rPr lang="ru-RU" sz="2800" dirty="0" err="1"/>
              <a:t>йому</a:t>
            </a:r>
            <a:r>
              <a:rPr lang="ru-RU" sz="2800" dirty="0"/>
              <a:t>, </a:t>
            </a:r>
            <a:r>
              <a:rPr lang="ru-RU" sz="2800" dirty="0" err="1"/>
              <a:t>безумовно</a:t>
            </a:r>
            <a:r>
              <a:rPr lang="ru-RU" sz="2800" dirty="0"/>
              <a:t>, </a:t>
            </a:r>
            <a:r>
              <a:rPr lang="ru-RU" sz="2800" dirty="0" err="1"/>
              <a:t>належить</a:t>
            </a:r>
            <a:r>
              <a:rPr lang="ru-RU" sz="2800" dirty="0"/>
              <a:t> </a:t>
            </a:r>
            <a:r>
              <a:rPr lang="ru-RU" sz="2800" dirty="0" err="1" smtClean="0"/>
              <a:t>майбутнє</a:t>
            </a:r>
            <a:endParaRPr lang="ru-RU" sz="28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Демократичний </a:t>
            </a:r>
            <a:r>
              <a:rPr lang="uk-UA" sz="5400" b="1" i="1" dirty="0">
                <a:solidFill>
                  <a:schemeClr val="accent2"/>
                </a:solidFill>
              </a:rPr>
              <a:t>тип 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	</a:t>
            </a:r>
            <a:r>
              <a:rPr lang="ru-RU" b="1" dirty="0" err="1">
                <a:solidFill>
                  <a:schemeClr val="bg1"/>
                </a:solidFill>
              </a:rPr>
              <a:t>Демократичний</a:t>
            </a:r>
            <a:r>
              <a:rPr lang="ru-RU" b="1" dirty="0">
                <a:solidFill>
                  <a:schemeClr val="bg1"/>
                </a:solidFill>
              </a:rPr>
              <a:t> тип 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його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особистісна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спрямованість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525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Сприйняття</a:t>
            </a:r>
            <a:r>
              <a:rPr lang="ru-RU" sz="2800" dirty="0" smtClean="0"/>
              <a:t> </a:t>
            </a:r>
            <a:r>
              <a:rPr lang="ru-RU" sz="2800" dirty="0"/>
              <a:t>партнера як </a:t>
            </a:r>
            <a:r>
              <a:rPr lang="ru-RU" sz="2800" dirty="0" err="1"/>
              <a:t>індивідуальності</a:t>
            </a:r>
            <a:r>
              <a:rPr lang="ru-RU" sz="2800" dirty="0"/>
              <a:t>, а не </a:t>
            </a:r>
            <a:r>
              <a:rPr lang="ru-RU" sz="2800" dirty="0" err="1"/>
              <a:t>представника</a:t>
            </a:r>
            <a:r>
              <a:rPr lang="ru-RU" sz="2800" dirty="0"/>
              <a:t> </a:t>
            </a:r>
            <a:r>
              <a:rPr lang="ru-RU" sz="2800" dirty="0" err="1"/>
              <a:t>якоїсь</a:t>
            </a:r>
            <a:r>
              <a:rPr lang="ru-RU" sz="2800" dirty="0"/>
              <a:t> </a:t>
            </a:r>
            <a:r>
              <a:rPr lang="ru-RU" sz="2800" dirty="0" err="1"/>
              <a:t>соціальної</a:t>
            </a:r>
            <a:r>
              <a:rPr lang="ru-RU" sz="2800" dirty="0"/>
              <a:t> </a:t>
            </a:r>
            <a:r>
              <a:rPr lang="ru-RU" sz="2800" dirty="0" err="1"/>
              <a:t>категорії</a:t>
            </a:r>
            <a:r>
              <a:rPr lang="ru-RU" sz="2800" dirty="0"/>
              <a:t> </a:t>
            </a:r>
            <a:r>
              <a:rPr lang="ru-RU" sz="2800" dirty="0" err="1"/>
              <a:t>або</a:t>
            </a:r>
            <a:r>
              <a:rPr lang="ru-RU" sz="2800" dirty="0"/>
              <a:t> </a:t>
            </a:r>
            <a:r>
              <a:rPr lang="ru-RU" sz="2800" dirty="0" err="1" smtClean="0"/>
              <a:t>групи</a:t>
            </a:r>
            <a:endParaRPr lang="ru-RU" sz="2800" dirty="0" smtClean="0"/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«</a:t>
            </a:r>
            <a:r>
              <a:rPr lang="ru-RU" sz="2800" dirty="0" err="1" smtClean="0"/>
              <a:t>Презумпція</a:t>
            </a:r>
            <a:r>
              <a:rPr lang="ru-RU" sz="2800" dirty="0" smtClean="0"/>
              <a:t> </a:t>
            </a:r>
            <a:r>
              <a:rPr lang="ru-RU" sz="2800" dirty="0" err="1"/>
              <a:t>невинуватості</a:t>
            </a:r>
            <a:r>
              <a:rPr lang="ru-RU" sz="2800" dirty="0" smtClean="0"/>
              <a:t>»</a:t>
            </a:r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Позиція</a:t>
            </a:r>
            <a:r>
              <a:rPr lang="ru-RU" sz="2800" dirty="0" smtClean="0"/>
              <a:t> </a:t>
            </a:r>
            <a:r>
              <a:rPr lang="ru-RU" sz="2800" dirty="0" err="1"/>
              <a:t>рівності</a:t>
            </a:r>
            <a:r>
              <a:rPr lang="ru-RU" sz="2800" dirty="0"/>
              <a:t> </a:t>
            </a:r>
            <a:r>
              <a:rPr lang="ru-RU" sz="2800" dirty="0" err="1" smtClean="0"/>
              <a:t>партнерів</a:t>
            </a:r>
            <a:endParaRPr lang="ru-RU" sz="2800" dirty="0" smtClean="0"/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Достатня</a:t>
            </a:r>
            <a:r>
              <a:rPr lang="ru-RU" sz="2800" dirty="0" smtClean="0"/>
              <a:t> </a:t>
            </a:r>
            <a:r>
              <a:rPr lang="ru-RU" sz="2800" dirty="0" err="1" smtClean="0"/>
              <a:t>критичність</a:t>
            </a:r>
            <a:r>
              <a:rPr lang="ru-RU" sz="2800" dirty="0" smtClean="0"/>
              <a:t> </a:t>
            </a:r>
            <a:r>
              <a:rPr lang="ru-RU" sz="2800" dirty="0"/>
              <a:t>і </a:t>
            </a:r>
            <a:r>
              <a:rPr lang="ru-RU" sz="2800" dirty="0" err="1" smtClean="0"/>
              <a:t>здатність</a:t>
            </a:r>
            <a:r>
              <a:rPr lang="ru-RU" sz="2800" dirty="0" smtClean="0"/>
              <a:t> </a:t>
            </a:r>
            <a:r>
              <a:rPr lang="ru-RU" sz="2800" dirty="0"/>
              <a:t>не </a:t>
            </a:r>
            <a:r>
              <a:rPr lang="ru-RU" sz="2800" dirty="0" err="1"/>
              <a:t>піддаватися</a:t>
            </a:r>
            <a:r>
              <a:rPr lang="ru-RU" sz="2800" dirty="0"/>
              <a:t> </a:t>
            </a:r>
            <a:r>
              <a:rPr lang="ru-RU" sz="2800" dirty="0" err="1"/>
              <a:t>навіюванню</a:t>
            </a:r>
            <a:r>
              <a:rPr lang="ru-RU" sz="2800" dirty="0"/>
              <a:t> з боку будь-</a:t>
            </a:r>
            <a:r>
              <a:rPr lang="ru-RU" sz="2800" dirty="0" err="1"/>
              <a:t>якої</a:t>
            </a:r>
            <a:r>
              <a:rPr lang="ru-RU" sz="2800" dirty="0"/>
              <a:t> </a:t>
            </a:r>
            <a:r>
              <a:rPr lang="ru-RU" sz="2800" dirty="0" err="1"/>
              <a:t>соціально</a:t>
            </a:r>
            <a:r>
              <a:rPr lang="ru-RU" sz="2800" dirty="0"/>
              <a:t> </a:t>
            </a:r>
            <a:r>
              <a:rPr lang="ru-RU" sz="2800" dirty="0" err="1"/>
              <a:t>престижної</a:t>
            </a:r>
            <a:r>
              <a:rPr lang="ru-RU" sz="2800" dirty="0"/>
              <a:t> </a:t>
            </a:r>
            <a:r>
              <a:rPr lang="ru-RU" sz="2800" dirty="0" err="1" smtClean="0"/>
              <a:t>людини</a:t>
            </a:r>
            <a:endParaRPr lang="ru-RU" sz="2800" dirty="0" smtClean="0"/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i="1" dirty="0" err="1" smtClean="0"/>
              <a:t>Співрозмовникам</a:t>
            </a:r>
            <a:r>
              <a:rPr lang="ru-RU" sz="2800" i="1" dirty="0" smtClean="0"/>
              <a:t> </a:t>
            </a:r>
            <a:r>
              <a:rPr lang="ru-RU" sz="2800" b="1" i="1" dirty="0" smtClean="0"/>
              <a:t>не</a:t>
            </a:r>
            <a:r>
              <a:rPr lang="ru-RU" sz="2800" i="1" dirty="0" smtClean="0"/>
              <a:t> </a:t>
            </a:r>
            <a:r>
              <a:rPr lang="ru-RU" sz="2800" i="1" dirty="0" err="1"/>
              <a:t>притаманна</a:t>
            </a:r>
            <a:r>
              <a:rPr lang="ru-RU" sz="2800" i="1" dirty="0"/>
              <a:t> «</a:t>
            </a:r>
            <a:r>
              <a:rPr lang="ru-RU" sz="2800" i="1" dirty="0" err="1"/>
              <a:t>позиція</a:t>
            </a:r>
            <a:r>
              <a:rPr lang="ru-RU" sz="2800" i="1" dirty="0"/>
              <a:t> </a:t>
            </a:r>
            <a:r>
              <a:rPr lang="ru-RU" sz="2800" i="1" dirty="0" err="1"/>
              <a:t>сили</a:t>
            </a:r>
            <a:r>
              <a:rPr lang="ru-RU" sz="2800" i="1" dirty="0"/>
              <a:t>», </a:t>
            </a:r>
            <a:r>
              <a:rPr lang="ru-RU" sz="2800" i="1" dirty="0" err="1"/>
              <a:t>тобто</a:t>
            </a:r>
            <a:r>
              <a:rPr lang="ru-RU" sz="2800" i="1" dirty="0"/>
              <a:t> </a:t>
            </a:r>
            <a:r>
              <a:rPr lang="ru-RU" sz="2800" i="1" dirty="0" err="1"/>
              <a:t>прагнення</a:t>
            </a:r>
            <a:r>
              <a:rPr lang="ru-RU" sz="2800" i="1" dirty="0"/>
              <a:t> будь-</a:t>
            </a:r>
            <a:r>
              <a:rPr lang="ru-RU" sz="2800" i="1" dirty="0" err="1"/>
              <a:t>що</a:t>
            </a:r>
            <a:r>
              <a:rPr lang="ru-RU" sz="2800" i="1" dirty="0"/>
              <a:t> </a:t>
            </a:r>
            <a:r>
              <a:rPr lang="ru-RU" sz="2800" i="1" dirty="0" err="1"/>
              <a:t>домінувати</a:t>
            </a:r>
            <a:r>
              <a:rPr lang="ru-RU" sz="2800" i="1" dirty="0"/>
              <a:t> у </a:t>
            </a:r>
            <a:r>
              <a:rPr lang="ru-RU" sz="2800" i="1" dirty="0" err="1"/>
              <a:t>спілкуванні</a:t>
            </a:r>
            <a:endParaRPr lang="ru-RU" sz="2800" i="1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>
                <a:solidFill>
                  <a:schemeClr val="accent2"/>
                </a:solidFill>
              </a:rPr>
              <a:t>Принципи </a:t>
            </a:r>
            <a:r>
              <a:rPr lang="uk-UA" sz="4400" b="1" i="1" dirty="0" smtClean="0">
                <a:solidFill>
                  <a:schemeClr val="accent2"/>
                </a:solidFill>
              </a:rPr>
              <a:t>демократичного </a:t>
            </a:r>
            <a:r>
              <a:rPr lang="uk-UA" sz="4400" b="1" i="1" dirty="0">
                <a:solidFill>
                  <a:schemeClr val="accent2"/>
                </a:solidFill>
              </a:rPr>
              <a:t>спілкування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	</a:t>
            </a:r>
            <a:r>
              <a:rPr lang="ru-RU" b="1" dirty="0" err="1">
                <a:solidFill>
                  <a:schemeClr val="bg1"/>
                </a:solidFill>
              </a:rPr>
              <a:t>Демократичний</a:t>
            </a:r>
            <a:r>
              <a:rPr lang="ru-RU" b="1" dirty="0">
                <a:solidFill>
                  <a:schemeClr val="bg1"/>
                </a:solidFill>
              </a:rPr>
              <a:t> тип 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його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особистісна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спрямованість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85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/>
              <a:t>є </a:t>
            </a:r>
            <a:r>
              <a:rPr lang="ru-RU" sz="3600" dirty="0" err="1"/>
              <a:t>значним</a:t>
            </a:r>
            <a:r>
              <a:rPr lang="ru-RU" sz="3600" dirty="0"/>
              <a:t> </a:t>
            </a:r>
            <a:r>
              <a:rPr lang="ru-RU" sz="3600" dirty="0" err="1"/>
              <a:t>кроком</a:t>
            </a:r>
            <a:r>
              <a:rPr lang="ru-RU" sz="3600" dirty="0"/>
              <a:t> на шляху </a:t>
            </a:r>
            <a:r>
              <a:rPr lang="ru-RU" sz="3600" dirty="0" err="1"/>
              <a:t>гуманізації</a:t>
            </a:r>
            <a:r>
              <a:rPr lang="ru-RU" sz="3600" dirty="0"/>
              <a:t> </a:t>
            </a:r>
            <a:r>
              <a:rPr lang="ru-RU" sz="3600" dirty="0" err="1"/>
              <a:t>людських</a:t>
            </a:r>
            <a:r>
              <a:rPr lang="ru-RU" sz="3600" dirty="0"/>
              <a:t> </a:t>
            </a:r>
            <a:r>
              <a:rPr lang="ru-RU" sz="3600" dirty="0" err="1"/>
              <a:t>стосунків</a:t>
            </a:r>
            <a:r>
              <a:rPr lang="ru-RU" sz="3600" dirty="0"/>
              <a:t>. </a:t>
            </a:r>
            <a:r>
              <a:rPr lang="ru-RU" sz="3600" dirty="0" err="1"/>
              <a:t>Він</a:t>
            </a:r>
            <a:r>
              <a:rPr lang="ru-RU" sz="3600" dirty="0"/>
              <a:t> </a:t>
            </a:r>
            <a:r>
              <a:rPr lang="ru-RU" sz="3600" dirty="0" err="1"/>
              <a:t>показує</a:t>
            </a:r>
            <a:r>
              <a:rPr lang="ru-RU" sz="3600" dirty="0"/>
              <a:t> </a:t>
            </a:r>
            <a:r>
              <a:rPr lang="ru-RU" sz="3600" dirty="0" err="1"/>
              <a:t>зрослу</a:t>
            </a:r>
            <a:r>
              <a:rPr lang="ru-RU" sz="3600" dirty="0"/>
              <a:t> </a:t>
            </a:r>
            <a:r>
              <a:rPr lang="ru-RU" sz="3600" dirty="0" err="1"/>
              <a:t>цінність</a:t>
            </a:r>
            <a:r>
              <a:rPr lang="ru-RU" sz="3600" dirty="0"/>
              <a:t> </a:t>
            </a:r>
            <a:r>
              <a:rPr lang="ru-RU" sz="3600" dirty="0" err="1"/>
              <a:t>особистості</a:t>
            </a:r>
            <a:r>
              <a:rPr lang="ru-RU" sz="3600" dirty="0"/>
              <a:t> та </a:t>
            </a:r>
            <a:r>
              <a:rPr lang="ru-RU" sz="3600" dirty="0" err="1"/>
              <a:t>увагу</a:t>
            </a:r>
            <a:r>
              <a:rPr lang="ru-RU" sz="3600" dirty="0"/>
              <a:t> </a:t>
            </a:r>
            <a:r>
              <a:rPr lang="ru-RU" sz="3600" dirty="0" err="1"/>
              <a:t>суспільства</a:t>
            </a:r>
            <a:r>
              <a:rPr lang="ru-RU" sz="3600" dirty="0"/>
              <a:t> до </a:t>
            </a:r>
            <a:r>
              <a:rPr lang="ru-RU" sz="3600" dirty="0" err="1"/>
              <a:t>індивідуальних</a:t>
            </a:r>
            <a:r>
              <a:rPr lang="ru-RU" sz="3600" dirty="0"/>
              <a:t> </a:t>
            </a:r>
            <a:r>
              <a:rPr lang="ru-RU" sz="3600" dirty="0" err="1"/>
              <a:t>особливостей</a:t>
            </a:r>
            <a:r>
              <a:rPr lang="ru-RU" sz="3600" dirty="0"/>
              <a:t> </a:t>
            </a:r>
            <a:r>
              <a:rPr lang="ru-RU" sz="3600" dirty="0" err="1"/>
              <a:t>кожної</a:t>
            </a:r>
            <a:r>
              <a:rPr lang="ru-RU" sz="3600" dirty="0"/>
              <a:t> </a:t>
            </a:r>
            <a:r>
              <a:rPr lang="ru-RU" sz="3600" dirty="0" err="1"/>
              <a:t>людини</a:t>
            </a:r>
            <a:r>
              <a:rPr lang="ru-RU" sz="3600" dirty="0"/>
              <a:t>, </a:t>
            </a:r>
            <a:r>
              <a:rPr lang="ru-RU" sz="3600" dirty="0" err="1"/>
              <a:t>пом’якшення</a:t>
            </a:r>
            <a:r>
              <a:rPr lang="ru-RU" sz="3600" dirty="0"/>
              <a:t> установки на </a:t>
            </a:r>
            <a:r>
              <a:rPr lang="ru-RU" sz="3600" dirty="0" err="1"/>
              <a:t>боротьбу</a:t>
            </a:r>
            <a:r>
              <a:rPr lang="ru-RU" sz="3600" dirty="0"/>
              <a:t>, </a:t>
            </a:r>
            <a:r>
              <a:rPr lang="ru-RU" sz="3600" dirty="0" err="1"/>
              <a:t>розвиток</a:t>
            </a:r>
            <a:r>
              <a:rPr lang="ru-RU" sz="3600" dirty="0"/>
              <a:t> </a:t>
            </a:r>
            <a:r>
              <a:rPr lang="ru-RU" sz="3600" dirty="0" err="1"/>
              <a:t>культури</a:t>
            </a:r>
            <a:r>
              <a:rPr lang="ru-RU" sz="3600" dirty="0"/>
              <a:t> </a:t>
            </a:r>
            <a:r>
              <a:rPr lang="ru-RU" sz="3600" dirty="0" err="1"/>
              <a:t>самореалізації</a:t>
            </a:r>
            <a:r>
              <a:rPr lang="ru-RU" sz="3600" dirty="0"/>
              <a:t> і </a:t>
            </a:r>
            <a:r>
              <a:rPr lang="ru-RU" sz="3600" dirty="0" err="1"/>
              <a:t>збагачення</a:t>
            </a:r>
            <a:r>
              <a:rPr lang="ru-RU" sz="3600" dirty="0"/>
              <a:t> </a:t>
            </a:r>
            <a:r>
              <a:rPr lang="ru-RU" sz="3600" dirty="0" err="1"/>
              <a:t>духовних</a:t>
            </a:r>
            <a:r>
              <a:rPr lang="ru-RU" sz="3600" dirty="0"/>
              <a:t> потреб </a:t>
            </a:r>
            <a:r>
              <a:rPr lang="ru-RU" sz="3600" dirty="0" err="1" smtClean="0"/>
              <a:t>людини</a:t>
            </a:r>
            <a:endParaRPr lang="ru-RU" sz="36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Демократичний </a:t>
            </a:r>
            <a:r>
              <a:rPr lang="uk-UA" sz="5400" b="1" i="1" dirty="0">
                <a:solidFill>
                  <a:schemeClr val="accent2"/>
                </a:solidFill>
              </a:rPr>
              <a:t>тип 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	</a:t>
            </a:r>
            <a:r>
              <a:rPr lang="ru-RU" b="1" dirty="0" err="1">
                <a:solidFill>
                  <a:schemeClr val="bg1"/>
                </a:solidFill>
              </a:rPr>
              <a:t>Демократичний</a:t>
            </a:r>
            <a:r>
              <a:rPr lang="ru-RU" b="1" dirty="0">
                <a:solidFill>
                  <a:schemeClr val="bg1"/>
                </a:solidFill>
              </a:rPr>
              <a:t> тип </a:t>
            </a:r>
            <a:r>
              <a:rPr lang="ru-RU" b="1" dirty="0" err="1">
                <a:solidFill>
                  <a:schemeClr val="bg1"/>
                </a:solidFill>
              </a:rPr>
              <a:t>спілкування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його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особистісна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спрямованість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065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65225" lvl="0" indent="63023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 smtClean="0"/>
              <a:t>Альтруїстичне</a:t>
            </a:r>
            <a:endParaRPr lang="ru-RU" sz="4400" dirty="0" smtClean="0"/>
          </a:p>
          <a:p>
            <a:pPr marL="1165225" lvl="0" indent="63023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 smtClean="0"/>
              <a:t>Поступливо</a:t>
            </a:r>
            <a:r>
              <a:rPr lang="ru-RU" sz="4400" dirty="0" smtClean="0"/>
              <a:t> </a:t>
            </a:r>
            <a:r>
              <a:rPr lang="ru-RU" sz="4400" dirty="0" err="1" smtClean="0"/>
              <a:t>щире</a:t>
            </a:r>
            <a:endParaRPr lang="ru-RU" sz="4400" dirty="0" smtClean="0"/>
          </a:p>
          <a:p>
            <a:pPr marL="1165225" lvl="0" indent="63023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 smtClean="0"/>
              <a:t>Іронічно-гумористичне</a:t>
            </a:r>
            <a:endParaRPr lang="ru-RU" sz="4400" dirty="0" smtClean="0"/>
          </a:p>
          <a:p>
            <a:pPr marL="1165225" lvl="0" indent="63023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/>
              <a:t>Е</a:t>
            </a:r>
            <a:r>
              <a:rPr lang="ru-RU" sz="4400" dirty="0" err="1" smtClean="0"/>
              <a:t>гоцентричне</a:t>
            </a:r>
            <a:endParaRPr lang="ru-RU" sz="44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612322"/>
            <a:ext cx="11375571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Варіанти демократичного </a:t>
            </a:r>
            <a:r>
              <a:rPr lang="uk-UA" sz="5400" b="1" i="1" dirty="0">
                <a:solidFill>
                  <a:schemeClr val="accent2"/>
                </a:solidFill>
              </a:rPr>
              <a:t>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4.	</a:t>
            </a:r>
            <a:r>
              <a:rPr lang="ru-RU" b="1" dirty="0" err="1">
                <a:solidFill>
                  <a:schemeClr val="bg1"/>
                </a:solidFill>
              </a:rPr>
              <a:t>Представленість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історичних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типів</a:t>
            </a:r>
            <a:r>
              <a:rPr lang="ru-RU" b="1" dirty="0">
                <a:solidFill>
                  <a:schemeClr val="bg1"/>
                </a:solidFill>
              </a:rPr>
              <a:t> у </a:t>
            </a:r>
            <a:r>
              <a:rPr lang="ru-RU" b="1" dirty="0" err="1">
                <a:solidFill>
                  <a:schemeClr val="bg1"/>
                </a:solidFill>
              </a:rPr>
              <a:t>сучасному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спілкуванні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09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 err="1"/>
              <a:t>характеризується</a:t>
            </a:r>
            <a:r>
              <a:rPr lang="ru-RU" sz="3600" dirty="0"/>
              <a:t> не </a:t>
            </a:r>
            <a:r>
              <a:rPr lang="ru-RU" sz="3600" dirty="0" err="1"/>
              <a:t>тільки</a:t>
            </a:r>
            <a:r>
              <a:rPr lang="ru-RU" sz="3600" dirty="0"/>
              <a:t> </a:t>
            </a:r>
            <a:r>
              <a:rPr lang="ru-RU" sz="3600" dirty="0" err="1"/>
              <a:t>загальними</a:t>
            </a:r>
            <a:r>
              <a:rPr lang="ru-RU" sz="3600" dirty="0"/>
              <a:t> для демократичного типу </a:t>
            </a:r>
            <a:r>
              <a:rPr lang="ru-RU" sz="3600" dirty="0" err="1" smtClean="0"/>
              <a:t>особливостями</a:t>
            </a:r>
            <a:r>
              <a:rPr lang="ru-RU" sz="3600" dirty="0" smtClean="0"/>
              <a:t>, </a:t>
            </a:r>
            <a:r>
              <a:rPr lang="ru-RU" sz="3600" dirty="0"/>
              <a:t>але й </a:t>
            </a:r>
            <a:r>
              <a:rPr lang="ru-RU" sz="3600" dirty="0" err="1"/>
              <a:t>справжньою</a:t>
            </a:r>
            <a:r>
              <a:rPr lang="ru-RU" sz="3600" dirty="0"/>
              <a:t> </a:t>
            </a:r>
            <a:r>
              <a:rPr lang="ru-RU" sz="3600" dirty="0" err="1"/>
              <a:t>доброзичливістю</a:t>
            </a:r>
            <a:r>
              <a:rPr lang="ru-RU" sz="3600" dirty="0"/>
              <a:t>, яка </a:t>
            </a:r>
            <a:r>
              <a:rPr lang="ru-RU" sz="3600" dirty="0" err="1"/>
              <a:t>виявляється</a:t>
            </a:r>
            <a:r>
              <a:rPr lang="ru-RU" sz="3600" dirty="0"/>
              <a:t> у </a:t>
            </a:r>
            <a:r>
              <a:rPr lang="ru-RU" sz="3600" dirty="0" err="1"/>
              <a:t>прагненні</a:t>
            </a:r>
            <a:r>
              <a:rPr lang="ru-RU" sz="3600" dirty="0"/>
              <a:t> </a:t>
            </a:r>
            <a:r>
              <a:rPr lang="ru-RU" sz="3600" dirty="0" err="1"/>
              <a:t>допомогти</a:t>
            </a:r>
            <a:r>
              <a:rPr lang="ru-RU" sz="3600" dirty="0"/>
              <a:t> </a:t>
            </a:r>
            <a:r>
              <a:rPr lang="ru-RU" sz="3600" dirty="0" err="1"/>
              <a:t>співрозмовнику</a:t>
            </a:r>
            <a:r>
              <a:rPr lang="ru-RU" sz="3600" dirty="0"/>
              <a:t> </a:t>
            </a:r>
            <a:r>
              <a:rPr lang="ru-RU" sz="3600" dirty="0" err="1"/>
              <a:t>показати</a:t>
            </a:r>
            <a:r>
              <a:rPr lang="ru-RU" sz="3600" dirty="0"/>
              <a:t> себе у </a:t>
            </a:r>
            <a:r>
              <a:rPr lang="ru-RU" sz="3600" dirty="0" err="1"/>
              <a:t>найкращому</a:t>
            </a:r>
            <a:r>
              <a:rPr lang="ru-RU" sz="3600" dirty="0"/>
              <a:t> </a:t>
            </a:r>
            <a:r>
              <a:rPr lang="ru-RU" sz="3600" dirty="0" err="1" smtClean="0"/>
              <a:t>світлі</a:t>
            </a:r>
            <a:endParaRPr lang="ru-RU" sz="36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Альтруїстичне </a:t>
            </a:r>
            <a:r>
              <a:rPr lang="uk-UA" sz="5400" b="1" i="1" dirty="0">
                <a:solidFill>
                  <a:schemeClr val="accent2"/>
                </a:solidFill>
              </a:rPr>
              <a:t>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4.	</a:t>
            </a:r>
            <a:r>
              <a:rPr lang="ru-RU" b="1" dirty="0" err="1">
                <a:solidFill>
                  <a:schemeClr val="bg1"/>
                </a:solidFill>
              </a:rPr>
              <a:t>Представленість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історичних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типів</a:t>
            </a:r>
            <a:r>
              <a:rPr lang="ru-RU" b="1" dirty="0">
                <a:solidFill>
                  <a:schemeClr val="bg1"/>
                </a:solidFill>
              </a:rPr>
              <a:t> у </a:t>
            </a:r>
            <a:r>
              <a:rPr lang="ru-RU" b="1" dirty="0" err="1">
                <a:solidFill>
                  <a:schemeClr val="bg1"/>
                </a:solidFill>
              </a:rPr>
              <a:t>сучасному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спілкуванні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707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/>
              <a:t>на </a:t>
            </a:r>
            <a:r>
              <a:rPr lang="ru-RU" sz="3600" dirty="0" err="1"/>
              <a:t>загальні</a:t>
            </a:r>
            <a:r>
              <a:rPr lang="ru-RU" sz="3600" dirty="0"/>
              <a:t> </a:t>
            </a:r>
            <a:r>
              <a:rPr lang="ru-RU" sz="3600" dirty="0" err="1"/>
              <a:t>особливості</a:t>
            </a:r>
            <a:r>
              <a:rPr lang="ru-RU" sz="3600" dirty="0"/>
              <a:t> демократичного стилю </a:t>
            </a:r>
            <a:r>
              <a:rPr lang="ru-RU" sz="3600" dirty="0" err="1"/>
              <a:t>накладається</a:t>
            </a:r>
            <a:r>
              <a:rPr lang="ru-RU" sz="3600" dirty="0"/>
              <a:t> </a:t>
            </a:r>
            <a:r>
              <a:rPr lang="ru-RU" sz="3600" dirty="0" err="1"/>
              <a:t>підвищена</a:t>
            </a:r>
            <a:r>
              <a:rPr lang="ru-RU" sz="3600" dirty="0"/>
              <a:t> </a:t>
            </a:r>
            <a:r>
              <a:rPr lang="ru-RU" sz="3600" dirty="0" err="1"/>
              <a:t>критичність</a:t>
            </a:r>
            <a:r>
              <a:rPr lang="ru-RU" sz="3600" dirty="0"/>
              <a:t> до себе і </a:t>
            </a:r>
            <a:r>
              <a:rPr lang="ru-RU" sz="3600" dirty="0" err="1"/>
              <a:t>схильність</a:t>
            </a:r>
            <a:r>
              <a:rPr lang="ru-RU" sz="3600" dirty="0"/>
              <a:t> до </a:t>
            </a:r>
            <a:r>
              <a:rPr lang="ru-RU" sz="3600" dirty="0" err="1"/>
              <a:t>самоаналізу</a:t>
            </a:r>
            <a:r>
              <a:rPr lang="ru-RU" sz="3600" dirty="0"/>
              <a:t>, </a:t>
            </a:r>
            <a:r>
              <a:rPr lang="ru-RU" sz="3600" dirty="0" err="1"/>
              <a:t>що</a:t>
            </a:r>
            <a:r>
              <a:rPr lang="ru-RU" sz="3600" dirty="0"/>
              <a:t> </a:t>
            </a:r>
            <a:r>
              <a:rPr lang="ru-RU" sz="3600" dirty="0" err="1"/>
              <a:t>надає</a:t>
            </a:r>
            <a:r>
              <a:rPr lang="ru-RU" sz="3600" dirty="0"/>
              <a:t> </a:t>
            </a:r>
            <a:r>
              <a:rPr lang="ru-RU" sz="3600" dirty="0" err="1"/>
              <a:t>спілкуванню</a:t>
            </a:r>
            <a:r>
              <a:rPr lang="ru-RU" sz="3600" dirty="0"/>
              <a:t> з такою </a:t>
            </a:r>
            <a:r>
              <a:rPr lang="ru-RU" sz="3600" dirty="0" err="1"/>
              <a:t>людиною</a:t>
            </a:r>
            <a:r>
              <a:rPr lang="ru-RU" sz="3600" dirty="0"/>
              <a:t> </a:t>
            </a:r>
            <a:r>
              <a:rPr lang="ru-RU" sz="3600" dirty="0" err="1"/>
              <a:t>тональність</a:t>
            </a:r>
            <a:r>
              <a:rPr lang="ru-RU" sz="3600" dirty="0"/>
              <a:t> </a:t>
            </a:r>
            <a:r>
              <a:rPr lang="ru-RU" sz="3600" dirty="0" err="1"/>
              <a:t>особливої</a:t>
            </a:r>
            <a:r>
              <a:rPr lang="ru-RU" sz="3600" dirty="0"/>
              <a:t> </a:t>
            </a:r>
            <a:r>
              <a:rPr lang="ru-RU" sz="3600" dirty="0" err="1"/>
              <a:t>довірливості</a:t>
            </a:r>
            <a:r>
              <a:rPr lang="ru-RU" sz="3600" dirty="0"/>
              <a:t>, </a:t>
            </a:r>
            <a:r>
              <a:rPr lang="ru-RU" sz="3600" dirty="0" err="1"/>
              <a:t>м’якості</a:t>
            </a:r>
            <a:r>
              <a:rPr lang="ru-RU" sz="3600" dirty="0"/>
              <a:t> та </a:t>
            </a:r>
            <a:r>
              <a:rPr lang="ru-RU" sz="3600" dirty="0" err="1"/>
              <a:t>відкритості</a:t>
            </a:r>
            <a:endParaRPr lang="ru-RU" sz="36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Поступливо щире </a:t>
            </a:r>
            <a:r>
              <a:rPr lang="uk-UA" sz="5400" b="1" i="1" dirty="0">
                <a:solidFill>
                  <a:schemeClr val="accent2"/>
                </a:solidFill>
              </a:rPr>
              <a:t>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4.	</a:t>
            </a:r>
            <a:r>
              <a:rPr lang="ru-RU" b="1" dirty="0" err="1">
                <a:solidFill>
                  <a:schemeClr val="bg1"/>
                </a:solidFill>
              </a:rPr>
              <a:t>Представленість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історичних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типів</a:t>
            </a:r>
            <a:r>
              <a:rPr lang="ru-RU" b="1" dirty="0">
                <a:solidFill>
                  <a:schemeClr val="bg1"/>
                </a:solidFill>
              </a:rPr>
              <a:t> у </a:t>
            </a:r>
            <a:r>
              <a:rPr lang="ru-RU" b="1" dirty="0" err="1">
                <a:solidFill>
                  <a:schemeClr val="bg1"/>
                </a:solidFill>
              </a:rPr>
              <a:t>сучасному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спілкуванні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588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800" dirty="0" err="1" smtClean="0"/>
              <a:t>властиве</a:t>
            </a:r>
            <a:r>
              <a:rPr lang="ru-RU" sz="4800" dirty="0" smtClean="0"/>
              <a:t> </a:t>
            </a:r>
            <a:r>
              <a:rPr lang="ru-RU" sz="4800" dirty="0"/>
              <a:t>людям </a:t>
            </a:r>
            <a:r>
              <a:rPr lang="ru-RU" sz="4800" dirty="0" err="1"/>
              <a:t>певного</a:t>
            </a:r>
            <a:r>
              <a:rPr lang="ru-RU" sz="4800" dirty="0"/>
              <a:t> </a:t>
            </a:r>
            <a:r>
              <a:rPr lang="ru-RU" sz="4800" dirty="0" err="1"/>
              <a:t>психічного</a:t>
            </a:r>
            <a:r>
              <a:rPr lang="ru-RU" sz="4800" dirty="0"/>
              <a:t> складу, </a:t>
            </a:r>
            <a:r>
              <a:rPr lang="ru-RU" sz="4800" dirty="0" err="1"/>
              <a:t>які</a:t>
            </a:r>
            <a:r>
              <a:rPr lang="ru-RU" sz="4800" dirty="0"/>
              <a:t> </a:t>
            </a:r>
            <a:r>
              <a:rPr lang="ru-RU" sz="4800" dirty="0" err="1"/>
              <a:t>відрізняються</a:t>
            </a:r>
            <a:r>
              <a:rPr lang="ru-RU" sz="4800" dirty="0"/>
              <a:t> </a:t>
            </a:r>
            <a:r>
              <a:rPr lang="ru-RU" sz="4800" dirty="0" err="1"/>
              <a:t>чутливістю</a:t>
            </a:r>
            <a:r>
              <a:rPr lang="ru-RU" sz="4800" dirty="0"/>
              <a:t> до </a:t>
            </a:r>
            <a:r>
              <a:rPr lang="ru-RU" sz="4800" dirty="0" err="1"/>
              <a:t>протиріч</a:t>
            </a:r>
            <a:r>
              <a:rPr lang="ru-RU" sz="4800" dirty="0"/>
              <a:t> і тонким </a:t>
            </a:r>
            <a:r>
              <a:rPr lang="ru-RU" sz="4800" dirty="0" err="1"/>
              <a:t>сприйняттям</a:t>
            </a:r>
            <a:r>
              <a:rPr lang="ru-RU" sz="4800" dirty="0"/>
              <a:t> </a:t>
            </a:r>
            <a:r>
              <a:rPr lang="ru-RU" sz="4800" dirty="0" smtClean="0"/>
              <a:t>слова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4" y="612322"/>
            <a:ext cx="10350657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>
                <a:solidFill>
                  <a:schemeClr val="accent2"/>
                </a:solidFill>
              </a:rPr>
              <a:t>І</a:t>
            </a:r>
            <a:r>
              <a:rPr lang="uk-UA" sz="5400" b="1" i="1" dirty="0" smtClean="0">
                <a:solidFill>
                  <a:schemeClr val="accent2"/>
                </a:solidFill>
              </a:rPr>
              <a:t>ронічно-гумористичне 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4.	</a:t>
            </a:r>
            <a:r>
              <a:rPr lang="ru-RU" b="1" dirty="0" err="1">
                <a:solidFill>
                  <a:schemeClr val="bg1"/>
                </a:solidFill>
              </a:rPr>
              <a:t>Представленість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історичних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типів</a:t>
            </a:r>
            <a:r>
              <a:rPr lang="ru-RU" b="1" dirty="0">
                <a:solidFill>
                  <a:schemeClr val="bg1"/>
                </a:solidFill>
              </a:rPr>
              <a:t> у </a:t>
            </a:r>
            <a:r>
              <a:rPr lang="ru-RU" b="1" dirty="0" err="1">
                <a:solidFill>
                  <a:schemeClr val="bg1"/>
                </a:solidFill>
              </a:rPr>
              <a:t>сучасному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спілкуванні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443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000" dirty="0" smtClean="0"/>
              <a:t>головною </a:t>
            </a:r>
            <a:r>
              <a:rPr lang="ru-RU" sz="4000" dirty="0" err="1"/>
              <a:t>особливістю</a:t>
            </a:r>
            <a:r>
              <a:rPr lang="ru-RU" sz="4000" dirty="0"/>
              <a:t> </a:t>
            </a:r>
            <a:r>
              <a:rPr lang="ru-RU" sz="4000" dirty="0" smtClean="0"/>
              <a:t>є </a:t>
            </a:r>
            <a:r>
              <a:rPr lang="ru-RU" sz="4000" dirty="0" err="1"/>
              <a:t>непорушна</a:t>
            </a:r>
            <a:r>
              <a:rPr lang="ru-RU" sz="4000" dirty="0"/>
              <a:t> </a:t>
            </a:r>
            <a:r>
              <a:rPr lang="ru-RU" sz="4000" dirty="0" err="1"/>
              <a:t>впевненість</a:t>
            </a:r>
            <a:r>
              <a:rPr lang="ru-RU" sz="4000" dirty="0"/>
              <a:t> </a:t>
            </a:r>
            <a:r>
              <a:rPr lang="ru-RU" sz="4000" dirty="0" err="1"/>
              <a:t>суб’єкта</a:t>
            </a:r>
            <a:r>
              <a:rPr lang="ru-RU" sz="4000" dirty="0"/>
              <a:t> у </a:t>
            </a:r>
            <a:r>
              <a:rPr lang="ru-RU" sz="4000" dirty="0" err="1"/>
              <a:t>цінності</a:t>
            </a:r>
            <a:r>
              <a:rPr lang="ru-RU" sz="4000" dirty="0"/>
              <a:t> </a:t>
            </a:r>
            <a:r>
              <a:rPr lang="ru-RU" sz="4000" dirty="0" err="1"/>
              <a:t>свого</a:t>
            </a:r>
            <a:r>
              <a:rPr lang="ru-RU" sz="4000" dirty="0"/>
              <a:t> </a:t>
            </a:r>
            <a:r>
              <a:rPr lang="ru-RU" sz="4000" dirty="0" err="1"/>
              <a:t>життєвого</a:t>
            </a:r>
            <a:r>
              <a:rPr lang="ru-RU" sz="4000" dirty="0"/>
              <a:t> </a:t>
            </a:r>
            <a:r>
              <a:rPr lang="ru-RU" sz="4000" dirty="0" err="1"/>
              <a:t>досвіду</a:t>
            </a:r>
            <a:r>
              <a:rPr lang="ru-RU" sz="4000" dirty="0"/>
              <a:t> і </a:t>
            </a:r>
            <a:r>
              <a:rPr lang="ru-RU" sz="4000" dirty="0" err="1"/>
              <a:t>вірності</a:t>
            </a:r>
            <a:r>
              <a:rPr lang="ru-RU" sz="4000" dirty="0"/>
              <a:t> </a:t>
            </a:r>
            <a:r>
              <a:rPr lang="ru-RU" sz="4000" dirty="0" err="1"/>
              <a:t>оцінок</a:t>
            </a:r>
            <a:r>
              <a:rPr lang="ru-RU" sz="4000" dirty="0"/>
              <a:t> </a:t>
            </a:r>
            <a:r>
              <a:rPr lang="ru-RU" sz="4000" dirty="0" err="1"/>
              <a:t>основних</a:t>
            </a:r>
            <a:r>
              <a:rPr lang="ru-RU" sz="4000" dirty="0"/>
              <a:t> </a:t>
            </a:r>
            <a:r>
              <a:rPr lang="ru-RU" sz="4000" dirty="0" err="1"/>
              <a:t>життєвих</a:t>
            </a:r>
            <a:r>
              <a:rPr lang="ru-RU" sz="4000" dirty="0"/>
              <a:t> </a:t>
            </a:r>
            <a:r>
              <a:rPr lang="ru-RU" sz="4000" dirty="0" err="1"/>
              <a:t>явищ</a:t>
            </a:r>
            <a:r>
              <a:rPr lang="ru-RU" sz="4000" dirty="0"/>
              <a:t>, </a:t>
            </a:r>
            <a:r>
              <a:rPr lang="ru-RU" sz="4000" dirty="0" err="1"/>
              <a:t>тобто</a:t>
            </a:r>
            <a:r>
              <a:rPr lang="ru-RU" sz="4000" dirty="0"/>
              <a:t> </a:t>
            </a:r>
            <a:r>
              <a:rPr lang="ru-RU" sz="4000" dirty="0" err="1"/>
              <a:t>немовби</a:t>
            </a:r>
            <a:r>
              <a:rPr lang="ru-RU" sz="4000" dirty="0"/>
              <a:t> </a:t>
            </a:r>
            <a:r>
              <a:rPr lang="ru-RU" sz="4000" dirty="0" err="1"/>
              <a:t>закритість</a:t>
            </a:r>
            <a:r>
              <a:rPr lang="ru-RU" sz="4000" dirty="0"/>
              <a:t> для критики та </a:t>
            </a:r>
            <a:r>
              <a:rPr lang="ru-RU" sz="4000" dirty="0" err="1"/>
              <a:t>зміни</a:t>
            </a:r>
            <a:r>
              <a:rPr lang="ru-RU" sz="4000" dirty="0"/>
              <a:t> </a:t>
            </a:r>
            <a:r>
              <a:rPr lang="ru-RU" sz="4000" dirty="0" err="1" smtClean="0"/>
              <a:t>поглядів</a:t>
            </a:r>
            <a:endParaRPr lang="ru-RU" sz="40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4" y="612322"/>
            <a:ext cx="10350657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Егоцентричне спілкування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4.	</a:t>
            </a:r>
            <a:r>
              <a:rPr lang="ru-RU" b="1" dirty="0" err="1">
                <a:solidFill>
                  <a:schemeClr val="bg1"/>
                </a:solidFill>
              </a:rPr>
              <a:t>Представленість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історичних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типів</a:t>
            </a:r>
            <a:r>
              <a:rPr lang="ru-RU" b="1" dirty="0">
                <a:solidFill>
                  <a:schemeClr val="bg1"/>
                </a:solidFill>
              </a:rPr>
              <a:t> у </a:t>
            </a:r>
            <a:r>
              <a:rPr lang="ru-RU" b="1" dirty="0" err="1">
                <a:solidFill>
                  <a:schemeClr val="bg1"/>
                </a:solidFill>
              </a:rPr>
              <a:t>сучасному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спілкуванні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4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1825853"/>
            <a:ext cx="10407783" cy="503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</a:pPr>
            <a:r>
              <a:rPr lang="ru-RU" sz="3200" b="1" dirty="0" smtClean="0"/>
              <a:t>План</a:t>
            </a:r>
          </a:p>
          <a:p>
            <a:pPr marL="571500" lvl="0" indent="-571500">
              <a:spcAft>
                <a:spcPts val="600"/>
              </a:spcAft>
              <a:buFont typeface="+mj-lt"/>
              <a:buAutoNum type="arabicPeriod"/>
            </a:pPr>
            <a:r>
              <a:rPr lang="ru-RU" sz="3200" dirty="0" err="1" smtClean="0"/>
              <a:t>Особливості</a:t>
            </a:r>
            <a:r>
              <a:rPr lang="ru-RU" sz="3200" dirty="0" smtClean="0"/>
              <a:t> </a:t>
            </a:r>
            <a:r>
              <a:rPr lang="ru-RU" sz="3200" dirty="0"/>
              <a:t>феномену </a:t>
            </a:r>
            <a:r>
              <a:rPr lang="ru-RU" sz="3200" dirty="0" err="1"/>
              <a:t>комунікації</a:t>
            </a:r>
            <a:r>
              <a:rPr lang="ru-RU" sz="3200" dirty="0"/>
              <a:t> в </a:t>
            </a:r>
            <a:r>
              <a:rPr lang="ru-RU" sz="3200" dirty="0" err="1"/>
              <a:t>інформаційному</a:t>
            </a:r>
            <a:r>
              <a:rPr lang="ru-RU" sz="3200" dirty="0"/>
              <a:t> </a:t>
            </a:r>
            <a:r>
              <a:rPr lang="ru-RU" sz="3200" dirty="0" err="1"/>
              <a:t>суспільстві</a:t>
            </a:r>
            <a:r>
              <a:rPr lang="ru-RU" sz="3200" dirty="0"/>
              <a:t>.</a:t>
            </a:r>
          </a:p>
          <a:p>
            <a:pPr marL="571500" lvl="0" indent="-571500">
              <a:spcAft>
                <a:spcPts val="600"/>
              </a:spcAft>
              <a:buFont typeface="+mj-lt"/>
              <a:buAutoNum type="arabicPeriod"/>
            </a:pPr>
            <a:r>
              <a:rPr lang="ru-RU" sz="3200" dirty="0" err="1" smtClean="0"/>
              <a:t>Комунікативні</a:t>
            </a:r>
            <a:r>
              <a:rPr lang="ru-RU" sz="3200" dirty="0" smtClean="0"/>
              <a:t> </a:t>
            </a:r>
            <a:r>
              <a:rPr lang="ru-RU" sz="3200" dirty="0" err="1"/>
              <a:t>технології</a:t>
            </a:r>
            <a:r>
              <a:rPr lang="ru-RU" sz="3200" dirty="0"/>
              <a:t>: структура, </a:t>
            </a:r>
            <a:r>
              <a:rPr lang="ru-RU" sz="3200" dirty="0" err="1"/>
              <a:t>функції</a:t>
            </a:r>
            <a:r>
              <a:rPr lang="ru-RU" sz="3200" dirty="0"/>
              <a:t>, </a:t>
            </a:r>
            <a:r>
              <a:rPr lang="ru-RU" sz="3200" dirty="0" err="1"/>
              <a:t>типи</a:t>
            </a:r>
            <a:r>
              <a:rPr lang="ru-RU" sz="3200" dirty="0"/>
              <a:t>, </a:t>
            </a:r>
            <a:r>
              <a:rPr lang="ru-RU" sz="3200" dirty="0" err="1"/>
              <a:t>специфіка</a:t>
            </a:r>
            <a:r>
              <a:rPr lang="ru-RU" sz="3200" dirty="0"/>
              <a:t> </a:t>
            </a:r>
            <a:r>
              <a:rPr lang="ru-RU" sz="3200" dirty="0" err="1"/>
              <a:t>застосування</a:t>
            </a:r>
            <a:r>
              <a:rPr lang="ru-RU" sz="3200" dirty="0"/>
              <a:t>.</a:t>
            </a:r>
          </a:p>
          <a:p>
            <a:pPr marL="571500" lvl="0" indent="-571500">
              <a:spcAft>
                <a:spcPts val="600"/>
              </a:spcAft>
              <a:buFont typeface="+mj-lt"/>
              <a:buAutoNum type="arabicPeriod"/>
            </a:pPr>
            <a:r>
              <a:rPr lang="ru-RU" sz="3200" dirty="0" err="1" smtClean="0"/>
              <a:t>Поняття</a:t>
            </a:r>
            <a:r>
              <a:rPr lang="ru-RU" sz="3200" dirty="0" smtClean="0"/>
              <a:t> </a:t>
            </a:r>
            <a:r>
              <a:rPr lang="ru-RU" sz="3200" dirty="0"/>
              <a:t>«</a:t>
            </a:r>
            <a:r>
              <a:rPr lang="ru-RU" sz="3200" dirty="0" err="1"/>
              <a:t>комунікативне</a:t>
            </a:r>
            <a:r>
              <a:rPr lang="ru-RU" sz="3200" dirty="0"/>
              <a:t> </a:t>
            </a:r>
            <a:r>
              <a:rPr lang="ru-RU" sz="3200" dirty="0" err="1"/>
              <a:t>середовище</a:t>
            </a:r>
            <a:r>
              <a:rPr lang="ru-RU" sz="3200" dirty="0"/>
              <a:t>», «</a:t>
            </a:r>
            <a:r>
              <a:rPr lang="ru-RU" sz="3200" dirty="0" err="1"/>
              <a:t>комунікативна</a:t>
            </a:r>
            <a:r>
              <a:rPr lang="ru-RU" sz="3200" dirty="0"/>
              <a:t> </a:t>
            </a:r>
            <a:r>
              <a:rPr lang="ru-RU" sz="3200" dirty="0" err="1"/>
              <a:t>діяльність</a:t>
            </a:r>
            <a:r>
              <a:rPr lang="ru-RU" sz="3200" dirty="0"/>
              <a:t>», «</a:t>
            </a:r>
            <a:r>
              <a:rPr lang="ru-RU" sz="3200" dirty="0" err="1"/>
              <a:t>комунікативний</a:t>
            </a:r>
            <a:r>
              <a:rPr lang="ru-RU" sz="3200" dirty="0"/>
              <a:t> </a:t>
            </a:r>
            <a:r>
              <a:rPr lang="ru-RU" sz="3200" dirty="0" err="1"/>
              <a:t>процес</a:t>
            </a:r>
            <a:r>
              <a:rPr lang="ru-RU" sz="3200" dirty="0"/>
              <a:t>», «</a:t>
            </a:r>
            <a:r>
              <a:rPr lang="ru-RU" sz="3200" dirty="0" err="1"/>
              <a:t>комунікативний</a:t>
            </a:r>
            <a:r>
              <a:rPr lang="ru-RU" sz="3200" dirty="0"/>
              <a:t> акт».</a:t>
            </a:r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sz="40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2" y="645929"/>
            <a:ext cx="10350657" cy="881743"/>
          </a:xfrm>
        </p:spPr>
        <p:txBody>
          <a:bodyPr>
            <a:noAutofit/>
          </a:bodyPr>
          <a:lstStyle/>
          <a:p>
            <a:pPr algn="ctr"/>
            <a:r>
              <a:rPr lang="ru-RU" sz="3200" b="1" i="1" dirty="0" err="1">
                <a:solidFill>
                  <a:schemeClr val="accent2"/>
                </a:solidFill>
              </a:rPr>
              <a:t>Практичне</a:t>
            </a:r>
            <a:r>
              <a:rPr lang="ru-RU" sz="3200" b="1" i="1" dirty="0">
                <a:solidFill>
                  <a:schemeClr val="accent2"/>
                </a:solidFill>
              </a:rPr>
              <a:t> </a:t>
            </a:r>
            <a:r>
              <a:rPr lang="ru-RU" sz="3200" b="1" i="1" dirty="0" err="1">
                <a:solidFill>
                  <a:schemeClr val="accent2"/>
                </a:solidFill>
              </a:rPr>
              <a:t>заняття</a:t>
            </a:r>
            <a:r>
              <a:rPr lang="ru-RU" sz="3200" b="1" i="1" dirty="0">
                <a:solidFill>
                  <a:schemeClr val="accent2"/>
                </a:solidFill>
              </a:rPr>
              <a:t> 1. </a:t>
            </a:r>
            <a:r>
              <a:rPr lang="ru-RU" sz="3200" b="1" i="1" dirty="0" err="1">
                <a:solidFill>
                  <a:schemeClr val="accent2"/>
                </a:solidFill>
              </a:rPr>
              <a:t>Комунікативні</a:t>
            </a:r>
            <a:r>
              <a:rPr lang="ru-RU" sz="3200" b="1" i="1" dirty="0">
                <a:solidFill>
                  <a:schemeClr val="accent2"/>
                </a:solidFill>
              </a:rPr>
              <a:t> </a:t>
            </a:r>
            <a:r>
              <a:rPr lang="ru-RU" sz="3200" b="1" i="1" dirty="0" err="1">
                <a:solidFill>
                  <a:schemeClr val="accent2"/>
                </a:solidFill>
              </a:rPr>
              <a:t>технології</a:t>
            </a:r>
            <a:r>
              <a:rPr lang="ru-RU" sz="3200" b="1" i="1" dirty="0">
                <a:solidFill>
                  <a:schemeClr val="accent2"/>
                </a:solidFill>
              </a:rPr>
              <a:t>. </a:t>
            </a:r>
            <a:r>
              <a:rPr lang="ru-RU" sz="3200" b="1" i="1" dirty="0" err="1">
                <a:solidFill>
                  <a:schemeClr val="accent2"/>
                </a:solidFill>
              </a:rPr>
              <a:t>Особливості</a:t>
            </a:r>
            <a:r>
              <a:rPr lang="ru-RU" sz="3200" b="1" i="1" dirty="0">
                <a:solidFill>
                  <a:schemeClr val="accent2"/>
                </a:solidFill>
              </a:rPr>
              <a:t> </a:t>
            </a:r>
            <a:r>
              <a:rPr lang="ru-RU" sz="3200" b="1" i="1" dirty="0" err="1">
                <a:solidFill>
                  <a:schemeClr val="accent2"/>
                </a:solidFill>
              </a:rPr>
              <a:t>організації</a:t>
            </a:r>
            <a:r>
              <a:rPr lang="ru-RU" sz="3200" b="1" i="1" dirty="0">
                <a:solidFill>
                  <a:schemeClr val="accent2"/>
                </a:solidFill>
              </a:rPr>
              <a:t> </a:t>
            </a:r>
            <a:r>
              <a:rPr lang="ru-RU" sz="3200" b="1" i="1" dirty="0" err="1">
                <a:solidFill>
                  <a:schemeClr val="accent2"/>
                </a:solidFill>
              </a:rPr>
              <a:t>комунікативного</a:t>
            </a:r>
            <a:r>
              <a:rPr lang="ru-RU" sz="3200" b="1" i="1" dirty="0">
                <a:solidFill>
                  <a:schemeClr val="accent2"/>
                </a:solidFill>
              </a:rPr>
              <a:t> простору</a:t>
            </a:r>
            <a:r>
              <a:rPr lang="ru-RU" sz="3200" b="1" i="1" dirty="0" smtClean="0">
                <a:solidFill>
                  <a:schemeClr val="accent2"/>
                </a:solidFill>
              </a:rPr>
              <a:t>.</a:t>
            </a:r>
            <a:endParaRPr lang="ru-RU" sz="3200" b="1" i="1" dirty="0">
              <a:solidFill>
                <a:schemeClr val="accent2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37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91EE9B-E928-488D-8980-91FF8724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25362"/>
          </a:xfrm>
        </p:spPr>
        <p:txBody>
          <a:bodyPr>
            <a:normAutofit/>
          </a:bodyPr>
          <a:lstStyle/>
          <a:p>
            <a:pPr algn="ctr"/>
            <a:r>
              <a:rPr lang="uk-UA" sz="5000" b="1" dirty="0">
                <a:solidFill>
                  <a:schemeClr val="accent2"/>
                </a:solidFill>
              </a:rPr>
              <a:t>КОНТАКТИ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7931DD3-D8E8-4E10-BB81-0D92ED1D9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96886"/>
            <a:ext cx="10058400" cy="3572208"/>
          </a:xfrm>
        </p:spPr>
        <p:txBody>
          <a:bodyPr/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uk-UA" b="1" dirty="0">
                <a:solidFill>
                  <a:schemeClr val="accent2"/>
                </a:solidFill>
              </a:rPr>
              <a:t>Адреса: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dirty="0"/>
              <a:t>м. </a:t>
            </a:r>
            <a:r>
              <a:rPr lang="ru-RU" dirty="0" err="1"/>
              <a:t>Чернівці</a:t>
            </a:r>
            <a:r>
              <a:rPr lang="ru-RU" dirty="0"/>
              <a:t>, </a:t>
            </a:r>
            <a:r>
              <a:rPr lang="ru-RU" dirty="0" err="1"/>
              <a:t>вул</a:t>
            </a:r>
            <a:r>
              <a:rPr lang="ru-RU" dirty="0"/>
              <a:t>. </a:t>
            </a:r>
            <a:r>
              <a:rPr lang="ru-RU" dirty="0" err="1"/>
              <a:t>Рівненська</a:t>
            </a:r>
            <a:r>
              <a:rPr lang="ru-RU" dirty="0"/>
              <a:t>, 14, корпус № 8, </a:t>
            </a:r>
            <a:r>
              <a:rPr lang="ru-RU" dirty="0" err="1"/>
              <a:t>кабінет</a:t>
            </a:r>
            <a:r>
              <a:rPr lang="ru-RU" dirty="0"/>
              <a:t> </a:t>
            </a:r>
            <a:r>
              <a:rPr lang="ru-RU" dirty="0" smtClean="0"/>
              <a:t>604 </a:t>
            </a:r>
            <a:endParaRPr lang="ru-RU" dirty="0"/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b="1" dirty="0">
                <a:solidFill>
                  <a:schemeClr val="accent2"/>
                </a:solidFill>
              </a:rPr>
              <a:t>Телефон: </a:t>
            </a:r>
            <a:r>
              <a:rPr lang="ru-RU" dirty="0"/>
              <a:t>+(380) </a:t>
            </a:r>
            <a:r>
              <a:rPr lang="uk-UA" dirty="0" smtClean="0"/>
              <a:t>50 </a:t>
            </a:r>
            <a:r>
              <a:rPr lang="uk-UA" dirty="0" smtClean="0"/>
              <a:t>8077918 </a:t>
            </a:r>
            <a:r>
              <a:rPr lang="uk-UA" dirty="0" smtClean="0"/>
              <a:t>– </a:t>
            </a:r>
            <a:r>
              <a:rPr lang="uk-UA" b="1" dirty="0" err="1" smtClean="0"/>
              <a:t>Равлюк</a:t>
            </a:r>
            <a:r>
              <a:rPr lang="uk-UA" b="1" dirty="0" smtClean="0"/>
              <a:t> Тетяна Анатоліївна</a:t>
            </a:r>
            <a:endParaRPr lang="uk-UA" b="1" dirty="0"/>
          </a:p>
          <a:p>
            <a:pPr fontAlgn="ctr"/>
            <a:r>
              <a:rPr lang="en-US" b="1" dirty="0">
                <a:solidFill>
                  <a:schemeClr val="accent2"/>
                </a:solidFill>
              </a:rPr>
              <a:t>E-mail:</a:t>
            </a:r>
            <a:r>
              <a:rPr lang="en-US" dirty="0"/>
              <a:t> </a:t>
            </a:r>
            <a:r>
              <a:rPr lang="en-US" dirty="0" smtClean="0">
                <a:hlinkClick r:id="rId2"/>
              </a:rPr>
              <a:t>t.ravliuk@chnu.edu.ua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r>
              <a:rPr lang="uk-UA" b="1" dirty="0" smtClean="0">
                <a:solidFill>
                  <a:schemeClr val="accent2"/>
                </a:solidFill>
              </a:rPr>
              <a:t>Сайт </a:t>
            </a:r>
            <a:r>
              <a:rPr lang="uk-UA" b="1" dirty="0">
                <a:solidFill>
                  <a:schemeClr val="accent2"/>
                </a:solidFill>
              </a:rPr>
              <a:t>кафедри: </a:t>
            </a:r>
            <a:r>
              <a:rPr lang="de-DE" dirty="0">
                <a:hlinkClick r:id="rId3"/>
              </a:rPr>
              <a:t>http://psr-chnu.com.ua/uk/</a:t>
            </a:r>
            <a:endParaRPr lang="uk-UA" dirty="0"/>
          </a:p>
          <a:p>
            <a:endParaRPr lang="uk-UA" dirty="0"/>
          </a:p>
          <a:p>
            <a:pPr algn="ctr"/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0683D7-2347-48ED-81EE-B3AA95EABB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65" y="5996609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E7CD1F-BA82-4A39-99F4-5836532F9BA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98505" y="5918790"/>
            <a:ext cx="918259" cy="83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2573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спектива">
  <a:themeElements>
    <a:clrScheme name="Ретроспектива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спектива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1087</TotalTime>
  <Words>702</Words>
  <Application>Microsoft Office PowerPoint</Application>
  <PresentationFormat>Широкоэкранный</PresentationFormat>
  <Paragraphs>90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Ретроспектива</vt:lpstr>
      <vt:lpstr>    Лекція 1. Історичні тенденції розвитку міжособистісного спілкування</vt:lpstr>
      <vt:lpstr>План</vt:lpstr>
      <vt:lpstr>Спілкування – </vt:lpstr>
      <vt:lpstr>А ТЕПЕР – З ІСТОРІЇ…</vt:lpstr>
      <vt:lpstr>Статусний тип</vt:lpstr>
      <vt:lpstr>Ознаки статусного типу</vt:lpstr>
      <vt:lpstr>Елітарна культура часів статусного спілкування </vt:lpstr>
      <vt:lpstr>Принципи елітарного спілкування</vt:lpstr>
      <vt:lpstr>Негативістичний тип спілкування</vt:lpstr>
      <vt:lpstr>Негативістичний тип спілкування</vt:lpstr>
      <vt:lpstr>Негативізм – </vt:lpstr>
      <vt:lpstr>Демократичний тип спілкування</vt:lpstr>
      <vt:lpstr>Принципи демократичного спілкування</vt:lpstr>
      <vt:lpstr>Демократичний тип спілкування</vt:lpstr>
      <vt:lpstr>Варіанти демократичного спілкування</vt:lpstr>
      <vt:lpstr>Альтруїстичне спілкування</vt:lpstr>
      <vt:lpstr>Поступливо щире спілкування</vt:lpstr>
      <vt:lpstr>Іронічно-гумористичне спілкування</vt:lpstr>
      <vt:lpstr>Егоцентричне спілкування</vt:lpstr>
      <vt:lpstr>Практичне заняття 1. Комунікативні технології. Особливості організації комунікативного простору.</vt:lpstr>
      <vt:lpstr>КОНТАКТИ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 Організаційні форми соціальної роботи</dc:title>
  <dc:creator>Sasha</dc:creator>
  <cp:lastModifiedBy>admin</cp:lastModifiedBy>
  <cp:revision>170</cp:revision>
  <dcterms:created xsi:type="dcterms:W3CDTF">2018-02-26T18:28:10Z</dcterms:created>
  <dcterms:modified xsi:type="dcterms:W3CDTF">2023-02-01T08:54:49Z</dcterms:modified>
</cp:coreProperties>
</file>