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36" r:id="rId1"/>
  </p:sldMasterIdLst>
  <p:sldIdLst>
    <p:sldId id="270" r:id="rId2"/>
    <p:sldId id="295" r:id="rId3"/>
    <p:sldId id="298" r:id="rId4"/>
    <p:sldId id="317" r:id="rId5"/>
    <p:sldId id="300" r:id="rId6"/>
    <p:sldId id="301" r:id="rId7"/>
    <p:sldId id="302" r:id="rId8"/>
    <p:sldId id="303" r:id="rId9"/>
    <p:sldId id="318" r:id="rId10"/>
    <p:sldId id="304" r:id="rId11"/>
    <p:sldId id="305" r:id="rId12"/>
    <p:sldId id="308" r:id="rId13"/>
    <p:sldId id="319" r:id="rId14"/>
    <p:sldId id="320" r:id="rId15"/>
    <p:sldId id="321" r:id="rId16"/>
    <p:sldId id="307" r:id="rId17"/>
    <p:sldId id="322" r:id="rId18"/>
    <p:sldId id="323" r:id="rId19"/>
    <p:sldId id="324" r:id="rId20"/>
    <p:sldId id="325" r:id="rId21"/>
    <p:sldId id="326" r:id="rId22"/>
    <p:sldId id="306" r:id="rId23"/>
    <p:sldId id="309" r:id="rId24"/>
    <p:sldId id="327" r:id="rId25"/>
    <p:sldId id="328" r:id="rId26"/>
    <p:sldId id="329" r:id="rId27"/>
    <p:sldId id="330" r:id="rId28"/>
    <p:sldId id="331" r:id="rId29"/>
    <p:sldId id="332" r:id="rId30"/>
    <p:sldId id="333" r:id="rId31"/>
    <p:sldId id="334" r:id="rId32"/>
    <p:sldId id="335" r:id="rId33"/>
    <p:sldId id="336" r:id="rId34"/>
    <p:sldId id="337" r:id="rId35"/>
    <p:sldId id="310" r:id="rId36"/>
    <p:sldId id="338" r:id="rId37"/>
    <p:sldId id="339" r:id="rId38"/>
    <p:sldId id="340" r:id="rId39"/>
    <p:sldId id="341" r:id="rId40"/>
    <p:sldId id="316" r:id="rId4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Помірний стиль 2 –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DE80D-BD3A-48CE-A962-B17DB585B85E}" type="datetimeFigureOut">
              <a:rPr lang="uk-UA" smtClean="0"/>
              <a:t>12.02.2023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832F5-D5E3-40CB-9BB5-6F413B80B73E}" type="slidenum">
              <a:rPr lang="uk-UA" smtClean="0"/>
              <a:t>‹#›</a:t>
            </a:fld>
            <a:endParaRPr lang="uk-UA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237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Відредагуйте стиль зразка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DE80D-BD3A-48CE-A962-B17DB585B85E}" type="datetimeFigureOut">
              <a:rPr lang="uk-UA" smtClean="0"/>
              <a:t>12.02.2023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832F5-D5E3-40CB-9BB5-6F413B80B73E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835075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Назва розділ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Відредагуйте стиль зразка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DE80D-BD3A-48CE-A962-B17DB585B85E}" type="datetimeFigureOut">
              <a:rPr lang="uk-UA" smtClean="0"/>
              <a:t>12.02.2023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832F5-D5E3-40CB-9BB5-6F413B80B73E}" type="slidenum">
              <a:rPr lang="uk-UA" smtClean="0"/>
              <a:t>‹#›</a:t>
            </a:fld>
            <a:endParaRPr lang="uk-UA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72710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uk-UA"/>
              <a:t>Відредагуйте стиль зразка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uk-UA"/>
              <a:t>Відредагуйте стиль зразка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DE80D-BD3A-48CE-A962-B17DB585B85E}" type="datetimeFigureOut">
              <a:rPr lang="uk-UA" smtClean="0"/>
              <a:t>12.02.2023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832F5-D5E3-40CB-9BB5-6F413B80B73E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037366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Відредагуйте стиль зразка тексту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uk-UA"/>
              <a:t>Відредагуйте стиль зразка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Відредагуйте стиль зразка тексту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uk-UA"/>
              <a:t>Відредагуйте стиль зразка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DE80D-BD3A-48CE-A962-B17DB585B85E}" type="datetimeFigureOut">
              <a:rPr lang="uk-UA" smtClean="0"/>
              <a:t>12.02.2023</a:t>
            </a:fld>
            <a:endParaRPr lang="uk-U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832F5-D5E3-40CB-9BB5-6F413B80B73E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532794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DE80D-BD3A-48CE-A962-B17DB585B85E}" type="datetimeFigureOut">
              <a:rPr lang="uk-UA" smtClean="0"/>
              <a:t>12.02.2023</a:t>
            </a:fld>
            <a:endParaRPr lang="uk-U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832F5-D5E3-40CB-9BB5-6F413B80B73E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76144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DE80D-BD3A-48CE-A962-B17DB585B85E}" type="datetimeFigureOut">
              <a:rPr lang="uk-UA" smtClean="0"/>
              <a:t>12.02.2023</a:t>
            </a:fld>
            <a:endParaRPr lang="uk-U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uk-U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832F5-D5E3-40CB-9BB5-6F413B80B73E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55536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uk-UA"/>
              <a:t>Відредагуйте стиль зразка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Відредагуйте стиль зразка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2DDE80D-BD3A-48CE-A962-B17DB585B85E}" type="datetimeFigureOut">
              <a:rPr lang="uk-UA" smtClean="0"/>
              <a:t>12.02.2023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6C832F5-D5E3-40CB-9BB5-6F413B80B73E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5903344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Відредагуйте стиль зразка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DE80D-BD3A-48CE-A962-B17DB585B85E}" type="datetimeFigureOut">
              <a:rPr lang="uk-UA" smtClean="0"/>
              <a:t>12.02.2023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832F5-D5E3-40CB-9BB5-6F413B80B73E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656974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uk-UA"/>
              <a:t>Відредагуйте стиль зразка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DE80D-BD3A-48CE-A962-B17DB585B85E}" type="datetimeFigureOut">
              <a:rPr lang="uk-UA" smtClean="0"/>
              <a:t>12.02.2023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832F5-D5E3-40CB-9BB5-6F413B80B73E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409062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uk-UA"/>
              <a:t>Відредагуйте стиль зразка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DE80D-BD3A-48CE-A962-B17DB585B85E}" type="datetimeFigureOut">
              <a:rPr lang="uk-UA" smtClean="0"/>
              <a:t>12.02.2023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832F5-D5E3-40CB-9BB5-6F413B80B73E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571010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uk-UA"/>
              <a:t>Відредагуйте стиль зразка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2DDE80D-BD3A-48CE-A962-B17DB585B85E}" type="datetimeFigureOut">
              <a:rPr lang="uk-UA" smtClean="0"/>
              <a:t>12.02.2023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36C832F5-D5E3-40CB-9BB5-6F413B80B73E}" type="slidenum">
              <a:rPr lang="uk-UA" smtClean="0"/>
              <a:t>‹#›</a:t>
            </a:fld>
            <a:endParaRPr lang="uk-UA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4977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7" r:id="rId1"/>
    <p:sldLayoutId id="2147483938" r:id="rId2"/>
    <p:sldLayoutId id="2147483939" r:id="rId3"/>
    <p:sldLayoutId id="2147483940" r:id="rId4"/>
    <p:sldLayoutId id="2147483941" r:id="rId5"/>
    <p:sldLayoutId id="2147483942" r:id="rId6"/>
    <p:sldLayoutId id="2147483943" r:id="rId7"/>
    <p:sldLayoutId id="2147483944" r:id="rId8"/>
    <p:sldLayoutId id="2147483945" r:id="rId9"/>
    <p:sldLayoutId id="2147483946" r:id="rId10"/>
    <p:sldLayoutId id="2147483947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41515" y="304800"/>
            <a:ext cx="11342914" cy="3896139"/>
          </a:xfrm>
        </p:spPr>
        <p:txBody>
          <a:bodyPr>
            <a:normAutofit fontScale="90000"/>
          </a:bodyPr>
          <a:lstStyle/>
          <a:p>
            <a:pPr algn="ctr"/>
            <a:r>
              <a:rPr lang="uk-UA" b="1" i="1" dirty="0" smtClean="0">
                <a:solidFill>
                  <a:schemeClr val="accent2"/>
                </a:solidFill>
              </a:rPr>
              <a:t/>
            </a:r>
            <a:br>
              <a:rPr lang="uk-UA" b="1" i="1" dirty="0" smtClean="0">
                <a:solidFill>
                  <a:schemeClr val="accent2"/>
                </a:solidFill>
              </a:rPr>
            </a:br>
            <a:r>
              <a:rPr lang="uk-UA" b="1" i="1" dirty="0">
                <a:solidFill>
                  <a:schemeClr val="accent2"/>
                </a:solidFill>
              </a:rPr>
              <a:t/>
            </a:r>
            <a:br>
              <a:rPr lang="uk-UA" b="1" i="1" dirty="0">
                <a:solidFill>
                  <a:schemeClr val="accent2"/>
                </a:solidFill>
              </a:rPr>
            </a:br>
            <a:r>
              <a:rPr lang="uk-UA" b="1" i="1" dirty="0" smtClean="0">
                <a:solidFill>
                  <a:schemeClr val="accent2"/>
                </a:solidFill>
              </a:rPr>
              <a:t/>
            </a:r>
            <a:br>
              <a:rPr lang="uk-UA" b="1" i="1" dirty="0" smtClean="0">
                <a:solidFill>
                  <a:schemeClr val="accent2"/>
                </a:solidFill>
              </a:rPr>
            </a:br>
            <a:r>
              <a:rPr lang="uk-UA" b="1" i="1" dirty="0">
                <a:solidFill>
                  <a:schemeClr val="accent2"/>
                </a:solidFill>
              </a:rPr>
              <a:t/>
            </a:r>
            <a:br>
              <a:rPr lang="uk-UA" b="1" i="1" dirty="0">
                <a:solidFill>
                  <a:schemeClr val="accent2"/>
                </a:solidFill>
              </a:rPr>
            </a:br>
            <a:r>
              <a:rPr lang="uk-UA" b="1" i="1" dirty="0" smtClean="0">
                <a:solidFill>
                  <a:schemeClr val="accent2"/>
                </a:solidFill>
              </a:rPr>
              <a:t/>
            </a:r>
            <a:br>
              <a:rPr lang="uk-UA" b="1" i="1" dirty="0" smtClean="0">
                <a:solidFill>
                  <a:schemeClr val="accent2"/>
                </a:solidFill>
              </a:rPr>
            </a:br>
            <a:r>
              <a:rPr lang="ru-RU" b="1" i="1" dirty="0">
                <a:solidFill>
                  <a:schemeClr val="accent2"/>
                </a:solidFill>
              </a:rPr>
              <a:t>Культура </a:t>
            </a:r>
            <a:r>
              <a:rPr lang="ru-RU" b="1" i="1" dirty="0" err="1" smtClean="0">
                <a:solidFill>
                  <a:schemeClr val="accent2"/>
                </a:solidFill>
              </a:rPr>
              <a:t>мовлення</a:t>
            </a:r>
            <a:r>
              <a:rPr lang="ru-RU" b="1" i="1" dirty="0" smtClean="0">
                <a:solidFill>
                  <a:schemeClr val="accent2"/>
                </a:solidFill>
              </a:rPr>
              <a:t/>
            </a:r>
            <a:br>
              <a:rPr lang="ru-RU" b="1" i="1" dirty="0" smtClean="0">
                <a:solidFill>
                  <a:schemeClr val="accent2"/>
                </a:solidFill>
              </a:rPr>
            </a:br>
            <a:r>
              <a:rPr lang="ru-RU" b="1" i="1" dirty="0" smtClean="0">
                <a:solidFill>
                  <a:schemeClr val="accent2"/>
                </a:solidFill>
              </a:rPr>
              <a:t>як </a:t>
            </a:r>
            <a:r>
              <a:rPr lang="ru-RU" b="1" i="1" dirty="0" err="1">
                <a:solidFill>
                  <a:schemeClr val="accent2"/>
                </a:solidFill>
              </a:rPr>
              <a:t>складова</a:t>
            </a:r>
            <a:r>
              <a:rPr lang="ru-RU" b="1" i="1" dirty="0">
                <a:solidFill>
                  <a:schemeClr val="accent2"/>
                </a:solidFill>
              </a:rPr>
              <a:t> </a:t>
            </a:r>
            <a:r>
              <a:rPr lang="ru-RU" b="1" i="1" dirty="0" err="1">
                <a:solidFill>
                  <a:schemeClr val="accent2"/>
                </a:solidFill>
              </a:rPr>
              <a:t>загальнолюдської</a:t>
            </a:r>
            <a:r>
              <a:rPr lang="ru-RU" b="1" i="1" dirty="0">
                <a:solidFill>
                  <a:schemeClr val="accent2"/>
                </a:solidFill>
              </a:rPr>
              <a:t> </a:t>
            </a:r>
            <a:r>
              <a:rPr lang="ru-RU" b="1" i="1" dirty="0" err="1">
                <a:solidFill>
                  <a:schemeClr val="accent2"/>
                </a:solidFill>
              </a:rPr>
              <a:t>культури</a:t>
            </a:r>
            <a:endParaRPr lang="uk-UA" sz="6700" i="1" dirty="0">
              <a:solidFill>
                <a:schemeClr val="accent1"/>
              </a:solidFill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C50AB3E-D9C0-4ADC-A313-06684E668BE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30" b="19256"/>
          <a:stretch/>
        </p:blipFill>
        <p:spPr>
          <a:xfrm>
            <a:off x="9428922" y="3959800"/>
            <a:ext cx="2478156" cy="226209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D2AAD52-F213-4A1E-BFED-2970FCB04BC4}"/>
              </a:ext>
            </a:extLst>
          </p:cNvPr>
          <p:cNvSpPr txBox="1"/>
          <p:nvPr/>
        </p:nvSpPr>
        <p:spPr>
          <a:xfrm>
            <a:off x="3472071" y="4565085"/>
            <a:ext cx="5956851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uk-UA" b="1" i="1" dirty="0" smtClean="0">
                <a:solidFill>
                  <a:schemeClr val="accent2"/>
                </a:solidFill>
              </a:rPr>
              <a:t>Викладач: </a:t>
            </a:r>
            <a:r>
              <a:rPr lang="uk-UA" b="1" i="1" dirty="0" err="1" smtClean="0">
                <a:solidFill>
                  <a:schemeClr val="accent2"/>
                </a:solidFill>
              </a:rPr>
              <a:t>канд</a:t>
            </a:r>
            <a:r>
              <a:rPr lang="uk-UA" b="1" i="1" dirty="0" smtClean="0">
                <a:solidFill>
                  <a:schemeClr val="accent2"/>
                </a:solidFill>
              </a:rPr>
              <a:t>. пед. наук, </a:t>
            </a:r>
            <a:r>
              <a:rPr lang="uk-UA" b="1" i="1" dirty="0" smtClean="0">
                <a:solidFill>
                  <a:schemeClr val="accent2"/>
                </a:solidFill>
              </a:rPr>
              <a:t>доцент Тетяна </a:t>
            </a:r>
            <a:r>
              <a:rPr lang="uk-UA" b="1" i="1" dirty="0" err="1" smtClean="0">
                <a:solidFill>
                  <a:schemeClr val="accent2"/>
                </a:solidFill>
              </a:rPr>
              <a:t>Равлюк</a:t>
            </a:r>
            <a:endParaRPr lang="uk-UA" b="1" i="1" dirty="0" smtClean="0">
              <a:solidFill>
                <a:schemeClr val="accent2"/>
              </a:solidFill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uk-UA" b="1" i="1" dirty="0" smtClean="0">
                <a:solidFill>
                  <a:schemeClr val="accent2"/>
                </a:solidFill>
              </a:rPr>
              <a:t>Кафедра </a:t>
            </a:r>
            <a:r>
              <a:rPr lang="uk-UA" b="1" i="1" dirty="0">
                <a:solidFill>
                  <a:schemeClr val="accent2"/>
                </a:solidFill>
              </a:rPr>
              <a:t>педагогіки та соціальної роботи 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uk-UA" b="1" i="1" dirty="0">
                <a:solidFill>
                  <a:schemeClr val="accent2"/>
                </a:solidFill>
              </a:rPr>
              <a:t>Факультет педагогіки, психології та соціальної роботи</a:t>
            </a:r>
          </a:p>
          <a:p>
            <a:pPr algn="just"/>
            <a:r>
              <a:rPr lang="uk-UA" b="1" i="1" dirty="0">
                <a:solidFill>
                  <a:schemeClr val="accent2"/>
                </a:solidFill>
              </a:rPr>
              <a:t>Чернівецький національний університет</a:t>
            </a:r>
          </a:p>
          <a:p>
            <a:pPr algn="just"/>
            <a:r>
              <a:rPr lang="uk-UA" b="1" i="1" dirty="0">
                <a:solidFill>
                  <a:schemeClr val="accent2"/>
                </a:solidFill>
              </a:rPr>
              <a:t>імені Юрія </a:t>
            </a:r>
            <a:r>
              <a:rPr lang="uk-UA" b="1" i="1" dirty="0" err="1">
                <a:solidFill>
                  <a:schemeClr val="accent2"/>
                </a:solidFill>
              </a:rPr>
              <a:t>Федьковича</a:t>
            </a:r>
            <a:endParaRPr lang="uk-UA" b="1" i="1" dirty="0">
              <a:solidFill>
                <a:schemeClr val="accent2"/>
              </a:solidFill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174" y="4327505"/>
            <a:ext cx="2328516" cy="1955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47206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кутник 1">
            <a:extLst>
              <a:ext uri="{FF2B5EF4-FFF2-40B4-BE49-F238E27FC236}">
                <a16:creationId xmlns:a16="http://schemas.microsoft.com/office/drawing/2014/main" id="{9575C0AF-AB21-4B5C-9941-2BA833B2080D}"/>
              </a:ext>
            </a:extLst>
          </p:cNvPr>
          <p:cNvSpPr/>
          <p:nvPr/>
        </p:nvSpPr>
        <p:spPr>
          <a:xfrm>
            <a:off x="1097280" y="1962229"/>
            <a:ext cx="10407783" cy="37087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lvl="0" indent="-514350" algn="just">
              <a:spcBef>
                <a:spcPts val="120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ru-RU" sz="3200" dirty="0" err="1" smtClean="0"/>
              <a:t>Поняття</a:t>
            </a:r>
            <a:r>
              <a:rPr lang="ru-RU" sz="3200" dirty="0" smtClean="0"/>
              <a:t> </a:t>
            </a:r>
            <a:r>
              <a:rPr lang="ru-RU" sz="3200" dirty="0" err="1"/>
              <a:t>культури</a:t>
            </a:r>
            <a:r>
              <a:rPr lang="ru-RU" sz="3200" dirty="0"/>
              <a:t> </a:t>
            </a:r>
            <a:r>
              <a:rPr lang="ru-RU" sz="3200" dirty="0" err="1"/>
              <a:t>мови</a:t>
            </a:r>
            <a:r>
              <a:rPr lang="ru-RU" sz="3200" dirty="0"/>
              <a:t>, </a:t>
            </a:r>
            <a:r>
              <a:rPr lang="ru-RU" sz="3200" dirty="0" err="1"/>
              <a:t>культури</a:t>
            </a:r>
            <a:r>
              <a:rPr lang="ru-RU" sz="3200" dirty="0"/>
              <a:t> </a:t>
            </a:r>
            <a:r>
              <a:rPr lang="ru-RU" sz="3200" dirty="0" err="1"/>
              <a:t>мовлення</a:t>
            </a:r>
            <a:r>
              <a:rPr lang="ru-RU" sz="3200" dirty="0"/>
              <a:t>.</a:t>
            </a:r>
          </a:p>
          <a:p>
            <a:pPr marL="514350" lvl="0" indent="-514350" algn="just">
              <a:spcBef>
                <a:spcPts val="120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ru-RU" sz="3200" dirty="0" err="1" smtClean="0"/>
              <a:t>Основні</a:t>
            </a:r>
            <a:r>
              <a:rPr lang="ru-RU" sz="3200" dirty="0" smtClean="0"/>
              <a:t> </a:t>
            </a:r>
            <a:r>
              <a:rPr lang="ru-RU" sz="3200" dirty="0" err="1"/>
              <a:t>комунікативні</a:t>
            </a:r>
            <a:r>
              <a:rPr lang="ru-RU" sz="3200" dirty="0"/>
              <a:t> </a:t>
            </a:r>
            <a:r>
              <a:rPr lang="ru-RU" sz="3200" dirty="0" err="1"/>
              <a:t>ознаки</a:t>
            </a:r>
            <a:r>
              <a:rPr lang="ru-RU" sz="3200" dirty="0"/>
              <a:t> </a:t>
            </a:r>
            <a:r>
              <a:rPr lang="ru-RU" sz="3200" dirty="0" err="1"/>
              <a:t>культури</a:t>
            </a:r>
            <a:r>
              <a:rPr lang="ru-RU" sz="3200" dirty="0"/>
              <a:t> </a:t>
            </a:r>
            <a:r>
              <a:rPr lang="ru-RU" sz="3200" dirty="0" err="1"/>
              <a:t>мовлення</a:t>
            </a:r>
            <a:r>
              <a:rPr lang="ru-RU" sz="3200" dirty="0"/>
              <a:t>.</a:t>
            </a:r>
          </a:p>
          <a:p>
            <a:pPr marL="514350" lvl="0" indent="-514350" algn="just">
              <a:spcBef>
                <a:spcPts val="120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ru-RU" sz="3200" dirty="0" err="1" smtClean="0"/>
              <a:t>Функції</a:t>
            </a:r>
            <a:r>
              <a:rPr lang="ru-RU" sz="3200" dirty="0" smtClean="0"/>
              <a:t> </a:t>
            </a:r>
            <a:r>
              <a:rPr lang="ru-RU" sz="3200" dirty="0" err="1"/>
              <a:t>мови</a:t>
            </a:r>
            <a:r>
              <a:rPr lang="ru-RU" sz="3200" dirty="0"/>
              <a:t>.</a:t>
            </a:r>
          </a:p>
          <a:p>
            <a:pPr marL="514350" lvl="0" indent="-514350" algn="just">
              <a:spcBef>
                <a:spcPts val="120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ru-RU" sz="3200" dirty="0" smtClean="0"/>
              <a:t>Документ </a:t>
            </a:r>
            <a:r>
              <a:rPr lang="ru-RU" sz="3200" dirty="0"/>
              <a:t>як </a:t>
            </a:r>
            <a:r>
              <a:rPr lang="ru-RU" sz="3200" dirty="0" err="1"/>
              <a:t>важливий</a:t>
            </a:r>
            <a:r>
              <a:rPr lang="ru-RU" sz="3200" dirty="0"/>
              <a:t> </a:t>
            </a:r>
            <a:r>
              <a:rPr lang="ru-RU" sz="3200" dirty="0" err="1"/>
              <a:t>засіб</a:t>
            </a:r>
            <a:r>
              <a:rPr lang="ru-RU" sz="3200" dirty="0"/>
              <a:t> </a:t>
            </a:r>
            <a:r>
              <a:rPr lang="ru-RU" sz="3200" dirty="0" err="1"/>
              <a:t>збереження</a:t>
            </a:r>
            <a:r>
              <a:rPr lang="ru-RU" sz="3200" dirty="0"/>
              <a:t>, </a:t>
            </a:r>
            <a:r>
              <a:rPr lang="ru-RU" sz="3200" dirty="0" err="1"/>
              <a:t>накопичення</a:t>
            </a:r>
            <a:r>
              <a:rPr lang="ru-RU" sz="3200" dirty="0"/>
              <a:t> і </a:t>
            </a:r>
            <a:r>
              <a:rPr lang="ru-RU" sz="3200" dirty="0" err="1"/>
              <a:t>передавання</a:t>
            </a:r>
            <a:r>
              <a:rPr lang="ru-RU" sz="3200" dirty="0"/>
              <a:t> </a:t>
            </a:r>
            <a:r>
              <a:rPr lang="ru-RU" sz="3200" dirty="0" err="1"/>
              <a:t>інформації</a:t>
            </a:r>
            <a:r>
              <a:rPr lang="ru-RU" sz="3200" dirty="0"/>
              <a:t>.</a:t>
            </a: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931C64DA-886F-47F0-8641-9A8AC5C8E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424543"/>
            <a:ext cx="10058400" cy="881743"/>
          </a:xfrm>
        </p:spPr>
        <p:txBody>
          <a:bodyPr>
            <a:normAutofit/>
          </a:bodyPr>
          <a:lstStyle/>
          <a:p>
            <a:pPr algn="ctr"/>
            <a:r>
              <a:rPr lang="uk-UA" sz="5200" b="1" i="1" dirty="0" smtClean="0">
                <a:solidFill>
                  <a:schemeClr val="accent2"/>
                </a:solidFill>
              </a:rPr>
              <a:t>План</a:t>
            </a:r>
            <a:endParaRPr lang="uk-UA" sz="52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441D2B7-3EE2-42D1-A5AF-E04001E017B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317" y="6001865"/>
            <a:ext cx="1172817" cy="781878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C9E8BE8-7392-4DBD-9A75-2AC0190E1B3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30" b="19256"/>
          <a:stretch/>
        </p:blipFill>
        <p:spPr>
          <a:xfrm>
            <a:off x="11130895" y="5945544"/>
            <a:ext cx="918259" cy="838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655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кутник 1">
            <a:extLst>
              <a:ext uri="{FF2B5EF4-FFF2-40B4-BE49-F238E27FC236}">
                <a16:creationId xmlns:a16="http://schemas.microsoft.com/office/drawing/2014/main" id="{9575C0AF-AB21-4B5C-9941-2BA833B2080D}"/>
              </a:ext>
            </a:extLst>
          </p:cNvPr>
          <p:cNvSpPr/>
          <p:nvPr/>
        </p:nvSpPr>
        <p:spPr>
          <a:xfrm>
            <a:off x="944880" y="1047829"/>
            <a:ext cx="10407783" cy="45550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</a:pPr>
            <a:r>
              <a:rPr lang="uk-UA" sz="4000" i="1" dirty="0" smtClean="0"/>
              <a:t>Найбільше і найдорожче добро в кожного народу – це його </a:t>
            </a:r>
            <a:r>
              <a:rPr lang="uk-UA" sz="4000" b="1" i="1" dirty="0" smtClean="0">
                <a:solidFill>
                  <a:schemeClr val="accent1">
                    <a:lumMod val="75000"/>
                  </a:schemeClr>
                </a:solidFill>
              </a:rPr>
              <a:t>мова,</a:t>
            </a:r>
            <a:r>
              <a:rPr lang="uk-UA" sz="4000" i="1" dirty="0" smtClean="0"/>
              <a:t> ота жива схованка людського духу, його багата скарбниця, в яку народ складає і своє давнє життя, і свої сподівання</a:t>
            </a:r>
            <a:r>
              <a:rPr lang="uk-UA" sz="4000" i="1" dirty="0"/>
              <a:t>, розум, досвід, почування</a:t>
            </a:r>
            <a:r>
              <a:rPr lang="uk-UA" sz="4000" i="1" dirty="0" smtClean="0"/>
              <a:t>.</a:t>
            </a:r>
          </a:p>
          <a:p>
            <a:pPr lvl="0" algn="ctr">
              <a:spcAft>
                <a:spcPts val="600"/>
              </a:spcAft>
            </a:pPr>
            <a:endParaRPr lang="uk-UA" sz="4000" dirty="0"/>
          </a:p>
          <a:p>
            <a:pPr lvl="0" algn="r">
              <a:spcAft>
                <a:spcPts val="600"/>
              </a:spcAft>
            </a:pPr>
            <a:r>
              <a:rPr lang="uk-UA" sz="4000" dirty="0" smtClean="0"/>
              <a:t>Панас Мирний</a:t>
            </a:r>
            <a:endParaRPr lang="uk-UA" sz="32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441D2B7-3EE2-42D1-A5AF-E04001E017B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317" y="6001865"/>
            <a:ext cx="1172817" cy="781878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C9E8BE8-7392-4DBD-9A75-2AC0190E1B3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30" b="19256"/>
          <a:stretch/>
        </p:blipFill>
        <p:spPr>
          <a:xfrm>
            <a:off x="11130895" y="5945544"/>
            <a:ext cx="918259" cy="838199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2536371" y="6404206"/>
            <a:ext cx="763088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solidFill>
                  <a:schemeClr val="bg1"/>
                </a:solidFill>
              </a:rPr>
              <a:t>1.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 smtClean="0">
                <a:solidFill>
                  <a:schemeClr val="bg1"/>
                </a:solidFill>
              </a:rPr>
              <a:t>Поняття</a:t>
            </a:r>
            <a:r>
              <a:rPr lang="ru-RU" b="1" dirty="0" smtClean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культури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мови</a:t>
            </a:r>
            <a:r>
              <a:rPr lang="ru-RU" b="1" dirty="0">
                <a:solidFill>
                  <a:schemeClr val="bg1"/>
                </a:solidFill>
              </a:rPr>
              <a:t>, </a:t>
            </a:r>
            <a:r>
              <a:rPr lang="ru-RU" b="1" dirty="0" err="1">
                <a:solidFill>
                  <a:schemeClr val="bg1"/>
                </a:solidFill>
              </a:rPr>
              <a:t>культури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мовлення</a:t>
            </a:r>
            <a:endParaRPr lang="uk-UA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3490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кутник 1">
            <a:extLst>
              <a:ext uri="{FF2B5EF4-FFF2-40B4-BE49-F238E27FC236}">
                <a16:creationId xmlns:a16="http://schemas.microsoft.com/office/drawing/2014/main" id="{9575C0AF-AB21-4B5C-9941-2BA833B2080D}"/>
              </a:ext>
            </a:extLst>
          </p:cNvPr>
          <p:cNvSpPr/>
          <p:nvPr/>
        </p:nvSpPr>
        <p:spPr>
          <a:xfrm>
            <a:off x="944880" y="1047829"/>
            <a:ext cx="10407783" cy="46320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</a:pPr>
            <a:endParaRPr lang="ru-RU" sz="4000" i="1" dirty="0" smtClean="0"/>
          </a:p>
          <a:p>
            <a:pPr lvl="0">
              <a:spcAft>
                <a:spcPts val="600"/>
              </a:spcAft>
            </a:pPr>
            <a:r>
              <a:rPr lang="ru-RU" sz="4000" b="1" i="1" dirty="0" smtClean="0">
                <a:solidFill>
                  <a:schemeClr val="accent1">
                    <a:lumMod val="75000"/>
                  </a:schemeClr>
                </a:solidFill>
              </a:rPr>
              <a:t>Культура </a:t>
            </a:r>
            <a:r>
              <a:rPr lang="ru-RU" sz="4000" b="1" i="1" dirty="0" err="1">
                <a:solidFill>
                  <a:schemeClr val="accent1">
                    <a:lumMod val="75000"/>
                  </a:schemeClr>
                </a:solidFill>
              </a:rPr>
              <a:t>мови</a:t>
            </a:r>
            <a:r>
              <a:rPr lang="ru-RU" sz="4000" b="1" i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ru-RU" sz="4000" i="1" dirty="0" err="1"/>
              <a:t>передбачає</a:t>
            </a:r>
            <a:r>
              <a:rPr lang="ru-RU" sz="4000" i="1" dirty="0"/>
              <a:t> </a:t>
            </a:r>
            <a:r>
              <a:rPr lang="ru-RU" sz="4000" i="1" dirty="0" err="1"/>
              <a:t>вироблення</a:t>
            </a:r>
            <a:r>
              <a:rPr lang="ru-RU" sz="4000" i="1" dirty="0"/>
              <a:t> </a:t>
            </a:r>
            <a:r>
              <a:rPr lang="ru-RU" sz="4000" i="1" dirty="0" err="1"/>
              <a:t>етичних</a:t>
            </a:r>
            <a:r>
              <a:rPr lang="ru-RU" sz="4000" i="1" dirty="0"/>
              <a:t> норм </a:t>
            </a:r>
            <a:r>
              <a:rPr lang="ru-RU" sz="4000" i="1" dirty="0" err="1"/>
              <a:t>міжнаціонального</a:t>
            </a:r>
            <a:r>
              <a:rPr lang="ru-RU" sz="4000" i="1" dirty="0"/>
              <a:t> </a:t>
            </a:r>
            <a:r>
              <a:rPr lang="ru-RU" sz="4000" i="1" dirty="0" err="1"/>
              <a:t>спілкування</a:t>
            </a:r>
            <a:r>
              <a:rPr lang="ru-RU" sz="4000" i="1" dirty="0"/>
              <a:t>, </a:t>
            </a:r>
            <a:r>
              <a:rPr lang="ru-RU" sz="4000" i="1" dirty="0" err="1"/>
              <a:t>які</a:t>
            </a:r>
            <a:r>
              <a:rPr lang="ru-RU" sz="4000" i="1" dirty="0"/>
              <a:t> </a:t>
            </a:r>
            <a:r>
              <a:rPr lang="ru-RU" sz="4000" i="1" dirty="0" err="1"/>
              <a:t>характеризують</a:t>
            </a:r>
            <a:r>
              <a:rPr lang="ru-RU" sz="4000" i="1" dirty="0"/>
              <a:t> </a:t>
            </a:r>
            <a:r>
              <a:rPr lang="ru-RU" sz="4000" i="1" dirty="0" err="1"/>
              <a:t>загальну</a:t>
            </a:r>
            <a:r>
              <a:rPr lang="ru-RU" sz="4000" i="1" dirty="0"/>
              <a:t> культуру </a:t>
            </a:r>
            <a:r>
              <a:rPr lang="ru-RU" sz="4000" i="1" dirty="0" err="1"/>
              <a:t>нашого</a:t>
            </a:r>
            <a:r>
              <a:rPr lang="ru-RU" sz="4000" i="1" dirty="0"/>
              <a:t> </a:t>
            </a:r>
            <a:r>
              <a:rPr lang="ru-RU" sz="4000" i="1" dirty="0" err="1" smtClean="0"/>
              <a:t>суспільства</a:t>
            </a:r>
            <a:r>
              <a:rPr lang="ru-RU" sz="4000" i="1" dirty="0" smtClean="0"/>
              <a:t>.</a:t>
            </a:r>
            <a:endParaRPr lang="uk-UA" sz="4000" dirty="0"/>
          </a:p>
          <a:p>
            <a:pPr lvl="0" algn="r">
              <a:spcAft>
                <a:spcPts val="600"/>
              </a:spcAft>
            </a:pPr>
            <a:endParaRPr lang="uk-UA" sz="4000" dirty="0" smtClean="0"/>
          </a:p>
          <a:p>
            <a:pPr lvl="0" algn="r">
              <a:spcAft>
                <a:spcPts val="600"/>
              </a:spcAft>
            </a:pPr>
            <a:r>
              <a:rPr lang="uk-UA" sz="4000" dirty="0" smtClean="0"/>
              <a:t>Віталій </a:t>
            </a:r>
            <a:r>
              <a:rPr lang="uk-UA" sz="4000" dirty="0" err="1" smtClean="0"/>
              <a:t>Русанівський</a:t>
            </a:r>
            <a:endParaRPr lang="uk-UA" sz="40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441D2B7-3EE2-42D1-A5AF-E04001E017B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317" y="6001865"/>
            <a:ext cx="1172817" cy="781878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C9E8BE8-7392-4DBD-9A75-2AC0190E1B3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30" b="19256"/>
          <a:stretch/>
        </p:blipFill>
        <p:spPr>
          <a:xfrm>
            <a:off x="11130895" y="5945544"/>
            <a:ext cx="918259" cy="838199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2536371" y="6404206"/>
            <a:ext cx="763088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solidFill>
                  <a:schemeClr val="bg1"/>
                </a:solidFill>
              </a:rPr>
              <a:t>1.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 smtClean="0">
                <a:solidFill>
                  <a:schemeClr val="bg1"/>
                </a:solidFill>
              </a:rPr>
              <a:t>Поняття</a:t>
            </a:r>
            <a:r>
              <a:rPr lang="ru-RU" b="1" dirty="0" smtClean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культури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мови</a:t>
            </a:r>
            <a:r>
              <a:rPr lang="ru-RU" b="1" dirty="0">
                <a:solidFill>
                  <a:schemeClr val="bg1"/>
                </a:solidFill>
              </a:rPr>
              <a:t>, </a:t>
            </a:r>
            <a:r>
              <a:rPr lang="ru-RU" b="1" dirty="0" err="1">
                <a:solidFill>
                  <a:schemeClr val="bg1"/>
                </a:solidFill>
              </a:rPr>
              <a:t>культури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мовлення</a:t>
            </a:r>
            <a:endParaRPr lang="uk-UA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6558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кутник 1">
            <a:extLst>
              <a:ext uri="{FF2B5EF4-FFF2-40B4-BE49-F238E27FC236}">
                <a16:creationId xmlns:a16="http://schemas.microsoft.com/office/drawing/2014/main" id="{9575C0AF-AB21-4B5C-9941-2BA833B2080D}"/>
              </a:ext>
            </a:extLst>
          </p:cNvPr>
          <p:cNvSpPr/>
          <p:nvPr/>
        </p:nvSpPr>
        <p:spPr>
          <a:xfrm>
            <a:off x="3222171" y="1962229"/>
            <a:ext cx="462643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lvl="0" indent="-571500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uk-UA" sz="3600" dirty="0" smtClean="0"/>
              <a:t>лексичні</a:t>
            </a:r>
          </a:p>
          <a:p>
            <a:pPr marL="571500" lvl="0" indent="-571500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uk-UA" sz="3600" dirty="0" smtClean="0"/>
              <a:t>граматичні</a:t>
            </a:r>
          </a:p>
          <a:p>
            <a:pPr marL="571500" lvl="0" indent="-571500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uk-UA" sz="3600" dirty="0" smtClean="0"/>
              <a:t>стилістичні</a:t>
            </a:r>
          </a:p>
          <a:p>
            <a:pPr marL="571500" lvl="0" indent="-571500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uk-UA" sz="3600" dirty="0" smtClean="0"/>
              <a:t>орфоепічні</a:t>
            </a:r>
          </a:p>
          <a:p>
            <a:pPr marL="571500" lvl="0" indent="-571500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uk-UA" sz="3600" dirty="0"/>
              <a:t>о</a:t>
            </a:r>
            <a:r>
              <a:rPr lang="uk-UA" sz="3600" dirty="0" smtClean="0"/>
              <a:t>рфографічні тощо </a:t>
            </a:r>
            <a:endParaRPr lang="uk-UA" sz="3600" dirty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931C64DA-886F-47F0-8641-9A8AC5C8E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424543"/>
            <a:ext cx="10058400" cy="881743"/>
          </a:xfrm>
        </p:spPr>
        <p:txBody>
          <a:bodyPr>
            <a:normAutofit fontScale="90000"/>
          </a:bodyPr>
          <a:lstStyle/>
          <a:p>
            <a:pPr algn="ctr"/>
            <a:r>
              <a:rPr lang="uk-UA" sz="6000" b="1" i="1" dirty="0" smtClean="0">
                <a:solidFill>
                  <a:schemeClr val="accent2"/>
                </a:solidFill>
              </a:rPr>
              <a:t>Культура </a:t>
            </a:r>
            <a:r>
              <a:rPr lang="uk-UA" sz="6000" b="1" i="1" dirty="0">
                <a:solidFill>
                  <a:schemeClr val="accent2"/>
                </a:solidFill>
              </a:rPr>
              <a:t>мови утверджує норми:</a:t>
            </a:r>
            <a:endParaRPr lang="uk-UA" sz="60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441D2B7-3EE2-42D1-A5AF-E04001E017B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317" y="6001865"/>
            <a:ext cx="1172817" cy="781878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C9E8BE8-7392-4DBD-9A75-2AC0190E1B3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30" b="19256"/>
          <a:stretch/>
        </p:blipFill>
        <p:spPr>
          <a:xfrm>
            <a:off x="11130895" y="5945544"/>
            <a:ext cx="918259" cy="838199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2536371" y="6404206"/>
            <a:ext cx="763088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chemeClr val="bg1"/>
                </a:solidFill>
              </a:rPr>
              <a:t>1. </a:t>
            </a:r>
            <a:r>
              <a:rPr lang="ru-RU" b="1" dirty="0" err="1">
                <a:solidFill>
                  <a:schemeClr val="bg1"/>
                </a:solidFill>
              </a:rPr>
              <a:t>Поняття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культури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мови</a:t>
            </a:r>
            <a:r>
              <a:rPr lang="ru-RU" b="1" dirty="0">
                <a:solidFill>
                  <a:schemeClr val="bg1"/>
                </a:solidFill>
              </a:rPr>
              <a:t>, </a:t>
            </a:r>
            <a:r>
              <a:rPr lang="ru-RU" b="1" dirty="0" err="1">
                <a:solidFill>
                  <a:schemeClr val="bg1"/>
                </a:solidFill>
              </a:rPr>
              <a:t>культури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мовлення</a:t>
            </a:r>
            <a:endParaRPr lang="ru-RU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2453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кутник 1">
            <a:extLst>
              <a:ext uri="{FF2B5EF4-FFF2-40B4-BE49-F238E27FC236}">
                <a16:creationId xmlns:a16="http://schemas.microsoft.com/office/drawing/2014/main" id="{9575C0AF-AB21-4B5C-9941-2BA833B2080D}"/>
              </a:ext>
            </a:extLst>
          </p:cNvPr>
          <p:cNvSpPr/>
          <p:nvPr/>
        </p:nvSpPr>
        <p:spPr>
          <a:xfrm>
            <a:off x="922588" y="2224471"/>
            <a:ext cx="10407783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lvl="0" indent="-5715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4800" dirty="0" smtClean="0"/>
              <a:t>Наука</a:t>
            </a:r>
            <a:r>
              <a:rPr lang="ru-RU" sz="4800" dirty="0"/>
              <a:t>, </a:t>
            </a:r>
            <a:r>
              <a:rPr lang="ru-RU" sz="4800" dirty="0" err="1"/>
              <a:t>що</a:t>
            </a:r>
            <a:r>
              <a:rPr lang="ru-RU" sz="4800" dirty="0"/>
              <a:t> </a:t>
            </a:r>
            <a:r>
              <a:rPr lang="ru-RU" sz="4800" dirty="0" err="1"/>
              <a:t>вивчає</a:t>
            </a:r>
            <a:r>
              <a:rPr lang="ru-RU" sz="4800" dirty="0"/>
              <a:t> </a:t>
            </a:r>
            <a:r>
              <a:rPr lang="ru-RU" sz="4800" dirty="0" err="1"/>
              <a:t>нормативність</a:t>
            </a:r>
            <a:r>
              <a:rPr lang="ru-RU" sz="4800" dirty="0"/>
              <a:t> </a:t>
            </a:r>
            <a:r>
              <a:rPr lang="ru-RU" sz="4800" dirty="0" err="1"/>
              <a:t>мови</a:t>
            </a:r>
            <a:r>
              <a:rPr lang="ru-RU" sz="4800" dirty="0"/>
              <a:t>, </a:t>
            </a:r>
            <a:r>
              <a:rPr lang="ru-RU" sz="4800" dirty="0" err="1"/>
              <a:t>її</a:t>
            </a:r>
            <a:r>
              <a:rPr lang="ru-RU" sz="4800" dirty="0"/>
              <a:t> </a:t>
            </a:r>
            <a:r>
              <a:rPr lang="ru-RU" sz="4800" dirty="0" err="1"/>
              <a:t>відповідність</a:t>
            </a:r>
            <a:r>
              <a:rPr lang="ru-RU" sz="4800" dirty="0"/>
              <a:t> </a:t>
            </a:r>
            <a:r>
              <a:rPr lang="ru-RU" sz="4800" dirty="0" err="1"/>
              <a:t>тим</a:t>
            </a:r>
            <a:r>
              <a:rPr lang="ru-RU" sz="4800" dirty="0"/>
              <a:t> </a:t>
            </a:r>
            <a:r>
              <a:rPr lang="ru-RU" sz="4800" dirty="0" err="1"/>
              <a:t>вимогам</a:t>
            </a:r>
            <a:r>
              <a:rPr lang="ru-RU" sz="4800" dirty="0"/>
              <a:t>, </a:t>
            </a:r>
            <a:r>
              <a:rPr lang="ru-RU" sz="4800" dirty="0" err="1"/>
              <a:t>що</a:t>
            </a:r>
            <a:r>
              <a:rPr lang="ru-RU" sz="4800" dirty="0"/>
              <a:t> </a:t>
            </a:r>
            <a:r>
              <a:rPr lang="ru-RU" sz="4800" dirty="0" err="1"/>
              <a:t>ставляться</a:t>
            </a:r>
            <a:r>
              <a:rPr lang="ru-RU" sz="4800" dirty="0"/>
              <a:t> перед </a:t>
            </a:r>
            <a:r>
              <a:rPr lang="ru-RU" sz="4800" dirty="0" err="1"/>
              <a:t>мовою</a:t>
            </a:r>
            <a:r>
              <a:rPr lang="ru-RU" sz="4800" dirty="0"/>
              <a:t> в </a:t>
            </a:r>
            <a:r>
              <a:rPr lang="ru-RU" sz="4800" dirty="0" err="1" smtClean="0"/>
              <a:t>суспільстві</a:t>
            </a:r>
            <a:endParaRPr lang="uk-UA" sz="4800" dirty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931C64DA-886F-47F0-8641-9A8AC5C8E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1971" y="612322"/>
            <a:ext cx="10058400" cy="881743"/>
          </a:xfrm>
        </p:spPr>
        <p:txBody>
          <a:bodyPr>
            <a:noAutofit/>
          </a:bodyPr>
          <a:lstStyle/>
          <a:p>
            <a:pPr algn="ctr"/>
            <a:r>
              <a:rPr lang="uk-UA" sz="7200" b="1" i="1" dirty="0" smtClean="0">
                <a:solidFill>
                  <a:schemeClr val="accent2"/>
                </a:solidFill>
              </a:rPr>
              <a:t>Культура </a:t>
            </a:r>
            <a:r>
              <a:rPr lang="uk-UA" sz="7200" b="1" i="1" dirty="0">
                <a:solidFill>
                  <a:schemeClr val="accent2"/>
                </a:solidFill>
              </a:rPr>
              <a:t>мови</a:t>
            </a:r>
            <a:endParaRPr lang="uk-UA" sz="72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441D2B7-3EE2-42D1-A5AF-E04001E017B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317" y="6001865"/>
            <a:ext cx="1172817" cy="781878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C9E8BE8-7392-4DBD-9A75-2AC0190E1B3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30" b="19256"/>
          <a:stretch/>
        </p:blipFill>
        <p:spPr>
          <a:xfrm>
            <a:off x="11130895" y="5945544"/>
            <a:ext cx="918259" cy="838199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2536371" y="6404206"/>
            <a:ext cx="763088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chemeClr val="bg1"/>
                </a:solidFill>
              </a:rPr>
              <a:t>1. </a:t>
            </a:r>
            <a:r>
              <a:rPr lang="ru-RU" b="1" dirty="0" err="1">
                <a:solidFill>
                  <a:schemeClr val="bg1"/>
                </a:solidFill>
              </a:rPr>
              <a:t>Поняття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культури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мови</a:t>
            </a:r>
            <a:r>
              <a:rPr lang="ru-RU" b="1" dirty="0">
                <a:solidFill>
                  <a:schemeClr val="bg1"/>
                </a:solidFill>
              </a:rPr>
              <a:t>, </a:t>
            </a:r>
            <a:r>
              <a:rPr lang="ru-RU" b="1" dirty="0" err="1">
                <a:solidFill>
                  <a:schemeClr val="bg1"/>
                </a:solidFill>
              </a:rPr>
              <a:t>культури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мовлення</a:t>
            </a:r>
            <a:endParaRPr lang="ru-RU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5948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кутник 1">
            <a:extLst>
              <a:ext uri="{FF2B5EF4-FFF2-40B4-BE49-F238E27FC236}">
                <a16:creationId xmlns:a16="http://schemas.microsoft.com/office/drawing/2014/main" id="{9575C0AF-AB21-4B5C-9941-2BA833B2080D}"/>
              </a:ext>
            </a:extLst>
          </p:cNvPr>
          <p:cNvSpPr/>
          <p:nvPr/>
        </p:nvSpPr>
        <p:spPr>
          <a:xfrm>
            <a:off x="1097279" y="1886029"/>
            <a:ext cx="10407783" cy="43550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lvl="0" indent="-5715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2800" dirty="0" err="1" smtClean="0"/>
              <a:t>універсальний</a:t>
            </a:r>
            <a:r>
              <a:rPr lang="ru-RU" sz="2800" dirty="0" smtClean="0"/>
              <a:t> </a:t>
            </a:r>
            <a:r>
              <a:rPr lang="ru-RU" sz="2800" dirty="0" err="1"/>
              <a:t>засіб</a:t>
            </a:r>
            <a:r>
              <a:rPr lang="ru-RU" sz="2800" dirty="0"/>
              <a:t> </a:t>
            </a:r>
            <a:r>
              <a:rPr lang="ru-RU" sz="2800" dirty="0" err="1"/>
              <a:t>навчання</a:t>
            </a:r>
            <a:r>
              <a:rPr lang="ru-RU" sz="2800" dirty="0"/>
              <a:t> і </a:t>
            </a:r>
            <a:r>
              <a:rPr lang="ru-RU" sz="2800" dirty="0" err="1"/>
              <a:t>виховання</a:t>
            </a:r>
            <a:r>
              <a:rPr lang="ru-RU" sz="2800" dirty="0"/>
              <a:t> </a:t>
            </a:r>
            <a:r>
              <a:rPr lang="ru-RU" sz="2800" dirty="0" err="1" smtClean="0"/>
              <a:t>людини</a:t>
            </a:r>
            <a:r>
              <a:rPr lang="ru-RU" sz="2800" dirty="0" smtClean="0"/>
              <a:t>;</a:t>
            </a:r>
          </a:p>
          <a:p>
            <a:pPr marL="571500" lvl="0" indent="-5715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2800" dirty="0" err="1" smtClean="0"/>
              <a:t>енциклопедія</a:t>
            </a:r>
            <a:r>
              <a:rPr lang="ru-RU" sz="2800" dirty="0" smtClean="0"/>
              <a:t> </a:t>
            </a:r>
            <a:r>
              <a:rPr lang="ru-RU" sz="2800" dirty="0" err="1"/>
              <a:t>людського</a:t>
            </a:r>
            <a:r>
              <a:rPr lang="ru-RU" sz="2800" dirty="0"/>
              <a:t> </a:t>
            </a:r>
            <a:r>
              <a:rPr lang="ru-RU" sz="2800" dirty="0" err="1" smtClean="0"/>
              <a:t>досвіду</a:t>
            </a:r>
            <a:r>
              <a:rPr lang="ru-RU" sz="2800" dirty="0" smtClean="0"/>
              <a:t>;</a:t>
            </a:r>
          </a:p>
          <a:p>
            <a:pPr marL="571500" lvl="0" indent="-5715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2800" dirty="0" err="1" smtClean="0"/>
              <a:t>першооснова</a:t>
            </a:r>
            <a:r>
              <a:rPr lang="ru-RU" sz="2800" dirty="0" smtClean="0"/>
              <a:t> </a:t>
            </a:r>
            <a:r>
              <a:rPr lang="ru-RU" sz="2800" dirty="0" err="1"/>
              <a:t>нагромадження</a:t>
            </a:r>
            <a:r>
              <a:rPr lang="ru-RU" sz="2800" dirty="0"/>
              <a:t> </a:t>
            </a:r>
            <a:r>
              <a:rPr lang="ru-RU" sz="2800" dirty="0" err="1"/>
              <a:t>культурних</a:t>
            </a:r>
            <a:r>
              <a:rPr lang="ru-RU" sz="2800" dirty="0"/>
              <a:t> </a:t>
            </a:r>
            <a:r>
              <a:rPr lang="ru-RU" sz="2800" dirty="0" err="1"/>
              <a:t>цінностей</a:t>
            </a:r>
            <a:r>
              <a:rPr lang="ru-RU" sz="2800" dirty="0"/>
              <a:t>, </a:t>
            </a:r>
            <a:r>
              <a:rPr lang="ru-RU" sz="2800" dirty="0" err="1"/>
              <a:t>засіб</a:t>
            </a:r>
            <a:r>
              <a:rPr lang="ru-RU" sz="2800" dirty="0"/>
              <a:t> </a:t>
            </a:r>
            <a:r>
              <a:rPr lang="ru-RU" sz="2800" dirty="0" err="1"/>
              <a:t>вираження</a:t>
            </a:r>
            <a:r>
              <a:rPr lang="ru-RU" sz="2800" dirty="0"/>
              <a:t> </a:t>
            </a:r>
            <a:r>
              <a:rPr lang="ru-RU" sz="2800" dirty="0" err="1"/>
              <a:t>змісту</a:t>
            </a:r>
            <a:r>
              <a:rPr lang="ru-RU" sz="2800" dirty="0"/>
              <a:t> </a:t>
            </a:r>
            <a:r>
              <a:rPr lang="ru-RU" sz="2800" dirty="0" err="1"/>
              <a:t>культури</a:t>
            </a:r>
            <a:r>
              <a:rPr lang="ru-RU" sz="2800" dirty="0"/>
              <a:t>, </a:t>
            </a:r>
            <a:r>
              <a:rPr lang="ru-RU" sz="2800" dirty="0" err="1"/>
              <a:t>спосіб</a:t>
            </a:r>
            <a:r>
              <a:rPr lang="ru-RU" sz="2800" dirty="0"/>
              <a:t> </a:t>
            </a:r>
            <a:r>
              <a:rPr lang="ru-RU" sz="2800" dirty="0" err="1"/>
              <a:t>введення</a:t>
            </a:r>
            <a:r>
              <a:rPr lang="ru-RU" sz="2800" dirty="0"/>
              <a:t> </a:t>
            </a:r>
            <a:r>
              <a:rPr lang="ru-RU" sz="2800" dirty="0" err="1"/>
              <a:t>окремої</a:t>
            </a:r>
            <a:r>
              <a:rPr lang="ru-RU" sz="2800" dirty="0"/>
              <a:t> </a:t>
            </a:r>
            <a:r>
              <a:rPr lang="ru-RU" sz="2800" dirty="0" err="1"/>
              <a:t>людини</a:t>
            </a:r>
            <a:r>
              <a:rPr lang="ru-RU" sz="2800" dirty="0"/>
              <a:t> в </a:t>
            </a:r>
            <a:r>
              <a:rPr lang="ru-RU" sz="2800" dirty="0" err="1"/>
              <a:t>процес</a:t>
            </a:r>
            <a:r>
              <a:rPr lang="ru-RU" sz="2800" dirty="0"/>
              <a:t> </a:t>
            </a:r>
            <a:r>
              <a:rPr lang="ru-RU" sz="2800" dirty="0" err="1"/>
              <a:t>суспільного</a:t>
            </a:r>
            <a:r>
              <a:rPr lang="ru-RU" sz="2800" dirty="0"/>
              <a:t> культурного </a:t>
            </a:r>
            <a:r>
              <a:rPr lang="ru-RU" sz="2800" dirty="0" err="1" smtClean="0"/>
              <a:t>розвитку</a:t>
            </a:r>
            <a:r>
              <a:rPr lang="ru-RU" sz="2800" dirty="0" smtClean="0"/>
              <a:t>;</a:t>
            </a:r>
          </a:p>
          <a:p>
            <a:pPr marL="571500" lvl="0" indent="-5715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2800" dirty="0" smtClean="0"/>
              <a:t>один </a:t>
            </a:r>
            <a:r>
              <a:rPr lang="ru-RU" sz="2800" dirty="0"/>
              <a:t>з </a:t>
            </a:r>
            <a:r>
              <a:rPr lang="ru-RU" sz="2800" dirty="0" err="1"/>
              <a:t>компонентів</a:t>
            </a:r>
            <a:r>
              <a:rPr lang="ru-RU" sz="2800" dirty="0"/>
              <a:t> </a:t>
            </a:r>
            <a:r>
              <a:rPr lang="ru-RU" sz="2800" dirty="0" err="1"/>
              <a:t>духовної</a:t>
            </a:r>
            <a:r>
              <a:rPr lang="ru-RU" sz="2800" dirty="0"/>
              <a:t> </a:t>
            </a:r>
            <a:r>
              <a:rPr lang="ru-RU" sz="2800" dirty="0" err="1"/>
              <a:t>культури</a:t>
            </a:r>
            <a:r>
              <a:rPr lang="ru-RU" sz="2800" dirty="0"/>
              <a:t> </a:t>
            </a:r>
            <a:r>
              <a:rPr lang="ru-RU" sz="2800" dirty="0" err="1"/>
              <a:t>суспільства</a:t>
            </a:r>
            <a:r>
              <a:rPr lang="ru-RU" sz="2800" dirty="0"/>
              <a:t>; </a:t>
            </a:r>
            <a:endParaRPr lang="ru-RU" sz="2800" dirty="0" smtClean="0"/>
          </a:p>
          <a:p>
            <a:pPr marL="571500" lvl="0" indent="-5715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2800" dirty="0" err="1" smtClean="0"/>
              <a:t>засіб</a:t>
            </a:r>
            <a:r>
              <a:rPr lang="ru-RU" sz="2800" dirty="0" smtClean="0"/>
              <a:t> </a:t>
            </a:r>
            <a:r>
              <a:rPr lang="ru-RU" sz="2800" dirty="0" err="1"/>
              <a:t>координації</a:t>
            </a:r>
            <a:r>
              <a:rPr lang="ru-RU" sz="2800" dirty="0"/>
              <a:t> </a:t>
            </a:r>
            <a:r>
              <a:rPr lang="ru-RU" sz="2800" dirty="0" err="1"/>
              <a:t>усіх</a:t>
            </a:r>
            <a:r>
              <a:rPr lang="ru-RU" sz="2800" dirty="0"/>
              <a:t> </a:t>
            </a:r>
            <a:r>
              <a:rPr lang="ru-RU" sz="2800" dirty="0" err="1"/>
              <a:t>виробничих</a:t>
            </a:r>
            <a:r>
              <a:rPr lang="ru-RU" sz="2800" dirty="0"/>
              <a:t> </a:t>
            </a:r>
            <a:r>
              <a:rPr lang="ru-RU" sz="2800" dirty="0" err="1" smtClean="0"/>
              <a:t>процесів</a:t>
            </a:r>
            <a:r>
              <a:rPr lang="ru-RU" sz="2800" dirty="0" smtClean="0"/>
              <a:t>;</a:t>
            </a:r>
          </a:p>
          <a:p>
            <a:pPr marL="571500" lvl="0" indent="-5715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2800" dirty="0" err="1" smtClean="0"/>
              <a:t>функціонуюча</a:t>
            </a:r>
            <a:r>
              <a:rPr lang="ru-RU" sz="2800" dirty="0" smtClean="0"/>
              <a:t> </a:t>
            </a:r>
            <a:r>
              <a:rPr lang="ru-RU" sz="2800" dirty="0"/>
              <a:t>система, </a:t>
            </a:r>
            <a:r>
              <a:rPr lang="ru-RU" sz="2800" dirty="0" err="1"/>
              <a:t>нерозривно</a:t>
            </a:r>
            <a:r>
              <a:rPr lang="ru-RU" sz="2800" dirty="0"/>
              <a:t> </a:t>
            </a:r>
            <a:r>
              <a:rPr lang="ru-RU" sz="2800" dirty="0" err="1"/>
              <a:t>пов’язана</a:t>
            </a:r>
            <a:r>
              <a:rPr lang="ru-RU" sz="2800" dirty="0"/>
              <a:t> з </a:t>
            </a:r>
            <a:r>
              <a:rPr lang="ru-RU" sz="2800" dirty="0" err="1"/>
              <a:t>усіма</a:t>
            </a:r>
            <a:r>
              <a:rPr lang="ru-RU" sz="2800" dirty="0"/>
              <a:t> </a:t>
            </a:r>
            <a:r>
              <a:rPr lang="ru-RU" sz="2800" dirty="0" err="1"/>
              <a:t>галузями</a:t>
            </a:r>
            <a:r>
              <a:rPr lang="ru-RU" sz="2800" dirty="0"/>
              <a:t> </a:t>
            </a:r>
            <a:r>
              <a:rPr lang="ru-RU" sz="2800" dirty="0" err="1"/>
              <a:t>суспільного</a:t>
            </a:r>
            <a:r>
              <a:rPr lang="ru-RU" sz="2800" dirty="0"/>
              <a:t> </a:t>
            </a:r>
            <a:r>
              <a:rPr lang="ru-RU" sz="2800" dirty="0" err="1"/>
              <a:t>життя</a:t>
            </a:r>
            <a:r>
              <a:rPr lang="ru-RU" sz="2800" dirty="0"/>
              <a:t>.</a:t>
            </a:r>
            <a:endParaRPr lang="uk-UA" sz="2800" dirty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931C64DA-886F-47F0-8641-9A8AC5C8E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1971" y="612322"/>
            <a:ext cx="10058400" cy="881743"/>
          </a:xfrm>
        </p:spPr>
        <p:txBody>
          <a:bodyPr>
            <a:noAutofit/>
          </a:bodyPr>
          <a:lstStyle/>
          <a:p>
            <a:pPr algn="ctr"/>
            <a:r>
              <a:rPr lang="uk-UA" sz="5400" b="1" i="1" dirty="0" smtClean="0">
                <a:solidFill>
                  <a:schemeClr val="accent2"/>
                </a:solidFill>
              </a:rPr>
              <a:t>Мова – це:</a:t>
            </a:r>
            <a:endParaRPr lang="uk-UA" sz="54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441D2B7-3EE2-42D1-A5AF-E04001E017B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317" y="6001865"/>
            <a:ext cx="1172817" cy="781878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C9E8BE8-7392-4DBD-9A75-2AC0190E1B3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30" b="19256"/>
          <a:stretch/>
        </p:blipFill>
        <p:spPr>
          <a:xfrm>
            <a:off x="11130895" y="5945544"/>
            <a:ext cx="918259" cy="838199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2536371" y="6404206"/>
            <a:ext cx="763088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chemeClr val="bg1"/>
                </a:solidFill>
              </a:rPr>
              <a:t>1. </a:t>
            </a:r>
            <a:r>
              <a:rPr lang="ru-RU" b="1" dirty="0" err="1">
                <a:solidFill>
                  <a:schemeClr val="bg1"/>
                </a:solidFill>
              </a:rPr>
              <a:t>Поняття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культури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мови</a:t>
            </a:r>
            <a:r>
              <a:rPr lang="ru-RU" b="1" dirty="0">
                <a:solidFill>
                  <a:schemeClr val="bg1"/>
                </a:solidFill>
              </a:rPr>
              <a:t>, </a:t>
            </a:r>
            <a:r>
              <a:rPr lang="ru-RU" b="1" dirty="0" err="1">
                <a:solidFill>
                  <a:schemeClr val="bg1"/>
                </a:solidFill>
              </a:rPr>
              <a:t>культури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мовлення</a:t>
            </a:r>
            <a:endParaRPr lang="ru-RU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0128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кутник 1">
            <a:extLst>
              <a:ext uri="{FF2B5EF4-FFF2-40B4-BE49-F238E27FC236}">
                <a16:creationId xmlns:a16="http://schemas.microsoft.com/office/drawing/2014/main" id="{9575C0AF-AB21-4B5C-9941-2BA833B2080D}"/>
              </a:ext>
            </a:extLst>
          </p:cNvPr>
          <p:cNvSpPr/>
          <p:nvPr/>
        </p:nvSpPr>
        <p:spPr>
          <a:xfrm>
            <a:off x="1097279" y="2375899"/>
            <a:ext cx="10407783" cy="27853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0" indent="-742950" algn="just">
              <a:spcBef>
                <a:spcPts val="600"/>
              </a:spcBef>
              <a:spcAft>
                <a:spcPts val="1200"/>
              </a:spcAft>
              <a:buFont typeface="+mj-lt"/>
              <a:buAutoNum type="arabicParenR"/>
            </a:pPr>
            <a:r>
              <a:rPr lang="ru-RU" sz="4000" dirty="0" err="1" smtClean="0"/>
              <a:t>безумовне</a:t>
            </a:r>
            <a:r>
              <a:rPr lang="ru-RU" sz="4000" dirty="0" smtClean="0"/>
              <a:t> </a:t>
            </a:r>
            <a:r>
              <a:rPr lang="ru-RU" sz="4000" dirty="0" err="1"/>
              <a:t>додержання</a:t>
            </a:r>
            <a:r>
              <a:rPr lang="ru-RU" sz="4000" dirty="0"/>
              <a:t> (</a:t>
            </a:r>
            <a:r>
              <a:rPr lang="ru-RU" sz="4000" dirty="0" err="1"/>
              <a:t>усно</a:t>
            </a:r>
            <a:r>
              <a:rPr lang="ru-RU" sz="4000" dirty="0"/>
              <a:t> і на </a:t>
            </a:r>
            <a:r>
              <a:rPr lang="ru-RU" sz="4000" dirty="0" err="1"/>
              <a:t>письмі</a:t>
            </a:r>
            <a:r>
              <a:rPr lang="ru-RU" sz="4000" dirty="0"/>
              <a:t>) норм </a:t>
            </a:r>
            <a:r>
              <a:rPr lang="ru-RU" sz="4000" dirty="0" err="1"/>
              <a:t>літературної</a:t>
            </a:r>
            <a:r>
              <a:rPr lang="ru-RU" sz="4000" dirty="0"/>
              <a:t> </a:t>
            </a:r>
            <a:r>
              <a:rPr lang="ru-RU" sz="4000" dirty="0" err="1" smtClean="0"/>
              <a:t>мови</a:t>
            </a:r>
            <a:endParaRPr lang="ru-RU" sz="4000" dirty="0" smtClean="0"/>
          </a:p>
          <a:p>
            <a:pPr marL="742950" lvl="0" indent="-742950" algn="just">
              <a:spcBef>
                <a:spcPts val="600"/>
              </a:spcBef>
              <a:spcAft>
                <a:spcPts val="1200"/>
              </a:spcAft>
              <a:buFont typeface="+mj-lt"/>
              <a:buAutoNum type="arabicParenR"/>
            </a:pPr>
            <a:r>
              <a:rPr lang="ru-RU" sz="4000" dirty="0" err="1" smtClean="0"/>
              <a:t>мовленнєва</a:t>
            </a:r>
            <a:r>
              <a:rPr lang="ru-RU" sz="4000" dirty="0" smtClean="0"/>
              <a:t> </a:t>
            </a:r>
            <a:r>
              <a:rPr lang="ru-RU" sz="4000" dirty="0" err="1"/>
              <a:t>майстерність</a:t>
            </a:r>
            <a:r>
              <a:rPr lang="ru-RU" sz="4000" dirty="0"/>
              <a:t> того, </a:t>
            </a:r>
            <a:r>
              <a:rPr lang="ru-RU" sz="4000" dirty="0" err="1"/>
              <a:t>хто</a:t>
            </a:r>
            <a:r>
              <a:rPr lang="ru-RU" sz="4000" dirty="0"/>
              <a:t> говорить, </a:t>
            </a:r>
            <a:r>
              <a:rPr lang="ru-RU" sz="4000" dirty="0" err="1"/>
              <a:t>або</a:t>
            </a:r>
            <a:r>
              <a:rPr lang="ru-RU" sz="4000" dirty="0"/>
              <a:t> </a:t>
            </a:r>
            <a:r>
              <a:rPr lang="ru-RU" sz="4000" dirty="0" err="1"/>
              <a:t>пише</a:t>
            </a:r>
            <a:endParaRPr lang="uk-UA" sz="4000" dirty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931C64DA-886F-47F0-8641-9A8AC5C8E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1971" y="612322"/>
            <a:ext cx="10058400" cy="881743"/>
          </a:xfrm>
        </p:spPr>
        <p:txBody>
          <a:bodyPr>
            <a:noAutofit/>
          </a:bodyPr>
          <a:lstStyle/>
          <a:p>
            <a:pPr algn="ctr"/>
            <a:r>
              <a:rPr lang="ru-RU" b="1" i="1" dirty="0">
                <a:solidFill>
                  <a:schemeClr val="accent2"/>
                </a:solidFill>
              </a:rPr>
              <a:t>Культура </a:t>
            </a:r>
            <a:r>
              <a:rPr lang="ru-RU" b="1" i="1" dirty="0" err="1">
                <a:solidFill>
                  <a:schemeClr val="accent2"/>
                </a:solidFill>
              </a:rPr>
              <a:t>мовлення</a:t>
            </a:r>
            <a:endParaRPr lang="uk-UA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441D2B7-3EE2-42D1-A5AF-E04001E017B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317" y="6001865"/>
            <a:ext cx="1172817" cy="781878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C9E8BE8-7392-4DBD-9A75-2AC0190E1B3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30" b="19256"/>
          <a:stretch/>
        </p:blipFill>
        <p:spPr>
          <a:xfrm>
            <a:off x="11130895" y="5945544"/>
            <a:ext cx="918259" cy="838199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2536371" y="6404206"/>
            <a:ext cx="763088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chemeClr val="bg1"/>
                </a:solidFill>
              </a:rPr>
              <a:t>1. </a:t>
            </a:r>
            <a:r>
              <a:rPr lang="ru-RU" b="1" dirty="0" err="1">
                <a:solidFill>
                  <a:schemeClr val="bg1"/>
                </a:solidFill>
              </a:rPr>
              <a:t>Поняття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культури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мови</a:t>
            </a:r>
            <a:r>
              <a:rPr lang="ru-RU" b="1" dirty="0">
                <a:solidFill>
                  <a:schemeClr val="bg1"/>
                </a:solidFill>
              </a:rPr>
              <a:t>, </a:t>
            </a:r>
            <a:r>
              <a:rPr lang="ru-RU" b="1" dirty="0" err="1">
                <a:solidFill>
                  <a:schemeClr val="bg1"/>
                </a:solidFill>
              </a:rPr>
              <a:t>культури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мовлення</a:t>
            </a:r>
            <a:endParaRPr lang="ru-RU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9842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кутник 1">
            <a:extLst>
              <a:ext uri="{FF2B5EF4-FFF2-40B4-BE49-F238E27FC236}">
                <a16:creationId xmlns:a16="http://schemas.microsoft.com/office/drawing/2014/main" id="{9575C0AF-AB21-4B5C-9941-2BA833B2080D}"/>
              </a:ext>
            </a:extLst>
          </p:cNvPr>
          <p:cNvSpPr/>
          <p:nvPr/>
        </p:nvSpPr>
        <p:spPr>
          <a:xfrm>
            <a:off x="1097279" y="1886029"/>
            <a:ext cx="10407783" cy="38010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lvl="0" indent="-571500" algn="just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800" dirty="0" err="1" smtClean="0"/>
              <a:t>спосіб</a:t>
            </a:r>
            <a:r>
              <a:rPr lang="ru-RU" sz="2800" dirty="0" smtClean="0"/>
              <a:t> </a:t>
            </a:r>
            <a:r>
              <a:rPr lang="ru-RU" sz="2800" dirty="0" err="1"/>
              <a:t>існування</a:t>
            </a:r>
            <a:r>
              <a:rPr lang="ru-RU" sz="2800" dirty="0"/>
              <a:t> і </a:t>
            </a:r>
            <a:r>
              <a:rPr lang="ru-RU" sz="2800" dirty="0" err="1"/>
              <a:t>вияву</a:t>
            </a:r>
            <a:r>
              <a:rPr lang="ru-RU" sz="2800" dirty="0"/>
              <a:t> </a:t>
            </a:r>
            <a:r>
              <a:rPr lang="ru-RU" sz="2800" dirty="0" err="1"/>
              <a:t>мови</a:t>
            </a:r>
            <a:r>
              <a:rPr lang="ru-RU" sz="2800" dirty="0"/>
              <a:t>, «</a:t>
            </a:r>
            <a:r>
              <a:rPr lang="ru-RU" sz="2800" dirty="0" err="1"/>
              <a:t>мова</a:t>
            </a:r>
            <a:r>
              <a:rPr lang="ru-RU" sz="2800" dirty="0"/>
              <a:t> в </a:t>
            </a:r>
            <a:r>
              <a:rPr lang="ru-RU" sz="2800" dirty="0" err="1"/>
              <a:t>дії</a:t>
            </a:r>
            <a:r>
              <a:rPr lang="ru-RU" sz="2800" dirty="0"/>
              <a:t>», </a:t>
            </a:r>
            <a:r>
              <a:rPr lang="ru-RU" sz="2800" dirty="0" err="1"/>
              <a:t>мовний</a:t>
            </a:r>
            <a:r>
              <a:rPr lang="ru-RU" sz="2800" dirty="0"/>
              <a:t> </a:t>
            </a:r>
            <a:r>
              <a:rPr lang="ru-RU" sz="2800" dirty="0" err="1"/>
              <a:t>процес</a:t>
            </a:r>
            <a:r>
              <a:rPr lang="ru-RU" sz="2800" dirty="0"/>
              <a:t> у </a:t>
            </a:r>
            <a:r>
              <a:rPr lang="ru-RU" sz="2800" dirty="0" err="1"/>
              <a:t>багатьох</a:t>
            </a:r>
            <a:r>
              <a:rPr lang="ru-RU" sz="2800" dirty="0"/>
              <a:t> </a:t>
            </a:r>
            <a:r>
              <a:rPr lang="ru-RU" sz="2800" dirty="0" err="1"/>
              <a:t>його</a:t>
            </a:r>
            <a:r>
              <a:rPr lang="ru-RU" sz="2800" dirty="0"/>
              <a:t> видах і формах (</a:t>
            </a:r>
            <a:r>
              <a:rPr lang="ru-RU" sz="2800" dirty="0" err="1"/>
              <a:t>говоріння</a:t>
            </a:r>
            <a:r>
              <a:rPr lang="ru-RU" sz="2800" dirty="0"/>
              <a:t>, </a:t>
            </a:r>
            <a:r>
              <a:rPr lang="ru-RU" sz="2800" dirty="0" err="1"/>
              <a:t>писання</a:t>
            </a:r>
            <a:r>
              <a:rPr lang="ru-RU" sz="2800" dirty="0"/>
              <a:t>, </a:t>
            </a:r>
            <a:r>
              <a:rPr lang="ru-RU" sz="2800" dirty="0" err="1"/>
              <a:t>слухання</a:t>
            </a:r>
            <a:r>
              <a:rPr lang="ru-RU" sz="2800" dirty="0"/>
              <a:t>, </a:t>
            </a:r>
            <a:r>
              <a:rPr lang="ru-RU" sz="2800" dirty="0" err="1"/>
              <a:t>читання</a:t>
            </a:r>
            <a:r>
              <a:rPr lang="ru-RU" sz="2800" dirty="0"/>
              <a:t>), </a:t>
            </a:r>
            <a:r>
              <a:rPr lang="ru-RU" sz="2800" dirty="0" err="1"/>
              <a:t>мовчазна</a:t>
            </a:r>
            <a:r>
              <a:rPr lang="ru-RU" sz="2800" dirty="0"/>
              <a:t> </a:t>
            </a:r>
            <a:r>
              <a:rPr lang="ru-RU" sz="2800" dirty="0" err="1"/>
              <a:t>розмова</a:t>
            </a:r>
            <a:r>
              <a:rPr lang="ru-RU" sz="2800" dirty="0"/>
              <a:t> з самим собою, </a:t>
            </a:r>
            <a:r>
              <a:rPr lang="ru-RU" sz="2800" dirty="0" err="1"/>
              <a:t>обдумування</a:t>
            </a:r>
            <a:r>
              <a:rPr lang="ru-RU" sz="2800" dirty="0"/>
              <a:t> </a:t>
            </a:r>
            <a:r>
              <a:rPr lang="ru-RU" sz="2800" dirty="0" err="1"/>
              <a:t>повідомлення</a:t>
            </a:r>
            <a:r>
              <a:rPr lang="ru-RU" sz="2800" dirty="0" smtClean="0"/>
              <a:t>;</a:t>
            </a:r>
          </a:p>
          <a:p>
            <a:pPr marL="571500" lvl="0" indent="-571500" algn="just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800" dirty="0" err="1" smtClean="0"/>
              <a:t>вияв</a:t>
            </a:r>
            <a:r>
              <a:rPr lang="ru-RU" sz="2800" dirty="0" smtClean="0"/>
              <a:t> </a:t>
            </a:r>
            <a:r>
              <a:rPr lang="ru-RU" sz="2800" dirty="0" err="1"/>
              <a:t>процесу</a:t>
            </a:r>
            <a:r>
              <a:rPr lang="ru-RU" sz="2800" dirty="0"/>
              <a:t> </a:t>
            </a:r>
            <a:r>
              <a:rPr lang="ru-RU" sz="2800" dirty="0" err="1"/>
              <a:t>формування</a:t>
            </a:r>
            <a:r>
              <a:rPr lang="ru-RU" sz="2800" dirty="0"/>
              <a:t> (а не </a:t>
            </a:r>
            <a:r>
              <a:rPr lang="ru-RU" sz="2800" dirty="0" err="1"/>
              <a:t>втілення</a:t>
            </a:r>
            <a:r>
              <a:rPr lang="ru-RU" sz="2800" dirty="0"/>
              <a:t>) </a:t>
            </a:r>
            <a:r>
              <a:rPr lang="ru-RU" sz="2800" dirty="0" smtClean="0"/>
              <a:t>думки;</a:t>
            </a:r>
          </a:p>
          <a:p>
            <a:pPr marL="571500" lvl="0" indent="-571500" algn="just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800" dirty="0" err="1" smtClean="0"/>
              <a:t>вияв</a:t>
            </a:r>
            <a:r>
              <a:rPr lang="ru-RU" sz="2800" dirty="0" smtClean="0"/>
              <a:t> </a:t>
            </a:r>
            <a:r>
              <a:rPr lang="ru-RU" sz="2800" dirty="0" err="1"/>
              <a:t>одиниць</a:t>
            </a:r>
            <a:r>
              <a:rPr lang="ru-RU" sz="2800" dirty="0"/>
              <a:t> </a:t>
            </a:r>
            <a:r>
              <a:rPr lang="ru-RU" sz="2800" dirty="0" err="1"/>
              <a:t>мови</a:t>
            </a:r>
            <a:r>
              <a:rPr lang="ru-RU" sz="2800" dirty="0"/>
              <a:t> </a:t>
            </a:r>
            <a:r>
              <a:rPr lang="ru-RU" sz="2800" dirty="0" err="1"/>
              <a:t>усіх</a:t>
            </a:r>
            <a:r>
              <a:rPr lang="ru-RU" sz="2800" dirty="0"/>
              <a:t> </a:t>
            </a:r>
            <a:r>
              <a:rPr lang="ru-RU" sz="2800" dirty="0" err="1"/>
              <a:t>рівнів</a:t>
            </a:r>
            <a:r>
              <a:rPr lang="ru-RU" sz="2800" dirty="0"/>
              <a:t> і правил </a:t>
            </a:r>
            <a:r>
              <a:rPr lang="ru-RU" sz="2800" dirty="0" err="1"/>
              <a:t>їх</a:t>
            </a:r>
            <a:r>
              <a:rPr lang="ru-RU" sz="2800" dirty="0"/>
              <a:t> </a:t>
            </a:r>
            <a:r>
              <a:rPr lang="ru-RU" sz="2800" dirty="0" err="1" smtClean="0"/>
              <a:t>поєднання</a:t>
            </a:r>
            <a:r>
              <a:rPr lang="ru-RU" sz="2800" dirty="0" smtClean="0"/>
              <a:t>;</a:t>
            </a:r>
          </a:p>
          <a:p>
            <a:pPr marL="571500" lvl="0" indent="-571500" algn="just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800" dirty="0" err="1" smtClean="0"/>
              <a:t>засіб</a:t>
            </a:r>
            <a:r>
              <a:rPr lang="ru-RU" sz="2800" dirty="0" smtClean="0"/>
              <a:t> </a:t>
            </a:r>
            <a:r>
              <a:rPr lang="ru-RU" sz="2800" dirty="0" err="1"/>
              <a:t>конкретизації</a:t>
            </a:r>
            <a:r>
              <a:rPr lang="ru-RU" sz="2800" dirty="0"/>
              <a:t> </a:t>
            </a:r>
            <a:r>
              <a:rPr lang="ru-RU" sz="2800" dirty="0" err="1"/>
              <a:t>спілкування</a:t>
            </a:r>
            <a:r>
              <a:rPr lang="ru-RU" sz="2800" dirty="0"/>
              <a:t> (</a:t>
            </a:r>
            <a:r>
              <a:rPr lang="ru-RU" sz="2800" dirty="0" err="1"/>
              <a:t>мовного</a:t>
            </a:r>
            <a:r>
              <a:rPr lang="ru-RU" sz="2800" dirty="0"/>
              <a:t> </a:t>
            </a:r>
            <a:r>
              <a:rPr lang="ru-RU" sz="2800" dirty="0" err="1"/>
              <a:t>спілкування</a:t>
            </a:r>
            <a:r>
              <a:rPr lang="ru-RU" sz="2800" dirty="0"/>
              <a:t>).</a:t>
            </a:r>
            <a:endParaRPr lang="uk-UA" sz="2800" dirty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931C64DA-886F-47F0-8641-9A8AC5C8E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1971" y="612322"/>
            <a:ext cx="10058400" cy="881743"/>
          </a:xfrm>
        </p:spPr>
        <p:txBody>
          <a:bodyPr>
            <a:noAutofit/>
          </a:bodyPr>
          <a:lstStyle/>
          <a:p>
            <a:pPr algn="ctr"/>
            <a:r>
              <a:rPr lang="uk-UA" sz="5400" b="1" i="1" dirty="0" smtClean="0">
                <a:solidFill>
                  <a:schemeClr val="accent2"/>
                </a:solidFill>
              </a:rPr>
              <a:t>Мовлення – це:</a:t>
            </a:r>
            <a:endParaRPr lang="uk-UA" sz="54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441D2B7-3EE2-42D1-A5AF-E04001E017B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317" y="6001865"/>
            <a:ext cx="1172817" cy="781878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C9E8BE8-7392-4DBD-9A75-2AC0190E1B3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30" b="19256"/>
          <a:stretch/>
        </p:blipFill>
        <p:spPr>
          <a:xfrm>
            <a:off x="11130895" y="5945544"/>
            <a:ext cx="918259" cy="838199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2536371" y="6404206"/>
            <a:ext cx="763088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chemeClr val="bg1"/>
                </a:solidFill>
              </a:rPr>
              <a:t>1. </a:t>
            </a:r>
            <a:r>
              <a:rPr lang="ru-RU" b="1" dirty="0" err="1">
                <a:solidFill>
                  <a:schemeClr val="bg1"/>
                </a:solidFill>
              </a:rPr>
              <a:t>Поняття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культури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мови</a:t>
            </a:r>
            <a:r>
              <a:rPr lang="ru-RU" b="1" dirty="0">
                <a:solidFill>
                  <a:schemeClr val="bg1"/>
                </a:solidFill>
              </a:rPr>
              <a:t>, </a:t>
            </a:r>
            <a:r>
              <a:rPr lang="ru-RU" b="1" dirty="0" err="1">
                <a:solidFill>
                  <a:schemeClr val="bg1"/>
                </a:solidFill>
              </a:rPr>
              <a:t>культури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мовлення</a:t>
            </a:r>
            <a:endParaRPr lang="ru-RU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6849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кутник 1">
            <a:extLst>
              <a:ext uri="{FF2B5EF4-FFF2-40B4-BE49-F238E27FC236}">
                <a16:creationId xmlns:a16="http://schemas.microsoft.com/office/drawing/2014/main" id="{9575C0AF-AB21-4B5C-9941-2BA833B2080D}"/>
              </a:ext>
            </a:extLst>
          </p:cNvPr>
          <p:cNvSpPr/>
          <p:nvPr/>
        </p:nvSpPr>
        <p:spPr>
          <a:xfrm>
            <a:off x="1097280" y="1962229"/>
            <a:ext cx="10407783" cy="3400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lvl="0" indent="-571500" algn="just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4000" dirty="0"/>
              <a:t>Основу </a:t>
            </a:r>
            <a:r>
              <a:rPr lang="ru-RU" sz="4000" dirty="0" err="1"/>
              <a:t>мови</a:t>
            </a:r>
            <a:r>
              <a:rPr lang="ru-RU" sz="4000" dirty="0"/>
              <a:t> і </a:t>
            </a:r>
            <a:r>
              <a:rPr lang="ru-RU" sz="4000" dirty="0" err="1"/>
              <a:t>мовлення</a:t>
            </a:r>
            <a:r>
              <a:rPr lang="ru-RU" sz="4000" dirty="0"/>
              <a:t> становить </a:t>
            </a:r>
            <a:r>
              <a:rPr lang="ru-RU" sz="4000" b="1" dirty="0" err="1">
                <a:solidFill>
                  <a:schemeClr val="accent1">
                    <a:lumMod val="75000"/>
                  </a:schemeClr>
                </a:solidFill>
              </a:rPr>
              <a:t>мовленнєва</a:t>
            </a:r>
            <a:r>
              <a:rPr lang="ru-RU" sz="40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ru-RU" sz="4000" b="1" dirty="0" err="1">
                <a:solidFill>
                  <a:schemeClr val="accent1">
                    <a:lumMod val="75000"/>
                  </a:schemeClr>
                </a:solidFill>
              </a:rPr>
              <a:t>діяльність</a:t>
            </a:r>
            <a:r>
              <a:rPr lang="ru-RU" sz="4000" b="1" dirty="0">
                <a:solidFill>
                  <a:schemeClr val="accent1">
                    <a:lumMod val="75000"/>
                  </a:schemeClr>
                </a:solidFill>
              </a:rPr>
              <a:t>. </a:t>
            </a:r>
            <a:endParaRPr lang="ru-RU" sz="4000" b="1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571500" lvl="0" indent="-571500" algn="just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4000" dirty="0" err="1"/>
              <a:t>Досконале</a:t>
            </a:r>
            <a:r>
              <a:rPr lang="ru-RU" sz="4000" dirty="0"/>
              <a:t> </a:t>
            </a:r>
            <a:r>
              <a:rPr lang="ru-RU" sz="4000" dirty="0" err="1"/>
              <a:t>володіння</a:t>
            </a:r>
            <a:r>
              <a:rPr lang="ru-RU" sz="4000" dirty="0"/>
              <a:t> </a:t>
            </a:r>
            <a:r>
              <a:rPr lang="ru-RU" sz="4000" dirty="0" err="1"/>
              <a:t>мовою</a:t>
            </a:r>
            <a:r>
              <a:rPr lang="ru-RU" sz="4000" dirty="0"/>
              <a:t>, </a:t>
            </a:r>
            <a:r>
              <a:rPr lang="ru-RU" sz="4000" dirty="0" err="1"/>
              <a:t>її</a:t>
            </a:r>
            <a:r>
              <a:rPr lang="ru-RU" sz="4000" dirty="0"/>
              <a:t> нормами в </a:t>
            </a:r>
            <a:r>
              <a:rPr lang="ru-RU" sz="4000" dirty="0" err="1"/>
              <a:t>процесі</a:t>
            </a:r>
            <a:r>
              <a:rPr lang="ru-RU" sz="4000" dirty="0"/>
              <a:t> </a:t>
            </a:r>
            <a:r>
              <a:rPr lang="ru-RU" sz="4000" dirty="0" err="1"/>
              <a:t>мовленнєвої</a:t>
            </a:r>
            <a:r>
              <a:rPr lang="ru-RU" sz="4000" dirty="0"/>
              <a:t> </a:t>
            </a:r>
            <a:r>
              <a:rPr lang="ru-RU" sz="4000" dirty="0" err="1"/>
              <a:t>діяльності</a:t>
            </a:r>
            <a:r>
              <a:rPr lang="ru-RU" sz="4000" dirty="0"/>
              <a:t> </a:t>
            </a:r>
            <a:r>
              <a:rPr lang="ru-RU" sz="4000" dirty="0" err="1"/>
              <a:t>людини</a:t>
            </a:r>
            <a:r>
              <a:rPr lang="ru-RU" sz="4000" dirty="0"/>
              <a:t> </a:t>
            </a:r>
            <a:r>
              <a:rPr lang="ru-RU" sz="4000" dirty="0" err="1"/>
              <a:t>визначає</a:t>
            </a:r>
            <a:r>
              <a:rPr lang="ru-RU" sz="4000" dirty="0"/>
              <a:t> </a:t>
            </a:r>
            <a:r>
              <a:rPr lang="ru-RU" sz="4000" dirty="0" err="1"/>
              <a:t>її</a:t>
            </a:r>
            <a:r>
              <a:rPr lang="ru-RU" sz="4000" dirty="0"/>
              <a:t> </a:t>
            </a:r>
            <a:r>
              <a:rPr lang="ru-RU" sz="4000" b="1" dirty="0">
                <a:solidFill>
                  <a:schemeClr val="accent1">
                    <a:lumMod val="75000"/>
                  </a:schemeClr>
                </a:solidFill>
              </a:rPr>
              <a:t>культуру </a:t>
            </a:r>
            <a:r>
              <a:rPr lang="ru-RU" sz="4000" b="1" dirty="0" err="1">
                <a:solidFill>
                  <a:schemeClr val="accent1">
                    <a:lumMod val="75000"/>
                  </a:schemeClr>
                </a:solidFill>
              </a:rPr>
              <a:t>мовлення</a:t>
            </a:r>
            <a:r>
              <a:rPr lang="ru-RU" sz="4000" b="1" dirty="0">
                <a:solidFill>
                  <a:schemeClr val="accent1">
                    <a:lumMod val="75000"/>
                  </a:schemeClr>
                </a:solidFill>
              </a:rPr>
              <a:t>.</a:t>
            </a:r>
            <a:endParaRPr lang="uk-UA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931C64DA-886F-47F0-8641-9A8AC5C8E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1971" y="612322"/>
            <a:ext cx="10058400" cy="881743"/>
          </a:xfrm>
        </p:spPr>
        <p:txBody>
          <a:bodyPr>
            <a:noAutofit/>
          </a:bodyPr>
          <a:lstStyle/>
          <a:p>
            <a:pPr algn="ctr"/>
            <a:endParaRPr lang="uk-UA" sz="54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441D2B7-3EE2-42D1-A5AF-E04001E017B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317" y="6001865"/>
            <a:ext cx="1172817" cy="781878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C9E8BE8-7392-4DBD-9A75-2AC0190E1B3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30" b="19256"/>
          <a:stretch/>
        </p:blipFill>
        <p:spPr>
          <a:xfrm>
            <a:off x="11130895" y="5945544"/>
            <a:ext cx="918259" cy="838199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2536371" y="6404206"/>
            <a:ext cx="763088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chemeClr val="bg1"/>
                </a:solidFill>
              </a:rPr>
              <a:t>1. </a:t>
            </a:r>
            <a:r>
              <a:rPr lang="ru-RU" b="1" dirty="0" err="1">
                <a:solidFill>
                  <a:schemeClr val="bg1"/>
                </a:solidFill>
              </a:rPr>
              <a:t>Поняття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культури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мови</a:t>
            </a:r>
            <a:r>
              <a:rPr lang="ru-RU" b="1" dirty="0">
                <a:solidFill>
                  <a:schemeClr val="bg1"/>
                </a:solidFill>
              </a:rPr>
              <a:t>, </a:t>
            </a:r>
            <a:r>
              <a:rPr lang="ru-RU" b="1" dirty="0" err="1">
                <a:solidFill>
                  <a:schemeClr val="bg1"/>
                </a:solidFill>
              </a:rPr>
              <a:t>культури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мовлення</a:t>
            </a:r>
            <a:endParaRPr lang="ru-RU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0814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441D2B7-3EE2-42D1-A5AF-E04001E017B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317" y="6001865"/>
            <a:ext cx="1172817" cy="781878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C9E8BE8-7392-4DBD-9A75-2AC0190E1B3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30" b="19256"/>
          <a:stretch/>
        </p:blipFill>
        <p:spPr>
          <a:xfrm>
            <a:off x="11130895" y="5945544"/>
            <a:ext cx="918259" cy="838199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1665514" y="6404206"/>
            <a:ext cx="850174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chemeClr val="bg1"/>
                </a:solidFill>
              </a:rPr>
              <a:t>2. </a:t>
            </a:r>
            <a:r>
              <a:rPr lang="ru-RU" b="1" dirty="0" err="1">
                <a:solidFill>
                  <a:schemeClr val="bg1"/>
                </a:solidFill>
              </a:rPr>
              <a:t>Основні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комунікативні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ознаки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культури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мовлення</a:t>
            </a:r>
            <a:endParaRPr lang="uk-UA" b="1" dirty="0">
              <a:solidFill>
                <a:schemeClr val="bg1"/>
              </a:solidFill>
            </a:endParaRPr>
          </a:p>
        </p:txBody>
      </p:sp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uk-UA" dirty="0"/>
          </a:p>
        </p:txBody>
      </p:sp>
      <p:pic>
        <p:nvPicPr>
          <p:cNvPr id="53" name="Рисунок 5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5599" y="286603"/>
            <a:ext cx="9579429" cy="5715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990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кутник 1">
            <a:extLst>
              <a:ext uri="{FF2B5EF4-FFF2-40B4-BE49-F238E27FC236}">
                <a16:creationId xmlns:a16="http://schemas.microsoft.com/office/drawing/2014/main" id="{9575C0AF-AB21-4B5C-9941-2BA833B2080D}"/>
              </a:ext>
            </a:extLst>
          </p:cNvPr>
          <p:cNvSpPr/>
          <p:nvPr/>
        </p:nvSpPr>
        <p:spPr>
          <a:xfrm>
            <a:off x="1097279" y="2056309"/>
            <a:ext cx="10407783" cy="34932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lvl="0" indent="-571500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4400" dirty="0" err="1"/>
              <a:t>логічність</a:t>
            </a:r>
            <a:r>
              <a:rPr lang="ru-RU" sz="4400" dirty="0"/>
              <a:t> </a:t>
            </a:r>
            <a:r>
              <a:rPr lang="ru-RU" sz="4400" dirty="0" err="1" smtClean="0"/>
              <a:t>мислення</a:t>
            </a:r>
            <a:endParaRPr lang="ru-RU" sz="4400" dirty="0" smtClean="0"/>
          </a:p>
          <a:p>
            <a:pPr marL="571500" lvl="0" indent="-571500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4400" dirty="0" err="1"/>
              <a:t>знання</a:t>
            </a:r>
            <a:r>
              <a:rPr lang="ru-RU" sz="4400" dirty="0"/>
              <a:t> </a:t>
            </a:r>
            <a:r>
              <a:rPr lang="ru-RU" sz="4400" dirty="0" err="1"/>
              <a:t>мовцями</a:t>
            </a:r>
            <a:r>
              <a:rPr lang="ru-RU" sz="4400" dirty="0"/>
              <a:t> </a:t>
            </a:r>
            <a:r>
              <a:rPr lang="ru-RU" sz="4400" dirty="0" err="1"/>
              <a:t>мовних</a:t>
            </a:r>
            <a:r>
              <a:rPr lang="ru-RU" sz="4400" dirty="0"/>
              <a:t> </a:t>
            </a:r>
            <a:r>
              <a:rPr lang="ru-RU" sz="4400" dirty="0" err="1" smtClean="0"/>
              <a:t>засобів</a:t>
            </a:r>
            <a:endParaRPr lang="ru-RU" sz="4400" dirty="0" smtClean="0"/>
          </a:p>
          <a:p>
            <a:pPr marL="571500" lvl="0" indent="-571500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4400" dirty="0" err="1" smtClean="0"/>
              <a:t>смислова</a:t>
            </a:r>
            <a:r>
              <a:rPr lang="ru-RU" sz="4400" dirty="0" smtClean="0"/>
              <a:t> </a:t>
            </a:r>
            <a:r>
              <a:rPr lang="ru-RU" sz="4400" dirty="0" err="1"/>
              <a:t>зв’язність</a:t>
            </a:r>
            <a:r>
              <a:rPr lang="ru-RU" sz="4400" dirty="0"/>
              <a:t> </a:t>
            </a:r>
            <a:r>
              <a:rPr lang="ru-RU" sz="4400" dirty="0" err="1" smtClean="0"/>
              <a:t>мовлення</a:t>
            </a:r>
            <a:endParaRPr lang="ru-RU" sz="4400" dirty="0" smtClean="0"/>
          </a:p>
          <a:p>
            <a:pPr marL="571500" lvl="0" indent="-571500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4400" dirty="0" err="1" smtClean="0"/>
              <a:t>логіка</a:t>
            </a:r>
            <a:r>
              <a:rPr lang="ru-RU" sz="4400" dirty="0" smtClean="0"/>
              <a:t> </a:t>
            </a:r>
            <a:r>
              <a:rPr lang="ru-RU" sz="4400" dirty="0" err="1"/>
              <a:t>викладу</a:t>
            </a:r>
            <a:r>
              <a:rPr lang="ru-RU" sz="4400" dirty="0"/>
              <a:t> думки</a:t>
            </a:r>
            <a:endParaRPr lang="ru-RU" sz="4400" dirty="0" smtClean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931C64DA-886F-47F0-8641-9A8AC5C8E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1971" y="612322"/>
            <a:ext cx="10058400" cy="881743"/>
          </a:xfrm>
        </p:spPr>
        <p:txBody>
          <a:bodyPr>
            <a:noAutofit/>
          </a:bodyPr>
          <a:lstStyle/>
          <a:p>
            <a:pPr algn="ctr"/>
            <a:r>
              <a:rPr lang="uk-UA" sz="5400" b="1" i="1" dirty="0" smtClean="0">
                <a:solidFill>
                  <a:schemeClr val="accent2"/>
                </a:solidFill>
              </a:rPr>
              <a:t>Логічність </a:t>
            </a:r>
            <a:r>
              <a:rPr lang="uk-UA" sz="5400" b="1" i="1" dirty="0">
                <a:solidFill>
                  <a:schemeClr val="accent2"/>
                </a:solidFill>
              </a:rPr>
              <a:t>мовлення </a:t>
            </a:r>
            <a:endParaRPr lang="uk-UA" sz="54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441D2B7-3EE2-42D1-A5AF-E04001E017B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317" y="6001865"/>
            <a:ext cx="1172817" cy="781878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C9E8BE8-7392-4DBD-9A75-2AC0190E1B3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30" b="19256"/>
          <a:stretch/>
        </p:blipFill>
        <p:spPr>
          <a:xfrm>
            <a:off x="11130895" y="5945544"/>
            <a:ext cx="918259" cy="838199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1665514" y="6404206"/>
            <a:ext cx="850174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chemeClr val="bg1"/>
                </a:solidFill>
              </a:rPr>
              <a:t>2. </a:t>
            </a:r>
            <a:r>
              <a:rPr lang="ru-RU" b="1" dirty="0" err="1">
                <a:solidFill>
                  <a:schemeClr val="bg1"/>
                </a:solidFill>
              </a:rPr>
              <a:t>Основні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комунікативні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ознаки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культури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мовлення</a:t>
            </a:r>
            <a:endParaRPr lang="uk-UA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8162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кутник 1">
            <a:extLst>
              <a:ext uri="{FF2B5EF4-FFF2-40B4-BE49-F238E27FC236}">
                <a16:creationId xmlns:a16="http://schemas.microsoft.com/office/drawing/2014/main" id="{9575C0AF-AB21-4B5C-9941-2BA833B2080D}"/>
              </a:ext>
            </a:extLst>
          </p:cNvPr>
          <p:cNvSpPr/>
          <p:nvPr/>
        </p:nvSpPr>
        <p:spPr>
          <a:xfrm>
            <a:off x="1097279" y="2056309"/>
            <a:ext cx="10407783" cy="37087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0" indent="-742950">
              <a:spcBef>
                <a:spcPts val="6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4400" dirty="0" err="1" smtClean="0"/>
              <a:t>Адекватне</a:t>
            </a:r>
            <a:r>
              <a:rPr lang="ru-RU" sz="4400" dirty="0" smtClean="0"/>
              <a:t> </a:t>
            </a:r>
            <a:r>
              <a:rPr lang="ru-RU" sz="4400" dirty="0" err="1"/>
              <a:t>мовне</a:t>
            </a:r>
            <a:r>
              <a:rPr lang="ru-RU" sz="4400" dirty="0"/>
              <a:t> </a:t>
            </a:r>
            <a:r>
              <a:rPr lang="ru-RU" sz="4400" dirty="0" err="1"/>
              <a:t>вираження</a:t>
            </a:r>
            <a:r>
              <a:rPr lang="ru-RU" sz="4400" dirty="0"/>
              <a:t> </a:t>
            </a:r>
            <a:r>
              <a:rPr lang="ru-RU" sz="4400" dirty="0" err="1"/>
              <a:t>дійсності</a:t>
            </a:r>
            <a:r>
              <a:rPr lang="ru-RU" sz="4400" dirty="0"/>
              <a:t>, </a:t>
            </a:r>
            <a:r>
              <a:rPr lang="ru-RU" sz="4400" dirty="0" err="1"/>
              <a:t>тобто</a:t>
            </a:r>
            <a:r>
              <a:rPr lang="ru-RU" sz="4400" dirty="0"/>
              <a:t> не </a:t>
            </a:r>
            <a:r>
              <a:rPr lang="ru-RU" sz="4400" dirty="0" err="1"/>
              <a:t>суперечливе</a:t>
            </a:r>
            <a:r>
              <a:rPr lang="ru-RU" sz="4400" dirty="0"/>
              <a:t> </a:t>
            </a:r>
            <a:r>
              <a:rPr lang="ru-RU" sz="4400" dirty="0" err="1" smtClean="0"/>
              <a:t>життю</a:t>
            </a:r>
            <a:endParaRPr lang="ru-RU" sz="4400" dirty="0"/>
          </a:p>
          <a:p>
            <a:pPr marL="742950" lvl="0" indent="-742950">
              <a:spcBef>
                <a:spcPts val="6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4400" dirty="0" err="1"/>
              <a:t>В</a:t>
            </a:r>
            <a:r>
              <a:rPr lang="ru-RU" sz="4400" dirty="0" err="1" smtClean="0"/>
              <a:t>живання</a:t>
            </a:r>
            <a:r>
              <a:rPr lang="ru-RU" sz="4400" dirty="0" smtClean="0"/>
              <a:t> </a:t>
            </a:r>
            <a:r>
              <a:rPr lang="ru-RU" sz="4400" dirty="0" err="1"/>
              <a:t>слів</a:t>
            </a:r>
            <a:r>
              <a:rPr lang="ru-RU" sz="4400" dirty="0"/>
              <a:t> і </a:t>
            </a:r>
            <a:r>
              <a:rPr lang="ru-RU" sz="4400" dirty="0" err="1"/>
              <a:t>виразів</a:t>
            </a:r>
            <a:r>
              <a:rPr lang="ru-RU" sz="4400" dirty="0"/>
              <a:t>, </a:t>
            </a:r>
            <a:r>
              <a:rPr lang="ru-RU" sz="4400" dirty="0" err="1"/>
              <a:t>узвичаєних</a:t>
            </a:r>
            <a:r>
              <a:rPr lang="ru-RU" sz="4400" dirty="0"/>
              <a:t> для </a:t>
            </a:r>
            <a:r>
              <a:rPr lang="ru-RU" sz="4400" dirty="0" err="1"/>
              <a:t>мовців</a:t>
            </a:r>
            <a:r>
              <a:rPr lang="ru-RU" sz="4400" dirty="0"/>
              <a:t>, </a:t>
            </a:r>
            <a:r>
              <a:rPr lang="ru-RU" sz="4400" dirty="0" err="1"/>
              <a:t>що</a:t>
            </a:r>
            <a:r>
              <a:rPr lang="ru-RU" sz="4400" dirty="0"/>
              <a:t> </a:t>
            </a:r>
            <a:r>
              <a:rPr lang="ru-RU" sz="4400" dirty="0" err="1"/>
              <a:t>володіють</a:t>
            </a:r>
            <a:r>
              <a:rPr lang="ru-RU" sz="4400" dirty="0"/>
              <a:t> нормами </a:t>
            </a:r>
            <a:r>
              <a:rPr lang="ru-RU" sz="4400" dirty="0" err="1"/>
              <a:t>літературної</a:t>
            </a:r>
            <a:r>
              <a:rPr lang="ru-RU" sz="4400" dirty="0"/>
              <a:t> </a:t>
            </a:r>
            <a:r>
              <a:rPr lang="ru-RU" sz="4400" dirty="0" err="1" smtClean="0"/>
              <a:t>мови</a:t>
            </a:r>
            <a:endParaRPr lang="ru-RU" sz="4400" dirty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931C64DA-886F-47F0-8641-9A8AC5C8E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1971" y="612322"/>
            <a:ext cx="10058400" cy="881743"/>
          </a:xfrm>
        </p:spPr>
        <p:txBody>
          <a:bodyPr>
            <a:noAutofit/>
          </a:bodyPr>
          <a:lstStyle/>
          <a:p>
            <a:pPr algn="ctr"/>
            <a:r>
              <a:rPr lang="uk-UA" b="1" i="1" dirty="0" smtClean="0">
                <a:solidFill>
                  <a:schemeClr val="accent2"/>
                </a:solidFill>
              </a:rPr>
              <a:t>Два компоненти точності </a:t>
            </a:r>
            <a:r>
              <a:rPr lang="uk-UA" b="1" i="1" dirty="0">
                <a:solidFill>
                  <a:schemeClr val="accent2"/>
                </a:solidFill>
              </a:rPr>
              <a:t>мовлення </a:t>
            </a:r>
            <a:endParaRPr lang="uk-UA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441D2B7-3EE2-42D1-A5AF-E04001E017B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317" y="6001865"/>
            <a:ext cx="1172817" cy="781878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C9E8BE8-7392-4DBD-9A75-2AC0190E1B3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30" b="19256"/>
          <a:stretch/>
        </p:blipFill>
        <p:spPr>
          <a:xfrm>
            <a:off x="11130895" y="5945544"/>
            <a:ext cx="918259" cy="838199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1665514" y="6404206"/>
            <a:ext cx="850174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chemeClr val="bg1"/>
                </a:solidFill>
              </a:rPr>
              <a:t>2. </a:t>
            </a:r>
            <a:r>
              <a:rPr lang="ru-RU" b="1" dirty="0" err="1">
                <a:solidFill>
                  <a:schemeClr val="bg1"/>
                </a:solidFill>
              </a:rPr>
              <a:t>Основні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комунікативні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ознаки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культури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мовлення</a:t>
            </a:r>
            <a:endParaRPr lang="uk-UA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4728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кутник 1">
            <a:extLst>
              <a:ext uri="{FF2B5EF4-FFF2-40B4-BE49-F238E27FC236}">
                <a16:creationId xmlns:a16="http://schemas.microsoft.com/office/drawing/2014/main" id="{9575C0AF-AB21-4B5C-9941-2BA833B2080D}"/>
              </a:ext>
            </a:extLst>
          </p:cNvPr>
          <p:cNvSpPr/>
          <p:nvPr/>
        </p:nvSpPr>
        <p:spPr>
          <a:xfrm>
            <a:off x="1097279" y="2056309"/>
            <a:ext cx="10407783" cy="40164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lvl="0" indent="-571500">
              <a:spcBef>
                <a:spcPts val="6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3000" dirty="0" err="1" smtClean="0"/>
              <a:t>Оформляти</a:t>
            </a:r>
            <a:r>
              <a:rPr lang="ru-RU" sz="3000" dirty="0" smtClean="0"/>
              <a:t> </a:t>
            </a:r>
            <a:r>
              <a:rPr lang="ru-RU" sz="3000" dirty="0"/>
              <a:t>й </a:t>
            </a:r>
            <a:r>
              <a:rPr lang="ru-RU" sz="3000" dirty="0" err="1"/>
              <a:t>виражати</a:t>
            </a:r>
            <a:r>
              <a:rPr lang="ru-RU" sz="3000" dirty="0"/>
              <a:t> думку треба </a:t>
            </a:r>
            <a:r>
              <a:rPr lang="ru-RU" sz="3000" dirty="0" err="1"/>
              <a:t>відповідно</a:t>
            </a:r>
            <a:r>
              <a:rPr lang="ru-RU" sz="3000" dirty="0"/>
              <a:t> до </a:t>
            </a:r>
            <a:r>
              <a:rPr lang="ru-RU" sz="3000" dirty="0" err="1"/>
              <a:t>предметів</a:t>
            </a:r>
            <a:r>
              <a:rPr lang="ru-RU" sz="3000" dirty="0"/>
              <a:t> і </a:t>
            </a:r>
            <a:r>
              <a:rPr lang="ru-RU" sz="3000" dirty="0" err="1"/>
              <a:t>явищ</a:t>
            </a:r>
            <a:r>
              <a:rPr lang="ru-RU" sz="3000" dirty="0"/>
              <a:t> </a:t>
            </a:r>
            <a:r>
              <a:rPr lang="ru-RU" sz="3000" dirty="0" err="1"/>
              <a:t>дійсності</a:t>
            </a:r>
            <a:r>
              <a:rPr lang="ru-RU" sz="3000" dirty="0"/>
              <a:t>, </a:t>
            </a:r>
            <a:r>
              <a:rPr lang="ru-RU" sz="3000" dirty="0" err="1"/>
              <a:t>відповідно</a:t>
            </a:r>
            <a:r>
              <a:rPr lang="ru-RU" sz="3000" dirty="0"/>
              <a:t> до понять про них. </a:t>
            </a:r>
            <a:r>
              <a:rPr lang="ru-RU" sz="3000" dirty="0" err="1"/>
              <a:t>Слід</a:t>
            </a:r>
            <a:r>
              <a:rPr lang="ru-RU" sz="3000" dirty="0"/>
              <a:t> </a:t>
            </a:r>
            <a:r>
              <a:rPr lang="ru-RU" sz="3000" dirty="0" err="1"/>
              <a:t>пам’ятати</a:t>
            </a:r>
            <a:r>
              <a:rPr lang="ru-RU" sz="3000" dirty="0"/>
              <a:t>, </a:t>
            </a:r>
            <a:r>
              <a:rPr lang="ru-RU" sz="3000" dirty="0" err="1"/>
              <a:t>що</a:t>
            </a:r>
            <a:r>
              <a:rPr lang="ru-RU" sz="3000" dirty="0"/>
              <a:t> </a:t>
            </a:r>
            <a:r>
              <a:rPr lang="ru-RU" sz="3000" dirty="0" err="1"/>
              <a:t>точність</a:t>
            </a:r>
            <a:r>
              <a:rPr lang="ru-RU" sz="3000" dirty="0"/>
              <a:t> </a:t>
            </a:r>
            <a:r>
              <a:rPr lang="ru-RU" sz="3000" dirty="0" err="1"/>
              <a:t>пов’язувалася</a:t>
            </a:r>
            <a:r>
              <a:rPr lang="ru-RU" sz="3000" dirty="0"/>
              <a:t> з </a:t>
            </a:r>
            <a:r>
              <a:rPr lang="ru-RU" sz="3000" dirty="0" err="1"/>
              <a:t>умінням</a:t>
            </a:r>
            <a:r>
              <a:rPr lang="ru-RU" sz="3000" dirty="0"/>
              <a:t> </a:t>
            </a:r>
            <a:r>
              <a:rPr lang="ru-RU" sz="3000" dirty="0" err="1"/>
              <a:t>чітко</a:t>
            </a:r>
            <a:r>
              <a:rPr lang="ru-RU" sz="3000" dirty="0"/>
              <a:t> </a:t>
            </a:r>
            <a:r>
              <a:rPr lang="ru-RU" sz="3000" dirty="0" err="1"/>
              <a:t>мислити</a:t>
            </a:r>
            <a:r>
              <a:rPr lang="ru-RU" sz="3000" dirty="0"/>
              <a:t>, </a:t>
            </a:r>
            <a:r>
              <a:rPr lang="ru-RU" sz="3000" dirty="0" err="1"/>
              <a:t>умінням</a:t>
            </a:r>
            <a:r>
              <a:rPr lang="ru-RU" sz="3000" dirty="0"/>
              <a:t> </a:t>
            </a:r>
            <a:r>
              <a:rPr lang="ru-RU" sz="3000" dirty="0" err="1"/>
              <a:t>зіставити</a:t>
            </a:r>
            <a:r>
              <a:rPr lang="ru-RU" sz="3000" dirty="0"/>
              <a:t> слово з особою, предметом, </a:t>
            </a:r>
            <a:r>
              <a:rPr lang="ru-RU" sz="3000" dirty="0" err="1"/>
              <a:t>дією</a:t>
            </a:r>
            <a:r>
              <a:rPr lang="ru-RU" sz="3000" dirty="0"/>
              <a:t>, </a:t>
            </a:r>
            <a:r>
              <a:rPr lang="ru-RU" sz="3000" dirty="0" err="1"/>
              <a:t>явищем</a:t>
            </a:r>
            <a:r>
              <a:rPr lang="ru-RU" sz="3000" dirty="0"/>
              <a:t>.</a:t>
            </a:r>
          </a:p>
          <a:p>
            <a:pPr marL="571500" lvl="0" indent="-571500">
              <a:spcBef>
                <a:spcPts val="6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3000" dirty="0" err="1" smtClean="0"/>
              <a:t>Обов’язковою</a:t>
            </a:r>
            <a:r>
              <a:rPr lang="ru-RU" sz="3000" dirty="0" smtClean="0"/>
              <a:t> </a:t>
            </a:r>
            <a:r>
              <a:rPr lang="ru-RU" sz="3000" dirty="0" err="1"/>
              <a:t>умовою</a:t>
            </a:r>
            <a:r>
              <a:rPr lang="ru-RU" sz="3000" dirty="0"/>
              <a:t> </a:t>
            </a:r>
            <a:r>
              <a:rPr lang="ru-RU" sz="3000" dirty="0" err="1"/>
              <a:t>досягнення</a:t>
            </a:r>
            <a:r>
              <a:rPr lang="ru-RU" sz="3000" dirty="0"/>
              <a:t> </a:t>
            </a:r>
            <a:r>
              <a:rPr lang="ru-RU" sz="3000" dirty="0" err="1"/>
              <a:t>точності</a:t>
            </a:r>
            <a:r>
              <a:rPr lang="ru-RU" sz="3000" dirty="0"/>
              <a:t> </a:t>
            </a:r>
            <a:r>
              <a:rPr lang="ru-RU" sz="3000" dirty="0" err="1"/>
              <a:t>мови</a:t>
            </a:r>
            <a:r>
              <a:rPr lang="ru-RU" sz="3000" dirty="0"/>
              <a:t> є </a:t>
            </a:r>
            <a:r>
              <a:rPr lang="ru-RU" sz="3000" dirty="0" err="1"/>
              <a:t>увага</a:t>
            </a:r>
            <a:r>
              <a:rPr lang="ru-RU" sz="3000" dirty="0"/>
              <a:t> до стилю і жанру </a:t>
            </a:r>
            <a:r>
              <a:rPr lang="ru-RU" sz="3000" dirty="0" err="1"/>
              <a:t>текстів</a:t>
            </a:r>
            <a:r>
              <a:rPr lang="ru-RU" sz="3000" dirty="0"/>
              <a:t>, умов, </a:t>
            </a:r>
            <a:r>
              <a:rPr lang="ru-RU" sz="3000" dirty="0" err="1"/>
              <a:t>середовища</a:t>
            </a:r>
            <a:r>
              <a:rPr lang="ru-RU" sz="3000" dirty="0"/>
              <a:t> й колориту </a:t>
            </a:r>
            <a:r>
              <a:rPr lang="ru-RU" sz="3000" dirty="0" err="1"/>
              <a:t>спілкування</a:t>
            </a:r>
            <a:r>
              <a:rPr lang="ru-RU" sz="3000" dirty="0"/>
              <a:t>, культурно-</a:t>
            </a:r>
            <a:r>
              <a:rPr lang="ru-RU" sz="3000" dirty="0" err="1"/>
              <a:t>освітнього</a:t>
            </a:r>
            <a:r>
              <a:rPr lang="ru-RU" sz="3000" dirty="0"/>
              <a:t> </a:t>
            </a:r>
            <a:r>
              <a:rPr lang="ru-RU" sz="3000" dirty="0" err="1"/>
              <a:t>рівня</a:t>
            </a:r>
            <a:r>
              <a:rPr lang="ru-RU" sz="3000" dirty="0"/>
              <a:t> </a:t>
            </a:r>
            <a:r>
              <a:rPr lang="ru-RU" sz="3000" dirty="0" err="1"/>
              <a:t>мовців</a:t>
            </a:r>
            <a:r>
              <a:rPr lang="ru-RU" sz="3000" dirty="0"/>
              <a:t>.</a:t>
            </a: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931C64DA-886F-47F0-8641-9A8AC5C8E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1971" y="612322"/>
            <a:ext cx="10058400" cy="881743"/>
          </a:xfrm>
        </p:spPr>
        <p:txBody>
          <a:bodyPr>
            <a:noAutofit/>
          </a:bodyPr>
          <a:lstStyle/>
          <a:p>
            <a:pPr algn="ctr"/>
            <a:r>
              <a:rPr lang="uk-UA" sz="5400" b="1" i="1" dirty="0" smtClean="0">
                <a:solidFill>
                  <a:schemeClr val="accent2"/>
                </a:solidFill>
              </a:rPr>
              <a:t>Дві вимоги точності </a:t>
            </a:r>
            <a:r>
              <a:rPr lang="uk-UA" sz="5400" b="1" i="1" dirty="0">
                <a:solidFill>
                  <a:schemeClr val="accent2"/>
                </a:solidFill>
              </a:rPr>
              <a:t>мовлення </a:t>
            </a:r>
            <a:endParaRPr lang="uk-UA" sz="54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441D2B7-3EE2-42D1-A5AF-E04001E017B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317" y="6001865"/>
            <a:ext cx="1172817" cy="781878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C9E8BE8-7392-4DBD-9A75-2AC0190E1B3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30" b="19256"/>
          <a:stretch/>
        </p:blipFill>
        <p:spPr>
          <a:xfrm>
            <a:off x="11130895" y="5945544"/>
            <a:ext cx="918259" cy="838199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1665514" y="6404206"/>
            <a:ext cx="850174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chemeClr val="bg1"/>
                </a:solidFill>
              </a:rPr>
              <a:t>2. </a:t>
            </a:r>
            <a:r>
              <a:rPr lang="ru-RU" b="1" dirty="0" err="1">
                <a:solidFill>
                  <a:schemeClr val="bg1"/>
                </a:solidFill>
              </a:rPr>
              <a:t>Основні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комунікативні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ознаки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культури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мовлення</a:t>
            </a:r>
            <a:endParaRPr lang="uk-UA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7469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кутник 1">
            <a:extLst>
              <a:ext uri="{FF2B5EF4-FFF2-40B4-BE49-F238E27FC236}">
                <a16:creationId xmlns:a16="http://schemas.microsoft.com/office/drawing/2014/main" id="{9575C0AF-AB21-4B5C-9941-2BA833B2080D}"/>
              </a:ext>
            </a:extLst>
          </p:cNvPr>
          <p:cNvSpPr/>
          <p:nvPr/>
        </p:nvSpPr>
        <p:spPr>
          <a:xfrm>
            <a:off x="1097279" y="1925680"/>
            <a:ext cx="10407783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lang="ru-RU" sz="3000" dirty="0" err="1"/>
              <a:t>правильне</a:t>
            </a:r>
            <a:r>
              <a:rPr lang="ru-RU" sz="3000" dirty="0"/>
              <a:t>, не </a:t>
            </a:r>
            <a:r>
              <a:rPr lang="ru-RU" sz="3000" dirty="0" err="1"/>
              <a:t>перекручене</a:t>
            </a:r>
            <a:r>
              <a:rPr lang="ru-RU" sz="3000" dirty="0"/>
              <a:t> </a:t>
            </a:r>
            <a:r>
              <a:rPr lang="ru-RU" sz="3000" dirty="0" err="1"/>
              <a:t>розуміння</a:t>
            </a:r>
            <a:r>
              <a:rPr lang="ru-RU" sz="3000" dirty="0"/>
              <a:t> понять, </a:t>
            </a:r>
            <a:r>
              <a:rPr lang="ru-RU" sz="3000" dirty="0" err="1"/>
              <a:t>термінів</a:t>
            </a:r>
            <a:r>
              <a:rPr lang="ru-RU" sz="3000" dirty="0"/>
              <a:t>, </a:t>
            </a:r>
            <a:r>
              <a:rPr lang="ru-RU" sz="3000" dirty="0" err="1"/>
              <a:t>якими</a:t>
            </a:r>
            <a:r>
              <a:rPr lang="ru-RU" sz="3000" dirty="0"/>
              <a:t> </a:t>
            </a:r>
            <a:r>
              <a:rPr lang="ru-RU" sz="3000" dirty="0" err="1"/>
              <a:t>передаються</a:t>
            </a:r>
            <a:r>
              <a:rPr lang="ru-RU" sz="3000" dirty="0"/>
              <a:t> </a:t>
            </a:r>
            <a:r>
              <a:rPr lang="ru-RU" sz="3000" dirty="0" err="1"/>
              <a:t>ці</a:t>
            </a:r>
            <a:r>
              <a:rPr lang="ru-RU" sz="3000" dirty="0"/>
              <a:t> </a:t>
            </a:r>
            <a:r>
              <a:rPr lang="ru-RU" sz="3000" dirty="0" err="1"/>
              <a:t>поняття</a:t>
            </a:r>
            <a:r>
              <a:rPr lang="ru-RU" sz="3000" dirty="0"/>
              <a:t>, </a:t>
            </a:r>
            <a:r>
              <a:rPr lang="ru-RU" sz="3000" dirty="0" err="1"/>
              <a:t>доречне</a:t>
            </a:r>
            <a:r>
              <a:rPr lang="ru-RU" sz="3000" dirty="0"/>
              <a:t> </a:t>
            </a:r>
            <a:r>
              <a:rPr lang="ru-RU" sz="3000" dirty="0" err="1"/>
              <a:t>їх</a:t>
            </a:r>
            <a:r>
              <a:rPr lang="ru-RU" sz="3000" dirty="0"/>
              <a:t> </a:t>
            </a:r>
            <a:r>
              <a:rPr lang="ru-RU" sz="3000" dirty="0" err="1"/>
              <a:t>вживання</a:t>
            </a:r>
            <a:r>
              <a:rPr lang="ru-RU" sz="3000" dirty="0"/>
              <a:t>, </a:t>
            </a:r>
            <a:r>
              <a:rPr lang="ru-RU" sz="3000" dirty="0" err="1"/>
              <a:t>зв’язок</a:t>
            </a:r>
            <a:r>
              <a:rPr lang="ru-RU" sz="3000" dirty="0"/>
              <a:t> думок і понять у </a:t>
            </a:r>
            <a:r>
              <a:rPr lang="ru-RU" sz="3000" dirty="0" err="1"/>
              <a:t>єдину</a:t>
            </a:r>
            <a:r>
              <a:rPr lang="ru-RU" sz="3000" dirty="0"/>
              <a:t> </a:t>
            </a:r>
            <a:r>
              <a:rPr lang="ru-RU" sz="3000" dirty="0" err="1"/>
              <a:t>теорію</a:t>
            </a:r>
            <a:r>
              <a:rPr lang="ru-RU" sz="3000" dirty="0"/>
              <a:t>, </a:t>
            </a:r>
            <a:r>
              <a:rPr lang="ru-RU" sz="3000" dirty="0" err="1"/>
              <a:t>ясність</a:t>
            </a:r>
            <a:r>
              <a:rPr lang="ru-RU" sz="3000" dirty="0"/>
              <a:t> </a:t>
            </a:r>
            <a:r>
              <a:rPr lang="ru-RU" sz="3000" dirty="0" err="1" smtClean="0"/>
              <a:t>викладу</a:t>
            </a:r>
            <a:r>
              <a:rPr lang="ru-RU" sz="3000" dirty="0" smtClean="0"/>
              <a:t>, </a:t>
            </a:r>
            <a:r>
              <a:rPr lang="ru-RU" sz="3000" dirty="0" err="1" smtClean="0"/>
              <a:t>що</a:t>
            </a:r>
            <a:r>
              <a:rPr lang="ru-RU" sz="3000" dirty="0" smtClean="0"/>
              <a:t> </a:t>
            </a:r>
            <a:r>
              <a:rPr lang="ru-RU" sz="3000" dirty="0" err="1" smtClean="0"/>
              <a:t>досягається</a:t>
            </a:r>
            <a:r>
              <a:rPr lang="ru-RU" sz="3000" dirty="0" smtClean="0"/>
              <a:t> через:</a:t>
            </a:r>
            <a:endParaRPr lang="ru-RU" sz="3000" dirty="0"/>
          </a:p>
          <a:p>
            <a:pPr marL="514350" lvl="0" indent="-514350">
              <a:spcBef>
                <a:spcPts val="6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3000" dirty="0" err="1"/>
              <a:t>п</a:t>
            </a:r>
            <a:r>
              <a:rPr lang="ru-RU" sz="3000" dirty="0" err="1" smtClean="0"/>
              <a:t>равильне</a:t>
            </a:r>
            <a:r>
              <a:rPr lang="ru-RU" sz="3000" dirty="0" smtClean="0"/>
              <a:t> </a:t>
            </a:r>
            <a:r>
              <a:rPr lang="ru-RU" sz="3000" dirty="0" err="1"/>
              <a:t>фонетичне</a:t>
            </a:r>
            <a:r>
              <a:rPr lang="ru-RU" sz="3000" dirty="0"/>
              <a:t> </a:t>
            </a:r>
            <a:r>
              <a:rPr lang="ru-RU" sz="3000" dirty="0" err="1"/>
              <a:t>наголошення</a:t>
            </a:r>
            <a:r>
              <a:rPr lang="ru-RU" sz="3000" dirty="0"/>
              <a:t> </a:t>
            </a:r>
            <a:r>
              <a:rPr lang="ru-RU" sz="3000" dirty="0" err="1"/>
              <a:t>слів</a:t>
            </a:r>
            <a:r>
              <a:rPr lang="ru-RU" sz="3000" dirty="0"/>
              <a:t> (</a:t>
            </a:r>
            <a:r>
              <a:rPr lang="ru-RU" sz="3000" dirty="0" err="1"/>
              <a:t>слід</a:t>
            </a:r>
            <a:r>
              <a:rPr lang="ru-RU" sz="3000" dirty="0"/>
              <a:t> </a:t>
            </a:r>
            <a:r>
              <a:rPr lang="ru-RU" sz="3000" dirty="0" err="1"/>
              <a:t>уникати</a:t>
            </a:r>
            <a:r>
              <a:rPr lang="ru-RU" sz="3000" dirty="0"/>
              <a:t> </a:t>
            </a:r>
            <a:r>
              <a:rPr lang="ru-RU" sz="3000" dirty="0" err="1"/>
              <a:t>діалектних</a:t>
            </a:r>
            <a:r>
              <a:rPr lang="ru-RU" sz="3000" dirty="0"/>
              <a:t> та </a:t>
            </a:r>
            <a:r>
              <a:rPr lang="ru-RU" sz="3000" dirty="0" err="1"/>
              <a:t>просторічних</a:t>
            </a:r>
            <a:r>
              <a:rPr lang="ru-RU" sz="3000" dirty="0"/>
              <a:t> </a:t>
            </a:r>
            <a:r>
              <a:rPr lang="ru-RU" sz="3000" dirty="0" err="1"/>
              <a:t>наголосів</a:t>
            </a:r>
            <a:r>
              <a:rPr lang="ru-RU" sz="3000" dirty="0" smtClean="0"/>
              <a:t>);</a:t>
            </a:r>
            <a:endParaRPr lang="ru-RU" sz="3000" dirty="0"/>
          </a:p>
          <a:p>
            <a:pPr marL="514350" lvl="0" indent="-514350">
              <a:spcBef>
                <a:spcPts val="6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3000" dirty="0" err="1"/>
              <a:t>д</a:t>
            </a:r>
            <a:r>
              <a:rPr lang="ru-RU" sz="3000" dirty="0" err="1" smtClean="0"/>
              <a:t>отримання</a:t>
            </a:r>
            <a:r>
              <a:rPr lang="ru-RU" sz="3000" dirty="0" smtClean="0"/>
              <a:t> </a:t>
            </a:r>
            <a:r>
              <a:rPr lang="ru-RU" sz="3000" dirty="0" err="1"/>
              <a:t>вимовних</a:t>
            </a:r>
            <a:r>
              <a:rPr lang="ru-RU" sz="3000" dirty="0"/>
              <a:t> (</a:t>
            </a:r>
            <a:r>
              <a:rPr lang="ru-RU" sz="3000" dirty="0" err="1"/>
              <a:t>орфоепічних</a:t>
            </a:r>
            <a:r>
              <a:rPr lang="ru-RU" sz="3000" dirty="0"/>
              <a:t>), </a:t>
            </a:r>
            <a:r>
              <a:rPr lang="ru-RU" sz="3000" dirty="0" err="1"/>
              <a:t>морфологічних</a:t>
            </a:r>
            <a:r>
              <a:rPr lang="ru-RU" sz="3000" dirty="0"/>
              <a:t>, </a:t>
            </a:r>
            <a:r>
              <a:rPr lang="ru-RU" sz="3000" dirty="0" err="1"/>
              <a:t>синтаксичних</a:t>
            </a:r>
            <a:r>
              <a:rPr lang="ru-RU" sz="3000" dirty="0"/>
              <a:t> норм </a:t>
            </a:r>
            <a:r>
              <a:rPr lang="ru-RU" sz="3000" dirty="0" err="1"/>
              <a:t>української</a:t>
            </a:r>
            <a:r>
              <a:rPr lang="ru-RU" sz="3000" dirty="0"/>
              <a:t> </a:t>
            </a:r>
            <a:r>
              <a:rPr lang="ru-RU" sz="3000" dirty="0" err="1"/>
              <a:t>літературної</a:t>
            </a:r>
            <a:r>
              <a:rPr lang="ru-RU" sz="3000" dirty="0"/>
              <a:t> </a:t>
            </a:r>
            <a:r>
              <a:rPr lang="ru-RU" sz="3000" dirty="0" err="1"/>
              <a:t>мови</a:t>
            </a:r>
            <a:r>
              <a:rPr lang="ru-RU" sz="3000" dirty="0"/>
              <a:t>, </a:t>
            </a:r>
            <a:r>
              <a:rPr lang="ru-RU" sz="3000" dirty="0" err="1"/>
              <a:t>граматичної</a:t>
            </a:r>
            <a:r>
              <a:rPr lang="ru-RU" sz="3000" dirty="0"/>
              <a:t> </a:t>
            </a:r>
            <a:r>
              <a:rPr lang="ru-RU" sz="3000" dirty="0" err="1"/>
              <a:t>будови</a:t>
            </a:r>
            <a:r>
              <a:rPr lang="ru-RU" sz="3000" dirty="0"/>
              <a:t> </a:t>
            </a:r>
            <a:r>
              <a:rPr lang="ru-RU" sz="3000" dirty="0" err="1"/>
              <a:t>речення</a:t>
            </a:r>
            <a:r>
              <a:rPr lang="ru-RU" sz="3000" dirty="0"/>
              <a:t>, </a:t>
            </a:r>
            <a:r>
              <a:rPr lang="ru-RU" sz="3000" dirty="0" err="1"/>
              <a:t>фрази</a:t>
            </a:r>
            <a:r>
              <a:rPr lang="ru-RU" sz="3000" dirty="0"/>
              <a:t>, </a:t>
            </a:r>
            <a:r>
              <a:rPr lang="ru-RU" sz="3000" dirty="0" err="1"/>
              <a:t>вислову</a:t>
            </a:r>
            <a:r>
              <a:rPr lang="ru-RU" sz="3000" dirty="0"/>
              <a:t>.</a:t>
            </a:r>
            <a:endParaRPr lang="ru-RU" sz="3000" dirty="0" smtClean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931C64DA-886F-47F0-8641-9A8AC5C8E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1971" y="612322"/>
            <a:ext cx="10058400" cy="881743"/>
          </a:xfrm>
        </p:spPr>
        <p:txBody>
          <a:bodyPr>
            <a:noAutofit/>
          </a:bodyPr>
          <a:lstStyle/>
          <a:p>
            <a:pPr algn="ctr"/>
            <a:r>
              <a:rPr lang="uk-UA" sz="5400" b="1" i="1" dirty="0" smtClean="0">
                <a:solidFill>
                  <a:schemeClr val="accent2"/>
                </a:solidFill>
              </a:rPr>
              <a:t>Правильність мовлення –</a:t>
            </a:r>
            <a:endParaRPr lang="uk-UA" sz="54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441D2B7-3EE2-42D1-A5AF-E04001E017B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317" y="6001865"/>
            <a:ext cx="1172817" cy="781878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C9E8BE8-7392-4DBD-9A75-2AC0190E1B3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30" b="19256"/>
          <a:stretch/>
        </p:blipFill>
        <p:spPr>
          <a:xfrm>
            <a:off x="11130895" y="5945544"/>
            <a:ext cx="918259" cy="838199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1665514" y="6404206"/>
            <a:ext cx="850174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chemeClr val="bg1"/>
                </a:solidFill>
              </a:rPr>
              <a:t>2. </a:t>
            </a:r>
            <a:r>
              <a:rPr lang="ru-RU" b="1" dirty="0" err="1">
                <a:solidFill>
                  <a:schemeClr val="bg1"/>
                </a:solidFill>
              </a:rPr>
              <a:t>Основні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комунікативні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ознаки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культури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мовлення</a:t>
            </a:r>
            <a:endParaRPr lang="uk-UA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0104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кутник 1">
            <a:extLst>
              <a:ext uri="{FF2B5EF4-FFF2-40B4-BE49-F238E27FC236}">
                <a16:creationId xmlns:a16="http://schemas.microsoft.com/office/drawing/2014/main" id="{9575C0AF-AB21-4B5C-9941-2BA833B2080D}"/>
              </a:ext>
            </a:extLst>
          </p:cNvPr>
          <p:cNvSpPr/>
          <p:nvPr/>
        </p:nvSpPr>
        <p:spPr>
          <a:xfrm>
            <a:off x="1086913" y="2370798"/>
            <a:ext cx="10407783" cy="29546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57250" lvl="0" indent="-8572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4400" dirty="0" err="1"/>
              <a:t>його</a:t>
            </a:r>
            <a:r>
              <a:rPr lang="ru-RU" sz="4400" dirty="0"/>
              <a:t> </a:t>
            </a:r>
            <a:r>
              <a:rPr lang="ru-RU" sz="4400" b="1" dirty="0" err="1" smtClean="0">
                <a:solidFill>
                  <a:schemeClr val="accent2">
                    <a:lumMod val="75000"/>
                  </a:schemeClr>
                </a:solidFill>
              </a:rPr>
              <a:t>зрозумілість</a:t>
            </a:r>
            <a:r>
              <a:rPr lang="ru-RU" sz="4400" b="1" dirty="0" smtClean="0">
                <a:solidFill>
                  <a:schemeClr val="accent2">
                    <a:lumMod val="75000"/>
                  </a:schemeClr>
                </a:solidFill>
              </a:rPr>
              <a:t>, </a:t>
            </a:r>
            <a:r>
              <a:rPr lang="ru-RU" sz="4400" dirty="0" err="1" smtClean="0"/>
              <a:t>що</a:t>
            </a:r>
            <a:r>
              <a:rPr lang="ru-RU" sz="4400" dirty="0" smtClean="0"/>
              <a:t> </a:t>
            </a:r>
            <a:r>
              <a:rPr lang="ru-RU" sz="4400" dirty="0" err="1"/>
              <a:t>забезпечується</a:t>
            </a:r>
            <a:r>
              <a:rPr lang="ru-RU" sz="4400" dirty="0"/>
              <a:t> </a:t>
            </a:r>
            <a:r>
              <a:rPr lang="ru-RU" sz="4400" dirty="0" err="1"/>
              <a:t>точністю</a:t>
            </a:r>
            <a:r>
              <a:rPr lang="ru-RU" sz="4400" dirty="0"/>
              <a:t> та </a:t>
            </a:r>
            <a:r>
              <a:rPr lang="ru-RU" sz="4400" dirty="0" err="1" smtClean="0"/>
              <a:t>логічністю</a:t>
            </a:r>
            <a:endParaRPr lang="ru-RU" sz="4400" dirty="0" smtClean="0"/>
          </a:p>
          <a:p>
            <a:pPr marL="857250" lvl="0" indent="-8572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4400" dirty="0" err="1"/>
              <a:t>р</a:t>
            </a:r>
            <a:r>
              <a:rPr lang="ru-RU" sz="4400" dirty="0" err="1" smtClean="0"/>
              <a:t>озрізняють</a:t>
            </a:r>
            <a:r>
              <a:rPr lang="ru-RU" sz="4400" dirty="0" smtClean="0"/>
              <a:t> </a:t>
            </a:r>
            <a:r>
              <a:rPr lang="ru-RU" sz="4400" dirty="0" err="1" smtClean="0"/>
              <a:t>ясність</a:t>
            </a:r>
            <a:r>
              <a:rPr lang="ru-RU" sz="4400" dirty="0" smtClean="0"/>
              <a:t> </a:t>
            </a:r>
            <a:r>
              <a:rPr lang="ru-RU" sz="4400" dirty="0" err="1" smtClean="0"/>
              <a:t>усного</a:t>
            </a:r>
            <a:r>
              <a:rPr lang="ru-RU" sz="4400" dirty="0" smtClean="0"/>
              <a:t> та </a:t>
            </a:r>
            <a:r>
              <a:rPr lang="ru-RU" sz="4400" dirty="0" err="1" smtClean="0"/>
              <a:t>писемного</a:t>
            </a:r>
            <a:r>
              <a:rPr lang="ru-RU" sz="4400" dirty="0" smtClean="0"/>
              <a:t> </a:t>
            </a:r>
            <a:r>
              <a:rPr lang="ru-RU" sz="4400" dirty="0" err="1" smtClean="0"/>
              <a:t>мовлення</a:t>
            </a:r>
            <a:endParaRPr lang="ru-RU" sz="4400" dirty="0" smtClean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931C64DA-886F-47F0-8641-9A8AC5C8E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4885" y="812644"/>
            <a:ext cx="10058400" cy="881743"/>
          </a:xfrm>
        </p:spPr>
        <p:txBody>
          <a:bodyPr>
            <a:noAutofit/>
          </a:bodyPr>
          <a:lstStyle/>
          <a:p>
            <a:pPr algn="ctr"/>
            <a:r>
              <a:rPr lang="uk-UA" sz="7200" b="1" i="1" dirty="0" smtClean="0">
                <a:solidFill>
                  <a:schemeClr val="accent2"/>
                </a:solidFill>
              </a:rPr>
              <a:t>Ясність мовлення</a:t>
            </a:r>
            <a:endParaRPr lang="uk-UA" sz="72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441D2B7-3EE2-42D1-A5AF-E04001E017B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317" y="6001865"/>
            <a:ext cx="1172817" cy="781878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C9E8BE8-7392-4DBD-9A75-2AC0190E1B3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30" b="19256"/>
          <a:stretch/>
        </p:blipFill>
        <p:spPr>
          <a:xfrm>
            <a:off x="11130895" y="5945544"/>
            <a:ext cx="918259" cy="838199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1665514" y="6404206"/>
            <a:ext cx="850174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chemeClr val="bg1"/>
                </a:solidFill>
              </a:rPr>
              <a:t>2. </a:t>
            </a:r>
            <a:r>
              <a:rPr lang="ru-RU" b="1" dirty="0" err="1">
                <a:solidFill>
                  <a:schemeClr val="bg1"/>
                </a:solidFill>
              </a:rPr>
              <a:t>Основні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комунікативні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ознаки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культури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мовлення</a:t>
            </a:r>
            <a:endParaRPr lang="ru-RU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9219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кутник 1">
            <a:extLst>
              <a:ext uri="{FF2B5EF4-FFF2-40B4-BE49-F238E27FC236}">
                <a16:creationId xmlns:a16="http://schemas.microsoft.com/office/drawing/2014/main" id="{9575C0AF-AB21-4B5C-9941-2BA833B2080D}"/>
              </a:ext>
            </a:extLst>
          </p:cNvPr>
          <p:cNvSpPr/>
          <p:nvPr/>
        </p:nvSpPr>
        <p:spPr>
          <a:xfrm>
            <a:off x="1086913" y="2370798"/>
            <a:ext cx="10407783" cy="29546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57250" lvl="0" indent="-8572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4400" dirty="0"/>
              <a:t>є </a:t>
            </a:r>
            <a:r>
              <a:rPr lang="ru-RU" sz="4400" dirty="0" err="1"/>
              <a:t>запорукою</a:t>
            </a:r>
            <a:r>
              <a:rPr lang="ru-RU" sz="4400" dirty="0"/>
              <a:t> </a:t>
            </a:r>
            <a:r>
              <a:rPr lang="ru-RU" sz="4400" dirty="0" err="1"/>
              <a:t>його</a:t>
            </a:r>
            <a:r>
              <a:rPr lang="ru-RU" sz="4400" dirty="0"/>
              <a:t> </a:t>
            </a:r>
            <a:r>
              <a:rPr lang="ru-RU" sz="4400" dirty="0" err="1"/>
              <a:t>виразності</a:t>
            </a:r>
            <a:r>
              <a:rPr lang="ru-RU" sz="4400" dirty="0"/>
              <a:t> й </a:t>
            </a:r>
            <a:r>
              <a:rPr lang="ru-RU" sz="4400" dirty="0" err="1" smtClean="0"/>
              <a:t>естетичності</a:t>
            </a:r>
            <a:endParaRPr lang="ru-RU" sz="4400" dirty="0" smtClean="0"/>
          </a:p>
          <a:p>
            <a:pPr marL="857250" lvl="0" indent="-8572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4400" dirty="0" err="1"/>
              <a:t>тісно</a:t>
            </a:r>
            <a:r>
              <a:rPr lang="ru-RU" sz="4400" dirty="0"/>
              <a:t> </a:t>
            </a:r>
            <a:r>
              <a:rPr lang="ru-RU" sz="4400" dirty="0" err="1"/>
              <a:t>пов’язана</a:t>
            </a:r>
            <a:r>
              <a:rPr lang="ru-RU" sz="4400" dirty="0"/>
              <a:t> з </a:t>
            </a:r>
            <a:r>
              <a:rPr lang="ru-RU" sz="4400" dirty="0" err="1"/>
              <a:t>правильністю</a:t>
            </a:r>
            <a:r>
              <a:rPr lang="ru-RU" sz="4400" dirty="0"/>
              <a:t> і </a:t>
            </a:r>
            <a:r>
              <a:rPr lang="ru-RU" sz="4400" dirty="0" err="1"/>
              <a:t>нормативністю</a:t>
            </a:r>
            <a:endParaRPr lang="ru-RU" sz="4400" dirty="0" smtClean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931C64DA-886F-47F0-8641-9A8AC5C8E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4885" y="812644"/>
            <a:ext cx="10058400" cy="881743"/>
          </a:xfrm>
        </p:spPr>
        <p:txBody>
          <a:bodyPr>
            <a:noAutofit/>
          </a:bodyPr>
          <a:lstStyle/>
          <a:p>
            <a:pPr algn="ctr"/>
            <a:r>
              <a:rPr lang="uk-UA" sz="7200" b="1" i="1" dirty="0" smtClean="0">
                <a:solidFill>
                  <a:schemeClr val="accent2"/>
                </a:solidFill>
              </a:rPr>
              <a:t>Чистота мовлення</a:t>
            </a:r>
            <a:endParaRPr lang="uk-UA" sz="72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441D2B7-3EE2-42D1-A5AF-E04001E017B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317" y="6001865"/>
            <a:ext cx="1172817" cy="781878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C9E8BE8-7392-4DBD-9A75-2AC0190E1B3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30" b="19256"/>
          <a:stretch/>
        </p:blipFill>
        <p:spPr>
          <a:xfrm>
            <a:off x="11130895" y="5945544"/>
            <a:ext cx="918259" cy="838199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1665514" y="6404206"/>
            <a:ext cx="850174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chemeClr val="bg1"/>
                </a:solidFill>
              </a:rPr>
              <a:t>2. </a:t>
            </a:r>
            <a:r>
              <a:rPr lang="ru-RU" b="1" dirty="0" err="1">
                <a:solidFill>
                  <a:schemeClr val="bg1"/>
                </a:solidFill>
              </a:rPr>
              <a:t>Основні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комунікативні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ознаки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культури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мовлення</a:t>
            </a:r>
            <a:endParaRPr lang="ru-RU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6783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кутник 1">
            <a:extLst>
              <a:ext uri="{FF2B5EF4-FFF2-40B4-BE49-F238E27FC236}">
                <a16:creationId xmlns:a16="http://schemas.microsoft.com/office/drawing/2014/main" id="{9575C0AF-AB21-4B5C-9941-2BA833B2080D}"/>
              </a:ext>
            </a:extLst>
          </p:cNvPr>
          <p:cNvSpPr/>
          <p:nvPr/>
        </p:nvSpPr>
        <p:spPr>
          <a:xfrm>
            <a:off x="2536371" y="2370798"/>
            <a:ext cx="8958325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57250" lvl="0" indent="-857250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4400" dirty="0"/>
              <a:t>в </a:t>
            </a:r>
            <a:r>
              <a:rPr lang="ru-RU" sz="4400" dirty="0" err="1"/>
              <a:t>орфоепії</a:t>
            </a:r>
            <a:r>
              <a:rPr lang="ru-RU" sz="4400" dirty="0"/>
              <a:t> </a:t>
            </a:r>
            <a:endParaRPr lang="ru-RU" sz="4400" dirty="0" smtClean="0"/>
          </a:p>
          <a:p>
            <a:pPr marL="857250" lvl="0" indent="-857250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4400" dirty="0"/>
              <a:t>у </a:t>
            </a:r>
            <a:r>
              <a:rPr lang="ru-RU" sz="4400" dirty="0" err="1"/>
              <a:t>слововживанні</a:t>
            </a:r>
            <a:r>
              <a:rPr lang="ru-RU" sz="4400" dirty="0"/>
              <a:t> </a:t>
            </a:r>
            <a:endParaRPr lang="ru-RU" sz="4400" dirty="0" smtClean="0"/>
          </a:p>
          <a:p>
            <a:pPr marL="857250" lvl="0" indent="-857250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4400" dirty="0"/>
              <a:t>в </a:t>
            </a:r>
            <a:r>
              <a:rPr lang="ru-RU" sz="4400" dirty="0" err="1" smtClean="0"/>
              <a:t>інтонаційному</a:t>
            </a:r>
            <a:r>
              <a:rPr lang="ru-RU" sz="4400" dirty="0" smtClean="0"/>
              <a:t> </a:t>
            </a:r>
            <a:r>
              <a:rPr lang="ru-RU" sz="4400" dirty="0" err="1" smtClean="0"/>
              <a:t>забарвленні</a:t>
            </a:r>
            <a:endParaRPr lang="ru-RU" sz="4400" dirty="0" smtClean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931C64DA-886F-47F0-8641-9A8AC5C8E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4885" y="812644"/>
            <a:ext cx="10058400" cy="881743"/>
          </a:xfrm>
        </p:spPr>
        <p:txBody>
          <a:bodyPr>
            <a:noAutofit/>
          </a:bodyPr>
          <a:lstStyle/>
          <a:p>
            <a:pPr algn="ctr"/>
            <a:r>
              <a:rPr lang="uk-UA" sz="5400" b="1" i="1" dirty="0" smtClean="0">
                <a:solidFill>
                  <a:schemeClr val="accent2"/>
                </a:solidFill>
              </a:rPr>
              <a:t>Три аспекти чистоти мовлення</a:t>
            </a:r>
            <a:endParaRPr lang="uk-UA" sz="54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441D2B7-3EE2-42D1-A5AF-E04001E017B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317" y="6001865"/>
            <a:ext cx="1172817" cy="781878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C9E8BE8-7392-4DBD-9A75-2AC0190E1B3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30" b="19256"/>
          <a:stretch/>
        </p:blipFill>
        <p:spPr>
          <a:xfrm>
            <a:off x="11130895" y="5945544"/>
            <a:ext cx="918259" cy="838199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1665514" y="6404206"/>
            <a:ext cx="850174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chemeClr val="bg1"/>
                </a:solidFill>
              </a:rPr>
              <a:t>2. </a:t>
            </a:r>
            <a:r>
              <a:rPr lang="ru-RU" b="1" dirty="0" err="1">
                <a:solidFill>
                  <a:schemeClr val="bg1"/>
                </a:solidFill>
              </a:rPr>
              <a:t>Основні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комунікативні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ознаки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культури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мовлення</a:t>
            </a:r>
            <a:endParaRPr lang="ru-RU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3871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кутник 1">
            <a:extLst>
              <a:ext uri="{FF2B5EF4-FFF2-40B4-BE49-F238E27FC236}">
                <a16:creationId xmlns:a16="http://schemas.microsoft.com/office/drawing/2014/main" id="{9575C0AF-AB21-4B5C-9941-2BA833B2080D}"/>
              </a:ext>
            </a:extLst>
          </p:cNvPr>
          <p:cNvSpPr/>
          <p:nvPr/>
        </p:nvSpPr>
        <p:spPr>
          <a:xfrm>
            <a:off x="1097799" y="1987193"/>
            <a:ext cx="10407783" cy="41242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57250" lvl="0" indent="-8572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3600" dirty="0" err="1" smtClean="0"/>
              <a:t>ознака</a:t>
            </a:r>
            <a:r>
              <a:rPr lang="ru-RU" sz="3600" dirty="0" smtClean="0"/>
              <a:t> </a:t>
            </a:r>
            <a:r>
              <a:rPr lang="ru-RU" sz="3600" dirty="0" err="1"/>
              <a:t>культури</a:t>
            </a:r>
            <a:r>
              <a:rPr lang="ru-RU" sz="3600" dirty="0"/>
              <a:t> </a:t>
            </a:r>
            <a:r>
              <a:rPr lang="ru-RU" sz="3600" dirty="0" err="1"/>
              <a:t>мовлення</a:t>
            </a:r>
            <a:r>
              <a:rPr lang="ru-RU" sz="3600" dirty="0"/>
              <a:t> </a:t>
            </a:r>
            <a:r>
              <a:rPr lang="ru-RU" sz="3600" dirty="0" err="1"/>
              <a:t>всіх</a:t>
            </a:r>
            <a:r>
              <a:rPr lang="ru-RU" sz="3600" dirty="0"/>
              <a:t> </a:t>
            </a:r>
            <a:r>
              <a:rPr lang="ru-RU" sz="3600" dirty="0" err="1" smtClean="0"/>
              <a:t>стилів</a:t>
            </a:r>
            <a:r>
              <a:rPr lang="ru-RU" sz="3600" dirty="0" smtClean="0"/>
              <a:t> (</a:t>
            </a:r>
            <a:r>
              <a:rPr lang="ru-RU" sz="3600" dirty="0" err="1" smtClean="0"/>
              <a:t>наукового</a:t>
            </a:r>
            <a:r>
              <a:rPr lang="ru-RU" sz="3600" dirty="0" smtClean="0"/>
              <a:t>, </a:t>
            </a:r>
            <a:r>
              <a:rPr lang="ru-RU" sz="3600" dirty="0" err="1" smtClean="0"/>
              <a:t>офіційно-ділового</a:t>
            </a:r>
            <a:r>
              <a:rPr lang="ru-RU" sz="3600" dirty="0" smtClean="0"/>
              <a:t>, </a:t>
            </a:r>
            <a:r>
              <a:rPr lang="ru-RU" sz="3600" dirty="0" err="1" smtClean="0"/>
              <a:t>публіцистичного</a:t>
            </a:r>
            <a:r>
              <a:rPr lang="ru-RU" sz="3600" dirty="0" smtClean="0"/>
              <a:t> та </a:t>
            </a:r>
            <a:r>
              <a:rPr lang="ru-RU" sz="3600" dirty="0" err="1" smtClean="0"/>
              <a:t>ін</a:t>
            </a:r>
            <a:r>
              <a:rPr lang="ru-RU" sz="3600" dirty="0" smtClean="0"/>
              <a:t>.)</a:t>
            </a:r>
          </a:p>
          <a:p>
            <a:pPr marL="857250" lvl="0" indent="-8572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3600" dirty="0" err="1" smtClean="0"/>
              <a:t>вміле</a:t>
            </a:r>
            <a:r>
              <a:rPr lang="ru-RU" sz="3600" dirty="0" smtClean="0"/>
              <a:t> </a:t>
            </a:r>
            <a:r>
              <a:rPr lang="ru-RU" sz="3600" dirty="0" err="1" smtClean="0"/>
              <a:t>використання</a:t>
            </a:r>
            <a:r>
              <a:rPr lang="ru-RU" sz="3600" dirty="0" smtClean="0"/>
              <a:t> </a:t>
            </a:r>
            <a:r>
              <a:rPr lang="ru-RU" sz="3600" dirty="0" err="1" smtClean="0"/>
              <a:t>багатозначності</a:t>
            </a:r>
            <a:r>
              <a:rPr lang="ru-RU" sz="3600" dirty="0" smtClean="0"/>
              <a:t> </a:t>
            </a:r>
            <a:r>
              <a:rPr lang="ru-RU" sz="3600" dirty="0" err="1"/>
              <a:t>слів</a:t>
            </a:r>
            <a:r>
              <a:rPr lang="ru-RU" sz="3600" dirty="0"/>
              <a:t>, </a:t>
            </a:r>
            <a:r>
              <a:rPr lang="ru-RU" sz="3600" dirty="0" err="1" smtClean="0"/>
              <a:t>синонімів</a:t>
            </a:r>
            <a:r>
              <a:rPr lang="ru-RU" sz="3600" dirty="0" smtClean="0"/>
              <a:t>, </a:t>
            </a:r>
            <a:r>
              <a:rPr lang="ru-RU" sz="3600" dirty="0" err="1" smtClean="0"/>
              <a:t>фразеологізмів</a:t>
            </a:r>
            <a:r>
              <a:rPr lang="ru-RU" sz="3600" dirty="0" smtClean="0"/>
              <a:t>, </a:t>
            </a:r>
            <a:r>
              <a:rPr lang="ru-RU" sz="3600" dirty="0" err="1" smtClean="0"/>
              <a:t>прикметникових</a:t>
            </a:r>
            <a:r>
              <a:rPr lang="ru-RU" sz="3600" dirty="0" smtClean="0"/>
              <a:t>, </a:t>
            </a:r>
            <a:r>
              <a:rPr lang="ru-RU" sz="3600" dirty="0" err="1" smtClean="0"/>
              <a:t>дієприкметникових</a:t>
            </a:r>
            <a:r>
              <a:rPr lang="ru-RU" sz="3600" dirty="0" smtClean="0"/>
              <a:t> </a:t>
            </a:r>
            <a:r>
              <a:rPr lang="ru-RU" sz="3600" dirty="0"/>
              <a:t>та </a:t>
            </a:r>
            <a:r>
              <a:rPr lang="ru-RU" sz="3600" dirty="0" err="1" smtClean="0"/>
              <a:t>дієприслівникових</a:t>
            </a:r>
            <a:r>
              <a:rPr lang="ru-RU" sz="3600" dirty="0" smtClean="0"/>
              <a:t> </a:t>
            </a:r>
            <a:r>
              <a:rPr lang="ru-RU" sz="3600" smtClean="0"/>
              <a:t>зворотів</a:t>
            </a:r>
            <a:r>
              <a:rPr lang="ru-RU" sz="3600" dirty="0" smtClean="0"/>
              <a:t>, образна </a:t>
            </a:r>
            <a:r>
              <a:rPr lang="ru-RU" sz="3600" dirty="0" err="1" smtClean="0"/>
              <a:t>мова</a:t>
            </a:r>
            <a:endParaRPr lang="ru-RU" sz="3600" dirty="0" smtClean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931C64DA-886F-47F0-8641-9A8AC5C8E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4885" y="812644"/>
            <a:ext cx="10058400" cy="881743"/>
          </a:xfrm>
        </p:spPr>
        <p:txBody>
          <a:bodyPr>
            <a:noAutofit/>
          </a:bodyPr>
          <a:lstStyle/>
          <a:p>
            <a:pPr algn="ctr"/>
            <a:r>
              <a:rPr lang="uk-UA" sz="7200" b="1" i="1" dirty="0" smtClean="0">
                <a:solidFill>
                  <a:schemeClr val="accent2"/>
                </a:solidFill>
              </a:rPr>
              <a:t>Виразність мовлення</a:t>
            </a:r>
            <a:endParaRPr lang="uk-UA" sz="72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441D2B7-3EE2-42D1-A5AF-E04001E017B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317" y="6001865"/>
            <a:ext cx="1172817" cy="781878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C9E8BE8-7392-4DBD-9A75-2AC0190E1B3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30" b="19256"/>
          <a:stretch/>
        </p:blipFill>
        <p:spPr>
          <a:xfrm>
            <a:off x="11130895" y="5945544"/>
            <a:ext cx="918259" cy="838199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1665514" y="6404206"/>
            <a:ext cx="850174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chemeClr val="bg1"/>
                </a:solidFill>
              </a:rPr>
              <a:t>2. </a:t>
            </a:r>
            <a:r>
              <a:rPr lang="ru-RU" b="1" dirty="0" err="1">
                <a:solidFill>
                  <a:schemeClr val="bg1"/>
                </a:solidFill>
              </a:rPr>
              <a:t>Основні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комунікативні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ознаки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культури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мовлення</a:t>
            </a:r>
            <a:endParaRPr lang="ru-RU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9039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кутник 1">
            <a:extLst>
              <a:ext uri="{FF2B5EF4-FFF2-40B4-BE49-F238E27FC236}">
                <a16:creationId xmlns:a16="http://schemas.microsoft.com/office/drawing/2014/main" id="{9575C0AF-AB21-4B5C-9941-2BA833B2080D}"/>
              </a:ext>
            </a:extLst>
          </p:cNvPr>
          <p:cNvSpPr/>
          <p:nvPr/>
        </p:nvSpPr>
        <p:spPr>
          <a:xfrm>
            <a:off x="1010193" y="2379079"/>
            <a:ext cx="10407783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57250" lvl="0" indent="-85725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3600" dirty="0" err="1" smtClean="0"/>
              <a:t>Різноманітність</a:t>
            </a:r>
            <a:r>
              <a:rPr lang="ru-RU" sz="3600" dirty="0" smtClean="0"/>
              <a:t> </a:t>
            </a:r>
            <a:r>
              <a:rPr lang="ru-RU" sz="3600" dirty="0"/>
              <a:t>– </a:t>
            </a:r>
            <a:r>
              <a:rPr lang="ru-RU" sz="3600" dirty="0" err="1"/>
              <a:t>це</a:t>
            </a:r>
            <a:r>
              <a:rPr lang="ru-RU" sz="3600" dirty="0"/>
              <a:t> </a:t>
            </a:r>
            <a:r>
              <a:rPr lang="ru-RU" sz="3600" dirty="0" err="1"/>
              <a:t>наявність</a:t>
            </a:r>
            <a:r>
              <a:rPr lang="ru-RU" sz="3600" dirty="0"/>
              <a:t> </a:t>
            </a:r>
            <a:r>
              <a:rPr lang="ru-RU" sz="3600" dirty="0" err="1"/>
              <a:t>неоднорідних</a:t>
            </a:r>
            <a:r>
              <a:rPr lang="ru-RU" sz="3600" dirty="0"/>
              <a:t> за </a:t>
            </a:r>
            <a:r>
              <a:rPr lang="ru-RU" sz="3600" dirty="0" err="1"/>
              <a:t>змістом</a:t>
            </a:r>
            <a:r>
              <a:rPr lang="ru-RU" sz="3600" dirty="0"/>
              <a:t>, </a:t>
            </a:r>
            <a:r>
              <a:rPr lang="ru-RU" sz="3600" dirty="0" err="1"/>
              <a:t>значенням</a:t>
            </a:r>
            <a:r>
              <a:rPr lang="ru-RU" sz="3600" dirty="0"/>
              <a:t>, формою, </a:t>
            </a:r>
            <a:r>
              <a:rPr lang="ru-RU" sz="3600" dirty="0" err="1"/>
              <a:t>забарвленням</a:t>
            </a:r>
            <a:r>
              <a:rPr lang="ru-RU" sz="3600" dirty="0"/>
              <a:t> </a:t>
            </a:r>
            <a:r>
              <a:rPr lang="ru-RU" sz="3600" dirty="0" err="1" smtClean="0"/>
              <a:t>одиниць</a:t>
            </a:r>
            <a:endParaRPr lang="ru-RU" sz="3600" dirty="0" smtClean="0"/>
          </a:p>
          <a:p>
            <a:pPr marL="857250" lvl="0" indent="-85725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3600" dirty="0" err="1"/>
              <a:t>Б</a:t>
            </a:r>
            <a:r>
              <a:rPr lang="ru-RU" sz="3600" dirty="0" err="1" smtClean="0"/>
              <a:t>агатство</a:t>
            </a:r>
            <a:r>
              <a:rPr lang="ru-RU" sz="3600" dirty="0" smtClean="0"/>
              <a:t> </a:t>
            </a:r>
            <a:r>
              <a:rPr lang="ru-RU" sz="3600" dirty="0" err="1"/>
              <a:t>мови</a:t>
            </a:r>
            <a:r>
              <a:rPr lang="ru-RU" sz="3600" dirty="0"/>
              <a:t> – </a:t>
            </a:r>
            <a:r>
              <a:rPr lang="ru-RU" sz="3600" dirty="0" err="1"/>
              <a:t>це</a:t>
            </a:r>
            <a:r>
              <a:rPr lang="ru-RU" sz="3600" dirty="0"/>
              <a:t> </a:t>
            </a:r>
            <a:r>
              <a:rPr lang="ru-RU" sz="3600" dirty="0" err="1"/>
              <a:t>наявність</a:t>
            </a:r>
            <a:r>
              <a:rPr lang="ru-RU" sz="3600" dirty="0"/>
              <a:t> у </a:t>
            </a:r>
            <a:r>
              <a:rPr lang="ru-RU" sz="3600" dirty="0" err="1"/>
              <a:t>ній</a:t>
            </a:r>
            <a:r>
              <a:rPr lang="ru-RU" sz="3600" dirty="0"/>
              <a:t> низки </a:t>
            </a:r>
            <a:r>
              <a:rPr lang="ru-RU" sz="3600" dirty="0" err="1"/>
              <a:t>різноманітностей</a:t>
            </a:r>
            <a:endParaRPr lang="ru-RU" sz="3600" dirty="0" smtClean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931C64DA-886F-47F0-8641-9A8AC5C8E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4885" y="812644"/>
            <a:ext cx="10058400" cy="881743"/>
          </a:xfrm>
        </p:spPr>
        <p:txBody>
          <a:bodyPr>
            <a:noAutofit/>
          </a:bodyPr>
          <a:lstStyle/>
          <a:p>
            <a:pPr algn="ctr"/>
            <a:r>
              <a:rPr lang="uk-UA" sz="4400" b="1" i="1" dirty="0">
                <a:solidFill>
                  <a:schemeClr val="accent2"/>
                </a:solidFill>
              </a:rPr>
              <a:t>Різноманітність і багатство мовлення </a:t>
            </a:r>
            <a:endParaRPr lang="uk-UA" sz="44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441D2B7-3EE2-42D1-A5AF-E04001E017B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317" y="6001865"/>
            <a:ext cx="1172817" cy="781878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C9E8BE8-7392-4DBD-9A75-2AC0190E1B3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30" b="19256"/>
          <a:stretch/>
        </p:blipFill>
        <p:spPr>
          <a:xfrm>
            <a:off x="11130895" y="5945544"/>
            <a:ext cx="918259" cy="838199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1665514" y="6404206"/>
            <a:ext cx="850174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chemeClr val="bg1"/>
                </a:solidFill>
              </a:rPr>
              <a:t>2. </a:t>
            </a:r>
            <a:r>
              <a:rPr lang="ru-RU" b="1" dirty="0" err="1">
                <a:solidFill>
                  <a:schemeClr val="bg1"/>
                </a:solidFill>
              </a:rPr>
              <a:t>Основні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комунікативні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ознаки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культури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мовлення</a:t>
            </a:r>
            <a:endParaRPr lang="ru-RU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6049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кутник 1">
            <a:extLst>
              <a:ext uri="{FF2B5EF4-FFF2-40B4-BE49-F238E27FC236}">
                <a16:creationId xmlns:a16="http://schemas.microsoft.com/office/drawing/2014/main" id="{9575C0AF-AB21-4B5C-9941-2BA833B2080D}"/>
              </a:ext>
            </a:extLst>
          </p:cNvPr>
          <p:cNvSpPr/>
          <p:nvPr/>
        </p:nvSpPr>
        <p:spPr>
          <a:xfrm>
            <a:off x="1020623" y="1910249"/>
            <a:ext cx="10407783" cy="40626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57250" lvl="0" indent="-85725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3400" dirty="0" err="1" smtClean="0"/>
              <a:t>Спирається</a:t>
            </a:r>
            <a:r>
              <a:rPr lang="ru-RU" sz="3400" dirty="0" smtClean="0"/>
              <a:t> </a:t>
            </a:r>
            <a:r>
              <a:rPr lang="ru-RU" sz="3400" dirty="0"/>
              <a:t>на </a:t>
            </a:r>
            <a:r>
              <a:rPr lang="ru-RU" sz="3400" dirty="0" err="1"/>
              <a:t>всі</a:t>
            </a:r>
            <a:r>
              <a:rPr lang="ru-RU" sz="3400" dirty="0"/>
              <a:t> </a:t>
            </a:r>
            <a:r>
              <a:rPr lang="ru-RU" sz="3400" dirty="0" err="1"/>
              <a:t>попередні</a:t>
            </a:r>
            <a:r>
              <a:rPr lang="ru-RU" sz="3400" dirty="0"/>
              <a:t> </a:t>
            </a:r>
            <a:r>
              <a:rPr lang="ru-RU" sz="3400" dirty="0" err="1" smtClean="0"/>
              <a:t>ознаки</a:t>
            </a:r>
            <a:r>
              <a:rPr lang="ru-RU" sz="3400" dirty="0" smtClean="0"/>
              <a:t>, </a:t>
            </a:r>
            <a:r>
              <a:rPr lang="ru-RU" sz="3400" dirty="0" err="1" smtClean="0"/>
              <a:t>які</a:t>
            </a:r>
            <a:r>
              <a:rPr lang="ru-RU" sz="3400" dirty="0" smtClean="0"/>
              <a:t> </a:t>
            </a:r>
            <a:r>
              <a:rPr lang="ru-RU" sz="3400" dirty="0"/>
              <a:t>у </a:t>
            </a:r>
            <a:r>
              <a:rPr lang="ru-RU" sz="3400" dirty="0" err="1"/>
              <a:t>взаємодії</a:t>
            </a:r>
            <a:r>
              <a:rPr lang="ru-RU" sz="3400" dirty="0"/>
              <a:t> і </a:t>
            </a:r>
            <a:r>
              <a:rPr lang="ru-RU" sz="3400" dirty="0" err="1"/>
              <a:t>пропорційності</a:t>
            </a:r>
            <a:r>
              <a:rPr lang="ru-RU" sz="3400" dirty="0"/>
              <a:t> </a:t>
            </a:r>
            <a:r>
              <a:rPr lang="ru-RU" sz="3400" dirty="0" err="1"/>
              <a:t>створюють</a:t>
            </a:r>
            <a:r>
              <a:rPr lang="ru-RU" sz="3400" dirty="0"/>
              <a:t> </a:t>
            </a:r>
            <a:r>
              <a:rPr lang="ru-RU" sz="3400" dirty="0" err="1"/>
              <a:t>гармонію</a:t>
            </a:r>
            <a:r>
              <a:rPr lang="ru-RU" sz="3400" dirty="0"/>
              <a:t> </a:t>
            </a:r>
            <a:r>
              <a:rPr lang="ru-RU" sz="3400" dirty="0" err="1"/>
              <a:t>усного</a:t>
            </a:r>
            <a:r>
              <a:rPr lang="ru-RU" sz="3400" dirty="0"/>
              <a:t> </a:t>
            </a:r>
            <a:r>
              <a:rPr lang="ru-RU" sz="3400" dirty="0" err="1"/>
              <a:t>чи</a:t>
            </a:r>
            <a:r>
              <a:rPr lang="ru-RU" sz="3400" dirty="0"/>
              <a:t> </a:t>
            </a:r>
            <a:r>
              <a:rPr lang="ru-RU" sz="3400" dirty="0" err="1"/>
              <a:t>писемного</a:t>
            </a:r>
            <a:r>
              <a:rPr lang="ru-RU" sz="3400" dirty="0"/>
              <a:t> </a:t>
            </a:r>
            <a:r>
              <a:rPr lang="ru-RU" sz="3400" dirty="0" smtClean="0"/>
              <a:t>тексту</a:t>
            </a:r>
          </a:p>
          <a:p>
            <a:pPr marL="857250" lvl="0" indent="-85725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3400" dirty="0" err="1"/>
              <a:t>Естетика</a:t>
            </a:r>
            <a:r>
              <a:rPr lang="ru-RU" sz="3400" dirty="0"/>
              <a:t> </a:t>
            </a:r>
            <a:r>
              <a:rPr lang="ru-RU" sz="3400" dirty="0" err="1"/>
              <a:t>щоденної</a:t>
            </a:r>
            <a:r>
              <a:rPr lang="ru-RU" sz="3400" dirty="0"/>
              <a:t> </a:t>
            </a:r>
            <a:r>
              <a:rPr lang="ru-RU" sz="3400" dirty="0" err="1"/>
              <a:t>практичної</a:t>
            </a:r>
            <a:r>
              <a:rPr lang="ru-RU" sz="3400" dirty="0"/>
              <a:t> </a:t>
            </a:r>
            <a:r>
              <a:rPr lang="ru-RU" sz="3400" dirty="0" err="1"/>
              <a:t>мови</a:t>
            </a:r>
            <a:r>
              <a:rPr lang="ru-RU" sz="3400" dirty="0"/>
              <a:t> </a:t>
            </a:r>
            <a:r>
              <a:rPr lang="ru-RU" sz="3400" dirty="0" err="1"/>
              <a:t>досягається</a:t>
            </a:r>
            <a:r>
              <a:rPr lang="ru-RU" sz="3400" dirty="0"/>
              <a:t> </a:t>
            </a:r>
            <a:r>
              <a:rPr lang="ru-RU" sz="3400" dirty="0" err="1"/>
              <a:t>оптимальним</a:t>
            </a:r>
            <a:r>
              <a:rPr lang="ru-RU" sz="3400" dirty="0"/>
              <a:t> добором </a:t>
            </a:r>
            <a:r>
              <a:rPr lang="ru-RU" sz="3400" dirty="0" err="1"/>
              <a:t>мовних</a:t>
            </a:r>
            <a:r>
              <a:rPr lang="ru-RU" sz="3400" dirty="0"/>
              <a:t> </a:t>
            </a:r>
            <a:r>
              <a:rPr lang="ru-RU" sz="3400" dirty="0" err="1"/>
              <a:t>засобів</a:t>
            </a:r>
            <a:r>
              <a:rPr lang="ru-RU" sz="3400" dirty="0"/>
              <a:t>, </a:t>
            </a:r>
            <a:r>
              <a:rPr lang="ru-RU" sz="3400" dirty="0" err="1"/>
              <a:t>потрібних</a:t>
            </a:r>
            <a:r>
              <a:rPr lang="ru-RU" sz="3400" dirty="0"/>
              <a:t> для </a:t>
            </a:r>
            <a:r>
              <a:rPr lang="ru-RU" sz="3400" dirty="0" err="1"/>
              <a:t>певної</a:t>
            </a:r>
            <a:r>
              <a:rPr lang="ru-RU" sz="3400" dirty="0"/>
              <a:t> </a:t>
            </a:r>
            <a:r>
              <a:rPr lang="ru-RU" sz="3400" dirty="0" err="1"/>
              <a:t>комунікативної</a:t>
            </a:r>
            <a:r>
              <a:rPr lang="ru-RU" sz="3400" dirty="0"/>
              <a:t> </a:t>
            </a:r>
            <a:r>
              <a:rPr lang="ru-RU" sz="3400" dirty="0" err="1"/>
              <a:t>настанови</a:t>
            </a:r>
            <a:r>
              <a:rPr lang="ru-RU" sz="3400" dirty="0"/>
              <a:t>, </a:t>
            </a:r>
            <a:r>
              <a:rPr lang="ru-RU" sz="3400" dirty="0" err="1"/>
              <a:t>гармонійною</a:t>
            </a:r>
            <a:r>
              <a:rPr lang="ru-RU" sz="3400" dirty="0"/>
              <a:t> </a:t>
            </a:r>
            <a:r>
              <a:rPr lang="ru-RU" sz="3400" dirty="0" err="1"/>
              <a:t>цілісністю</a:t>
            </a:r>
            <a:r>
              <a:rPr lang="ru-RU" sz="3400" dirty="0"/>
              <a:t> тексту</a:t>
            </a:r>
            <a:endParaRPr lang="ru-RU" sz="3400" dirty="0" smtClean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931C64DA-886F-47F0-8641-9A8AC5C8E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4885" y="812644"/>
            <a:ext cx="10058400" cy="881743"/>
          </a:xfrm>
        </p:spPr>
        <p:txBody>
          <a:bodyPr>
            <a:noAutofit/>
          </a:bodyPr>
          <a:lstStyle/>
          <a:p>
            <a:pPr algn="ctr"/>
            <a:r>
              <a:rPr lang="uk-UA" sz="6000" b="1" i="1" dirty="0" smtClean="0">
                <a:solidFill>
                  <a:schemeClr val="accent2"/>
                </a:solidFill>
              </a:rPr>
              <a:t>Естетичність мовлення </a:t>
            </a:r>
            <a:endParaRPr lang="uk-UA" sz="60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441D2B7-3EE2-42D1-A5AF-E04001E017B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317" y="6001865"/>
            <a:ext cx="1172817" cy="781878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C9E8BE8-7392-4DBD-9A75-2AC0190E1B3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30" b="19256"/>
          <a:stretch/>
        </p:blipFill>
        <p:spPr>
          <a:xfrm>
            <a:off x="11130895" y="5945544"/>
            <a:ext cx="918259" cy="838199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1665514" y="6404206"/>
            <a:ext cx="850174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chemeClr val="bg1"/>
                </a:solidFill>
              </a:rPr>
              <a:t>2. </a:t>
            </a:r>
            <a:r>
              <a:rPr lang="ru-RU" b="1" dirty="0" err="1">
                <a:solidFill>
                  <a:schemeClr val="bg1"/>
                </a:solidFill>
              </a:rPr>
              <a:t>Основні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комунікативні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ознаки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культури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мовлення</a:t>
            </a:r>
            <a:endParaRPr lang="ru-RU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8129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441D2B7-3EE2-42D1-A5AF-E04001E017B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317" y="6001865"/>
            <a:ext cx="1172817" cy="781878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C9E8BE8-7392-4DBD-9A75-2AC0190E1B3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30" b="19256"/>
          <a:stretch/>
        </p:blipFill>
        <p:spPr>
          <a:xfrm>
            <a:off x="11130895" y="5945544"/>
            <a:ext cx="918259" cy="838199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1665514" y="6404206"/>
            <a:ext cx="850174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solidFill>
                  <a:schemeClr val="bg1"/>
                </a:solidFill>
              </a:rPr>
              <a:t>3. </a:t>
            </a:r>
            <a:r>
              <a:rPr lang="ru-RU" b="1" dirty="0" err="1" smtClean="0">
                <a:solidFill>
                  <a:schemeClr val="bg1"/>
                </a:solidFill>
              </a:rPr>
              <a:t>Функції</a:t>
            </a:r>
            <a:r>
              <a:rPr lang="ru-RU" b="1" dirty="0" smtClean="0">
                <a:solidFill>
                  <a:schemeClr val="bg1"/>
                </a:solidFill>
              </a:rPr>
              <a:t> </a:t>
            </a:r>
            <a:r>
              <a:rPr lang="ru-RU" b="1" dirty="0" err="1" smtClean="0">
                <a:solidFill>
                  <a:schemeClr val="bg1"/>
                </a:solidFill>
              </a:rPr>
              <a:t>мови</a:t>
            </a:r>
            <a:endParaRPr lang="uk-UA" b="1" dirty="0">
              <a:solidFill>
                <a:schemeClr val="bg1"/>
              </a:solidFill>
            </a:endParaRPr>
          </a:p>
        </p:txBody>
      </p:sp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uk-UA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55171"/>
            <a:ext cx="12192000" cy="5390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525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кутник 1">
            <a:extLst>
              <a:ext uri="{FF2B5EF4-FFF2-40B4-BE49-F238E27FC236}">
                <a16:creationId xmlns:a16="http://schemas.microsoft.com/office/drawing/2014/main" id="{9575C0AF-AB21-4B5C-9941-2BA833B2080D}"/>
              </a:ext>
            </a:extLst>
          </p:cNvPr>
          <p:cNvSpPr/>
          <p:nvPr/>
        </p:nvSpPr>
        <p:spPr>
          <a:xfrm>
            <a:off x="1010193" y="2431319"/>
            <a:ext cx="10407783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lvl="0" indent="-57150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4000" dirty="0" err="1" smtClean="0"/>
              <a:t>Мова</a:t>
            </a:r>
            <a:r>
              <a:rPr lang="ru-RU" sz="4000" dirty="0" smtClean="0"/>
              <a:t> </a:t>
            </a:r>
            <a:r>
              <a:rPr lang="ru-RU" sz="4000" dirty="0" err="1"/>
              <a:t>використовується</a:t>
            </a:r>
            <a:r>
              <a:rPr lang="ru-RU" sz="4000" dirty="0"/>
              <a:t> для </a:t>
            </a:r>
            <a:r>
              <a:rPr lang="ru-RU" sz="4000" dirty="0" err="1"/>
              <a:t>інформаційного</a:t>
            </a:r>
            <a:r>
              <a:rPr lang="ru-RU" sz="4000" dirty="0"/>
              <a:t> </a:t>
            </a:r>
            <a:r>
              <a:rPr lang="ru-RU" sz="4000" dirty="0" err="1"/>
              <a:t>зв’язку</a:t>
            </a:r>
            <a:r>
              <a:rPr lang="ru-RU" sz="4000" dirty="0"/>
              <a:t> </a:t>
            </a:r>
            <a:r>
              <a:rPr lang="ru-RU" sz="4000" dirty="0" err="1"/>
              <a:t>між</a:t>
            </a:r>
            <a:r>
              <a:rPr lang="ru-RU" sz="4000" dirty="0"/>
              <a:t> членами </a:t>
            </a:r>
            <a:r>
              <a:rPr lang="ru-RU" sz="4000" dirty="0" err="1" smtClean="0"/>
              <a:t>суспільства</a:t>
            </a:r>
            <a:endParaRPr lang="ru-RU" sz="4000" dirty="0" smtClean="0"/>
          </a:p>
          <a:p>
            <a:pPr marL="571500" lvl="0" indent="-57150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4000" dirty="0" err="1" smtClean="0"/>
              <a:t>Ця</a:t>
            </a:r>
            <a:r>
              <a:rPr lang="ru-RU" sz="4000" dirty="0" smtClean="0"/>
              <a:t> </a:t>
            </a:r>
            <a:r>
              <a:rPr lang="ru-RU" sz="4000" dirty="0" err="1"/>
              <a:t>функція</a:t>
            </a:r>
            <a:r>
              <a:rPr lang="ru-RU" sz="4000" dirty="0"/>
              <a:t> є </a:t>
            </a:r>
            <a:r>
              <a:rPr lang="ru-RU" sz="4000" dirty="0" err="1"/>
              <a:t>життєво</a:t>
            </a:r>
            <a:r>
              <a:rPr lang="ru-RU" sz="4000" dirty="0"/>
              <a:t> </a:t>
            </a:r>
            <a:r>
              <a:rPr lang="ru-RU" sz="4000" dirty="0" err="1"/>
              <a:t>необхідною</a:t>
            </a:r>
            <a:r>
              <a:rPr lang="ru-RU" sz="4000" dirty="0"/>
              <a:t> як для </a:t>
            </a:r>
            <a:r>
              <a:rPr lang="ru-RU" sz="4000" dirty="0" err="1"/>
              <a:t>суспільства</a:t>
            </a:r>
            <a:r>
              <a:rPr lang="ru-RU" sz="4000" dirty="0"/>
              <a:t>, так і для </a:t>
            </a:r>
            <a:r>
              <a:rPr lang="ru-RU" sz="4000" dirty="0" err="1"/>
              <a:t>самої</a:t>
            </a:r>
            <a:r>
              <a:rPr lang="ru-RU" sz="4000" dirty="0"/>
              <a:t> </a:t>
            </a:r>
            <a:r>
              <a:rPr lang="ru-RU" sz="4000" dirty="0" err="1" smtClean="0"/>
              <a:t>мови</a:t>
            </a:r>
            <a:endParaRPr lang="ru-RU" sz="4000" i="1" dirty="0" smtClean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931C64DA-886F-47F0-8641-9A8AC5C8E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1971" y="612322"/>
            <a:ext cx="10058400" cy="881743"/>
          </a:xfrm>
        </p:spPr>
        <p:txBody>
          <a:bodyPr>
            <a:noAutofit/>
          </a:bodyPr>
          <a:lstStyle/>
          <a:p>
            <a:pPr algn="ctr"/>
            <a:r>
              <a:rPr lang="uk-UA" sz="4600" b="1" i="1" dirty="0">
                <a:solidFill>
                  <a:schemeClr val="accent2"/>
                </a:solidFill>
              </a:rPr>
              <a:t>Комунікативна, або функція спілкування </a:t>
            </a:r>
            <a:endParaRPr lang="uk-UA" sz="46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441D2B7-3EE2-42D1-A5AF-E04001E017B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317" y="6001865"/>
            <a:ext cx="1172817" cy="781878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C9E8BE8-7392-4DBD-9A75-2AC0190E1B3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30" b="19256"/>
          <a:stretch/>
        </p:blipFill>
        <p:spPr>
          <a:xfrm>
            <a:off x="11130895" y="5945544"/>
            <a:ext cx="918259" cy="838199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1665514" y="6404206"/>
            <a:ext cx="850174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chemeClr val="bg1"/>
                </a:solidFill>
              </a:rPr>
              <a:t>3. </a:t>
            </a:r>
            <a:r>
              <a:rPr lang="ru-RU" b="1" dirty="0" err="1">
                <a:solidFill>
                  <a:schemeClr val="bg1"/>
                </a:solidFill>
              </a:rPr>
              <a:t>Функції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мови</a:t>
            </a:r>
            <a:endParaRPr lang="ru-RU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085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кутник 1">
            <a:extLst>
              <a:ext uri="{FF2B5EF4-FFF2-40B4-BE49-F238E27FC236}">
                <a16:creationId xmlns:a16="http://schemas.microsoft.com/office/drawing/2014/main" id="{9575C0AF-AB21-4B5C-9941-2BA833B2080D}"/>
              </a:ext>
            </a:extLst>
          </p:cNvPr>
          <p:cNvSpPr/>
          <p:nvPr/>
        </p:nvSpPr>
        <p:spPr>
          <a:xfrm>
            <a:off x="1020623" y="1902421"/>
            <a:ext cx="10407783" cy="38472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lvl="0" indent="-57150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3200" dirty="0"/>
              <a:t>Усе </a:t>
            </a:r>
            <a:r>
              <a:rPr lang="ru-RU" sz="3200" dirty="0" err="1"/>
              <a:t>пізнане</a:t>
            </a:r>
            <a:r>
              <a:rPr lang="ru-RU" sz="3200" dirty="0"/>
              <a:t> </a:t>
            </a:r>
            <a:r>
              <a:rPr lang="ru-RU" sz="3200" dirty="0" err="1"/>
              <a:t>людиною</a:t>
            </a:r>
            <a:r>
              <a:rPr lang="ru-RU" sz="3200" dirty="0"/>
              <a:t> (</a:t>
            </a:r>
            <a:r>
              <a:rPr lang="ru-RU" sz="3200" dirty="0" err="1"/>
              <a:t>предмети</a:t>
            </a:r>
            <a:r>
              <a:rPr lang="ru-RU" sz="3200" dirty="0"/>
              <a:t>, </a:t>
            </a:r>
            <a:r>
              <a:rPr lang="ru-RU" sz="3200" dirty="0" err="1"/>
              <a:t>явища</a:t>
            </a:r>
            <a:r>
              <a:rPr lang="ru-RU" sz="3200" dirty="0"/>
              <a:t>, </a:t>
            </a:r>
            <a:r>
              <a:rPr lang="ru-RU" sz="3200" dirty="0" err="1"/>
              <a:t>якості</a:t>
            </a:r>
            <a:r>
              <a:rPr lang="ru-RU" sz="3200" dirty="0"/>
              <a:t>, </a:t>
            </a:r>
            <a:r>
              <a:rPr lang="ru-RU" sz="3200" dirty="0" err="1"/>
              <a:t>властивості</a:t>
            </a:r>
            <a:r>
              <a:rPr lang="ru-RU" sz="3200" dirty="0"/>
              <a:t>, </a:t>
            </a:r>
            <a:r>
              <a:rPr lang="ru-RU" sz="3200" dirty="0" err="1"/>
              <a:t>процеси</a:t>
            </a:r>
            <a:r>
              <a:rPr lang="ru-RU" sz="3200" dirty="0"/>
              <a:t>, </a:t>
            </a:r>
            <a:r>
              <a:rPr lang="ru-RU" sz="3200" dirty="0" err="1"/>
              <a:t>закономірності</a:t>
            </a:r>
            <a:r>
              <a:rPr lang="ru-RU" sz="3200" dirty="0"/>
              <a:t> та </a:t>
            </a:r>
            <a:r>
              <a:rPr lang="ru-RU" sz="3200" dirty="0" err="1"/>
              <a:t>поняття</a:t>
            </a:r>
            <a:r>
              <a:rPr lang="ru-RU" sz="3200" dirty="0"/>
              <a:t> про них) </a:t>
            </a:r>
            <a:r>
              <a:rPr lang="ru-RU" sz="3200" dirty="0" err="1"/>
              <a:t>одержує</a:t>
            </a:r>
            <a:r>
              <a:rPr lang="ru-RU" sz="3200" dirty="0"/>
              <a:t> </a:t>
            </a:r>
            <a:r>
              <a:rPr lang="ru-RU" sz="3200" dirty="0" err="1"/>
              <a:t>назву</a:t>
            </a:r>
            <a:r>
              <a:rPr lang="ru-RU" sz="3200" dirty="0"/>
              <a:t> і </a:t>
            </a:r>
            <a:r>
              <a:rPr lang="ru-RU" sz="3200" dirty="0" err="1"/>
              <a:t>під</a:t>
            </a:r>
            <a:r>
              <a:rPr lang="ru-RU" sz="3200" dirty="0"/>
              <a:t> </a:t>
            </a:r>
            <a:r>
              <a:rPr lang="ru-RU" sz="3200" dirty="0" err="1"/>
              <a:t>цією</a:t>
            </a:r>
            <a:r>
              <a:rPr lang="ru-RU" sz="3200" dirty="0"/>
              <a:t> </a:t>
            </a:r>
            <a:r>
              <a:rPr lang="ru-RU" sz="3200" dirty="0" err="1"/>
              <a:t>назвою</a:t>
            </a:r>
            <a:r>
              <a:rPr lang="ru-RU" sz="3200" dirty="0"/>
              <a:t> </a:t>
            </a:r>
            <a:r>
              <a:rPr lang="ru-RU" sz="3200" dirty="0" err="1"/>
              <a:t>існує</a:t>
            </a:r>
            <a:r>
              <a:rPr lang="ru-RU" sz="3200" dirty="0"/>
              <a:t> в </a:t>
            </a:r>
            <a:r>
              <a:rPr lang="ru-RU" sz="3200" dirty="0" err="1"/>
              <a:t>житті</a:t>
            </a:r>
            <a:r>
              <a:rPr lang="ru-RU" sz="3200" dirty="0"/>
              <a:t> і </a:t>
            </a:r>
            <a:r>
              <a:rPr lang="ru-RU" sz="3200" dirty="0" err="1"/>
              <a:t>свідомості</a:t>
            </a:r>
            <a:r>
              <a:rPr lang="ru-RU" sz="3200" dirty="0"/>
              <a:t> </a:t>
            </a:r>
            <a:r>
              <a:rPr lang="ru-RU" sz="3200" dirty="0" err="1" smtClean="0"/>
              <a:t>мовців</a:t>
            </a:r>
            <a:endParaRPr lang="ru-RU" sz="3200" dirty="0" smtClean="0"/>
          </a:p>
          <a:p>
            <a:pPr marL="571500" lvl="0" indent="-57150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3200" dirty="0" err="1"/>
              <a:t>Завдяки</a:t>
            </a:r>
            <a:r>
              <a:rPr lang="ru-RU" sz="3200" dirty="0"/>
              <a:t> </a:t>
            </a:r>
            <a:r>
              <a:rPr lang="ru-RU" sz="3200" dirty="0" err="1"/>
              <a:t>цій</a:t>
            </a:r>
            <a:r>
              <a:rPr lang="ru-RU" sz="3200" dirty="0"/>
              <a:t> </a:t>
            </a:r>
            <a:r>
              <a:rPr lang="ru-RU" sz="3200" dirty="0" err="1"/>
              <a:t>функції</a:t>
            </a:r>
            <a:r>
              <a:rPr lang="ru-RU" sz="3200" dirty="0"/>
              <a:t> </a:t>
            </a:r>
            <a:r>
              <a:rPr lang="ru-RU" sz="3200" dirty="0" err="1"/>
              <a:t>мову</a:t>
            </a:r>
            <a:r>
              <a:rPr lang="ru-RU" sz="3200" dirty="0"/>
              <a:t> </a:t>
            </a:r>
            <a:r>
              <a:rPr lang="ru-RU" sz="3200" dirty="0" err="1"/>
              <a:t>можна</a:t>
            </a:r>
            <a:r>
              <a:rPr lang="ru-RU" sz="3200" dirty="0"/>
              <a:t> </a:t>
            </a:r>
            <a:r>
              <a:rPr lang="ru-RU" sz="3200" dirty="0" err="1"/>
              <a:t>розглядати</a:t>
            </a:r>
            <a:r>
              <a:rPr lang="ru-RU" sz="3200" dirty="0"/>
              <a:t> як </a:t>
            </a:r>
            <a:r>
              <a:rPr lang="ru-RU" sz="3200" dirty="0" err="1"/>
              <a:t>окрему</a:t>
            </a:r>
            <a:r>
              <a:rPr lang="ru-RU" sz="3200" dirty="0"/>
              <a:t> </a:t>
            </a:r>
            <a:r>
              <a:rPr lang="ru-RU" sz="3200" dirty="0" err="1"/>
              <a:t>своєрідну</a:t>
            </a:r>
            <a:r>
              <a:rPr lang="ru-RU" sz="3200" dirty="0"/>
              <a:t> картину </a:t>
            </a:r>
            <a:r>
              <a:rPr lang="ru-RU" sz="3200" dirty="0" err="1"/>
              <a:t>світу</a:t>
            </a:r>
            <a:r>
              <a:rPr lang="ru-RU" sz="3200" dirty="0"/>
              <a:t>, </a:t>
            </a:r>
            <a:r>
              <a:rPr lang="ru-RU" sz="3200" dirty="0" err="1"/>
              <a:t>що</a:t>
            </a:r>
            <a:r>
              <a:rPr lang="ru-RU" sz="3200" dirty="0"/>
              <a:t> </a:t>
            </a:r>
            <a:r>
              <a:rPr lang="ru-RU" sz="3200" dirty="0" err="1"/>
              <a:t>відображає</a:t>
            </a:r>
            <a:r>
              <a:rPr lang="ru-RU" sz="3200" dirty="0"/>
              <a:t> </a:t>
            </a:r>
            <a:r>
              <a:rPr lang="ru-RU" sz="3200" dirty="0" err="1"/>
              <a:t>національне</a:t>
            </a:r>
            <a:r>
              <a:rPr lang="ru-RU" sz="3200" dirty="0"/>
              <a:t> </a:t>
            </a:r>
            <a:r>
              <a:rPr lang="ru-RU" sz="3200" dirty="0" err="1"/>
              <a:t>світобачення</a:t>
            </a:r>
            <a:r>
              <a:rPr lang="ru-RU" sz="3200" dirty="0"/>
              <a:t> і </a:t>
            </a:r>
            <a:r>
              <a:rPr lang="ru-RU" sz="3200" dirty="0" err="1" smtClean="0"/>
              <a:t>світовідчування</a:t>
            </a:r>
            <a:endParaRPr lang="ru-RU" sz="3200" i="1" dirty="0" smtClean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931C64DA-886F-47F0-8641-9A8AC5C8E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1971" y="612322"/>
            <a:ext cx="10058400" cy="881743"/>
          </a:xfrm>
        </p:spPr>
        <p:txBody>
          <a:bodyPr>
            <a:noAutofit/>
          </a:bodyPr>
          <a:lstStyle/>
          <a:p>
            <a:pPr algn="ctr"/>
            <a:r>
              <a:rPr lang="uk-UA" sz="4600" b="1" i="1" dirty="0">
                <a:solidFill>
                  <a:schemeClr val="accent2"/>
                </a:solidFill>
              </a:rPr>
              <a:t>Номінативна, або функція називання</a:t>
            </a:r>
            <a:endParaRPr lang="uk-UA" sz="46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441D2B7-3EE2-42D1-A5AF-E04001E017B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317" y="6001865"/>
            <a:ext cx="1172817" cy="781878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C9E8BE8-7392-4DBD-9A75-2AC0190E1B3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30" b="19256"/>
          <a:stretch/>
        </p:blipFill>
        <p:spPr>
          <a:xfrm>
            <a:off x="11130895" y="5945544"/>
            <a:ext cx="918259" cy="838199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1665514" y="6404206"/>
            <a:ext cx="850174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chemeClr val="bg1"/>
                </a:solidFill>
              </a:rPr>
              <a:t>3. </a:t>
            </a:r>
            <a:r>
              <a:rPr lang="ru-RU" b="1" dirty="0" err="1">
                <a:solidFill>
                  <a:schemeClr val="bg1"/>
                </a:solidFill>
              </a:rPr>
              <a:t>Функції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мови</a:t>
            </a:r>
            <a:endParaRPr lang="ru-RU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0694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кутник 1">
            <a:extLst>
              <a:ext uri="{FF2B5EF4-FFF2-40B4-BE49-F238E27FC236}">
                <a16:creationId xmlns:a16="http://schemas.microsoft.com/office/drawing/2014/main" id="{9575C0AF-AB21-4B5C-9941-2BA833B2080D}"/>
              </a:ext>
            </a:extLst>
          </p:cNvPr>
          <p:cNvSpPr/>
          <p:nvPr/>
        </p:nvSpPr>
        <p:spPr>
          <a:xfrm>
            <a:off x="1182241" y="2260483"/>
            <a:ext cx="10407783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lvl="0" indent="-57150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4000" dirty="0" err="1" smtClean="0"/>
              <a:t>Мова</a:t>
            </a:r>
            <a:r>
              <a:rPr lang="ru-RU" sz="4000" dirty="0" smtClean="0"/>
              <a:t> </a:t>
            </a:r>
            <a:r>
              <a:rPr lang="ru-RU" sz="4000" dirty="0"/>
              <a:t>є </a:t>
            </a:r>
            <a:r>
              <a:rPr lang="ru-RU" sz="4000" dirty="0" err="1"/>
              <a:t>універсальним</a:t>
            </a:r>
            <a:r>
              <a:rPr lang="ru-RU" sz="4000" dirty="0"/>
              <a:t> </a:t>
            </a:r>
            <a:r>
              <a:rPr lang="ru-RU" sz="4000" dirty="0" err="1"/>
              <a:t>засобом</a:t>
            </a:r>
            <a:r>
              <a:rPr lang="ru-RU" sz="4000" dirty="0"/>
              <a:t> </a:t>
            </a:r>
            <a:r>
              <a:rPr lang="ru-RU" sz="4000" dirty="0" err="1"/>
              <a:t>вираження</a:t>
            </a:r>
            <a:r>
              <a:rPr lang="ru-RU" sz="4000" dirty="0"/>
              <a:t> </a:t>
            </a:r>
            <a:r>
              <a:rPr lang="ru-RU" sz="4000" dirty="0" err="1"/>
              <a:t>внутрішнього</a:t>
            </a:r>
            <a:r>
              <a:rPr lang="ru-RU" sz="4000" dirty="0"/>
              <a:t> </a:t>
            </a:r>
            <a:r>
              <a:rPr lang="ru-RU" sz="4000" dirty="0" err="1" smtClean="0"/>
              <a:t>світу</a:t>
            </a:r>
            <a:endParaRPr lang="ru-RU" sz="4000" dirty="0" smtClean="0"/>
          </a:p>
          <a:p>
            <a:pPr marL="571500" lvl="0" indent="-57150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4000" b="1" i="1" dirty="0">
                <a:solidFill>
                  <a:schemeClr val="accent2">
                    <a:lumMod val="75000"/>
                  </a:schemeClr>
                </a:solidFill>
              </a:rPr>
              <a:t>“Говори – і я тебе </a:t>
            </a:r>
            <a:r>
              <a:rPr lang="ru-RU" sz="4000" b="1" i="1" dirty="0" err="1">
                <a:solidFill>
                  <a:schemeClr val="accent2">
                    <a:lumMod val="75000"/>
                  </a:schemeClr>
                </a:solidFill>
              </a:rPr>
              <a:t>побачу</a:t>
            </a:r>
            <a:r>
              <a:rPr lang="ru-RU" sz="4000" b="1" i="1" dirty="0">
                <a:solidFill>
                  <a:schemeClr val="accent2">
                    <a:lumMod val="75000"/>
                  </a:schemeClr>
                </a:solidFill>
              </a:rPr>
              <a:t>”, </a:t>
            </a:r>
            <a:r>
              <a:rPr lang="ru-RU" sz="4000" dirty="0"/>
              <a:t>– </a:t>
            </a:r>
            <a:r>
              <a:rPr lang="ru-RU" sz="4000" dirty="0" err="1"/>
              <a:t>стверджували</a:t>
            </a:r>
            <a:r>
              <a:rPr lang="ru-RU" sz="4000" dirty="0"/>
              <a:t> </a:t>
            </a:r>
            <a:r>
              <a:rPr lang="ru-RU" sz="4000" dirty="0" err="1"/>
              <a:t>мудреці</a:t>
            </a:r>
            <a:r>
              <a:rPr lang="ru-RU" sz="4000" dirty="0"/>
              <a:t> </a:t>
            </a:r>
            <a:r>
              <a:rPr lang="ru-RU" sz="4000" dirty="0" err="1" smtClean="0"/>
              <a:t>античності</a:t>
            </a:r>
            <a:endParaRPr lang="ru-RU" sz="4000" i="1" dirty="0" smtClean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931C64DA-886F-47F0-8641-9A8AC5C8E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1971" y="612322"/>
            <a:ext cx="10058400" cy="881743"/>
          </a:xfrm>
        </p:spPr>
        <p:txBody>
          <a:bodyPr>
            <a:noAutofit/>
          </a:bodyPr>
          <a:lstStyle/>
          <a:p>
            <a:pPr algn="ctr"/>
            <a:r>
              <a:rPr lang="uk-UA" sz="4600" b="1" i="1" dirty="0">
                <a:solidFill>
                  <a:schemeClr val="accent2"/>
                </a:solidFill>
              </a:rPr>
              <a:t>Експресивна функція, або виражальна</a:t>
            </a:r>
            <a:endParaRPr lang="uk-UA" sz="46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441D2B7-3EE2-42D1-A5AF-E04001E017B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317" y="6001865"/>
            <a:ext cx="1172817" cy="781878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C9E8BE8-7392-4DBD-9A75-2AC0190E1B3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30" b="19256"/>
          <a:stretch/>
        </p:blipFill>
        <p:spPr>
          <a:xfrm>
            <a:off x="11130895" y="5945544"/>
            <a:ext cx="918259" cy="838199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1665514" y="6404206"/>
            <a:ext cx="850174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chemeClr val="bg1"/>
                </a:solidFill>
              </a:rPr>
              <a:t>3. </a:t>
            </a:r>
            <a:r>
              <a:rPr lang="ru-RU" b="1" dirty="0" err="1">
                <a:solidFill>
                  <a:schemeClr val="bg1"/>
                </a:solidFill>
              </a:rPr>
              <a:t>Функції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мови</a:t>
            </a:r>
            <a:endParaRPr lang="ru-RU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6715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кутник 1">
            <a:extLst>
              <a:ext uri="{FF2B5EF4-FFF2-40B4-BE49-F238E27FC236}">
                <a16:creationId xmlns:a16="http://schemas.microsoft.com/office/drawing/2014/main" id="{9575C0AF-AB21-4B5C-9941-2BA833B2080D}"/>
              </a:ext>
            </a:extLst>
          </p:cNvPr>
          <p:cNvSpPr/>
          <p:nvPr/>
        </p:nvSpPr>
        <p:spPr>
          <a:xfrm>
            <a:off x="1182241" y="1966569"/>
            <a:ext cx="10407783" cy="37240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lvl="0" indent="-57150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3600" dirty="0" err="1"/>
              <a:t>Спілкуватися</a:t>
            </a:r>
            <a:r>
              <a:rPr lang="ru-RU" sz="3600" dirty="0"/>
              <a:t> за </a:t>
            </a:r>
            <a:r>
              <a:rPr lang="ru-RU" sz="3600" dirty="0" err="1"/>
              <a:t>допомогою</a:t>
            </a:r>
            <a:r>
              <a:rPr lang="ru-RU" sz="3600" dirty="0"/>
              <a:t> </a:t>
            </a:r>
            <a:r>
              <a:rPr lang="ru-RU" sz="3600" dirty="0" err="1"/>
              <a:t>певної</a:t>
            </a:r>
            <a:r>
              <a:rPr lang="ru-RU" sz="3600" dirty="0"/>
              <a:t> </a:t>
            </a:r>
            <a:r>
              <a:rPr lang="ru-RU" sz="3600" dirty="0" err="1"/>
              <a:t>мови</a:t>
            </a:r>
            <a:r>
              <a:rPr lang="ru-RU" sz="3600" dirty="0"/>
              <a:t> </a:t>
            </a:r>
            <a:r>
              <a:rPr lang="ru-RU" sz="3600" dirty="0" err="1"/>
              <a:t>можуть</a:t>
            </a:r>
            <a:r>
              <a:rPr lang="ru-RU" sz="3600" dirty="0"/>
              <a:t> </a:t>
            </a:r>
            <a:r>
              <a:rPr lang="ru-RU" sz="3600" dirty="0" err="1"/>
              <a:t>лише</a:t>
            </a:r>
            <a:r>
              <a:rPr lang="ru-RU" sz="3600" dirty="0"/>
              <a:t> </a:t>
            </a:r>
            <a:r>
              <a:rPr lang="ru-RU" sz="3600" dirty="0" err="1"/>
              <a:t>носії</a:t>
            </a:r>
            <a:r>
              <a:rPr lang="ru-RU" sz="3600" dirty="0"/>
              <a:t> </a:t>
            </a:r>
            <a:r>
              <a:rPr lang="ru-RU" sz="3600" dirty="0" err="1"/>
              <a:t>цієї</a:t>
            </a:r>
            <a:r>
              <a:rPr lang="ru-RU" sz="3600" dirty="0"/>
              <a:t> </a:t>
            </a:r>
            <a:r>
              <a:rPr lang="ru-RU" sz="3600" dirty="0" err="1"/>
              <a:t>мови</a:t>
            </a:r>
            <a:r>
              <a:rPr lang="ru-RU" sz="3600" dirty="0"/>
              <a:t>. </a:t>
            </a:r>
            <a:r>
              <a:rPr lang="ru-RU" sz="3600" dirty="0" err="1"/>
              <a:t>Тільки</a:t>
            </a:r>
            <a:r>
              <a:rPr lang="ru-RU" sz="3600" dirty="0"/>
              <a:t> для них вона є </a:t>
            </a:r>
            <a:r>
              <a:rPr lang="ru-RU" sz="3600" dirty="0" err="1"/>
              <a:t>засобом</a:t>
            </a:r>
            <a:r>
              <a:rPr lang="ru-RU" sz="3600" dirty="0"/>
              <a:t> </a:t>
            </a:r>
            <a:r>
              <a:rPr lang="ru-RU" sz="3600" b="1" i="1" dirty="0" err="1">
                <a:solidFill>
                  <a:schemeClr val="accent2">
                    <a:lumMod val="75000"/>
                  </a:schemeClr>
                </a:solidFill>
              </a:rPr>
              <a:t>ідентифікації</a:t>
            </a:r>
            <a:r>
              <a:rPr lang="ru-RU" sz="3600" b="1" i="1" dirty="0">
                <a:solidFill>
                  <a:schemeClr val="accent2">
                    <a:lumMod val="75000"/>
                  </a:schemeClr>
                </a:solidFill>
              </a:rPr>
              <a:t>, </a:t>
            </a:r>
            <a:r>
              <a:rPr lang="ru-RU" sz="3600" b="1" i="1" dirty="0" err="1">
                <a:solidFill>
                  <a:schemeClr val="accent2">
                    <a:lumMod val="75000"/>
                  </a:schemeClr>
                </a:solidFill>
              </a:rPr>
              <a:t>ототожнення</a:t>
            </a:r>
            <a:r>
              <a:rPr lang="ru-RU" sz="3600" b="1" i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ru-RU" sz="3600" dirty="0"/>
              <a:t>в межах </a:t>
            </a:r>
            <a:r>
              <a:rPr lang="ru-RU" sz="3600" dirty="0" err="1"/>
              <a:t>певної</a:t>
            </a:r>
            <a:r>
              <a:rPr lang="ru-RU" sz="3600" dirty="0"/>
              <a:t> </a:t>
            </a:r>
            <a:r>
              <a:rPr lang="ru-RU" sz="3600" dirty="0" err="1" smtClean="0"/>
              <a:t>спільноти</a:t>
            </a:r>
            <a:endParaRPr lang="ru-RU" sz="3600" dirty="0" smtClean="0"/>
          </a:p>
          <a:p>
            <a:pPr marL="571500" lvl="0" indent="-57150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3600" dirty="0" err="1" smtClean="0"/>
              <a:t>Ця</a:t>
            </a:r>
            <a:r>
              <a:rPr lang="ru-RU" sz="3600" dirty="0" smtClean="0"/>
              <a:t> </a:t>
            </a:r>
            <a:r>
              <a:rPr lang="ru-RU" sz="3600" dirty="0" err="1"/>
              <a:t>ідентифікація</a:t>
            </a:r>
            <a:r>
              <a:rPr lang="ru-RU" sz="3600" dirty="0"/>
              <a:t> </a:t>
            </a:r>
            <a:r>
              <a:rPr lang="ru-RU" sz="3600" dirty="0" err="1"/>
              <a:t>виявляється</a:t>
            </a:r>
            <a:r>
              <a:rPr lang="ru-RU" sz="3600" dirty="0"/>
              <a:t> і в часовому, і в </a:t>
            </a:r>
            <a:r>
              <a:rPr lang="ru-RU" sz="3600" dirty="0" err="1"/>
              <a:t>просторовому</a:t>
            </a:r>
            <a:r>
              <a:rPr lang="ru-RU" sz="3600" dirty="0"/>
              <a:t> </a:t>
            </a:r>
            <a:r>
              <a:rPr lang="ru-RU" sz="3600" dirty="0" err="1" smtClean="0"/>
              <a:t>вимірах</a:t>
            </a:r>
            <a:endParaRPr lang="ru-RU" sz="3600" i="1" dirty="0" smtClean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931C64DA-886F-47F0-8641-9A8AC5C8E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1971" y="612322"/>
            <a:ext cx="10058400" cy="881743"/>
          </a:xfrm>
        </p:spPr>
        <p:txBody>
          <a:bodyPr>
            <a:noAutofit/>
          </a:bodyPr>
          <a:lstStyle/>
          <a:p>
            <a:pPr algn="ctr"/>
            <a:r>
              <a:rPr lang="uk-UA" sz="4400" b="1" i="1" dirty="0">
                <a:solidFill>
                  <a:schemeClr val="accent2"/>
                </a:solidFill>
              </a:rPr>
              <a:t>Ідентифікаційна </a:t>
            </a:r>
            <a:r>
              <a:rPr lang="uk-UA" sz="4400" b="1" i="1" dirty="0" smtClean="0">
                <a:solidFill>
                  <a:schemeClr val="accent2"/>
                </a:solidFill>
              </a:rPr>
              <a:t>функція, або об’єднуюча</a:t>
            </a:r>
            <a:endParaRPr lang="uk-UA" sz="44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441D2B7-3EE2-42D1-A5AF-E04001E017B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317" y="6001865"/>
            <a:ext cx="1172817" cy="781878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C9E8BE8-7392-4DBD-9A75-2AC0190E1B3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30" b="19256"/>
          <a:stretch/>
        </p:blipFill>
        <p:spPr>
          <a:xfrm>
            <a:off x="11130895" y="5945544"/>
            <a:ext cx="918259" cy="838199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1665514" y="6404206"/>
            <a:ext cx="850174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chemeClr val="bg1"/>
                </a:solidFill>
              </a:rPr>
              <a:t>3. </a:t>
            </a:r>
            <a:r>
              <a:rPr lang="ru-RU" b="1" dirty="0" err="1">
                <a:solidFill>
                  <a:schemeClr val="bg1"/>
                </a:solidFill>
              </a:rPr>
              <a:t>Функції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мови</a:t>
            </a:r>
            <a:endParaRPr lang="ru-RU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278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кутник 1">
            <a:extLst>
              <a:ext uri="{FF2B5EF4-FFF2-40B4-BE49-F238E27FC236}">
                <a16:creationId xmlns:a16="http://schemas.microsoft.com/office/drawing/2014/main" id="{9575C0AF-AB21-4B5C-9941-2BA833B2080D}"/>
              </a:ext>
            </a:extLst>
          </p:cNvPr>
          <p:cNvSpPr/>
          <p:nvPr/>
        </p:nvSpPr>
        <p:spPr>
          <a:xfrm>
            <a:off x="1182241" y="2459422"/>
            <a:ext cx="10407783" cy="23237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lvl="0" indent="-571500">
              <a:spcBef>
                <a:spcPts val="1200"/>
              </a:spcBef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ru-RU" sz="4000" dirty="0" err="1"/>
              <a:t>Мова</a:t>
            </a:r>
            <a:r>
              <a:rPr lang="ru-RU" sz="4000" dirty="0"/>
              <a:t> є </a:t>
            </a:r>
            <a:r>
              <a:rPr lang="ru-RU" sz="4000" dirty="0" err="1"/>
              <a:t>засобом</a:t>
            </a:r>
            <a:r>
              <a:rPr lang="ru-RU" sz="4000" dirty="0"/>
              <a:t> </a:t>
            </a:r>
            <a:r>
              <a:rPr lang="ru-RU" sz="4000" dirty="0" err="1"/>
              <a:t>пізнання</a:t>
            </a:r>
            <a:r>
              <a:rPr lang="ru-RU" sz="4000" dirty="0"/>
              <a:t> </a:t>
            </a:r>
            <a:r>
              <a:rPr lang="ru-RU" sz="4000" dirty="0" err="1" smtClean="0"/>
              <a:t>світу</a:t>
            </a:r>
            <a:endParaRPr lang="ru-RU" sz="4000" dirty="0" smtClean="0"/>
          </a:p>
          <a:p>
            <a:pPr marL="571500" lvl="0" indent="-571500">
              <a:spcBef>
                <a:spcPts val="1200"/>
              </a:spcBef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ru-RU" sz="4000" dirty="0" err="1"/>
              <a:t>Мова</a:t>
            </a:r>
            <a:r>
              <a:rPr lang="ru-RU" sz="4000" dirty="0"/>
              <a:t> є </a:t>
            </a:r>
            <a:r>
              <a:rPr lang="ru-RU" sz="4000" dirty="0" err="1"/>
              <a:t>засобом</a:t>
            </a:r>
            <a:r>
              <a:rPr lang="ru-RU" sz="4000" dirty="0"/>
              <a:t> </a:t>
            </a:r>
            <a:r>
              <a:rPr lang="ru-RU" sz="4000" dirty="0" err="1"/>
              <a:t>мислення</a:t>
            </a:r>
            <a:r>
              <a:rPr lang="ru-RU" sz="4000" dirty="0"/>
              <a:t>, формою </a:t>
            </a:r>
            <a:r>
              <a:rPr lang="ru-RU" sz="4000" dirty="0" err="1"/>
              <a:t>існування</a:t>
            </a:r>
            <a:r>
              <a:rPr lang="ru-RU" sz="4000" dirty="0"/>
              <a:t> </a:t>
            </a:r>
            <a:r>
              <a:rPr lang="ru-RU" sz="4000" dirty="0" smtClean="0"/>
              <a:t>думки</a:t>
            </a:r>
            <a:endParaRPr lang="ru-RU" sz="4000" i="1" dirty="0" smtClean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931C64DA-886F-47F0-8641-9A8AC5C8E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1971" y="612322"/>
            <a:ext cx="10058400" cy="881743"/>
          </a:xfrm>
        </p:spPr>
        <p:txBody>
          <a:bodyPr>
            <a:noAutofit/>
          </a:bodyPr>
          <a:lstStyle/>
          <a:p>
            <a:pPr algn="ctr"/>
            <a:r>
              <a:rPr lang="uk-UA" sz="4400" b="1" i="1" dirty="0">
                <a:solidFill>
                  <a:schemeClr val="accent2"/>
                </a:solidFill>
              </a:rPr>
              <a:t>Гносеологічна функція, або </a:t>
            </a:r>
            <a:r>
              <a:rPr lang="uk-UA" sz="4400" b="1" i="1" dirty="0" smtClean="0">
                <a:solidFill>
                  <a:schemeClr val="accent2"/>
                </a:solidFill>
              </a:rPr>
              <a:t>пізнавальна</a:t>
            </a:r>
            <a:endParaRPr lang="uk-UA" sz="44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441D2B7-3EE2-42D1-A5AF-E04001E017B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317" y="6001865"/>
            <a:ext cx="1172817" cy="781878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C9E8BE8-7392-4DBD-9A75-2AC0190E1B3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30" b="19256"/>
          <a:stretch/>
        </p:blipFill>
        <p:spPr>
          <a:xfrm>
            <a:off x="11130895" y="5945544"/>
            <a:ext cx="918259" cy="838199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1665514" y="6404206"/>
            <a:ext cx="850174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chemeClr val="bg1"/>
                </a:solidFill>
              </a:rPr>
              <a:t>3. </a:t>
            </a:r>
            <a:r>
              <a:rPr lang="ru-RU" b="1" dirty="0" err="1">
                <a:solidFill>
                  <a:schemeClr val="bg1"/>
                </a:solidFill>
              </a:rPr>
              <a:t>Функції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мови</a:t>
            </a:r>
            <a:endParaRPr lang="ru-RU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8236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кутник 1">
            <a:extLst>
              <a:ext uri="{FF2B5EF4-FFF2-40B4-BE49-F238E27FC236}">
                <a16:creationId xmlns:a16="http://schemas.microsoft.com/office/drawing/2014/main" id="{9575C0AF-AB21-4B5C-9941-2BA833B2080D}"/>
              </a:ext>
            </a:extLst>
          </p:cNvPr>
          <p:cNvSpPr/>
          <p:nvPr/>
        </p:nvSpPr>
        <p:spPr>
          <a:xfrm>
            <a:off x="1271971" y="2038700"/>
            <a:ext cx="10407783" cy="40010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lvl="0" indent="-571500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3200" dirty="0" err="1" smtClean="0"/>
              <a:t>Мова</a:t>
            </a:r>
            <a:r>
              <a:rPr lang="ru-RU" sz="3200" dirty="0" smtClean="0"/>
              <a:t> </a:t>
            </a:r>
            <a:r>
              <a:rPr lang="ru-RU" sz="3200" dirty="0"/>
              <a:t>є </a:t>
            </a:r>
            <a:r>
              <a:rPr lang="ru-RU" sz="3200" dirty="0" err="1"/>
              <a:t>засобом</a:t>
            </a:r>
            <a:r>
              <a:rPr lang="ru-RU" sz="3200" dirty="0"/>
              <a:t> </a:t>
            </a:r>
            <a:r>
              <a:rPr lang="ru-RU" sz="3200" dirty="0" err="1"/>
              <a:t>формування</a:t>
            </a:r>
            <a:r>
              <a:rPr lang="ru-RU" sz="3200" dirty="0"/>
              <a:t> думки – </a:t>
            </a:r>
            <a:r>
              <a:rPr lang="ru-RU" sz="3200" dirty="0" err="1"/>
              <a:t>людина</a:t>
            </a:r>
            <a:r>
              <a:rPr lang="ru-RU" sz="3200" dirty="0"/>
              <a:t> </a:t>
            </a:r>
            <a:r>
              <a:rPr lang="ru-RU" sz="3200" dirty="0" err="1"/>
              <a:t>мислить</a:t>
            </a:r>
            <a:r>
              <a:rPr lang="ru-RU" sz="3200" dirty="0"/>
              <a:t> у </a:t>
            </a:r>
            <a:r>
              <a:rPr lang="ru-RU" sz="3200" dirty="0" err="1"/>
              <a:t>мовних</a:t>
            </a:r>
            <a:r>
              <a:rPr lang="ru-RU" sz="3200" dirty="0"/>
              <a:t> </a:t>
            </a:r>
            <a:r>
              <a:rPr lang="ru-RU" sz="3200" dirty="0" smtClean="0"/>
              <a:t>формах</a:t>
            </a:r>
          </a:p>
          <a:p>
            <a:pPr marL="571500" lvl="0" indent="-571500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3200" dirty="0" err="1"/>
              <a:t>Суто</a:t>
            </a:r>
            <a:r>
              <a:rPr lang="ru-RU" sz="3200" dirty="0"/>
              <a:t> </a:t>
            </a:r>
            <a:r>
              <a:rPr lang="ru-RU" sz="3200" dirty="0" err="1"/>
              <a:t>людське</a:t>
            </a:r>
            <a:r>
              <a:rPr lang="ru-RU" sz="3200" dirty="0"/>
              <a:t> </a:t>
            </a:r>
            <a:r>
              <a:rPr lang="ru-RU" sz="3200" dirty="0" err="1"/>
              <a:t>мислення</a:t>
            </a:r>
            <a:r>
              <a:rPr lang="ru-RU" sz="3200" dirty="0"/>
              <a:t> </a:t>
            </a:r>
            <a:r>
              <a:rPr lang="ru-RU" sz="3200" dirty="0" err="1"/>
              <a:t>понятійне</a:t>
            </a:r>
            <a:r>
              <a:rPr lang="ru-RU" sz="3200" dirty="0"/>
              <a:t> – </a:t>
            </a:r>
            <a:r>
              <a:rPr lang="ru-RU" sz="3200" dirty="0" err="1"/>
              <a:t>це</a:t>
            </a:r>
            <a:r>
              <a:rPr lang="ru-RU" sz="3200" dirty="0"/>
              <a:t> </a:t>
            </a:r>
            <a:r>
              <a:rPr lang="ru-RU" sz="3200" dirty="0" err="1"/>
              <a:t>оперування</a:t>
            </a:r>
            <a:r>
              <a:rPr lang="ru-RU" sz="3200" dirty="0"/>
              <a:t> </a:t>
            </a:r>
            <a:r>
              <a:rPr lang="ru-RU" sz="3200" dirty="0" err="1"/>
              <a:t>поняттями</a:t>
            </a:r>
            <a:r>
              <a:rPr lang="ru-RU" sz="3200" dirty="0"/>
              <a:t>, </a:t>
            </a:r>
            <a:r>
              <a:rPr lang="ru-RU" sz="3200" dirty="0" err="1"/>
              <a:t>які</a:t>
            </a:r>
            <a:r>
              <a:rPr lang="ru-RU" sz="3200" dirty="0"/>
              <a:t> </a:t>
            </a:r>
            <a:r>
              <a:rPr lang="ru-RU" sz="3200" dirty="0" err="1"/>
              <a:t>позначені</a:t>
            </a:r>
            <a:r>
              <a:rPr lang="ru-RU" sz="3200" dirty="0"/>
              <a:t> словами і не могли б без </a:t>
            </a:r>
            <a:r>
              <a:rPr lang="ru-RU" sz="3200" dirty="0" err="1"/>
              <a:t>слів</a:t>
            </a:r>
            <a:r>
              <a:rPr lang="ru-RU" sz="3200" dirty="0"/>
              <a:t> </a:t>
            </a:r>
            <a:r>
              <a:rPr lang="ru-RU" sz="3200" dirty="0" err="1" smtClean="0"/>
              <a:t>існувати</a:t>
            </a:r>
            <a:endParaRPr lang="ru-RU" sz="3200" dirty="0" smtClean="0"/>
          </a:p>
          <a:p>
            <a:pPr marL="571500" lvl="0" indent="-571500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3200" dirty="0" err="1" smtClean="0"/>
              <a:t>Мислити</a:t>
            </a:r>
            <a:r>
              <a:rPr lang="ru-RU" sz="3200" dirty="0" smtClean="0"/>
              <a:t> </a:t>
            </a:r>
            <a:r>
              <a:rPr lang="ru-RU" sz="3200" dirty="0"/>
              <a:t>– </a:t>
            </a:r>
            <a:r>
              <a:rPr lang="ru-RU" sz="3200" dirty="0" err="1"/>
              <a:t>означає</a:t>
            </a:r>
            <a:r>
              <a:rPr lang="ru-RU" sz="3200" dirty="0"/>
              <a:t> </a:t>
            </a:r>
            <a:r>
              <a:rPr lang="ru-RU" sz="3200" dirty="0" err="1"/>
              <a:t>оперувати</a:t>
            </a:r>
            <a:r>
              <a:rPr lang="ru-RU" sz="3200" dirty="0"/>
              <a:t> </a:t>
            </a:r>
            <a:r>
              <a:rPr lang="ru-RU" sz="3200" dirty="0" err="1"/>
              <a:t>поняттями</a:t>
            </a:r>
            <a:r>
              <a:rPr lang="ru-RU" sz="3200" dirty="0"/>
              <a:t> у </a:t>
            </a:r>
            <a:r>
              <a:rPr lang="ru-RU" sz="3200" dirty="0" err="1"/>
              <a:t>мовній</a:t>
            </a:r>
            <a:r>
              <a:rPr lang="ru-RU" sz="3200" dirty="0"/>
              <a:t> </a:t>
            </a:r>
            <a:r>
              <a:rPr lang="ru-RU" sz="3200" dirty="0" err="1"/>
              <a:t>формі</a:t>
            </a:r>
            <a:r>
              <a:rPr lang="ru-RU" sz="3200" dirty="0"/>
              <a:t>, у </a:t>
            </a:r>
            <a:r>
              <a:rPr lang="ru-RU" sz="3200" dirty="0" err="1"/>
              <a:t>мовному</a:t>
            </a:r>
            <a:r>
              <a:rPr lang="ru-RU" sz="3200" dirty="0"/>
              <a:t> </a:t>
            </a:r>
            <a:r>
              <a:rPr lang="ru-RU" sz="3200" dirty="0" err="1"/>
              <a:t>вираженні</a:t>
            </a:r>
            <a:endParaRPr lang="ru-RU" sz="3200" dirty="0" smtClean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931C64DA-886F-47F0-8641-9A8AC5C8E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1971" y="612322"/>
            <a:ext cx="10058400" cy="881743"/>
          </a:xfrm>
        </p:spPr>
        <p:txBody>
          <a:bodyPr>
            <a:noAutofit/>
          </a:bodyPr>
          <a:lstStyle/>
          <a:p>
            <a:pPr algn="ctr"/>
            <a:r>
              <a:rPr lang="uk-UA" sz="4400" b="1" i="1" dirty="0" err="1">
                <a:solidFill>
                  <a:schemeClr val="accent2"/>
                </a:solidFill>
              </a:rPr>
              <a:t>Мислетворча</a:t>
            </a:r>
            <a:r>
              <a:rPr lang="uk-UA" sz="4400" b="1" i="1" dirty="0">
                <a:solidFill>
                  <a:schemeClr val="accent2"/>
                </a:solidFill>
              </a:rPr>
              <a:t> функція, або когнітивна</a:t>
            </a:r>
            <a:endParaRPr lang="uk-UA" sz="44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441D2B7-3EE2-42D1-A5AF-E04001E017B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317" y="6001865"/>
            <a:ext cx="1172817" cy="781878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C9E8BE8-7392-4DBD-9A75-2AC0190E1B3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30" b="19256"/>
          <a:stretch/>
        </p:blipFill>
        <p:spPr>
          <a:xfrm>
            <a:off x="11130895" y="5945544"/>
            <a:ext cx="918259" cy="838199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1665514" y="6404206"/>
            <a:ext cx="850174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chemeClr val="bg1"/>
                </a:solidFill>
              </a:rPr>
              <a:t>3. </a:t>
            </a:r>
            <a:r>
              <a:rPr lang="ru-RU" b="1" dirty="0" err="1">
                <a:solidFill>
                  <a:schemeClr val="bg1"/>
                </a:solidFill>
              </a:rPr>
              <a:t>Функції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мови</a:t>
            </a:r>
            <a:endParaRPr lang="ru-RU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4052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кутник 1">
            <a:extLst>
              <a:ext uri="{FF2B5EF4-FFF2-40B4-BE49-F238E27FC236}">
                <a16:creationId xmlns:a16="http://schemas.microsoft.com/office/drawing/2014/main" id="{9575C0AF-AB21-4B5C-9941-2BA833B2080D}"/>
              </a:ext>
            </a:extLst>
          </p:cNvPr>
          <p:cNvSpPr/>
          <p:nvPr/>
        </p:nvSpPr>
        <p:spPr>
          <a:xfrm>
            <a:off x="1271971" y="2038700"/>
            <a:ext cx="10407783" cy="42011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lvl="0" indent="-571500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800" dirty="0" err="1"/>
              <a:t>Мова</a:t>
            </a:r>
            <a:r>
              <a:rPr lang="ru-RU" sz="2800" dirty="0"/>
              <a:t> є </a:t>
            </a:r>
            <a:r>
              <a:rPr lang="ru-RU" sz="2800" dirty="0" err="1"/>
              <a:t>знаряддям</a:t>
            </a:r>
            <a:r>
              <a:rPr lang="ru-RU" sz="2800" dirty="0"/>
              <a:t> і </a:t>
            </a:r>
            <a:r>
              <a:rPr lang="ru-RU" sz="2800" dirty="0" err="1"/>
              <a:t>водночас</a:t>
            </a:r>
            <a:r>
              <a:rPr lang="ru-RU" sz="2800" dirty="0"/>
              <a:t> </a:t>
            </a:r>
            <a:r>
              <a:rPr lang="ru-RU" sz="2800" dirty="0" err="1"/>
              <a:t>матеріалом</a:t>
            </a:r>
            <a:r>
              <a:rPr lang="ru-RU" sz="2800" dirty="0"/>
              <a:t> </a:t>
            </a:r>
            <a:r>
              <a:rPr lang="ru-RU" sz="2800" dirty="0" err="1"/>
              <a:t>створення</a:t>
            </a:r>
            <a:r>
              <a:rPr lang="ru-RU" sz="2800" dirty="0"/>
              <a:t> </a:t>
            </a:r>
            <a:r>
              <a:rPr lang="ru-RU" sz="2800" dirty="0" err="1"/>
              <a:t>культурних</a:t>
            </a:r>
            <a:r>
              <a:rPr lang="ru-RU" sz="2800" dirty="0"/>
              <a:t> </a:t>
            </a:r>
            <a:r>
              <a:rPr lang="ru-RU" sz="2800" dirty="0" err="1" smtClean="0"/>
              <a:t>цінностей</a:t>
            </a:r>
            <a:endParaRPr lang="ru-RU" sz="2800" dirty="0" smtClean="0"/>
          </a:p>
          <a:p>
            <a:pPr marL="571500" lvl="0" indent="-571500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800" dirty="0" err="1" smtClean="0"/>
              <a:t>Мові</a:t>
            </a:r>
            <a:r>
              <a:rPr lang="ru-RU" sz="2800" dirty="0" smtClean="0"/>
              <a:t> </a:t>
            </a:r>
            <a:r>
              <a:rPr lang="ru-RU" sz="2800" dirty="0" err="1"/>
              <a:t>властиві</a:t>
            </a:r>
            <a:r>
              <a:rPr lang="ru-RU" sz="2800" dirty="0"/>
              <a:t> </a:t>
            </a:r>
            <a:r>
              <a:rPr lang="ru-RU" sz="2800" dirty="0" err="1"/>
              <a:t>закони</a:t>
            </a:r>
            <a:r>
              <a:rPr lang="ru-RU" sz="2800" dirty="0"/>
              <a:t> </a:t>
            </a:r>
            <a:r>
              <a:rPr lang="ru-RU" sz="2800" dirty="0" err="1"/>
              <a:t>милозвучності</a:t>
            </a:r>
            <a:r>
              <a:rPr lang="ru-RU" sz="2800" dirty="0"/>
              <a:t>, </a:t>
            </a:r>
            <a:r>
              <a:rPr lang="ru-RU" sz="2800" dirty="0" err="1"/>
              <a:t>дотримання</a:t>
            </a:r>
            <a:r>
              <a:rPr lang="ru-RU" sz="2800" dirty="0"/>
              <a:t> норм </a:t>
            </a:r>
            <a:r>
              <a:rPr lang="ru-RU" sz="2800" dirty="0" err="1"/>
              <a:t>літературної</a:t>
            </a:r>
            <a:r>
              <a:rPr lang="ru-RU" sz="2800" dirty="0"/>
              <a:t> </a:t>
            </a:r>
            <a:r>
              <a:rPr lang="ru-RU" sz="2800" dirty="0" err="1"/>
              <a:t>мови</a:t>
            </a:r>
            <a:r>
              <a:rPr lang="ru-RU" sz="2800" dirty="0"/>
              <a:t>. </a:t>
            </a:r>
            <a:r>
              <a:rPr lang="ru-RU" sz="2800" dirty="0" err="1"/>
              <a:t>Це</a:t>
            </a:r>
            <a:r>
              <a:rPr lang="ru-RU" sz="2800" dirty="0"/>
              <a:t>, а </a:t>
            </a:r>
            <a:r>
              <a:rPr lang="ru-RU" sz="2800" dirty="0" err="1"/>
              <a:t>також</a:t>
            </a:r>
            <a:r>
              <a:rPr lang="ru-RU" sz="2800" dirty="0"/>
              <a:t> </a:t>
            </a:r>
            <a:r>
              <a:rPr lang="ru-RU" sz="2800" dirty="0" err="1"/>
              <a:t>досконала</a:t>
            </a:r>
            <a:r>
              <a:rPr lang="ru-RU" sz="2800" dirty="0"/>
              <a:t> </a:t>
            </a:r>
            <a:r>
              <a:rPr lang="ru-RU" sz="2800" dirty="0" err="1"/>
              <a:t>організація</a:t>
            </a:r>
            <a:r>
              <a:rPr lang="ru-RU" sz="2800" dirty="0"/>
              <a:t> </a:t>
            </a:r>
            <a:r>
              <a:rPr lang="ru-RU" sz="2800" dirty="0" err="1"/>
              <a:t>мовного</a:t>
            </a:r>
            <a:r>
              <a:rPr lang="ru-RU" sz="2800" dirty="0"/>
              <a:t> </a:t>
            </a:r>
            <a:r>
              <a:rPr lang="ru-RU" sz="2800" dirty="0" err="1"/>
              <a:t>матеріалу</a:t>
            </a:r>
            <a:r>
              <a:rPr lang="ru-RU" sz="2800" dirty="0"/>
              <a:t> в </a:t>
            </a:r>
            <a:r>
              <a:rPr lang="ru-RU" sz="2800" dirty="0" err="1"/>
              <a:t>процесі</a:t>
            </a:r>
            <a:r>
              <a:rPr lang="ru-RU" sz="2800" dirty="0"/>
              <a:t> </a:t>
            </a:r>
            <a:r>
              <a:rPr lang="ru-RU" sz="2800" dirty="0" err="1"/>
              <a:t>спілкування</a:t>
            </a:r>
            <a:r>
              <a:rPr lang="ru-RU" sz="2800" dirty="0"/>
              <a:t> </a:t>
            </a:r>
            <a:r>
              <a:rPr lang="ru-RU" sz="2800" dirty="0" err="1"/>
              <a:t>можуть</a:t>
            </a:r>
            <a:r>
              <a:rPr lang="ru-RU" sz="2800" dirty="0"/>
              <a:t> бути </a:t>
            </a:r>
            <a:r>
              <a:rPr lang="ru-RU" sz="2800" dirty="0" err="1"/>
              <a:t>джерелом</a:t>
            </a:r>
            <a:r>
              <a:rPr lang="ru-RU" sz="2800" dirty="0"/>
              <a:t> </a:t>
            </a:r>
            <a:r>
              <a:rPr lang="ru-RU" sz="2800" dirty="0" err="1"/>
              <a:t>естетичної</a:t>
            </a:r>
            <a:r>
              <a:rPr lang="ru-RU" sz="2800" dirty="0"/>
              <a:t> насолоди, </a:t>
            </a:r>
            <a:r>
              <a:rPr lang="ru-RU" sz="2800" dirty="0" err="1"/>
              <a:t>сприяють</a:t>
            </a:r>
            <a:r>
              <a:rPr lang="ru-RU" sz="2800" dirty="0"/>
              <a:t> </a:t>
            </a:r>
            <a:r>
              <a:rPr lang="ru-RU" sz="2800" dirty="0" err="1"/>
              <a:t>розвиткові</a:t>
            </a:r>
            <a:r>
              <a:rPr lang="ru-RU" sz="2800" dirty="0"/>
              <a:t> </a:t>
            </a:r>
            <a:r>
              <a:rPr lang="ru-RU" sz="2800" dirty="0" err="1"/>
              <a:t>високого</a:t>
            </a:r>
            <a:r>
              <a:rPr lang="ru-RU" sz="2800" dirty="0"/>
              <a:t> </a:t>
            </a:r>
            <a:r>
              <a:rPr lang="ru-RU" sz="2800" dirty="0" err="1"/>
              <a:t>естетичного</a:t>
            </a:r>
            <a:r>
              <a:rPr lang="ru-RU" sz="2800" dirty="0"/>
              <a:t> смаку, </a:t>
            </a:r>
            <a:r>
              <a:rPr lang="ru-RU" sz="2800" dirty="0" err="1"/>
              <a:t>який</a:t>
            </a:r>
            <a:r>
              <a:rPr lang="ru-RU" sz="2800" dirty="0"/>
              <a:t> </a:t>
            </a:r>
            <a:r>
              <a:rPr lang="ru-RU" sz="2800" dirty="0" err="1"/>
              <a:t>найвиразніше</a:t>
            </a:r>
            <a:r>
              <a:rPr lang="ru-RU" sz="2800" dirty="0"/>
              <a:t> </a:t>
            </a:r>
            <a:r>
              <a:rPr lang="ru-RU" sz="2800" dirty="0" err="1"/>
              <a:t>проявляється</a:t>
            </a:r>
            <a:r>
              <a:rPr lang="ru-RU" sz="2800" dirty="0"/>
              <a:t> при </a:t>
            </a:r>
            <a:r>
              <a:rPr lang="ru-RU" sz="2800" dirty="0" err="1"/>
              <a:t>сприйнятті</a:t>
            </a:r>
            <a:r>
              <a:rPr lang="ru-RU" sz="2800" dirty="0"/>
              <a:t> </a:t>
            </a:r>
            <a:r>
              <a:rPr lang="ru-RU" sz="2800" dirty="0" err="1"/>
              <a:t>ораторського</a:t>
            </a:r>
            <a:r>
              <a:rPr lang="ru-RU" sz="2800" dirty="0"/>
              <a:t> та </a:t>
            </a:r>
            <a:r>
              <a:rPr lang="ru-RU" sz="2800" dirty="0" err="1"/>
              <a:t>художнього</a:t>
            </a:r>
            <a:r>
              <a:rPr lang="ru-RU" sz="2800" dirty="0"/>
              <a:t>, </a:t>
            </a:r>
            <a:r>
              <a:rPr lang="ru-RU" sz="2800" dirty="0" err="1"/>
              <a:t>зокрема</a:t>
            </a:r>
            <a:r>
              <a:rPr lang="ru-RU" sz="2800" dirty="0"/>
              <a:t>, </a:t>
            </a:r>
            <a:r>
              <a:rPr lang="ru-RU" sz="2800" dirty="0" err="1"/>
              <a:t>поетичного</a:t>
            </a:r>
            <a:r>
              <a:rPr lang="ru-RU" sz="2800" dirty="0"/>
              <a:t> </a:t>
            </a:r>
            <a:r>
              <a:rPr lang="ru-RU" sz="2800" dirty="0" err="1" smtClean="0"/>
              <a:t>мовлення</a:t>
            </a:r>
            <a:endParaRPr lang="ru-RU" sz="2800" dirty="0" smtClean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931C64DA-886F-47F0-8641-9A8AC5C8E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1971" y="612322"/>
            <a:ext cx="10058400" cy="881743"/>
          </a:xfrm>
        </p:spPr>
        <p:txBody>
          <a:bodyPr>
            <a:noAutofit/>
          </a:bodyPr>
          <a:lstStyle/>
          <a:p>
            <a:pPr algn="ctr"/>
            <a:r>
              <a:rPr lang="uk-UA" sz="4400" b="1" i="1" dirty="0">
                <a:solidFill>
                  <a:schemeClr val="accent2"/>
                </a:solidFill>
              </a:rPr>
              <a:t>Естетична </a:t>
            </a:r>
            <a:r>
              <a:rPr lang="uk-UA" sz="4400" b="1" i="1" dirty="0" smtClean="0">
                <a:solidFill>
                  <a:schemeClr val="accent2"/>
                </a:solidFill>
              </a:rPr>
              <a:t>функція</a:t>
            </a:r>
            <a:endParaRPr lang="uk-UA" sz="44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441D2B7-3EE2-42D1-A5AF-E04001E017B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317" y="6001865"/>
            <a:ext cx="1172817" cy="781878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C9E8BE8-7392-4DBD-9A75-2AC0190E1B3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30" b="19256"/>
          <a:stretch/>
        </p:blipFill>
        <p:spPr>
          <a:xfrm>
            <a:off x="11130895" y="5945544"/>
            <a:ext cx="918259" cy="838199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1665514" y="6404206"/>
            <a:ext cx="850174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chemeClr val="bg1"/>
                </a:solidFill>
              </a:rPr>
              <a:t>3. </a:t>
            </a:r>
            <a:r>
              <a:rPr lang="ru-RU" b="1" dirty="0" err="1">
                <a:solidFill>
                  <a:schemeClr val="bg1"/>
                </a:solidFill>
              </a:rPr>
              <a:t>Функції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мови</a:t>
            </a:r>
            <a:endParaRPr lang="ru-RU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1432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кутник 1">
            <a:extLst>
              <a:ext uri="{FF2B5EF4-FFF2-40B4-BE49-F238E27FC236}">
                <a16:creationId xmlns:a16="http://schemas.microsoft.com/office/drawing/2014/main" id="{9575C0AF-AB21-4B5C-9941-2BA833B2080D}"/>
              </a:ext>
            </a:extLst>
          </p:cNvPr>
          <p:cNvSpPr/>
          <p:nvPr/>
        </p:nvSpPr>
        <p:spPr>
          <a:xfrm>
            <a:off x="1182241" y="2557948"/>
            <a:ext cx="10407783" cy="23237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lvl="0" indent="-571500">
              <a:spcBef>
                <a:spcPts val="1200"/>
              </a:spcBef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ru-RU" sz="4000" dirty="0" err="1"/>
              <a:t>Мова</a:t>
            </a:r>
            <a:r>
              <a:rPr lang="ru-RU" sz="4000" dirty="0"/>
              <a:t> – </a:t>
            </a:r>
            <a:r>
              <a:rPr lang="ru-RU" sz="4000" dirty="0" err="1"/>
              <a:t>носій</a:t>
            </a:r>
            <a:r>
              <a:rPr lang="ru-RU" sz="4000" dirty="0"/>
              <a:t> </a:t>
            </a:r>
            <a:r>
              <a:rPr lang="ru-RU" sz="4000" dirty="0" err="1" smtClean="0"/>
              <a:t>культури</a:t>
            </a:r>
            <a:endParaRPr lang="ru-RU" sz="4000" dirty="0" smtClean="0"/>
          </a:p>
          <a:p>
            <a:pPr marL="571500" lvl="0" indent="-571500">
              <a:spcBef>
                <a:spcPts val="1200"/>
              </a:spcBef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ru-RU" sz="4000" dirty="0" smtClean="0"/>
              <a:t>Культура </a:t>
            </a:r>
            <a:r>
              <a:rPr lang="ru-RU" sz="4000" dirty="0"/>
              <a:t>кожного народу </a:t>
            </a:r>
            <a:r>
              <a:rPr lang="ru-RU" sz="4000" dirty="0" err="1"/>
              <a:t>зафіксована</a:t>
            </a:r>
            <a:r>
              <a:rPr lang="ru-RU" sz="4000" dirty="0"/>
              <a:t> у </a:t>
            </a:r>
            <a:r>
              <a:rPr lang="ru-RU" sz="4000" dirty="0" err="1"/>
              <a:t>його</a:t>
            </a:r>
            <a:r>
              <a:rPr lang="ru-RU" sz="4000" dirty="0"/>
              <a:t> </a:t>
            </a:r>
            <a:r>
              <a:rPr lang="ru-RU" sz="4000" dirty="0" err="1" smtClean="0"/>
              <a:t>мові</a:t>
            </a:r>
            <a:endParaRPr lang="ru-RU" sz="4000" dirty="0" smtClean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931C64DA-886F-47F0-8641-9A8AC5C8E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1971" y="612322"/>
            <a:ext cx="10058400" cy="881743"/>
          </a:xfrm>
        </p:spPr>
        <p:txBody>
          <a:bodyPr>
            <a:noAutofit/>
          </a:bodyPr>
          <a:lstStyle/>
          <a:p>
            <a:pPr algn="ctr"/>
            <a:r>
              <a:rPr lang="uk-UA" sz="4400" b="1" i="1" dirty="0" err="1">
                <a:solidFill>
                  <a:schemeClr val="accent2"/>
                </a:solidFill>
              </a:rPr>
              <a:t>Культуроносна</a:t>
            </a:r>
            <a:r>
              <a:rPr lang="uk-UA" sz="4400" b="1" i="1" dirty="0">
                <a:solidFill>
                  <a:schemeClr val="accent2"/>
                </a:solidFill>
              </a:rPr>
              <a:t> функція</a:t>
            </a:r>
            <a:endParaRPr lang="uk-UA" sz="44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441D2B7-3EE2-42D1-A5AF-E04001E017B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317" y="6001865"/>
            <a:ext cx="1172817" cy="781878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C9E8BE8-7392-4DBD-9A75-2AC0190E1B3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30" b="19256"/>
          <a:stretch/>
        </p:blipFill>
        <p:spPr>
          <a:xfrm>
            <a:off x="11130895" y="5945544"/>
            <a:ext cx="918259" cy="838199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1665514" y="6404206"/>
            <a:ext cx="850174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chemeClr val="bg1"/>
                </a:solidFill>
              </a:rPr>
              <a:t>3. </a:t>
            </a:r>
            <a:r>
              <a:rPr lang="ru-RU" b="1" dirty="0" err="1">
                <a:solidFill>
                  <a:schemeClr val="bg1"/>
                </a:solidFill>
              </a:rPr>
              <a:t>Функції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мови</a:t>
            </a:r>
            <a:endParaRPr lang="ru-RU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3713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кутник 1">
            <a:extLst>
              <a:ext uri="{FF2B5EF4-FFF2-40B4-BE49-F238E27FC236}">
                <a16:creationId xmlns:a16="http://schemas.microsoft.com/office/drawing/2014/main" id="{9575C0AF-AB21-4B5C-9941-2BA833B2080D}"/>
              </a:ext>
            </a:extLst>
          </p:cNvPr>
          <p:cNvSpPr/>
          <p:nvPr/>
        </p:nvSpPr>
        <p:spPr>
          <a:xfrm>
            <a:off x="1182241" y="1831493"/>
            <a:ext cx="10407783" cy="44165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lvl="0" indent="-571500">
              <a:spcBef>
                <a:spcPts val="1200"/>
              </a:spcBef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ru-RU" sz="3200" dirty="0" err="1" smtClean="0"/>
              <a:t>Завдяки</a:t>
            </a:r>
            <a:r>
              <a:rPr lang="ru-RU" sz="3200" dirty="0" smtClean="0"/>
              <a:t> </a:t>
            </a:r>
            <a:r>
              <a:rPr lang="ru-RU" sz="3200" dirty="0" err="1"/>
              <a:t>мові</a:t>
            </a:r>
            <a:r>
              <a:rPr lang="ru-RU" sz="3200" dirty="0"/>
              <a:t> та </a:t>
            </a:r>
            <a:r>
              <a:rPr lang="ru-RU" sz="3200" dirty="0" err="1"/>
              <a:t>мовленню</a:t>
            </a:r>
            <a:r>
              <a:rPr lang="ru-RU" sz="3200" dirty="0"/>
              <a:t> думки </a:t>
            </a:r>
            <a:r>
              <a:rPr lang="ru-RU" sz="3200" dirty="0" err="1"/>
              <a:t>окремих</a:t>
            </a:r>
            <a:r>
              <a:rPr lang="ru-RU" sz="3200" dirty="0"/>
              <a:t> людей </a:t>
            </a:r>
            <a:r>
              <a:rPr lang="ru-RU" sz="3200" dirty="0" err="1"/>
              <a:t>із</a:t>
            </a:r>
            <a:r>
              <a:rPr lang="ru-RU" sz="3200" dirty="0"/>
              <a:t> </a:t>
            </a:r>
            <a:r>
              <a:rPr lang="ru-RU" sz="3200" dirty="0" err="1"/>
              <a:t>їх</a:t>
            </a:r>
            <a:r>
              <a:rPr lang="ru-RU" sz="3200" dirty="0"/>
              <a:t> </a:t>
            </a:r>
            <a:r>
              <a:rPr lang="ru-RU" sz="3200" dirty="0" err="1"/>
              <a:t>власного</a:t>
            </a:r>
            <a:r>
              <a:rPr lang="ru-RU" sz="3200" dirty="0"/>
              <a:t> </a:t>
            </a:r>
            <a:r>
              <a:rPr lang="ru-RU" sz="3200" dirty="0" err="1"/>
              <a:t>надбання</a:t>
            </a:r>
            <a:r>
              <a:rPr lang="ru-RU" sz="3200" dirty="0"/>
              <a:t> </a:t>
            </a:r>
            <a:r>
              <a:rPr lang="ru-RU" sz="3200" dirty="0" err="1"/>
              <a:t>перетворюються</a:t>
            </a:r>
            <a:r>
              <a:rPr lang="ru-RU" sz="3200" dirty="0"/>
              <a:t> на </a:t>
            </a:r>
            <a:r>
              <a:rPr lang="ru-RU" sz="3200" dirty="0" err="1"/>
              <a:t>духовне</a:t>
            </a:r>
            <a:r>
              <a:rPr lang="ru-RU" sz="3200" dirty="0"/>
              <a:t> </a:t>
            </a:r>
            <a:r>
              <a:rPr lang="ru-RU" sz="3200" dirty="0" err="1"/>
              <a:t>надбання</a:t>
            </a:r>
            <a:r>
              <a:rPr lang="ru-RU" sz="3200" dirty="0"/>
              <a:t> </a:t>
            </a:r>
            <a:r>
              <a:rPr lang="ru-RU" sz="3200" dirty="0" err="1"/>
              <a:t>всього</a:t>
            </a:r>
            <a:r>
              <a:rPr lang="ru-RU" sz="3200" dirty="0"/>
              <a:t> </a:t>
            </a:r>
            <a:r>
              <a:rPr lang="ru-RU" sz="3200" dirty="0" err="1" smtClean="0"/>
              <a:t>суспільства</a:t>
            </a:r>
            <a:endParaRPr lang="ru-RU" sz="3200" dirty="0" smtClean="0"/>
          </a:p>
          <a:p>
            <a:pPr marL="571500" lvl="0" indent="-571500">
              <a:spcBef>
                <a:spcPts val="1200"/>
              </a:spcBef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ru-RU" sz="3200" dirty="0"/>
              <a:t>Людина </a:t>
            </a:r>
            <a:r>
              <a:rPr lang="ru-RU" sz="3200" dirty="0" err="1"/>
              <a:t>сприймає</a:t>
            </a:r>
            <a:r>
              <a:rPr lang="ru-RU" sz="3200" dirty="0"/>
              <a:t> </a:t>
            </a:r>
            <a:r>
              <a:rPr lang="ru-RU" sz="3200" dirty="0" err="1"/>
              <a:t>світ</a:t>
            </a:r>
            <a:r>
              <a:rPr lang="ru-RU" sz="3200" dirty="0"/>
              <a:t> не </a:t>
            </a:r>
            <a:r>
              <a:rPr lang="ru-RU" sz="3200" dirty="0" err="1"/>
              <a:t>лише</a:t>
            </a:r>
            <a:r>
              <a:rPr lang="ru-RU" sz="3200" dirty="0"/>
              <a:t> </a:t>
            </a:r>
            <a:r>
              <a:rPr lang="ru-RU" sz="3200" dirty="0" err="1"/>
              <a:t>власним</a:t>
            </a:r>
            <a:r>
              <a:rPr lang="ru-RU" sz="3200" dirty="0"/>
              <a:t> </a:t>
            </a:r>
            <a:r>
              <a:rPr lang="ru-RU" sz="3200" dirty="0" err="1"/>
              <a:t>розумом</a:t>
            </a:r>
            <a:r>
              <a:rPr lang="ru-RU" sz="3200" dirty="0"/>
              <a:t>, а й органами </a:t>
            </a:r>
            <a:r>
              <a:rPr lang="ru-RU" sz="3200" dirty="0" err="1"/>
              <a:t>відчуття</a:t>
            </a:r>
            <a:r>
              <a:rPr lang="ru-RU" sz="3200" dirty="0"/>
              <a:t> і </a:t>
            </a:r>
            <a:r>
              <a:rPr lang="ru-RU" sz="3200" dirty="0" err="1"/>
              <a:t>розумом</a:t>
            </a:r>
            <a:r>
              <a:rPr lang="ru-RU" sz="3200" dirty="0"/>
              <a:t> </a:t>
            </a:r>
            <a:r>
              <a:rPr lang="ru-RU" sz="3200" dirty="0" err="1"/>
              <a:t>усіх</a:t>
            </a:r>
            <a:r>
              <a:rPr lang="ru-RU" sz="3200" dirty="0"/>
              <a:t> людей, </a:t>
            </a:r>
            <a:r>
              <a:rPr lang="ru-RU" sz="3200" dirty="0" err="1"/>
              <a:t>досвід</a:t>
            </a:r>
            <a:r>
              <a:rPr lang="ru-RU" sz="3200" dirty="0"/>
              <a:t> </a:t>
            </a:r>
            <a:r>
              <a:rPr lang="ru-RU" sz="3200" dirty="0" err="1"/>
              <a:t>яких</a:t>
            </a:r>
            <a:r>
              <a:rPr lang="ru-RU" sz="3200" dirty="0"/>
              <a:t> нею </a:t>
            </a:r>
            <a:r>
              <a:rPr lang="ru-RU" sz="3200" dirty="0" err="1"/>
              <a:t>сприймається</a:t>
            </a:r>
            <a:r>
              <a:rPr lang="ru-RU" sz="3200" dirty="0"/>
              <a:t> </a:t>
            </a:r>
            <a:r>
              <a:rPr lang="ru-RU" sz="3200" dirty="0" err="1"/>
              <a:t>завдяки</a:t>
            </a:r>
            <a:r>
              <a:rPr lang="ru-RU" sz="3200" dirty="0"/>
              <a:t> </a:t>
            </a:r>
            <a:r>
              <a:rPr lang="ru-RU" sz="3200" dirty="0" err="1"/>
              <a:t>мові</a:t>
            </a:r>
            <a:r>
              <a:rPr lang="ru-RU" sz="3200" dirty="0"/>
              <a:t>. Так </a:t>
            </a:r>
            <a:r>
              <a:rPr lang="ru-RU" sz="3200" dirty="0" err="1"/>
              <a:t>людина</a:t>
            </a:r>
            <a:r>
              <a:rPr lang="ru-RU" sz="3200" dirty="0"/>
              <a:t> “</a:t>
            </a:r>
            <a:r>
              <a:rPr lang="ru-RU" sz="3200" dirty="0" err="1"/>
              <a:t>включається</a:t>
            </a:r>
            <a:r>
              <a:rPr lang="ru-RU" sz="3200" dirty="0"/>
              <a:t>” в культуру, </a:t>
            </a:r>
            <a:r>
              <a:rPr lang="ru-RU" sz="3200" dirty="0" err="1"/>
              <a:t>стає</a:t>
            </a:r>
            <a:r>
              <a:rPr lang="ru-RU" sz="3200" dirty="0"/>
              <a:t> </a:t>
            </a:r>
            <a:r>
              <a:rPr lang="ru-RU" sz="3200" dirty="0" err="1"/>
              <a:t>її</a:t>
            </a:r>
            <a:r>
              <a:rPr lang="ru-RU" sz="3200" dirty="0"/>
              <a:t> </a:t>
            </a:r>
            <a:r>
              <a:rPr lang="ru-RU" sz="3200" dirty="0" err="1"/>
              <a:t>носієм</a:t>
            </a:r>
            <a:r>
              <a:rPr lang="ru-RU" sz="3200" dirty="0"/>
              <a:t>, </a:t>
            </a:r>
            <a:r>
              <a:rPr lang="ru-RU" sz="3200" dirty="0" err="1"/>
              <a:t>отже</a:t>
            </a:r>
            <a:r>
              <a:rPr lang="ru-RU" sz="3200" dirty="0"/>
              <a:t>, </a:t>
            </a:r>
            <a:r>
              <a:rPr lang="ru-RU" sz="3200" b="1" dirty="0" err="1" smtClean="0">
                <a:solidFill>
                  <a:schemeClr val="accent2">
                    <a:lumMod val="75000"/>
                  </a:schemeClr>
                </a:solidFill>
              </a:rPr>
              <a:t>гуманізується</a:t>
            </a:r>
            <a:endParaRPr lang="ru-RU" sz="3200" b="1" dirty="0" smtClean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931C64DA-886F-47F0-8641-9A8AC5C8E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1971" y="612322"/>
            <a:ext cx="10058400" cy="881743"/>
          </a:xfrm>
        </p:spPr>
        <p:txBody>
          <a:bodyPr>
            <a:noAutofit/>
          </a:bodyPr>
          <a:lstStyle/>
          <a:p>
            <a:pPr algn="ctr"/>
            <a:r>
              <a:rPr lang="uk-UA" sz="4400" b="1" i="1" dirty="0" err="1" smtClean="0">
                <a:solidFill>
                  <a:schemeClr val="accent2"/>
                </a:solidFill>
              </a:rPr>
              <a:t>Гуманізуюча</a:t>
            </a:r>
            <a:r>
              <a:rPr lang="uk-UA" sz="4400" b="1" i="1" dirty="0" smtClean="0">
                <a:solidFill>
                  <a:schemeClr val="accent2"/>
                </a:solidFill>
              </a:rPr>
              <a:t> </a:t>
            </a:r>
            <a:r>
              <a:rPr lang="uk-UA" sz="4400" b="1" i="1" dirty="0">
                <a:solidFill>
                  <a:schemeClr val="accent2"/>
                </a:solidFill>
              </a:rPr>
              <a:t>функція</a:t>
            </a:r>
            <a:endParaRPr lang="uk-UA" sz="44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441D2B7-3EE2-42D1-A5AF-E04001E017B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317" y="6001865"/>
            <a:ext cx="1172817" cy="781878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C9E8BE8-7392-4DBD-9A75-2AC0190E1B3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30" b="19256"/>
          <a:stretch/>
        </p:blipFill>
        <p:spPr>
          <a:xfrm>
            <a:off x="11130895" y="5945544"/>
            <a:ext cx="918259" cy="838199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1665514" y="6404206"/>
            <a:ext cx="850174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chemeClr val="bg1"/>
                </a:solidFill>
              </a:rPr>
              <a:t>3. </a:t>
            </a:r>
            <a:r>
              <a:rPr lang="ru-RU" b="1" dirty="0" err="1">
                <a:solidFill>
                  <a:schemeClr val="bg1"/>
                </a:solidFill>
              </a:rPr>
              <a:t>Функції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мови</a:t>
            </a:r>
            <a:endParaRPr lang="ru-RU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1204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кутник 1">
            <a:extLst>
              <a:ext uri="{FF2B5EF4-FFF2-40B4-BE49-F238E27FC236}">
                <a16:creationId xmlns:a16="http://schemas.microsoft.com/office/drawing/2014/main" id="{9575C0AF-AB21-4B5C-9941-2BA833B2080D}"/>
              </a:ext>
            </a:extLst>
          </p:cNvPr>
          <p:cNvSpPr/>
          <p:nvPr/>
        </p:nvSpPr>
        <p:spPr>
          <a:xfrm>
            <a:off x="1443498" y="2887306"/>
            <a:ext cx="10407783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lvl="0" indent="-571500">
              <a:spcBef>
                <a:spcPts val="1200"/>
              </a:spcBef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ru-RU" sz="4400" dirty="0" err="1"/>
              <a:t>вираження</a:t>
            </a:r>
            <a:r>
              <a:rPr lang="ru-RU" sz="4400" dirty="0"/>
              <a:t> </a:t>
            </a:r>
            <a:r>
              <a:rPr lang="ru-RU" sz="4400" dirty="0" err="1"/>
              <a:t>волі</a:t>
            </a:r>
            <a:r>
              <a:rPr lang="ru-RU" sz="4400" dirty="0"/>
              <a:t> </a:t>
            </a:r>
            <a:r>
              <a:rPr lang="ru-RU" sz="4400" dirty="0" err="1"/>
              <a:t>щодо</a:t>
            </a:r>
            <a:r>
              <a:rPr lang="ru-RU" sz="4400" dirty="0"/>
              <a:t> </a:t>
            </a:r>
            <a:r>
              <a:rPr lang="ru-RU" sz="4400" dirty="0" err="1"/>
              <a:t>співрозмовника</a:t>
            </a:r>
            <a:r>
              <a:rPr lang="ru-RU" sz="4400" dirty="0"/>
              <a:t>: </a:t>
            </a:r>
            <a:r>
              <a:rPr lang="ru-RU" sz="4400" dirty="0" err="1"/>
              <a:t>прохання</a:t>
            </a:r>
            <a:r>
              <a:rPr lang="ru-RU" sz="4400" dirty="0"/>
              <a:t>, </a:t>
            </a:r>
            <a:r>
              <a:rPr lang="ru-RU" sz="4400" dirty="0" err="1"/>
              <a:t>запрошення</a:t>
            </a:r>
            <a:r>
              <a:rPr lang="ru-RU" sz="4400" dirty="0"/>
              <a:t>, </a:t>
            </a:r>
            <a:r>
              <a:rPr lang="ru-RU" sz="4400" dirty="0" err="1"/>
              <a:t>порада</a:t>
            </a:r>
            <a:r>
              <a:rPr lang="ru-RU" sz="4400" dirty="0"/>
              <a:t>, </a:t>
            </a:r>
            <a:r>
              <a:rPr lang="ru-RU" sz="4400" dirty="0" err="1"/>
              <a:t>спонукання</a:t>
            </a:r>
            <a:r>
              <a:rPr lang="ru-RU" sz="4400" dirty="0"/>
              <a:t> </a:t>
            </a:r>
            <a:r>
              <a:rPr lang="ru-RU" sz="4400" dirty="0" err="1"/>
              <a:t>тощо</a:t>
            </a:r>
            <a:endParaRPr lang="ru-RU" sz="4400" b="1" dirty="0" smtClean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931C64DA-886F-47F0-8641-9A8AC5C8E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1971" y="612322"/>
            <a:ext cx="10058400" cy="881743"/>
          </a:xfrm>
        </p:spPr>
        <p:txBody>
          <a:bodyPr>
            <a:noAutofit/>
          </a:bodyPr>
          <a:lstStyle/>
          <a:p>
            <a:pPr algn="ctr"/>
            <a:r>
              <a:rPr lang="uk-UA" sz="4400" b="1" i="1" dirty="0" err="1">
                <a:solidFill>
                  <a:schemeClr val="accent2"/>
                </a:solidFill>
              </a:rPr>
              <a:t>Волюнтативна</a:t>
            </a:r>
            <a:r>
              <a:rPr lang="uk-UA" sz="4400" b="1" i="1" dirty="0">
                <a:solidFill>
                  <a:schemeClr val="accent2"/>
                </a:solidFill>
              </a:rPr>
              <a:t> </a:t>
            </a:r>
            <a:r>
              <a:rPr lang="uk-UA" sz="4400" b="1" i="1" dirty="0" smtClean="0">
                <a:solidFill>
                  <a:schemeClr val="accent2"/>
                </a:solidFill>
              </a:rPr>
              <a:t>функція</a:t>
            </a:r>
            <a:endParaRPr lang="uk-UA" sz="44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441D2B7-3EE2-42D1-A5AF-E04001E017B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317" y="6001865"/>
            <a:ext cx="1172817" cy="781878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C9E8BE8-7392-4DBD-9A75-2AC0190E1B3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30" b="19256"/>
          <a:stretch/>
        </p:blipFill>
        <p:spPr>
          <a:xfrm>
            <a:off x="11130895" y="5945544"/>
            <a:ext cx="918259" cy="838199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1665514" y="6404206"/>
            <a:ext cx="850174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chemeClr val="bg1"/>
                </a:solidFill>
              </a:rPr>
              <a:t>3. </a:t>
            </a:r>
            <a:r>
              <a:rPr lang="ru-RU" b="1" dirty="0" err="1">
                <a:solidFill>
                  <a:schemeClr val="bg1"/>
                </a:solidFill>
              </a:rPr>
              <a:t>Функції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мови</a:t>
            </a:r>
            <a:endParaRPr lang="ru-RU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8915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кутник 1">
            <a:extLst>
              <a:ext uri="{FF2B5EF4-FFF2-40B4-BE49-F238E27FC236}">
                <a16:creationId xmlns:a16="http://schemas.microsoft.com/office/drawing/2014/main" id="{9575C0AF-AB21-4B5C-9941-2BA833B2080D}"/>
              </a:ext>
            </a:extLst>
          </p:cNvPr>
          <p:cNvSpPr/>
          <p:nvPr/>
        </p:nvSpPr>
        <p:spPr>
          <a:xfrm>
            <a:off x="1443498" y="2887306"/>
            <a:ext cx="10407783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lvl="0" indent="-571500">
              <a:spcBef>
                <a:spcPts val="1200"/>
              </a:spcBef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ru-RU" sz="4400" dirty="0" err="1"/>
              <a:t>близька</a:t>
            </a:r>
            <a:r>
              <a:rPr lang="ru-RU" sz="4400" dirty="0"/>
              <a:t> до </a:t>
            </a:r>
            <a:r>
              <a:rPr lang="ru-RU" sz="4400" dirty="0" err="1"/>
              <a:t>естетичної</a:t>
            </a:r>
            <a:r>
              <a:rPr lang="ru-RU" sz="4400" dirty="0"/>
              <a:t>. Слово у </a:t>
            </a:r>
            <a:r>
              <a:rPr lang="ru-RU" sz="4400" dirty="0" err="1"/>
              <a:t>вихованні</a:t>
            </a:r>
            <a:r>
              <a:rPr lang="ru-RU" sz="4400" dirty="0"/>
              <a:t> </a:t>
            </a:r>
            <a:r>
              <a:rPr lang="ru-RU" sz="4400" dirty="0" err="1"/>
              <a:t>дитини</a:t>
            </a:r>
            <a:r>
              <a:rPr lang="ru-RU" sz="4400" dirty="0"/>
              <a:t> і </a:t>
            </a:r>
            <a:r>
              <a:rPr lang="ru-RU" sz="4400" dirty="0" err="1"/>
              <a:t>людини</a:t>
            </a:r>
            <a:r>
              <a:rPr lang="ru-RU" sz="4400" dirty="0"/>
              <a:t> </a:t>
            </a:r>
            <a:r>
              <a:rPr lang="ru-RU" sz="4400" dirty="0" err="1"/>
              <a:t>відіграє</a:t>
            </a:r>
            <a:r>
              <a:rPr lang="ru-RU" sz="4400" dirty="0"/>
              <a:t> </a:t>
            </a:r>
            <a:r>
              <a:rPr lang="ru-RU" sz="4400" dirty="0" err="1"/>
              <a:t>надзвичайно</a:t>
            </a:r>
            <a:r>
              <a:rPr lang="ru-RU" sz="4400" dirty="0"/>
              <a:t> </a:t>
            </a:r>
            <a:r>
              <a:rPr lang="ru-RU" sz="4400" dirty="0" err="1"/>
              <a:t>важливу</a:t>
            </a:r>
            <a:r>
              <a:rPr lang="ru-RU" sz="4400" dirty="0"/>
              <a:t> </a:t>
            </a:r>
            <a:r>
              <a:rPr lang="ru-RU" sz="4400" dirty="0" smtClean="0"/>
              <a:t>роль</a:t>
            </a:r>
            <a:endParaRPr lang="ru-RU" sz="4400" b="1" dirty="0" smtClean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931C64DA-886F-47F0-8641-9A8AC5C8E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1971" y="612322"/>
            <a:ext cx="10058400" cy="881743"/>
          </a:xfrm>
        </p:spPr>
        <p:txBody>
          <a:bodyPr>
            <a:noAutofit/>
          </a:bodyPr>
          <a:lstStyle/>
          <a:p>
            <a:pPr algn="ctr"/>
            <a:r>
              <a:rPr lang="uk-UA" sz="4400" b="1" i="1" dirty="0" smtClean="0">
                <a:solidFill>
                  <a:schemeClr val="accent2"/>
                </a:solidFill>
              </a:rPr>
              <a:t>Виховна функція</a:t>
            </a:r>
            <a:endParaRPr lang="uk-UA" sz="44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441D2B7-3EE2-42D1-A5AF-E04001E017B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317" y="6001865"/>
            <a:ext cx="1172817" cy="781878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C9E8BE8-7392-4DBD-9A75-2AC0190E1B3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30" b="19256"/>
          <a:stretch/>
        </p:blipFill>
        <p:spPr>
          <a:xfrm>
            <a:off x="11130895" y="5945544"/>
            <a:ext cx="918259" cy="838199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1665514" y="6404206"/>
            <a:ext cx="850174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chemeClr val="bg1"/>
                </a:solidFill>
              </a:rPr>
              <a:t>3. </a:t>
            </a:r>
            <a:r>
              <a:rPr lang="ru-RU" b="1" dirty="0" err="1">
                <a:solidFill>
                  <a:schemeClr val="bg1"/>
                </a:solidFill>
              </a:rPr>
              <a:t>Функції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мови</a:t>
            </a:r>
            <a:endParaRPr lang="ru-RU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9117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кутник 1">
            <a:extLst>
              <a:ext uri="{FF2B5EF4-FFF2-40B4-BE49-F238E27FC236}">
                <a16:creationId xmlns:a16="http://schemas.microsoft.com/office/drawing/2014/main" id="{9575C0AF-AB21-4B5C-9941-2BA833B2080D}"/>
              </a:ext>
            </a:extLst>
          </p:cNvPr>
          <p:cNvSpPr/>
          <p:nvPr/>
        </p:nvSpPr>
        <p:spPr>
          <a:xfrm>
            <a:off x="1454383" y="2139269"/>
            <a:ext cx="10407783" cy="35548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lvl="0" indent="-571500">
              <a:spcBef>
                <a:spcPts val="1200"/>
              </a:spcBef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ru-RU" sz="4000" dirty="0"/>
              <a:t>Слова </a:t>
            </a:r>
            <a:r>
              <a:rPr lang="ru-RU" sz="4000" dirty="0" err="1"/>
              <a:t>мають</a:t>
            </a:r>
            <a:r>
              <a:rPr lang="ru-RU" sz="4000" dirty="0"/>
              <a:t> </a:t>
            </a:r>
            <a:r>
              <a:rPr lang="ru-RU" sz="4000" dirty="0" err="1"/>
              <a:t>величезну</a:t>
            </a:r>
            <a:r>
              <a:rPr lang="ru-RU" sz="4000" dirty="0"/>
              <a:t> </a:t>
            </a:r>
            <a:r>
              <a:rPr lang="ru-RU" sz="4000" dirty="0" err="1"/>
              <a:t>владу</a:t>
            </a:r>
            <a:r>
              <a:rPr lang="ru-RU" sz="4000" dirty="0"/>
              <a:t> над нашим </a:t>
            </a:r>
            <a:r>
              <a:rPr lang="ru-RU" sz="4000" dirty="0" err="1"/>
              <a:t>життям</a:t>
            </a:r>
            <a:r>
              <a:rPr lang="ru-RU" sz="4000" dirty="0"/>
              <a:t>, </a:t>
            </a:r>
            <a:r>
              <a:rPr lang="ru-RU" sz="4000" dirty="0" err="1"/>
              <a:t>владу</a:t>
            </a:r>
            <a:r>
              <a:rPr lang="ru-RU" sz="4000" dirty="0"/>
              <a:t> </a:t>
            </a:r>
            <a:r>
              <a:rPr lang="ru-RU" sz="4000" dirty="0" err="1"/>
              <a:t>магічну</a:t>
            </a:r>
            <a:r>
              <a:rPr lang="ru-RU" sz="4000" dirty="0"/>
              <a:t>, ми </a:t>
            </a:r>
            <a:r>
              <a:rPr lang="ru-RU" sz="4000" dirty="0" err="1"/>
              <a:t>зачаровані</a:t>
            </a:r>
            <a:r>
              <a:rPr lang="ru-RU" sz="4000" dirty="0"/>
              <a:t> словами і </a:t>
            </a:r>
            <a:r>
              <a:rPr lang="ru-RU" sz="4000" dirty="0" err="1"/>
              <a:t>значною</a:t>
            </a:r>
            <a:r>
              <a:rPr lang="ru-RU" sz="4000" dirty="0"/>
              <a:t> </a:t>
            </a:r>
            <a:r>
              <a:rPr lang="ru-RU" sz="4000" dirty="0" err="1"/>
              <a:t>мірою</a:t>
            </a:r>
            <a:r>
              <a:rPr lang="ru-RU" sz="4000" dirty="0"/>
              <a:t> </a:t>
            </a:r>
            <a:r>
              <a:rPr lang="ru-RU" sz="4000" dirty="0" err="1"/>
              <a:t>живемо</a:t>
            </a:r>
            <a:r>
              <a:rPr lang="ru-RU" sz="4000" dirty="0"/>
              <a:t> в </a:t>
            </a:r>
            <a:r>
              <a:rPr lang="ru-RU" sz="4000" dirty="0" err="1"/>
              <a:t>їхньому</a:t>
            </a:r>
            <a:r>
              <a:rPr lang="ru-RU" sz="4000" dirty="0"/>
              <a:t> </a:t>
            </a:r>
            <a:r>
              <a:rPr lang="ru-RU" sz="4000" dirty="0" err="1" smtClean="0"/>
              <a:t>царстві</a:t>
            </a:r>
            <a:r>
              <a:rPr lang="ru-RU" sz="4000" dirty="0" smtClean="0"/>
              <a:t>.</a:t>
            </a:r>
          </a:p>
          <a:p>
            <a:pPr lvl="0" algn="r">
              <a:spcBef>
                <a:spcPts val="1200"/>
              </a:spcBef>
              <a:spcAft>
                <a:spcPts val="1800"/>
              </a:spcAft>
            </a:pPr>
            <a:r>
              <a:rPr lang="ru-RU" sz="4000" dirty="0" err="1" smtClean="0"/>
              <a:t>Микола</a:t>
            </a:r>
            <a:r>
              <a:rPr lang="ru-RU" sz="4000" dirty="0" smtClean="0"/>
              <a:t> </a:t>
            </a:r>
            <a:r>
              <a:rPr lang="ru-RU" sz="4000" dirty="0" err="1" smtClean="0"/>
              <a:t>Бердяєв</a:t>
            </a:r>
            <a:endParaRPr lang="ru-RU" sz="4000" dirty="0" smtClean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931C64DA-886F-47F0-8641-9A8AC5C8E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1971" y="612322"/>
            <a:ext cx="10058400" cy="881743"/>
          </a:xfrm>
        </p:spPr>
        <p:txBody>
          <a:bodyPr>
            <a:noAutofit/>
          </a:bodyPr>
          <a:lstStyle/>
          <a:p>
            <a:pPr algn="ctr"/>
            <a:r>
              <a:rPr lang="uk-UA" sz="4400" b="1" i="1" dirty="0">
                <a:solidFill>
                  <a:schemeClr val="accent2"/>
                </a:solidFill>
              </a:rPr>
              <a:t>Магічно-містична функція</a:t>
            </a:r>
            <a:endParaRPr lang="uk-UA" sz="44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441D2B7-3EE2-42D1-A5AF-E04001E017B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317" y="6001865"/>
            <a:ext cx="1172817" cy="781878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C9E8BE8-7392-4DBD-9A75-2AC0190E1B3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30" b="19256"/>
          <a:stretch/>
        </p:blipFill>
        <p:spPr>
          <a:xfrm>
            <a:off x="11130895" y="5945544"/>
            <a:ext cx="918259" cy="838199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1665514" y="6404206"/>
            <a:ext cx="850174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chemeClr val="bg1"/>
                </a:solidFill>
              </a:rPr>
              <a:t>3. </a:t>
            </a:r>
            <a:r>
              <a:rPr lang="ru-RU" b="1" dirty="0" err="1">
                <a:solidFill>
                  <a:schemeClr val="bg1"/>
                </a:solidFill>
              </a:rPr>
              <a:t>Функції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мови</a:t>
            </a:r>
            <a:endParaRPr lang="ru-RU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2091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кутник 1">
            <a:extLst>
              <a:ext uri="{FF2B5EF4-FFF2-40B4-BE49-F238E27FC236}">
                <a16:creationId xmlns:a16="http://schemas.microsoft.com/office/drawing/2014/main" id="{9575C0AF-AB21-4B5C-9941-2BA833B2080D}"/>
              </a:ext>
            </a:extLst>
          </p:cNvPr>
          <p:cNvSpPr/>
          <p:nvPr/>
        </p:nvSpPr>
        <p:spPr>
          <a:xfrm>
            <a:off x="1097279" y="2669632"/>
            <a:ext cx="10407783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lvl="0" indent="-5715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4000" dirty="0" err="1" smtClean="0"/>
              <a:t>діяльність</a:t>
            </a:r>
            <a:r>
              <a:rPr lang="ru-RU" sz="4000" dirty="0"/>
              <a:t>, яка </a:t>
            </a:r>
            <a:r>
              <a:rPr lang="ru-RU" sz="4000" dirty="0" err="1"/>
              <a:t>охоплює</a:t>
            </a:r>
            <a:r>
              <a:rPr lang="ru-RU" sz="4000" dirty="0"/>
              <a:t> </a:t>
            </a:r>
            <a:r>
              <a:rPr lang="ru-RU" sz="4000" dirty="0" err="1"/>
              <a:t>документоведення</a:t>
            </a:r>
            <a:r>
              <a:rPr lang="ru-RU" sz="4000" dirty="0"/>
              <a:t>, </a:t>
            </a:r>
            <a:r>
              <a:rPr lang="ru-RU" sz="4000" dirty="0" err="1"/>
              <a:t>або</a:t>
            </a:r>
            <a:r>
              <a:rPr lang="ru-RU" sz="4000" dirty="0"/>
              <a:t> </a:t>
            </a:r>
            <a:r>
              <a:rPr lang="ru-RU" sz="4000" dirty="0" err="1"/>
              <a:t>докуменаційне</a:t>
            </a:r>
            <a:r>
              <a:rPr lang="ru-RU" sz="4000" dirty="0"/>
              <a:t> </a:t>
            </a:r>
            <a:r>
              <a:rPr lang="ru-RU" sz="4000" dirty="0" err="1"/>
              <a:t>забезпечення</a:t>
            </a:r>
            <a:r>
              <a:rPr lang="ru-RU" sz="4000" dirty="0"/>
              <a:t> </a:t>
            </a:r>
            <a:r>
              <a:rPr lang="ru-RU" sz="4000" dirty="0" err="1"/>
              <a:t>управління</a:t>
            </a:r>
            <a:r>
              <a:rPr lang="ru-RU" sz="4000" dirty="0"/>
              <a:t> </a:t>
            </a:r>
            <a:r>
              <a:rPr lang="ru-RU" sz="4000" dirty="0" err="1"/>
              <a:t>роботою</a:t>
            </a:r>
            <a:r>
              <a:rPr lang="ru-RU" sz="4000" dirty="0"/>
              <a:t> </a:t>
            </a:r>
            <a:r>
              <a:rPr lang="ru-RU" sz="4000" dirty="0" err="1"/>
              <a:t>установ</a:t>
            </a:r>
            <a:r>
              <a:rPr lang="ru-RU" sz="4000" dirty="0"/>
              <a:t>, </a:t>
            </a:r>
            <a:r>
              <a:rPr lang="ru-RU" sz="4000" dirty="0" err="1"/>
              <a:t>підприємств</a:t>
            </a:r>
            <a:r>
              <a:rPr lang="ru-RU" sz="4000" dirty="0"/>
              <a:t>, </a:t>
            </a:r>
            <a:r>
              <a:rPr lang="ru-RU" sz="4000" dirty="0" err="1"/>
              <a:t>організацій</a:t>
            </a:r>
            <a:endParaRPr lang="ru-RU" sz="4000" dirty="0" smtClean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931C64DA-886F-47F0-8641-9A8AC5C8E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1971" y="612322"/>
            <a:ext cx="10058400" cy="881743"/>
          </a:xfrm>
        </p:spPr>
        <p:txBody>
          <a:bodyPr>
            <a:noAutofit/>
          </a:bodyPr>
          <a:lstStyle/>
          <a:p>
            <a:pPr algn="ctr"/>
            <a:r>
              <a:rPr lang="uk-UA" sz="5400" b="1" i="1" dirty="0" smtClean="0">
                <a:solidFill>
                  <a:schemeClr val="accent2"/>
                </a:solidFill>
              </a:rPr>
              <a:t>Діловодство </a:t>
            </a:r>
            <a:endParaRPr lang="uk-UA" sz="54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441D2B7-3EE2-42D1-A5AF-E04001E017B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317" y="6001865"/>
            <a:ext cx="1172817" cy="781878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C9E8BE8-7392-4DBD-9A75-2AC0190E1B3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30" b="19256"/>
          <a:stretch/>
        </p:blipFill>
        <p:spPr>
          <a:xfrm>
            <a:off x="11130895" y="5945544"/>
            <a:ext cx="918259" cy="838199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1665514" y="6404206"/>
            <a:ext cx="910045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solidFill>
                  <a:schemeClr val="bg1"/>
                </a:solidFill>
              </a:rPr>
              <a:t>4. Документ </a:t>
            </a:r>
            <a:r>
              <a:rPr lang="ru-RU" b="1" dirty="0">
                <a:solidFill>
                  <a:schemeClr val="bg1"/>
                </a:solidFill>
              </a:rPr>
              <a:t>як </a:t>
            </a:r>
            <a:r>
              <a:rPr lang="ru-RU" b="1" dirty="0" err="1">
                <a:solidFill>
                  <a:schemeClr val="bg1"/>
                </a:solidFill>
              </a:rPr>
              <a:t>важливий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засіб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збереження</a:t>
            </a:r>
            <a:r>
              <a:rPr lang="ru-RU" b="1" dirty="0">
                <a:solidFill>
                  <a:schemeClr val="bg1"/>
                </a:solidFill>
              </a:rPr>
              <a:t>, </a:t>
            </a:r>
            <a:r>
              <a:rPr lang="ru-RU" b="1" dirty="0" err="1">
                <a:solidFill>
                  <a:schemeClr val="bg1"/>
                </a:solidFill>
              </a:rPr>
              <a:t>накопичення</a:t>
            </a:r>
            <a:r>
              <a:rPr lang="ru-RU" b="1" dirty="0">
                <a:solidFill>
                  <a:schemeClr val="bg1"/>
                </a:solidFill>
              </a:rPr>
              <a:t> і </a:t>
            </a:r>
            <a:r>
              <a:rPr lang="ru-RU" b="1" dirty="0" err="1">
                <a:solidFill>
                  <a:schemeClr val="bg1"/>
                </a:solidFill>
              </a:rPr>
              <a:t>передавання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інформації</a:t>
            </a:r>
            <a:endParaRPr lang="uk-UA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3065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кутник 1">
            <a:extLst>
              <a:ext uri="{FF2B5EF4-FFF2-40B4-BE49-F238E27FC236}">
                <a16:creationId xmlns:a16="http://schemas.microsoft.com/office/drawing/2014/main" id="{9575C0AF-AB21-4B5C-9941-2BA833B2080D}"/>
              </a:ext>
            </a:extLst>
          </p:cNvPr>
          <p:cNvSpPr/>
          <p:nvPr/>
        </p:nvSpPr>
        <p:spPr>
          <a:xfrm>
            <a:off x="1097279" y="2364086"/>
            <a:ext cx="10407783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lvl="0" indent="-5715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4000" dirty="0" err="1"/>
              <a:t>сукупність</a:t>
            </a:r>
            <a:r>
              <a:rPr lang="ru-RU" sz="4000" dirty="0"/>
              <a:t> </a:t>
            </a:r>
            <a:r>
              <a:rPr lang="ru-RU" sz="4000" dirty="0" err="1"/>
              <a:t>взаємопов’язаних</a:t>
            </a:r>
            <a:r>
              <a:rPr lang="ru-RU" sz="4000" dirty="0"/>
              <a:t> і </a:t>
            </a:r>
            <a:r>
              <a:rPr lang="ru-RU" sz="4000" dirty="0" err="1"/>
              <a:t>взаємочинних</a:t>
            </a:r>
            <a:r>
              <a:rPr lang="ru-RU" sz="4000" dirty="0"/>
              <a:t> </a:t>
            </a:r>
            <a:r>
              <a:rPr lang="ru-RU" sz="4000" dirty="0" err="1"/>
              <a:t>документів</a:t>
            </a:r>
            <a:r>
              <a:rPr lang="ru-RU" sz="4000" dirty="0"/>
              <a:t>, </a:t>
            </a:r>
            <a:r>
              <a:rPr lang="ru-RU" sz="4000" dirty="0" err="1"/>
              <a:t>які</a:t>
            </a:r>
            <a:r>
              <a:rPr lang="ru-RU" sz="4000" dirty="0"/>
              <a:t> </a:t>
            </a:r>
            <a:r>
              <a:rPr lang="ru-RU" sz="4000" dirty="0" err="1"/>
              <a:t>становлять</a:t>
            </a:r>
            <a:r>
              <a:rPr lang="ru-RU" sz="4000" dirty="0"/>
              <a:t> </a:t>
            </a:r>
            <a:r>
              <a:rPr lang="ru-RU" sz="4000" dirty="0" err="1"/>
              <a:t>цілісну</a:t>
            </a:r>
            <a:r>
              <a:rPr lang="ru-RU" sz="4000" dirty="0"/>
              <a:t> систему, </a:t>
            </a:r>
            <a:r>
              <a:rPr lang="ru-RU" sz="4000" dirty="0" err="1"/>
              <a:t>що</a:t>
            </a:r>
            <a:r>
              <a:rPr lang="ru-RU" sz="4000" dirty="0"/>
              <a:t> </a:t>
            </a:r>
            <a:r>
              <a:rPr lang="ru-RU" sz="4000" dirty="0" err="1"/>
              <a:t>має</a:t>
            </a:r>
            <a:r>
              <a:rPr lang="ru-RU" sz="4000" dirty="0"/>
              <a:t> </a:t>
            </a:r>
            <a:r>
              <a:rPr lang="ru-RU" sz="4000" dirty="0" err="1"/>
              <a:t>специфічні</a:t>
            </a:r>
            <a:r>
              <a:rPr lang="ru-RU" sz="4000" dirty="0"/>
              <a:t> </a:t>
            </a:r>
            <a:r>
              <a:rPr lang="ru-RU" sz="4000" dirty="0" err="1"/>
              <a:t>риси</a:t>
            </a:r>
            <a:r>
              <a:rPr lang="ru-RU" sz="4000" dirty="0"/>
              <a:t> й </a:t>
            </a:r>
            <a:r>
              <a:rPr lang="ru-RU" sz="4000" dirty="0" err="1"/>
              <a:t>відповідає</a:t>
            </a:r>
            <a:r>
              <a:rPr lang="ru-RU" sz="4000" dirty="0"/>
              <a:t> </a:t>
            </a:r>
            <a:r>
              <a:rPr lang="ru-RU" sz="4000" dirty="0" err="1"/>
              <a:t>Єдиній</a:t>
            </a:r>
            <a:r>
              <a:rPr lang="ru-RU" sz="4000" dirty="0"/>
              <a:t> </a:t>
            </a:r>
            <a:r>
              <a:rPr lang="ru-RU" sz="4000" dirty="0" err="1"/>
              <a:t>державній</a:t>
            </a:r>
            <a:r>
              <a:rPr lang="ru-RU" sz="4000" dirty="0"/>
              <a:t> </a:t>
            </a:r>
            <a:r>
              <a:rPr lang="ru-RU" sz="4000" dirty="0" err="1"/>
              <a:t>системі</a:t>
            </a:r>
            <a:r>
              <a:rPr lang="ru-RU" sz="4000" dirty="0"/>
              <a:t> </a:t>
            </a:r>
            <a:r>
              <a:rPr lang="ru-RU" sz="4000" dirty="0" err="1"/>
              <a:t>діловодства</a:t>
            </a:r>
            <a:r>
              <a:rPr lang="ru-RU" sz="4000" dirty="0"/>
              <a:t> – </a:t>
            </a:r>
            <a:r>
              <a:rPr lang="ru-RU" sz="4000" dirty="0" err="1"/>
              <a:t>державним</a:t>
            </a:r>
            <a:r>
              <a:rPr lang="ru-RU" sz="4000" dirty="0"/>
              <a:t> стандартам</a:t>
            </a:r>
            <a:endParaRPr lang="ru-RU" sz="4000" dirty="0" smtClean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931C64DA-886F-47F0-8641-9A8AC5C8E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1971" y="612322"/>
            <a:ext cx="10058400" cy="881743"/>
          </a:xfrm>
        </p:spPr>
        <p:txBody>
          <a:bodyPr>
            <a:noAutofit/>
          </a:bodyPr>
          <a:lstStyle/>
          <a:p>
            <a:pPr algn="ctr"/>
            <a:r>
              <a:rPr lang="uk-UA" sz="5400" b="1" i="1" dirty="0" smtClean="0">
                <a:solidFill>
                  <a:schemeClr val="accent2"/>
                </a:solidFill>
              </a:rPr>
              <a:t>Документація</a:t>
            </a:r>
            <a:endParaRPr lang="uk-UA" sz="54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441D2B7-3EE2-42D1-A5AF-E04001E017B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317" y="6001865"/>
            <a:ext cx="1172817" cy="781878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C9E8BE8-7392-4DBD-9A75-2AC0190E1B3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30" b="19256"/>
          <a:stretch/>
        </p:blipFill>
        <p:spPr>
          <a:xfrm>
            <a:off x="11130895" y="5945544"/>
            <a:ext cx="918259" cy="838199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1665514" y="6404206"/>
            <a:ext cx="910045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solidFill>
                  <a:schemeClr val="bg1"/>
                </a:solidFill>
              </a:rPr>
              <a:t>4. Документ </a:t>
            </a:r>
            <a:r>
              <a:rPr lang="ru-RU" b="1" dirty="0">
                <a:solidFill>
                  <a:schemeClr val="bg1"/>
                </a:solidFill>
              </a:rPr>
              <a:t>як </a:t>
            </a:r>
            <a:r>
              <a:rPr lang="ru-RU" b="1" dirty="0" err="1">
                <a:solidFill>
                  <a:schemeClr val="bg1"/>
                </a:solidFill>
              </a:rPr>
              <a:t>важливий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засіб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збереження</a:t>
            </a:r>
            <a:r>
              <a:rPr lang="ru-RU" b="1" dirty="0">
                <a:solidFill>
                  <a:schemeClr val="bg1"/>
                </a:solidFill>
              </a:rPr>
              <a:t>, </a:t>
            </a:r>
            <a:r>
              <a:rPr lang="ru-RU" b="1" dirty="0" err="1">
                <a:solidFill>
                  <a:schemeClr val="bg1"/>
                </a:solidFill>
              </a:rPr>
              <a:t>накопичення</a:t>
            </a:r>
            <a:r>
              <a:rPr lang="ru-RU" b="1" dirty="0">
                <a:solidFill>
                  <a:schemeClr val="bg1"/>
                </a:solidFill>
              </a:rPr>
              <a:t> і </a:t>
            </a:r>
            <a:r>
              <a:rPr lang="ru-RU" b="1" dirty="0" err="1">
                <a:solidFill>
                  <a:schemeClr val="bg1"/>
                </a:solidFill>
              </a:rPr>
              <a:t>передавання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інформації</a:t>
            </a:r>
            <a:endParaRPr lang="uk-UA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4976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кутник 1">
            <a:extLst>
              <a:ext uri="{FF2B5EF4-FFF2-40B4-BE49-F238E27FC236}">
                <a16:creationId xmlns:a16="http://schemas.microsoft.com/office/drawing/2014/main" id="{9575C0AF-AB21-4B5C-9941-2BA833B2080D}"/>
              </a:ext>
            </a:extLst>
          </p:cNvPr>
          <p:cNvSpPr/>
          <p:nvPr/>
        </p:nvSpPr>
        <p:spPr>
          <a:xfrm>
            <a:off x="1097279" y="1960821"/>
            <a:ext cx="10407783" cy="37394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lvl="0" indent="-571500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3200" dirty="0" err="1"/>
              <a:t>послуговується</a:t>
            </a:r>
            <a:r>
              <a:rPr lang="ru-RU" sz="3200" dirty="0"/>
              <a:t> </a:t>
            </a:r>
            <a:r>
              <a:rPr lang="ru-RU" sz="3200" dirty="0" err="1"/>
              <a:t>офіційно-діловим</a:t>
            </a:r>
            <a:r>
              <a:rPr lang="ru-RU" sz="3200" dirty="0"/>
              <a:t> стилем, </a:t>
            </a:r>
            <a:r>
              <a:rPr lang="ru-RU" sz="3200" dirty="0" err="1"/>
              <a:t>який</a:t>
            </a:r>
            <a:r>
              <a:rPr lang="ru-RU" sz="3200" dirty="0"/>
              <a:t> </a:t>
            </a:r>
            <a:r>
              <a:rPr lang="ru-RU" sz="3200" dirty="0" err="1"/>
              <a:t>має</a:t>
            </a:r>
            <a:r>
              <a:rPr lang="ru-RU" sz="3200" dirty="0"/>
              <a:t> </a:t>
            </a:r>
            <a:r>
              <a:rPr lang="ru-RU" sz="3200" dirty="0" err="1" smtClean="0"/>
              <a:t>підстилі</a:t>
            </a:r>
            <a:r>
              <a:rPr lang="ru-RU" sz="3200" dirty="0" smtClean="0"/>
              <a:t>:</a:t>
            </a:r>
          </a:p>
          <a:p>
            <a:pPr marL="990600" lvl="0" indent="-271463">
              <a:spcBef>
                <a:spcPts val="600"/>
              </a:spcBef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ru-RU" sz="3200" dirty="0" err="1" smtClean="0"/>
              <a:t>дипломатичний</a:t>
            </a:r>
            <a:r>
              <a:rPr lang="ru-RU" sz="3200" dirty="0" smtClean="0"/>
              <a:t> </a:t>
            </a:r>
            <a:r>
              <a:rPr lang="ru-RU" sz="3200" dirty="0"/>
              <a:t>(у </a:t>
            </a:r>
            <a:r>
              <a:rPr lang="ru-RU" sz="3200" dirty="0" err="1"/>
              <a:t>сфері</a:t>
            </a:r>
            <a:r>
              <a:rPr lang="ru-RU" sz="3200" dirty="0"/>
              <a:t> </a:t>
            </a:r>
            <a:r>
              <a:rPr lang="ru-RU" sz="3200" dirty="0" err="1"/>
              <a:t>міждержавних</a:t>
            </a:r>
            <a:r>
              <a:rPr lang="ru-RU" sz="3200" dirty="0"/>
              <a:t> </a:t>
            </a:r>
            <a:r>
              <a:rPr lang="ru-RU" sz="3200" dirty="0" err="1"/>
              <a:t>відносин</a:t>
            </a:r>
            <a:r>
              <a:rPr lang="ru-RU" sz="3200" dirty="0"/>
              <a:t>);</a:t>
            </a:r>
          </a:p>
          <a:p>
            <a:pPr marL="990600" lvl="0" indent="-271463">
              <a:spcBef>
                <a:spcPts val="600"/>
              </a:spcBef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ru-RU" sz="3200" dirty="0" err="1" smtClean="0"/>
              <a:t>законодавчий</a:t>
            </a:r>
            <a:r>
              <a:rPr lang="ru-RU" sz="3200" dirty="0" smtClean="0"/>
              <a:t> </a:t>
            </a:r>
            <a:r>
              <a:rPr lang="ru-RU" sz="3200" dirty="0"/>
              <a:t>(у </a:t>
            </a:r>
            <a:r>
              <a:rPr lang="ru-RU" sz="3200" dirty="0" err="1"/>
              <a:t>сфері</a:t>
            </a:r>
            <a:r>
              <a:rPr lang="ru-RU" sz="3200" dirty="0"/>
              <a:t> </a:t>
            </a:r>
            <a:r>
              <a:rPr lang="ru-RU" sz="3200" dirty="0" err="1"/>
              <a:t>законодавства</a:t>
            </a:r>
            <a:r>
              <a:rPr lang="ru-RU" sz="3200" dirty="0"/>
              <a:t>: </a:t>
            </a:r>
            <a:r>
              <a:rPr lang="ru-RU" sz="3200" dirty="0" err="1"/>
              <a:t>акти</a:t>
            </a:r>
            <a:r>
              <a:rPr lang="ru-RU" sz="3200" dirty="0"/>
              <a:t>, </a:t>
            </a:r>
            <a:r>
              <a:rPr lang="ru-RU" sz="3200" dirty="0" err="1"/>
              <a:t>закони</a:t>
            </a:r>
            <a:r>
              <a:rPr lang="ru-RU" sz="3200" dirty="0"/>
              <a:t>, </a:t>
            </a:r>
            <a:r>
              <a:rPr lang="ru-RU" sz="3200" dirty="0" err="1"/>
              <a:t>укази</a:t>
            </a:r>
            <a:r>
              <a:rPr lang="ru-RU" sz="3200" dirty="0"/>
              <a:t>, постанови, </a:t>
            </a:r>
            <a:r>
              <a:rPr lang="ru-RU" sz="3200" dirty="0" err="1"/>
              <a:t>статути</a:t>
            </a:r>
            <a:r>
              <a:rPr lang="ru-RU" sz="3200" dirty="0"/>
              <a:t> та </a:t>
            </a:r>
            <a:r>
              <a:rPr lang="ru-RU" sz="3200" dirty="0" err="1"/>
              <a:t>ін</a:t>
            </a:r>
            <a:r>
              <a:rPr lang="ru-RU" sz="3200" dirty="0"/>
              <a:t>.);</a:t>
            </a:r>
          </a:p>
          <a:p>
            <a:pPr marL="990600" lvl="0" indent="-271463">
              <a:spcBef>
                <a:spcPts val="600"/>
              </a:spcBef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ru-RU" sz="3200" dirty="0" err="1" smtClean="0"/>
              <a:t>канцелярський</a:t>
            </a:r>
            <a:r>
              <a:rPr lang="ru-RU" sz="3200" dirty="0" smtClean="0"/>
              <a:t> </a:t>
            </a:r>
            <a:r>
              <a:rPr lang="ru-RU" sz="3200" dirty="0"/>
              <a:t>(</a:t>
            </a:r>
            <a:r>
              <a:rPr lang="ru-RU" sz="3200" dirty="0" err="1"/>
              <a:t>адміністративно-канцелярський</a:t>
            </a:r>
            <a:r>
              <a:rPr lang="ru-RU" sz="3200" dirty="0" smtClean="0"/>
              <a:t>). </a:t>
            </a: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931C64DA-886F-47F0-8641-9A8AC5C8E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1971" y="612322"/>
            <a:ext cx="10058400" cy="881743"/>
          </a:xfrm>
        </p:spPr>
        <p:txBody>
          <a:bodyPr>
            <a:noAutofit/>
          </a:bodyPr>
          <a:lstStyle/>
          <a:p>
            <a:pPr algn="ctr"/>
            <a:r>
              <a:rPr lang="uk-UA" sz="5400" b="1" i="1" dirty="0" smtClean="0">
                <a:solidFill>
                  <a:schemeClr val="accent2"/>
                </a:solidFill>
              </a:rPr>
              <a:t>Діловодство </a:t>
            </a:r>
            <a:endParaRPr lang="uk-UA" sz="54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441D2B7-3EE2-42D1-A5AF-E04001E017B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317" y="6001865"/>
            <a:ext cx="1172817" cy="781878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C9E8BE8-7392-4DBD-9A75-2AC0190E1B3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30" b="19256"/>
          <a:stretch/>
        </p:blipFill>
        <p:spPr>
          <a:xfrm>
            <a:off x="11130895" y="5945544"/>
            <a:ext cx="918259" cy="838199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1665514" y="6404206"/>
            <a:ext cx="910045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solidFill>
                  <a:schemeClr val="bg1"/>
                </a:solidFill>
              </a:rPr>
              <a:t>4. Документ </a:t>
            </a:r>
            <a:r>
              <a:rPr lang="ru-RU" b="1" dirty="0">
                <a:solidFill>
                  <a:schemeClr val="bg1"/>
                </a:solidFill>
              </a:rPr>
              <a:t>як </a:t>
            </a:r>
            <a:r>
              <a:rPr lang="ru-RU" b="1" dirty="0" err="1">
                <a:solidFill>
                  <a:schemeClr val="bg1"/>
                </a:solidFill>
              </a:rPr>
              <a:t>важливий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засіб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збереження</a:t>
            </a:r>
            <a:r>
              <a:rPr lang="ru-RU" b="1" dirty="0">
                <a:solidFill>
                  <a:schemeClr val="bg1"/>
                </a:solidFill>
              </a:rPr>
              <a:t>, </a:t>
            </a:r>
            <a:r>
              <a:rPr lang="ru-RU" b="1" dirty="0" err="1">
                <a:solidFill>
                  <a:schemeClr val="bg1"/>
                </a:solidFill>
              </a:rPr>
              <a:t>накопичення</a:t>
            </a:r>
            <a:r>
              <a:rPr lang="ru-RU" b="1" dirty="0">
                <a:solidFill>
                  <a:schemeClr val="bg1"/>
                </a:solidFill>
              </a:rPr>
              <a:t> і </a:t>
            </a:r>
            <a:r>
              <a:rPr lang="ru-RU" b="1" dirty="0" err="1">
                <a:solidFill>
                  <a:schemeClr val="bg1"/>
                </a:solidFill>
              </a:rPr>
              <a:t>передавання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інформації</a:t>
            </a:r>
            <a:endParaRPr lang="uk-UA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5484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кутник 1">
            <a:extLst>
              <a:ext uri="{FF2B5EF4-FFF2-40B4-BE49-F238E27FC236}">
                <a16:creationId xmlns:a16="http://schemas.microsoft.com/office/drawing/2014/main" id="{9575C0AF-AB21-4B5C-9941-2BA833B2080D}"/>
              </a:ext>
            </a:extLst>
          </p:cNvPr>
          <p:cNvSpPr/>
          <p:nvPr/>
        </p:nvSpPr>
        <p:spPr>
          <a:xfrm>
            <a:off x="1011850" y="2189914"/>
            <a:ext cx="10407783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lvl="0" indent="-5715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3400" dirty="0" err="1" smtClean="0"/>
              <a:t>діловий</a:t>
            </a:r>
            <a:r>
              <a:rPr lang="ru-RU" sz="3400" dirty="0" smtClean="0"/>
              <a:t> </a:t>
            </a:r>
            <a:r>
              <a:rPr lang="ru-RU" sz="3400" dirty="0" err="1"/>
              <a:t>папір</a:t>
            </a:r>
            <a:r>
              <a:rPr lang="ru-RU" sz="3400" dirty="0"/>
              <a:t>, </a:t>
            </a:r>
            <a:r>
              <a:rPr lang="ru-RU" sz="3400" dirty="0" err="1"/>
              <a:t>який</a:t>
            </a:r>
            <a:r>
              <a:rPr lang="ru-RU" sz="3400" dirty="0"/>
              <a:t> </a:t>
            </a:r>
            <a:r>
              <a:rPr lang="ru-RU" sz="3400" dirty="0" err="1"/>
              <a:t>посвідчує</a:t>
            </a:r>
            <a:r>
              <a:rPr lang="ru-RU" sz="3400" dirty="0"/>
              <a:t> </a:t>
            </a:r>
            <a:r>
              <a:rPr lang="ru-RU" sz="3400" dirty="0" err="1"/>
              <a:t>певний</a:t>
            </a:r>
            <a:r>
              <a:rPr lang="ru-RU" sz="3400" dirty="0"/>
              <a:t> </a:t>
            </a:r>
            <a:r>
              <a:rPr lang="ru-RU" sz="3400" dirty="0" err="1"/>
              <a:t>юридичний</a:t>
            </a:r>
            <a:r>
              <a:rPr lang="ru-RU" sz="3400" dirty="0"/>
              <a:t> акт, </a:t>
            </a:r>
            <a:r>
              <a:rPr lang="ru-RU" sz="3400" dirty="0" err="1"/>
              <a:t>підтверджує</a:t>
            </a:r>
            <a:r>
              <a:rPr lang="ru-RU" sz="3400" dirty="0"/>
              <a:t> право на </a:t>
            </a:r>
            <a:r>
              <a:rPr lang="ru-RU" sz="3400" dirty="0" err="1"/>
              <a:t>що-небудь</a:t>
            </a:r>
            <a:r>
              <a:rPr lang="ru-RU" sz="3400" dirty="0"/>
              <a:t>;</a:t>
            </a:r>
          </a:p>
          <a:p>
            <a:pPr marL="571500" lvl="0" indent="-5715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3400" dirty="0" err="1" smtClean="0"/>
              <a:t>письмове</a:t>
            </a:r>
            <a:r>
              <a:rPr lang="ru-RU" sz="3400" dirty="0" smtClean="0"/>
              <a:t> </a:t>
            </a:r>
            <a:r>
              <a:rPr lang="ru-RU" sz="3400" dirty="0" err="1"/>
              <a:t>посвідчення</a:t>
            </a:r>
            <a:r>
              <a:rPr lang="ru-RU" sz="3400" dirty="0"/>
              <a:t>, яке </a:t>
            </a:r>
            <a:r>
              <a:rPr lang="ru-RU" sz="3400" dirty="0" err="1"/>
              <a:t>офіційно</a:t>
            </a:r>
            <a:r>
              <a:rPr lang="ru-RU" sz="3400" dirty="0"/>
              <a:t> </a:t>
            </a:r>
            <a:r>
              <a:rPr lang="ru-RU" sz="3400" dirty="0" err="1"/>
              <a:t>підтверджує</a:t>
            </a:r>
            <a:r>
              <a:rPr lang="ru-RU" sz="3400" dirty="0"/>
              <a:t> особу;</a:t>
            </a:r>
          </a:p>
          <a:p>
            <a:pPr marL="571500" lvl="0" indent="-5715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3400" dirty="0" err="1" smtClean="0"/>
              <a:t>письмовий</a:t>
            </a:r>
            <a:r>
              <a:rPr lang="ru-RU" sz="3400" dirty="0" smtClean="0"/>
              <a:t> </a:t>
            </a:r>
            <a:r>
              <a:rPr lang="ru-RU" sz="3400" dirty="0" err="1"/>
              <a:t>твір</a:t>
            </a:r>
            <a:r>
              <a:rPr lang="ru-RU" sz="3400" dirty="0"/>
              <a:t>, рисунок, грамота як </a:t>
            </a:r>
            <a:r>
              <a:rPr lang="ru-RU" sz="3400" dirty="0" err="1"/>
              <a:t>свідчення</a:t>
            </a:r>
            <a:r>
              <a:rPr lang="ru-RU" sz="3400" dirty="0"/>
              <a:t> про </a:t>
            </a:r>
            <a:r>
              <a:rPr lang="ru-RU" sz="3400" dirty="0" err="1"/>
              <a:t>щось</a:t>
            </a:r>
            <a:r>
              <a:rPr lang="ru-RU" sz="3400" dirty="0"/>
              <a:t> </a:t>
            </a:r>
            <a:r>
              <a:rPr lang="ru-RU" sz="3400" dirty="0" err="1"/>
              <a:t>історичне</a:t>
            </a:r>
            <a:r>
              <a:rPr lang="ru-RU" sz="3400" dirty="0"/>
              <a:t>, </a:t>
            </a:r>
            <a:r>
              <a:rPr lang="ru-RU" sz="3400" dirty="0" err="1"/>
              <a:t>важливе</a:t>
            </a:r>
            <a:r>
              <a:rPr lang="ru-RU" sz="3400" dirty="0" smtClean="0"/>
              <a:t>.</a:t>
            </a:r>
            <a:endParaRPr lang="ru-RU" sz="3400" dirty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931C64DA-886F-47F0-8641-9A8AC5C8E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1971" y="612322"/>
            <a:ext cx="10058400" cy="881743"/>
          </a:xfrm>
        </p:spPr>
        <p:txBody>
          <a:bodyPr>
            <a:noAutofit/>
          </a:bodyPr>
          <a:lstStyle/>
          <a:p>
            <a:pPr algn="ctr"/>
            <a:r>
              <a:rPr lang="uk-UA" sz="5400" b="1" i="1" dirty="0" smtClean="0">
                <a:solidFill>
                  <a:schemeClr val="accent2"/>
                </a:solidFill>
              </a:rPr>
              <a:t>Документ:</a:t>
            </a:r>
            <a:endParaRPr lang="uk-UA" sz="54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441D2B7-3EE2-42D1-A5AF-E04001E017B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317" y="6001865"/>
            <a:ext cx="1172817" cy="781878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C9E8BE8-7392-4DBD-9A75-2AC0190E1B3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30" b="19256"/>
          <a:stretch/>
        </p:blipFill>
        <p:spPr>
          <a:xfrm>
            <a:off x="11130895" y="5945544"/>
            <a:ext cx="918259" cy="838199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1665514" y="6404206"/>
            <a:ext cx="910045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solidFill>
                  <a:schemeClr val="bg1"/>
                </a:solidFill>
              </a:rPr>
              <a:t>4. Документ </a:t>
            </a:r>
            <a:r>
              <a:rPr lang="ru-RU" b="1" dirty="0">
                <a:solidFill>
                  <a:schemeClr val="bg1"/>
                </a:solidFill>
              </a:rPr>
              <a:t>як </a:t>
            </a:r>
            <a:r>
              <a:rPr lang="ru-RU" b="1" dirty="0" err="1">
                <a:solidFill>
                  <a:schemeClr val="bg1"/>
                </a:solidFill>
              </a:rPr>
              <a:t>важливий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засіб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збереження</a:t>
            </a:r>
            <a:r>
              <a:rPr lang="ru-RU" b="1" dirty="0">
                <a:solidFill>
                  <a:schemeClr val="bg1"/>
                </a:solidFill>
              </a:rPr>
              <a:t>, </a:t>
            </a:r>
            <a:r>
              <a:rPr lang="ru-RU" b="1" dirty="0" err="1">
                <a:solidFill>
                  <a:schemeClr val="bg1"/>
                </a:solidFill>
              </a:rPr>
              <a:t>накопичення</a:t>
            </a:r>
            <a:r>
              <a:rPr lang="ru-RU" b="1" dirty="0">
                <a:solidFill>
                  <a:schemeClr val="bg1"/>
                </a:solidFill>
              </a:rPr>
              <a:t> і </a:t>
            </a:r>
            <a:r>
              <a:rPr lang="ru-RU" b="1" dirty="0" err="1">
                <a:solidFill>
                  <a:schemeClr val="bg1"/>
                </a:solidFill>
              </a:rPr>
              <a:t>передавання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інформації</a:t>
            </a:r>
            <a:endParaRPr lang="uk-UA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3326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кутник 1">
            <a:extLst>
              <a:ext uri="{FF2B5EF4-FFF2-40B4-BE49-F238E27FC236}">
                <a16:creationId xmlns:a16="http://schemas.microsoft.com/office/drawing/2014/main" id="{9575C0AF-AB21-4B5C-9941-2BA833B2080D}"/>
              </a:ext>
            </a:extLst>
          </p:cNvPr>
          <p:cNvSpPr/>
          <p:nvPr/>
        </p:nvSpPr>
        <p:spPr>
          <a:xfrm>
            <a:off x="1318134" y="2374971"/>
            <a:ext cx="10407783" cy="29392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lvl="0" indent="-571500">
              <a:spcBef>
                <a:spcPts val="1200"/>
              </a:spcBef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ru-RU" sz="4000" dirty="0" smtClean="0"/>
              <a:t>Є </a:t>
            </a:r>
            <a:r>
              <a:rPr lang="ru-RU" sz="4000" dirty="0" err="1"/>
              <a:t>важливим</a:t>
            </a:r>
            <a:r>
              <a:rPr lang="ru-RU" sz="4000" dirty="0"/>
              <a:t> </a:t>
            </a:r>
            <a:r>
              <a:rPr lang="ru-RU" sz="4000" dirty="0" err="1"/>
              <a:t>засобом</a:t>
            </a:r>
            <a:r>
              <a:rPr lang="ru-RU" sz="4000" dirty="0"/>
              <a:t> </a:t>
            </a:r>
            <a:r>
              <a:rPr lang="ru-RU" sz="4000" dirty="0" err="1"/>
              <a:t>збереження</a:t>
            </a:r>
            <a:r>
              <a:rPr lang="ru-RU" sz="4000" dirty="0"/>
              <a:t>, </a:t>
            </a:r>
            <a:r>
              <a:rPr lang="ru-RU" sz="4000" dirty="0" err="1"/>
              <a:t>накопичення</a:t>
            </a:r>
            <a:r>
              <a:rPr lang="ru-RU" sz="4000" dirty="0"/>
              <a:t> і </a:t>
            </a:r>
            <a:r>
              <a:rPr lang="ru-RU" sz="4000" dirty="0" err="1"/>
              <a:t>передавання</a:t>
            </a:r>
            <a:r>
              <a:rPr lang="ru-RU" sz="4000" dirty="0"/>
              <a:t> </a:t>
            </a:r>
            <a:r>
              <a:rPr lang="ru-RU" sz="4000" dirty="0" err="1" smtClean="0"/>
              <a:t>інформації</a:t>
            </a:r>
            <a:endParaRPr lang="ru-RU" sz="4000" dirty="0" smtClean="0"/>
          </a:p>
          <a:p>
            <a:pPr marL="571500" lvl="0" indent="-571500">
              <a:spcBef>
                <a:spcPts val="1200"/>
              </a:spcBef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ru-RU" sz="4000" dirty="0" err="1" smtClean="0"/>
              <a:t>Виконують</a:t>
            </a:r>
            <a:r>
              <a:rPr lang="ru-RU" sz="4000" dirty="0" smtClean="0"/>
              <a:t> </a:t>
            </a:r>
            <a:r>
              <a:rPr lang="ru-RU" sz="4000" dirty="0" err="1" smtClean="0"/>
              <a:t>облікову</a:t>
            </a:r>
            <a:r>
              <a:rPr lang="ru-RU" sz="4000" dirty="0"/>
              <a:t>, </a:t>
            </a:r>
            <a:r>
              <a:rPr lang="ru-RU" sz="4000" dirty="0" err="1"/>
              <a:t>доказову</a:t>
            </a:r>
            <a:r>
              <a:rPr lang="ru-RU" sz="4000" dirty="0"/>
              <a:t> та </a:t>
            </a:r>
            <a:r>
              <a:rPr lang="ru-RU" sz="4000" dirty="0" err="1"/>
              <a:t>управлінську</a:t>
            </a:r>
            <a:r>
              <a:rPr lang="ru-RU" sz="4000" dirty="0"/>
              <a:t> (</a:t>
            </a:r>
            <a:r>
              <a:rPr lang="ru-RU" sz="4000" dirty="0" err="1"/>
              <a:t>скеровуючу</a:t>
            </a:r>
            <a:r>
              <a:rPr lang="ru-RU" sz="4000" dirty="0"/>
              <a:t>) </a:t>
            </a:r>
            <a:r>
              <a:rPr lang="ru-RU" sz="4000" dirty="0" err="1" smtClean="0"/>
              <a:t>функції</a:t>
            </a:r>
            <a:r>
              <a:rPr lang="ru-RU" sz="4000" dirty="0" smtClean="0"/>
              <a:t> </a:t>
            </a:r>
            <a:endParaRPr lang="ru-RU" sz="4000" dirty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931C64DA-886F-47F0-8641-9A8AC5C8E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1971" y="612322"/>
            <a:ext cx="10058400" cy="881743"/>
          </a:xfrm>
        </p:spPr>
        <p:txBody>
          <a:bodyPr>
            <a:noAutofit/>
          </a:bodyPr>
          <a:lstStyle/>
          <a:p>
            <a:pPr algn="ctr"/>
            <a:r>
              <a:rPr lang="uk-UA" sz="5400" b="1" i="1" dirty="0" smtClean="0">
                <a:solidFill>
                  <a:schemeClr val="accent2"/>
                </a:solidFill>
              </a:rPr>
              <a:t>Документи</a:t>
            </a:r>
            <a:endParaRPr lang="uk-UA" sz="54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441D2B7-3EE2-42D1-A5AF-E04001E017B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317" y="6001865"/>
            <a:ext cx="1172817" cy="781878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C9E8BE8-7392-4DBD-9A75-2AC0190E1B3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30" b="19256"/>
          <a:stretch/>
        </p:blipFill>
        <p:spPr>
          <a:xfrm>
            <a:off x="11130895" y="5945544"/>
            <a:ext cx="918259" cy="838199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1665514" y="6404206"/>
            <a:ext cx="910045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solidFill>
                  <a:schemeClr val="bg1"/>
                </a:solidFill>
              </a:rPr>
              <a:t>4. Документ </a:t>
            </a:r>
            <a:r>
              <a:rPr lang="ru-RU" b="1" dirty="0">
                <a:solidFill>
                  <a:schemeClr val="bg1"/>
                </a:solidFill>
              </a:rPr>
              <a:t>як </a:t>
            </a:r>
            <a:r>
              <a:rPr lang="ru-RU" b="1" dirty="0" err="1">
                <a:solidFill>
                  <a:schemeClr val="bg1"/>
                </a:solidFill>
              </a:rPr>
              <a:t>важливий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засіб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збереження</a:t>
            </a:r>
            <a:r>
              <a:rPr lang="ru-RU" b="1" dirty="0">
                <a:solidFill>
                  <a:schemeClr val="bg1"/>
                </a:solidFill>
              </a:rPr>
              <a:t>, </a:t>
            </a:r>
            <a:r>
              <a:rPr lang="ru-RU" b="1" dirty="0" err="1">
                <a:solidFill>
                  <a:schemeClr val="bg1"/>
                </a:solidFill>
              </a:rPr>
              <a:t>накопичення</a:t>
            </a:r>
            <a:r>
              <a:rPr lang="ru-RU" b="1" dirty="0">
                <a:solidFill>
                  <a:schemeClr val="bg1"/>
                </a:solidFill>
              </a:rPr>
              <a:t> і </a:t>
            </a:r>
            <a:r>
              <a:rPr lang="ru-RU" b="1" dirty="0" err="1">
                <a:solidFill>
                  <a:schemeClr val="bg1"/>
                </a:solidFill>
              </a:rPr>
              <a:t>передавання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інформації</a:t>
            </a:r>
            <a:endParaRPr lang="uk-UA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0469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кутник 1">
            <a:extLst>
              <a:ext uri="{FF2B5EF4-FFF2-40B4-BE49-F238E27FC236}">
                <a16:creationId xmlns:a16="http://schemas.microsoft.com/office/drawing/2014/main" id="{9575C0AF-AB21-4B5C-9941-2BA833B2080D}"/>
              </a:ext>
            </a:extLst>
          </p:cNvPr>
          <p:cNvSpPr/>
          <p:nvPr/>
        </p:nvSpPr>
        <p:spPr>
          <a:xfrm>
            <a:off x="1318134" y="1662567"/>
            <a:ext cx="10220723" cy="53860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spcAft>
                <a:spcPts val="600"/>
              </a:spcAft>
            </a:pPr>
            <a:r>
              <a:rPr lang="ru-RU" sz="2400" b="1" dirty="0" smtClean="0"/>
              <a:t>План</a:t>
            </a:r>
          </a:p>
          <a:p>
            <a:pPr marL="571500" lvl="0" indent="-300038">
              <a:spcAft>
                <a:spcPts val="600"/>
              </a:spcAft>
              <a:buFont typeface="+mj-lt"/>
              <a:buAutoNum type="arabicPeriod"/>
            </a:pPr>
            <a:r>
              <a:rPr lang="ru-RU" sz="1500" b="1" dirty="0" err="1"/>
              <a:t>Особливості</a:t>
            </a:r>
            <a:r>
              <a:rPr lang="ru-RU" sz="1500" b="1" dirty="0"/>
              <a:t> «</a:t>
            </a:r>
            <a:r>
              <a:rPr lang="ru-RU" sz="1500" b="1" dirty="0" err="1"/>
              <a:t>офісної</a:t>
            </a:r>
            <a:r>
              <a:rPr lang="ru-RU" sz="1500" b="1" dirty="0"/>
              <a:t>» </a:t>
            </a:r>
            <a:r>
              <a:rPr lang="ru-RU" sz="1500" b="1" dirty="0" err="1"/>
              <a:t>комунікації</a:t>
            </a:r>
            <a:r>
              <a:rPr lang="ru-RU" sz="1500" b="1" dirty="0"/>
              <a:t>». </a:t>
            </a:r>
            <a:r>
              <a:rPr lang="ru-RU" sz="1500" b="1" dirty="0" err="1"/>
              <a:t>Етика</a:t>
            </a:r>
            <a:r>
              <a:rPr lang="ru-RU" sz="1500" b="1" dirty="0"/>
              <a:t> </a:t>
            </a:r>
            <a:r>
              <a:rPr lang="ru-RU" sz="1500" b="1" dirty="0" err="1" smtClean="0"/>
              <a:t>корпоративної</a:t>
            </a:r>
            <a:r>
              <a:rPr lang="ru-RU" sz="1500" b="1" dirty="0" smtClean="0"/>
              <a:t> </a:t>
            </a:r>
            <a:r>
              <a:rPr lang="ru-RU" sz="1500" b="1" dirty="0" err="1" smtClean="0"/>
              <a:t>культури</a:t>
            </a:r>
            <a:r>
              <a:rPr lang="ru-RU" sz="1500" b="1" dirty="0" smtClean="0"/>
              <a:t>.</a:t>
            </a:r>
          </a:p>
          <a:p>
            <a:pPr marL="571500" lvl="0" indent="-300038">
              <a:spcAft>
                <a:spcPts val="600"/>
              </a:spcAft>
              <a:buFont typeface="+mj-lt"/>
              <a:buAutoNum type="arabicPeriod"/>
            </a:pPr>
            <a:r>
              <a:rPr lang="ru-RU" sz="1500" b="1" dirty="0"/>
              <a:t>Правила </a:t>
            </a:r>
            <a:r>
              <a:rPr lang="ru-RU" sz="1500" b="1" dirty="0" err="1"/>
              <a:t>ведення</a:t>
            </a:r>
            <a:r>
              <a:rPr lang="ru-RU" sz="1500" b="1" dirty="0"/>
              <a:t> </a:t>
            </a:r>
            <a:r>
              <a:rPr lang="ru-RU" sz="1500" b="1" dirty="0" err="1"/>
              <a:t>бесіди</a:t>
            </a:r>
            <a:r>
              <a:rPr lang="ru-RU" sz="1500" b="1" dirty="0"/>
              <a:t>. </a:t>
            </a:r>
            <a:r>
              <a:rPr lang="ru-RU" sz="1500" b="1" dirty="0" err="1"/>
              <a:t>Ділова</a:t>
            </a:r>
            <a:r>
              <a:rPr lang="ru-RU" sz="1500" b="1" dirty="0"/>
              <a:t> </a:t>
            </a:r>
            <a:r>
              <a:rPr lang="ru-RU" sz="1500" b="1" dirty="0" err="1"/>
              <a:t>бесіда</a:t>
            </a:r>
            <a:r>
              <a:rPr lang="ru-RU" sz="1500" b="1" dirty="0"/>
              <a:t>. </a:t>
            </a:r>
            <a:endParaRPr lang="ru-RU" sz="1500" b="1" dirty="0" smtClean="0"/>
          </a:p>
          <a:p>
            <a:pPr marL="571500" lvl="0" indent="-300038">
              <a:spcAft>
                <a:spcPts val="600"/>
              </a:spcAft>
              <a:buFont typeface="+mj-lt"/>
              <a:buAutoNum type="arabicPeriod"/>
            </a:pPr>
            <a:r>
              <a:rPr lang="ru-RU" sz="1500" b="1" dirty="0" err="1"/>
              <a:t>Типологія</a:t>
            </a:r>
            <a:r>
              <a:rPr lang="ru-RU" sz="1500" b="1" dirty="0"/>
              <a:t> </a:t>
            </a:r>
            <a:r>
              <a:rPr lang="ru-RU" sz="1500" b="1" dirty="0" err="1"/>
              <a:t>нарад</a:t>
            </a:r>
            <a:r>
              <a:rPr lang="ru-RU" sz="1500" b="1" dirty="0"/>
              <a:t>. Правила </a:t>
            </a:r>
            <a:r>
              <a:rPr lang="ru-RU" sz="1500" b="1" dirty="0" err="1"/>
              <a:t>проведення</a:t>
            </a:r>
            <a:r>
              <a:rPr lang="ru-RU" sz="1500" b="1" dirty="0"/>
              <a:t> </a:t>
            </a:r>
            <a:r>
              <a:rPr lang="ru-RU" sz="1500" b="1" dirty="0" err="1"/>
              <a:t>нарад</a:t>
            </a:r>
            <a:r>
              <a:rPr lang="ru-RU" sz="1500" b="1" dirty="0"/>
              <a:t>: </a:t>
            </a:r>
            <a:r>
              <a:rPr lang="ru-RU" sz="1500" b="1" dirty="0" err="1"/>
              <a:t>вимоги</a:t>
            </a:r>
            <a:r>
              <a:rPr lang="ru-RU" sz="1500" b="1" dirty="0"/>
              <a:t> </a:t>
            </a:r>
            <a:r>
              <a:rPr lang="ru-RU" sz="1500" b="1" dirty="0" smtClean="0"/>
              <a:t>до </a:t>
            </a:r>
            <a:r>
              <a:rPr lang="ru-RU" sz="1500" b="1" dirty="0" err="1" smtClean="0"/>
              <a:t>керівника</a:t>
            </a:r>
            <a:r>
              <a:rPr lang="ru-RU" sz="1500" b="1" dirty="0" smtClean="0"/>
              <a:t> </a:t>
            </a:r>
            <a:r>
              <a:rPr lang="ru-RU" sz="1500" b="1" dirty="0"/>
              <a:t>та </a:t>
            </a:r>
            <a:r>
              <a:rPr lang="ru-RU" sz="1500" b="1" dirty="0" err="1"/>
              <a:t>учасників</a:t>
            </a:r>
            <a:r>
              <a:rPr lang="ru-RU" sz="1500" b="1" dirty="0"/>
              <a:t>. </a:t>
            </a:r>
            <a:r>
              <a:rPr lang="ru-RU" sz="1500" b="1" dirty="0" err="1"/>
              <a:t>Головні</a:t>
            </a:r>
            <a:r>
              <a:rPr lang="ru-RU" sz="1500" b="1" dirty="0"/>
              <a:t> </a:t>
            </a:r>
            <a:r>
              <a:rPr lang="ru-RU" sz="1500" b="1" dirty="0" err="1"/>
              <a:t>помилки</a:t>
            </a:r>
            <a:r>
              <a:rPr lang="ru-RU" sz="1500" b="1" dirty="0"/>
              <a:t> </a:t>
            </a:r>
            <a:r>
              <a:rPr lang="ru-RU" sz="1500" b="1" dirty="0" err="1"/>
              <a:t>під</a:t>
            </a:r>
            <a:r>
              <a:rPr lang="ru-RU" sz="1500" b="1" dirty="0"/>
              <a:t> час </a:t>
            </a:r>
            <a:r>
              <a:rPr lang="ru-RU" sz="1500" b="1" dirty="0" err="1" smtClean="0"/>
              <a:t>проведення</a:t>
            </a:r>
            <a:r>
              <a:rPr lang="ru-RU" sz="1500" b="1" dirty="0" smtClean="0"/>
              <a:t> </a:t>
            </a:r>
            <a:r>
              <a:rPr lang="ru-RU" sz="1500" b="1" dirty="0" err="1" smtClean="0"/>
              <a:t>нарад</a:t>
            </a:r>
            <a:r>
              <a:rPr lang="ru-RU" sz="1500" b="1" dirty="0"/>
              <a:t>. </a:t>
            </a:r>
            <a:endParaRPr lang="ru-RU" sz="1500" b="1" dirty="0" smtClean="0"/>
          </a:p>
          <a:p>
            <a:pPr marL="571500" lvl="0" indent="-300038">
              <a:spcAft>
                <a:spcPts val="600"/>
              </a:spcAft>
              <a:buFont typeface="+mj-lt"/>
              <a:buAutoNum type="arabicPeriod"/>
            </a:pPr>
            <a:r>
              <a:rPr lang="ru-RU" sz="1500" b="1" dirty="0"/>
              <a:t>Правила </a:t>
            </a:r>
            <a:r>
              <a:rPr lang="ru-RU" sz="1500" b="1" dirty="0" err="1"/>
              <a:t>проведення</a:t>
            </a:r>
            <a:r>
              <a:rPr lang="ru-RU" sz="1500" b="1" dirty="0"/>
              <a:t> </a:t>
            </a:r>
            <a:r>
              <a:rPr lang="ru-RU" sz="1500" b="1" dirty="0" err="1"/>
              <a:t>ділових</a:t>
            </a:r>
            <a:r>
              <a:rPr lang="ru-RU" sz="1500" b="1" dirty="0"/>
              <a:t> </a:t>
            </a:r>
            <a:r>
              <a:rPr lang="ru-RU" sz="1500" b="1" dirty="0" err="1"/>
              <a:t>телефонних</a:t>
            </a:r>
            <a:r>
              <a:rPr lang="ru-RU" sz="1500" b="1" dirty="0"/>
              <a:t> </a:t>
            </a:r>
            <a:r>
              <a:rPr lang="ru-RU" sz="1500" b="1" dirty="0" err="1"/>
              <a:t>розмов</a:t>
            </a:r>
            <a:r>
              <a:rPr lang="ru-RU" sz="1500" b="1" dirty="0" smtClean="0"/>
              <a:t>: </a:t>
            </a:r>
            <a:r>
              <a:rPr lang="ru-RU" sz="1500" b="1" dirty="0" err="1" smtClean="0"/>
              <a:t>рекомендації</a:t>
            </a:r>
            <a:r>
              <a:rPr lang="ru-RU" sz="1500" b="1" dirty="0" smtClean="0"/>
              <a:t> </a:t>
            </a:r>
            <a:r>
              <a:rPr lang="ru-RU" sz="1500" b="1" dirty="0"/>
              <a:t>та «</a:t>
            </a:r>
            <a:r>
              <a:rPr lang="ru-RU" sz="1500" b="1" dirty="0" err="1"/>
              <a:t>популярні</a:t>
            </a:r>
            <a:r>
              <a:rPr lang="ru-RU" sz="1500" b="1" dirty="0"/>
              <a:t>» </a:t>
            </a:r>
            <a:r>
              <a:rPr lang="ru-RU" sz="1500" b="1" dirty="0" err="1"/>
              <a:t>помилки</a:t>
            </a:r>
            <a:r>
              <a:rPr lang="ru-RU" sz="1500" b="1" dirty="0"/>
              <a:t>.</a:t>
            </a:r>
          </a:p>
          <a:p>
            <a:pPr marL="571500" lvl="0" indent="-300038">
              <a:spcAft>
                <a:spcPts val="600"/>
              </a:spcAft>
              <a:buFont typeface="+mj-lt"/>
              <a:buAutoNum type="arabicPeriod"/>
            </a:pPr>
            <a:r>
              <a:rPr lang="ru-RU" sz="1500" b="1" dirty="0" err="1"/>
              <a:t>Комп’ютерні</a:t>
            </a:r>
            <a:r>
              <a:rPr lang="ru-RU" sz="1500" b="1" dirty="0"/>
              <a:t> </a:t>
            </a:r>
            <a:r>
              <a:rPr lang="ru-RU" sz="1500" b="1" dirty="0" err="1"/>
              <a:t>засоби</a:t>
            </a:r>
            <a:r>
              <a:rPr lang="ru-RU" sz="1500" b="1" dirty="0"/>
              <a:t> </a:t>
            </a:r>
            <a:r>
              <a:rPr lang="ru-RU" sz="1500" b="1" dirty="0" err="1"/>
              <a:t>професійно-педагогічної</a:t>
            </a:r>
            <a:r>
              <a:rPr lang="ru-RU" sz="1500" b="1" dirty="0"/>
              <a:t> </a:t>
            </a:r>
            <a:r>
              <a:rPr lang="ru-RU" sz="1500" b="1" dirty="0" err="1"/>
              <a:t>комунікації</a:t>
            </a:r>
            <a:r>
              <a:rPr lang="ru-RU" sz="1500" b="1" dirty="0"/>
              <a:t>.</a:t>
            </a:r>
          </a:p>
          <a:p>
            <a:pPr marL="571500" lvl="0" indent="-300038">
              <a:spcAft>
                <a:spcPts val="600"/>
              </a:spcAft>
              <a:buFont typeface="+mj-lt"/>
              <a:buAutoNum type="arabicPeriod"/>
            </a:pPr>
            <a:r>
              <a:rPr lang="ru-RU" sz="1500" b="1" dirty="0" err="1"/>
              <a:t>Специфіка</a:t>
            </a:r>
            <a:r>
              <a:rPr lang="ru-RU" sz="1500" b="1" dirty="0"/>
              <a:t> </a:t>
            </a:r>
            <a:r>
              <a:rPr lang="ru-RU" sz="1500" b="1" dirty="0" err="1"/>
              <a:t>комунікації</a:t>
            </a:r>
            <a:r>
              <a:rPr lang="ru-RU" sz="1500" b="1" dirty="0"/>
              <a:t> в </a:t>
            </a:r>
            <a:r>
              <a:rPr lang="ru-RU" sz="1500" b="1" dirty="0" err="1"/>
              <a:t>інтернет</a:t>
            </a:r>
            <a:r>
              <a:rPr lang="ru-RU" sz="1500" b="1" dirty="0"/>
              <a:t> - </a:t>
            </a:r>
            <a:r>
              <a:rPr lang="ru-RU" sz="1500" b="1" dirty="0" err="1"/>
              <a:t>просторі</a:t>
            </a:r>
            <a:r>
              <a:rPr lang="ru-RU" sz="1500" b="1" dirty="0"/>
              <a:t>.</a:t>
            </a:r>
          </a:p>
          <a:p>
            <a:pPr marL="571500" lvl="0" indent="-300038">
              <a:spcAft>
                <a:spcPts val="600"/>
              </a:spcAft>
              <a:buFont typeface="+mj-lt"/>
              <a:buAutoNum type="arabicPeriod"/>
            </a:pPr>
            <a:r>
              <a:rPr lang="ru-RU" sz="1500" b="1" dirty="0" err="1"/>
              <a:t>Електронна</a:t>
            </a:r>
            <a:r>
              <a:rPr lang="ru-RU" sz="1500" b="1" dirty="0"/>
              <a:t> </a:t>
            </a:r>
            <a:r>
              <a:rPr lang="ru-RU" sz="1500" b="1" dirty="0" err="1"/>
              <a:t>пошта</a:t>
            </a:r>
            <a:r>
              <a:rPr lang="ru-RU" sz="1500" b="1" dirty="0"/>
              <a:t> як </a:t>
            </a:r>
            <a:r>
              <a:rPr lang="ru-RU" sz="1500" b="1" dirty="0" err="1"/>
              <a:t>засіб</a:t>
            </a:r>
            <a:r>
              <a:rPr lang="ru-RU" sz="1500" b="1" dirty="0"/>
              <a:t> </a:t>
            </a:r>
            <a:r>
              <a:rPr lang="ru-RU" sz="1500" b="1" dirty="0" err="1" smtClean="0"/>
              <a:t>професійно-педагогічної</a:t>
            </a:r>
            <a:r>
              <a:rPr lang="ru-RU" sz="1500" b="1" dirty="0" smtClean="0"/>
              <a:t> </a:t>
            </a:r>
            <a:r>
              <a:rPr lang="ru-RU" sz="1500" b="1" dirty="0" err="1" smtClean="0"/>
              <a:t>комунікації</a:t>
            </a:r>
            <a:r>
              <a:rPr lang="ru-RU" sz="1500" b="1" dirty="0" smtClean="0"/>
              <a:t>.</a:t>
            </a:r>
          </a:p>
          <a:p>
            <a:pPr marL="571500" lvl="0" indent="-300038">
              <a:spcAft>
                <a:spcPts val="600"/>
              </a:spcAft>
              <a:buFont typeface="+mj-lt"/>
              <a:buAutoNum type="arabicPeriod"/>
            </a:pPr>
            <a:r>
              <a:rPr lang="ru-RU" sz="1500" b="1" dirty="0" err="1"/>
              <a:t>Етичні</a:t>
            </a:r>
            <a:r>
              <a:rPr lang="ru-RU" sz="1500" b="1" dirty="0"/>
              <a:t> правила </a:t>
            </a:r>
            <a:r>
              <a:rPr lang="ru-RU" sz="1500" b="1" dirty="0" err="1"/>
              <a:t>комунікації</a:t>
            </a:r>
            <a:r>
              <a:rPr lang="ru-RU" sz="1500" b="1" dirty="0"/>
              <a:t> у </a:t>
            </a:r>
            <a:r>
              <a:rPr lang="ru-RU" sz="1500" b="1" dirty="0" err="1"/>
              <a:t>глобальних</a:t>
            </a:r>
            <a:r>
              <a:rPr lang="ru-RU" sz="1500" b="1" dirty="0"/>
              <a:t> </a:t>
            </a:r>
            <a:r>
              <a:rPr lang="ru-RU" sz="1500" b="1" dirty="0" err="1" smtClean="0"/>
              <a:t>інформаційних</a:t>
            </a:r>
            <a:r>
              <a:rPr lang="ru-RU" sz="1500" b="1" dirty="0" smtClean="0"/>
              <a:t> мережах.</a:t>
            </a:r>
          </a:p>
          <a:p>
            <a:pPr marL="571500" lvl="0" indent="-300038">
              <a:spcAft>
                <a:spcPts val="600"/>
              </a:spcAft>
              <a:buFont typeface="+mj-lt"/>
              <a:buAutoNum type="arabicPeriod"/>
            </a:pPr>
            <a:r>
              <a:rPr lang="ru-RU" sz="1500" b="1" dirty="0" err="1" smtClean="0"/>
              <a:t>Валеологічні</a:t>
            </a:r>
            <a:r>
              <a:rPr lang="ru-RU" sz="1500" b="1" dirty="0" smtClean="0"/>
              <a:t> </a:t>
            </a:r>
            <a:r>
              <a:rPr lang="ru-RU" sz="1500" b="1" dirty="0" err="1"/>
              <a:t>аспекти</a:t>
            </a:r>
            <a:r>
              <a:rPr lang="ru-RU" sz="1500" b="1" dirty="0"/>
              <a:t> </a:t>
            </a:r>
            <a:r>
              <a:rPr lang="ru-RU" sz="1500" b="1" dirty="0" err="1"/>
              <a:t>роботи</a:t>
            </a:r>
            <a:r>
              <a:rPr lang="ru-RU" sz="1500" b="1" dirty="0"/>
              <a:t> з </a:t>
            </a:r>
            <a:r>
              <a:rPr lang="ru-RU" sz="1500" b="1" dirty="0" err="1"/>
              <a:t>комп’ютером</a:t>
            </a:r>
            <a:r>
              <a:rPr lang="ru-RU" sz="1500" b="1" dirty="0"/>
              <a:t>.</a:t>
            </a:r>
          </a:p>
          <a:p>
            <a:pPr marL="571500" lvl="0" indent="-300038">
              <a:spcAft>
                <a:spcPts val="600"/>
              </a:spcAft>
              <a:buFont typeface="+mj-lt"/>
              <a:buAutoNum type="arabicPeriod"/>
            </a:pPr>
            <a:r>
              <a:rPr lang="ru-RU" sz="1500" b="1" dirty="0" err="1"/>
              <a:t>Соціальні</a:t>
            </a:r>
            <a:r>
              <a:rPr lang="ru-RU" sz="1500" b="1" dirty="0"/>
              <a:t> </a:t>
            </a:r>
            <a:r>
              <a:rPr lang="ru-RU" sz="1500" b="1" dirty="0" err="1"/>
              <a:t>мережі</a:t>
            </a:r>
            <a:r>
              <a:rPr lang="ru-RU" sz="1500" b="1" dirty="0"/>
              <a:t> як </a:t>
            </a:r>
            <a:r>
              <a:rPr lang="ru-RU" sz="1500" b="1" dirty="0" err="1"/>
              <a:t>інноваційна</a:t>
            </a:r>
            <a:r>
              <a:rPr lang="ru-RU" sz="1500" b="1" dirty="0"/>
              <a:t> </a:t>
            </a:r>
            <a:r>
              <a:rPr lang="ru-RU" sz="1500" b="1" dirty="0" err="1"/>
              <a:t>комунікативна</a:t>
            </a:r>
            <a:r>
              <a:rPr lang="ru-RU" sz="1500" b="1" dirty="0"/>
              <a:t> </a:t>
            </a:r>
            <a:r>
              <a:rPr lang="ru-RU" sz="1500" b="1" dirty="0" err="1"/>
              <a:t>технологія</a:t>
            </a:r>
            <a:r>
              <a:rPr lang="ru-RU" sz="1500" b="1" dirty="0"/>
              <a:t>.</a:t>
            </a:r>
          </a:p>
          <a:p>
            <a:pPr marL="571500" lvl="0" indent="-300038">
              <a:spcAft>
                <a:spcPts val="600"/>
              </a:spcAft>
              <a:buFont typeface="+mj-lt"/>
              <a:buAutoNum type="arabicPeriod"/>
            </a:pPr>
            <a:r>
              <a:rPr lang="ru-RU" sz="1500" b="1" dirty="0" err="1"/>
              <a:t>Різновиди</a:t>
            </a:r>
            <a:r>
              <a:rPr lang="ru-RU" sz="1500" b="1" dirty="0"/>
              <a:t> </a:t>
            </a:r>
            <a:r>
              <a:rPr lang="ru-RU" sz="1500" b="1" dirty="0" err="1"/>
              <a:t>соціальних</a:t>
            </a:r>
            <a:r>
              <a:rPr lang="ru-RU" sz="1500" b="1" dirty="0"/>
              <a:t> мереж: </a:t>
            </a:r>
            <a:r>
              <a:rPr lang="ru-RU" sz="1500" b="1" dirty="0" err="1"/>
              <a:t>традиційні</a:t>
            </a:r>
            <a:r>
              <a:rPr lang="ru-RU" sz="1500" b="1" dirty="0"/>
              <a:t> і </a:t>
            </a:r>
            <a:r>
              <a:rPr lang="ru-RU" sz="1500" b="1" dirty="0" err="1"/>
              <a:t>тематичні</a:t>
            </a:r>
            <a:r>
              <a:rPr lang="ru-RU" sz="1500" b="1" dirty="0"/>
              <a:t>.</a:t>
            </a:r>
          </a:p>
          <a:p>
            <a:pPr marL="571500" lvl="0" indent="-300038">
              <a:spcAft>
                <a:spcPts val="600"/>
              </a:spcAft>
              <a:buFont typeface="+mj-lt"/>
              <a:buAutoNum type="arabicPeriod"/>
            </a:pPr>
            <a:r>
              <a:rPr lang="ru-RU" sz="1500" b="1" dirty="0" err="1"/>
              <a:t>Персональний</a:t>
            </a:r>
            <a:r>
              <a:rPr lang="ru-RU" sz="1500" b="1" dirty="0"/>
              <a:t> сайт/</a:t>
            </a:r>
            <a:r>
              <a:rPr lang="ru-RU" sz="1500" b="1" dirty="0" err="1"/>
              <a:t>сторінка</a:t>
            </a:r>
            <a:r>
              <a:rPr lang="ru-RU" sz="1500" b="1" dirty="0"/>
              <a:t> як </a:t>
            </a:r>
            <a:r>
              <a:rPr lang="ru-RU" sz="1500" b="1" dirty="0" err="1"/>
              <a:t>джерело</a:t>
            </a:r>
            <a:r>
              <a:rPr lang="ru-RU" sz="1500" b="1" dirty="0"/>
              <a:t> </a:t>
            </a:r>
            <a:r>
              <a:rPr lang="ru-RU" sz="1500" b="1" dirty="0" err="1" smtClean="0"/>
              <a:t>інформації</a:t>
            </a:r>
            <a:r>
              <a:rPr lang="ru-RU" sz="1500" b="1" dirty="0" smtClean="0"/>
              <a:t> </a:t>
            </a:r>
            <a:r>
              <a:rPr lang="ru-RU" sz="1500" b="1" dirty="0" err="1" smtClean="0"/>
              <a:t>віртуального</a:t>
            </a:r>
            <a:r>
              <a:rPr lang="ru-RU" sz="1500" b="1" dirty="0" smtClean="0"/>
              <a:t> </a:t>
            </a:r>
            <a:r>
              <a:rPr lang="ru-RU" sz="1500" b="1" dirty="0"/>
              <a:t>простору.</a:t>
            </a:r>
          </a:p>
          <a:p>
            <a:pPr marL="571500" lvl="0" indent="-300038">
              <a:spcAft>
                <a:spcPts val="600"/>
              </a:spcAft>
              <a:buFont typeface="+mj-lt"/>
              <a:buAutoNum type="arabicPeriod"/>
            </a:pPr>
            <a:r>
              <a:rPr lang="ru-RU" sz="1500" b="1" dirty="0" err="1"/>
              <a:t>Вебінар</a:t>
            </a:r>
            <a:r>
              <a:rPr lang="ru-RU" sz="1500" b="1" dirty="0"/>
              <a:t> як нова </a:t>
            </a:r>
            <a:r>
              <a:rPr lang="ru-RU" sz="1500" b="1" dirty="0" err="1"/>
              <a:t>комунікаційна</a:t>
            </a:r>
            <a:r>
              <a:rPr lang="ru-RU" sz="1500" b="1" dirty="0"/>
              <a:t> практика.</a:t>
            </a:r>
          </a:p>
          <a:p>
            <a:pPr marL="571500" lvl="0" indent="-571500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ru-RU" sz="4000" dirty="0" smtClean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931C64DA-886F-47F0-8641-9A8AC5C8E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942" y="645929"/>
            <a:ext cx="10350657" cy="881743"/>
          </a:xfrm>
        </p:spPr>
        <p:txBody>
          <a:bodyPr>
            <a:noAutofit/>
          </a:bodyPr>
          <a:lstStyle/>
          <a:p>
            <a:pPr algn="ctr"/>
            <a:r>
              <a:rPr lang="ru-RU" sz="3200" b="1" i="1" dirty="0" err="1">
                <a:solidFill>
                  <a:schemeClr val="accent2"/>
                </a:solidFill>
              </a:rPr>
              <a:t>Практичне</a:t>
            </a:r>
            <a:r>
              <a:rPr lang="ru-RU" sz="3200" b="1" i="1" dirty="0">
                <a:solidFill>
                  <a:schemeClr val="accent2"/>
                </a:solidFill>
              </a:rPr>
              <a:t> </a:t>
            </a:r>
            <a:r>
              <a:rPr lang="ru-RU" sz="3200" b="1" i="1" dirty="0" err="1">
                <a:solidFill>
                  <a:schemeClr val="accent2"/>
                </a:solidFill>
              </a:rPr>
              <a:t>заняття</a:t>
            </a:r>
            <a:r>
              <a:rPr lang="ru-RU" sz="3200" b="1" i="1" dirty="0">
                <a:solidFill>
                  <a:schemeClr val="accent2"/>
                </a:solidFill>
              </a:rPr>
              <a:t> </a:t>
            </a:r>
            <a:r>
              <a:rPr lang="ru-RU" sz="3200" b="1" i="1" dirty="0" smtClean="0">
                <a:solidFill>
                  <a:schemeClr val="accent2"/>
                </a:solidFill>
              </a:rPr>
              <a:t>2. </a:t>
            </a:r>
            <a:r>
              <a:rPr lang="ru-RU" sz="3200" b="1" i="1" dirty="0" err="1" smtClean="0">
                <a:solidFill>
                  <a:schemeClr val="accent2"/>
                </a:solidFill>
              </a:rPr>
              <a:t>Форми</a:t>
            </a:r>
            <a:r>
              <a:rPr lang="ru-RU" sz="3200" b="1" i="1" dirty="0" smtClean="0">
                <a:solidFill>
                  <a:schemeClr val="accent2"/>
                </a:solidFill>
              </a:rPr>
              <a:t> </a:t>
            </a:r>
            <a:r>
              <a:rPr lang="ru-RU" sz="3200" b="1" i="1" dirty="0" err="1" smtClean="0">
                <a:solidFill>
                  <a:schemeClr val="accent2"/>
                </a:solidFill>
              </a:rPr>
              <a:t>спілкування</a:t>
            </a:r>
            <a:r>
              <a:rPr lang="ru-RU" sz="3200" b="1" i="1" dirty="0" smtClean="0">
                <a:solidFill>
                  <a:schemeClr val="accent2"/>
                </a:solidFill>
              </a:rPr>
              <a:t> людей у </a:t>
            </a:r>
            <a:r>
              <a:rPr lang="ru-RU" sz="3200" b="1" i="1" dirty="0" err="1" smtClean="0">
                <a:solidFill>
                  <a:schemeClr val="accent2"/>
                </a:solidFill>
              </a:rPr>
              <a:t>колективі</a:t>
            </a:r>
            <a:r>
              <a:rPr lang="ru-RU" sz="3200" b="1" i="1" dirty="0">
                <a:solidFill>
                  <a:schemeClr val="accent2"/>
                </a:solidFill>
              </a:rPr>
              <a:t>: </a:t>
            </a:r>
            <a:r>
              <a:rPr lang="ru-RU" sz="3200" b="1" i="1" dirty="0" err="1">
                <a:solidFill>
                  <a:schemeClr val="accent2"/>
                </a:solidFill>
              </a:rPr>
              <a:t>бесіда</a:t>
            </a:r>
            <a:r>
              <a:rPr lang="ru-RU" sz="3200" b="1" i="1" dirty="0" smtClean="0">
                <a:solidFill>
                  <a:schemeClr val="accent2"/>
                </a:solidFill>
              </a:rPr>
              <a:t>, </a:t>
            </a:r>
            <a:r>
              <a:rPr lang="ru-RU" sz="3200" b="1" i="1" dirty="0" err="1" smtClean="0">
                <a:solidFill>
                  <a:schemeClr val="accent2"/>
                </a:solidFill>
              </a:rPr>
              <a:t>дискусія</a:t>
            </a:r>
            <a:r>
              <a:rPr lang="ru-RU" sz="3200" b="1" i="1" dirty="0">
                <a:solidFill>
                  <a:schemeClr val="accent2"/>
                </a:solidFill>
              </a:rPr>
              <a:t>, </a:t>
            </a:r>
            <a:r>
              <a:rPr lang="ru-RU" sz="3200" b="1" i="1" dirty="0" err="1">
                <a:solidFill>
                  <a:schemeClr val="accent2"/>
                </a:solidFill>
              </a:rPr>
              <a:t>нарада</a:t>
            </a:r>
            <a:r>
              <a:rPr lang="ru-RU" sz="3200" b="1" i="1" dirty="0" smtClean="0">
                <a:solidFill>
                  <a:schemeClr val="accent2"/>
                </a:solidFill>
              </a:rPr>
              <a:t>, </a:t>
            </a:r>
            <a:r>
              <a:rPr lang="ru-RU" sz="3200" b="1" i="1" dirty="0" err="1" smtClean="0">
                <a:solidFill>
                  <a:schemeClr val="accent2"/>
                </a:solidFill>
              </a:rPr>
              <a:t>телефонна</a:t>
            </a:r>
            <a:r>
              <a:rPr lang="ru-RU" sz="3200" b="1" i="1" dirty="0" smtClean="0">
                <a:solidFill>
                  <a:schemeClr val="accent2"/>
                </a:solidFill>
              </a:rPr>
              <a:t> </a:t>
            </a:r>
            <a:r>
              <a:rPr lang="ru-RU" sz="3200" b="1" i="1" dirty="0" err="1" smtClean="0">
                <a:solidFill>
                  <a:schemeClr val="accent2"/>
                </a:solidFill>
              </a:rPr>
              <a:t>розмова</a:t>
            </a:r>
            <a:r>
              <a:rPr lang="ru-RU" sz="3200" b="1" i="1" dirty="0" smtClean="0">
                <a:solidFill>
                  <a:schemeClr val="accent2"/>
                </a:solidFill>
              </a:rPr>
              <a:t>. </a:t>
            </a:r>
            <a:r>
              <a:rPr lang="ru-RU" sz="3200" b="1" i="1" dirty="0" err="1" smtClean="0">
                <a:solidFill>
                  <a:schemeClr val="accent2"/>
                </a:solidFill>
              </a:rPr>
              <a:t>Особливості</a:t>
            </a:r>
            <a:r>
              <a:rPr lang="ru-RU" sz="3200" b="1" i="1" dirty="0" smtClean="0">
                <a:solidFill>
                  <a:schemeClr val="accent2"/>
                </a:solidFill>
              </a:rPr>
              <a:t> </a:t>
            </a:r>
            <a:r>
              <a:rPr lang="ru-RU" sz="3200" b="1" i="1" dirty="0" err="1" smtClean="0">
                <a:solidFill>
                  <a:schemeClr val="accent2"/>
                </a:solidFill>
              </a:rPr>
              <a:t>організації</a:t>
            </a:r>
            <a:r>
              <a:rPr lang="ru-RU" sz="3200" b="1" i="1" dirty="0" smtClean="0">
                <a:solidFill>
                  <a:schemeClr val="accent2"/>
                </a:solidFill>
              </a:rPr>
              <a:t> </a:t>
            </a:r>
            <a:r>
              <a:rPr lang="ru-RU" sz="3200" b="1" i="1" dirty="0" err="1" smtClean="0">
                <a:solidFill>
                  <a:schemeClr val="accent2"/>
                </a:solidFill>
              </a:rPr>
              <a:t>дистанційного</a:t>
            </a:r>
            <a:r>
              <a:rPr lang="ru-RU" sz="3200" b="1" i="1" dirty="0" smtClean="0">
                <a:solidFill>
                  <a:schemeClr val="accent2"/>
                </a:solidFill>
              </a:rPr>
              <a:t> </a:t>
            </a:r>
            <a:r>
              <a:rPr lang="ru-RU" sz="3200" b="1" i="1" dirty="0" err="1" smtClean="0">
                <a:solidFill>
                  <a:schemeClr val="accent2"/>
                </a:solidFill>
              </a:rPr>
              <a:t>спілкування</a:t>
            </a:r>
            <a:endParaRPr lang="ru-RU" sz="3200" b="1" i="1" dirty="0">
              <a:solidFill>
                <a:schemeClr val="accent2"/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441D2B7-3EE2-42D1-A5AF-E04001E017B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317" y="6001865"/>
            <a:ext cx="1172817" cy="781878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C9E8BE8-7392-4DBD-9A75-2AC0190E1B3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30" b="19256"/>
          <a:stretch/>
        </p:blipFill>
        <p:spPr>
          <a:xfrm>
            <a:off x="11130895" y="5945544"/>
            <a:ext cx="918259" cy="838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137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Ретроспектива">
  <a:themeElements>
    <a:clrScheme name="Ретроспектива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Ретроспектива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спектива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1282</TotalTime>
  <Words>1564</Words>
  <Application>Microsoft Office PowerPoint</Application>
  <PresentationFormat>Широкоэкранный</PresentationFormat>
  <Paragraphs>180</Paragraphs>
  <Slides>40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40</vt:i4>
      </vt:variant>
    </vt:vector>
  </HeadingPairs>
  <TitlesOfParts>
    <vt:vector size="45" baseType="lpstr">
      <vt:lpstr>Arial</vt:lpstr>
      <vt:lpstr>Calibri</vt:lpstr>
      <vt:lpstr>Calibri Light</vt:lpstr>
      <vt:lpstr>Wingdings</vt:lpstr>
      <vt:lpstr>Ретроспектива</vt:lpstr>
      <vt:lpstr>     Культура мовлення як складова загальнолюдської культури</vt:lpstr>
      <vt:lpstr>План</vt:lpstr>
      <vt:lpstr>Презентация PowerPoint</vt:lpstr>
      <vt:lpstr>Презентация PowerPoint</vt:lpstr>
      <vt:lpstr>Культура мови утверджує норми:</vt:lpstr>
      <vt:lpstr>Культура мови</vt:lpstr>
      <vt:lpstr>Мова – це:</vt:lpstr>
      <vt:lpstr>Культура мовлення</vt:lpstr>
      <vt:lpstr>Мовлення – це:</vt:lpstr>
      <vt:lpstr>Презентация PowerPoint</vt:lpstr>
      <vt:lpstr>Презентация PowerPoint</vt:lpstr>
      <vt:lpstr>Логічність мовлення </vt:lpstr>
      <vt:lpstr>Два компоненти точності мовлення </vt:lpstr>
      <vt:lpstr>Дві вимоги точності мовлення </vt:lpstr>
      <vt:lpstr>Правильність мовлення –</vt:lpstr>
      <vt:lpstr>Ясність мовлення</vt:lpstr>
      <vt:lpstr>Чистота мовлення</vt:lpstr>
      <vt:lpstr>Три аспекти чистоти мовлення</vt:lpstr>
      <vt:lpstr>Виразність мовлення</vt:lpstr>
      <vt:lpstr>Різноманітність і багатство мовлення </vt:lpstr>
      <vt:lpstr>Естетичність мовлення </vt:lpstr>
      <vt:lpstr>Презентация PowerPoint</vt:lpstr>
      <vt:lpstr>Комунікативна, або функція спілкування </vt:lpstr>
      <vt:lpstr>Номінативна, або функція називання</vt:lpstr>
      <vt:lpstr>Експресивна функція, або виражальна</vt:lpstr>
      <vt:lpstr>Ідентифікаційна функція, або об’єднуюча</vt:lpstr>
      <vt:lpstr>Гносеологічна функція, або пізнавальна</vt:lpstr>
      <vt:lpstr>Мислетворча функція, або когнітивна</vt:lpstr>
      <vt:lpstr>Естетична функція</vt:lpstr>
      <vt:lpstr>Культуроносна функція</vt:lpstr>
      <vt:lpstr>Гуманізуюча функція</vt:lpstr>
      <vt:lpstr>Волюнтативна функція</vt:lpstr>
      <vt:lpstr>Виховна функція</vt:lpstr>
      <vt:lpstr>Магічно-містична функція</vt:lpstr>
      <vt:lpstr>Діловодство </vt:lpstr>
      <vt:lpstr>Документація</vt:lpstr>
      <vt:lpstr>Діловодство </vt:lpstr>
      <vt:lpstr>Документ:</vt:lpstr>
      <vt:lpstr>Документи</vt:lpstr>
      <vt:lpstr>Практичне заняття 2. Форми спілкування людей у колективі: бесіда, дискусія, нарада, телефонна розмова. Особливості організації дистанційного спілкування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Тема:  Організаційні форми соціальної роботи</dc:title>
  <dc:creator>Sasha</dc:creator>
  <cp:lastModifiedBy>admin</cp:lastModifiedBy>
  <cp:revision>197</cp:revision>
  <dcterms:created xsi:type="dcterms:W3CDTF">2018-02-26T18:28:10Z</dcterms:created>
  <dcterms:modified xsi:type="dcterms:W3CDTF">2023-02-12T10:44:28Z</dcterms:modified>
</cp:coreProperties>
</file>